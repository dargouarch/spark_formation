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4"/>
  </p:notesMasterIdLst>
  <p:sldIdLst>
    <p:sldId id="263" r:id="rId5"/>
    <p:sldId id="2134807190" r:id="rId6"/>
    <p:sldId id="2134807191" r:id="rId7"/>
    <p:sldId id="2134807193" r:id="rId8"/>
    <p:sldId id="2134807194" r:id="rId9"/>
    <p:sldId id="2134807198" r:id="rId10"/>
    <p:sldId id="2134807195" r:id="rId11"/>
    <p:sldId id="2134807199" r:id="rId12"/>
    <p:sldId id="2134807196" r:id="rId13"/>
    <p:sldId id="2134807200" r:id="rId14"/>
    <p:sldId id="2134807197" r:id="rId15"/>
    <p:sldId id="2134807201" r:id="rId16"/>
    <p:sldId id="2134807202" r:id="rId17"/>
    <p:sldId id="2134807203" r:id="rId18"/>
    <p:sldId id="2134807204" r:id="rId19"/>
    <p:sldId id="2134807205" r:id="rId20"/>
    <p:sldId id="2134807206" r:id="rId21"/>
    <p:sldId id="2134807207" r:id="rId22"/>
    <p:sldId id="269" r:id="rId23"/>
  </p:sldIdLst>
  <p:sldSz cx="9144000" cy="5143500" type="screen16x9"/>
  <p:notesSz cx="9144000" cy="5143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8200"/>
    <a:srgbClr val="E89D06"/>
    <a:srgbClr val="606A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37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FCF4C-C656-4173-9B19-E1AF5C686E36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481D4-7198-485D-BC3A-9DB0AF6D6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20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481D4-7198-485D-BC3A-9DB0AF6D6A6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74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B0EE-DB74-4337-9E39-4F4401AC088C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74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97370" y="4578722"/>
            <a:ext cx="429860" cy="283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FE69C2FC-FDFD-4827-B361-612217FFD460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874741" y="4894851"/>
            <a:ext cx="215900" cy="307777"/>
          </a:xfrm>
        </p:spPr>
        <p:txBody>
          <a:bodyPr/>
          <a:lstStyle/>
          <a:p>
            <a:fld id="{145EDAB0-9B87-4A61-82A7-24EB9E95EB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94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876384" y="2592654"/>
            <a:ext cx="4569441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5951" y="3982528"/>
            <a:ext cx="4390307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830C2E-4564-4B17-8002-21FAB13655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999" r="11596"/>
          <a:stretch/>
        </p:blipFill>
        <p:spPr>
          <a:xfrm>
            <a:off x="-2024" y="0"/>
            <a:ext cx="7077950" cy="5175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26AB9D-2720-48E7-9F02-9FF73EC7320C}"/>
              </a:ext>
            </a:extLst>
          </p:cNvPr>
          <p:cNvSpPr/>
          <p:nvPr userDrawn="1"/>
        </p:nvSpPr>
        <p:spPr>
          <a:xfrm>
            <a:off x="5272" y="1"/>
            <a:ext cx="8138265" cy="5159408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11" name="Parallélogramme 10">
            <a:extLst>
              <a:ext uri="{FF2B5EF4-FFF2-40B4-BE49-F238E27FC236}">
                <a16:creationId xmlns:a16="http://schemas.microsoft.com/office/drawing/2014/main" id="{89BE8FA3-37AB-4349-895E-C9147FFA4740}"/>
              </a:ext>
            </a:extLst>
          </p:cNvPr>
          <p:cNvSpPr/>
          <p:nvPr userDrawn="1"/>
        </p:nvSpPr>
        <p:spPr>
          <a:xfrm>
            <a:off x="4348264" y="-15909"/>
            <a:ext cx="5287890" cy="517531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86999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158" y="790177"/>
            <a:ext cx="7865109" cy="144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74741" y="4894851"/>
            <a:ext cx="215900" cy="18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888/lab/tree/notebooks/PCA.ipynb#%F0%9F%93%8A-R%C3%A9cup%C3%A9ration-des-r%C3%A9sultats-pour-visualisation-(optionnel,-via-matplotlib)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hyperlink" Target="http://www.mgt-conseils.com/" TargetMode="External"/><Relationship Id="rId10" Type="http://schemas.openxmlformats.org/officeDocument/2006/relationships/image" Target="../media/image17.png"/><Relationship Id="rId4" Type="http://schemas.openxmlformats.org/officeDocument/2006/relationships/image" Target="../media/image12.emf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6645293F-0238-41E2-AE61-25FF444A98FA}"/>
              </a:ext>
            </a:extLst>
          </p:cNvPr>
          <p:cNvSpPr txBox="1"/>
          <p:nvPr/>
        </p:nvSpPr>
        <p:spPr>
          <a:xfrm>
            <a:off x="5241241" y="2668269"/>
            <a:ext cx="3317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>
                <a:solidFill>
                  <a:srgbClr val="EE8200"/>
                </a:solidFill>
                <a:latin typeface="Arial UNICODE MS"/>
              </a:rPr>
              <a:t>L’accélérateur </a:t>
            </a:r>
            <a:br>
              <a:rPr lang="fr-FR" sz="2000" b="1">
                <a:solidFill>
                  <a:srgbClr val="EE8200"/>
                </a:solidFill>
                <a:latin typeface="Arial UNICODE MS"/>
              </a:rPr>
            </a:br>
            <a:r>
              <a:rPr lang="fr-FR" sz="2000" b="1">
                <a:solidFill>
                  <a:srgbClr val="EE8200"/>
                </a:solidFill>
                <a:latin typeface="Arial UNICODE MS"/>
              </a:rPr>
              <a:t>de vos Performances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7EBDE4-AF21-46CC-A637-A8E445A354FC}"/>
              </a:ext>
            </a:extLst>
          </p:cNvPr>
          <p:cNvSpPr txBox="1"/>
          <p:nvPr/>
        </p:nvSpPr>
        <p:spPr>
          <a:xfrm>
            <a:off x="5425360" y="3454631"/>
            <a:ext cx="30479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204020104020204" pitchFamily="34" charset="0"/>
              </a:rPr>
              <a:t>Cabinet de Conseil et Formation spécialisé dans l’Amélioration des Performances des Entreprises</a:t>
            </a:r>
          </a:p>
        </p:txBody>
      </p:sp>
      <p:grpSp>
        <p:nvGrpSpPr>
          <p:cNvPr id="4" name="Google Shape;1211;p42">
            <a:extLst>
              <a:ext uri="{FF2B5EF4-FFF2-40B4-BE49-F238E27FC236}">
                <a16:creationId xmlns:a16="http://schemas.microsoft.com/office/drawing/2014/main" id="{0805AA11-DDF0-28CE-7329-E9ABB8802C46}"/>
              </a:ext>
            </a:extLst>
          </p:cNvPr>
          <p:cNvGrpSpPr/>
          <p:nvPr/>
        </p:nvGrpSpPr>
        <p:grpSpPr>
          <a:xfrm>
            <a:off x="866124" y="1529312"/>
            <a:ext cx="2906404" cy="2211684"/>
            <a:chOff x="4743450" y="1116900"/>
            <a:chExt cx="2486100" cy="1690800"/>
          </a:xfrm>
        </p:grpSpPr>
        <p:sp>
          <p:nvSpPr>
            <p:cNvPr id="5" name="Google Shape;1212;p42">
              <a:extLst>
                <a:ext uri="{FF2B5EF4-FFF2-40B4-BE49-F238E27FC236}">
                  <a16:creationId xmlns:a16="http://schemas.microsoft.com/office/drawing/2014/main" id="{19E28FA2-BA25-9760-C0E3-7AB39B1EEB5E}"/>
                </a:ext>
              </a:extLst>
            </p:cNvPr>
            <p:cNvSpPr/>
            <p:nvPr/>
          </p:nvSpPr>
          <p:spPr>
            <a:xfrm>
              <a:off x="4743450" y="1116900"/>
              <a:ext cx="2486100" cy="1690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3;p42">
              <a:extLst>
                <a:ext uri="{FF2B5EF4-FFF2-40B4-BE49-F238E27FC236}">
                  <a16:creationId xmlns:a16="http://schemas.microsoft.com/office/drawing/2014/main" id="{F4C6AACD-E2C4-85E5-CF68-119723003E9E}"/>
                </a:ext>
              </a:extLst>
            </p:cNvPr>
            <p:cNvSpPr/>
            <p:nvPr/>
          </p:nvSpPr>
          <p:spPr>
            <a:xfrm>
              <a:off x="4743450" y="1708870"/>
              <a:ext cx="2486100" cy="729400"/>
            </a:xfrm>
            <a:prstGeom prst="rect">
              <a:avLst/>
            </a:prstGeom>
            <a:gradFill>
              <a:gsLst>
                <a:gs pos="83000">
                  <a:srgbClr val="E89D06"/>
                </a:gs>
                <a:gs pos="38000">
                  <a:srgbClr val="E89D06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fr-FR" sz="2400" b="1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7" name="Google Shape;1214;p42">
              <a:extLst>
                <a:ext uri="{FF2B5EF4-FFF2-40B4-BE49-F238E27FC236}">
                  <a16:creationId xmlns:a16="http://schemas.microsoft.com/office/drawing/2014/main" id="{10DB14C9-1189-F962-9C46-48F2025E5D4E}"/>
                </a:ext>
              </a:extLst>
            </p:cNvPr>
            <p:cNvSpPr txBox="1"/>
            <p:nvPr/>
          </p:nvSpPr>
          <p:spPr>
            <a:xfrm>
              <a:off x="4754902" y="2510233"/>
              <a:ext cx="2283900" cy="262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18/11/2025</a:t>
              </a:r>
            </a:p>
          </p:txBody>
        </p:sp>
        <p:grpSp>
          <p:nvGrpSpPr>
            <p:cNvPr id="8" name="Google Shape;1215;p42">
              <a:extLst>
                <a:ext uri="{FF2B5EF4-FFF2-40B4-BE49-F238E27FC236}">
                  <a16:creationId xmlns:a16="http://schemas.microsoft.com/office/drawing/2014/main" id="{6C607AC6-5841-D5C0-CDC0-064B9E45A8F0}"/>
                </a:ext>
              </a:extLst>
            </p:cNvPr>
            <p:cNvGrpSpPr/>
            <p:nvPr/>
          </p:nvGrpSpPr>
          <p:grpSpPr>
            <a:xfrm>
              <a:off x="5790959" y="1236253"/>
              <a:ext cx="394134" cy="394090"/>
              <a:chOff x="-64764500" y="2280550"/>
              <a:chExt cx="316650" cy="319800"/>
            </a:xfrm>
          </p:grpSpPr>
          <p:sp>
            <p:nvSpPr>
              <p:cNvPr id="9" name="Google Shape;1216;p42">
                <a:extLst>
                  <a:ext uri="{FF2B5EF4-FFF2-40B4-BE49-F238E27FC236}">
                    <a16:creationId xmlns:a16="http://schemas.microsoft.com/office/drawing/2014/main" id="{185FED04-2E27-BE7C-9209-400D4E0C0465}"/>
                  </a:ext>
                </a:extLst>
              </p:cNvPr>
              <p:cNvSpPr/>
              <p:nvPr/>
            </p:nvSpPr>
            <p:spPr>
              <a:xfrm>
                <a:off x="-64764500" y="2280550"/>
                <a:ext cx="31665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12792" extrusionOk="0">
                    <a:moveTo>
                      <a:pt x="11405" y="820"/>
                    </a:moveTo>
                    <a:cubicBezTo>
                      <a:pt x="11657" y="820"/>
                      <a:pt x="11815" y="1009"/>
                      <a:pt x="11815" y="1261"/>
                    </a:cubicBezTo>
                    <a:cubicBezTo>
                      <a:pt x="11815" y="1481"/>
                      <a:pt x="11657" y="1670"/>
                      <a:pt x="11405" y="1670"/>
                    </a:cubicBezTo>
                    <a:lnTo>
                      <a:pt x="1229" y="1670"/>
                    </a:lnTo>
                    <a:cubicBezTo>
                      <a:pt x="977" y="1670"/>
                      <a:pt x="788" y="1481"/>
                      <a:pt x="788" y="1261"/>
                    </a:cubicBezTo>
                    <a:cubicBezTo>
                      <a:pt x="788" y="1009"/>
                      <a:pt x="977" y="820"/>
                      <a:pt x="1229" y="820"/>
                    </a:cubicBezTo>
                    <a:close/>
                    <a:moveTo>
                      <a:pt x="10996" y="2521"/>
                    </a:moveTo>
                    <a:lnTo>
                      <a:pt x="10996" y="8286"/>
                    </a:lnTo>
                    <a:lnTo>
                      <a:pt x="1607" y="8286"/>
                    </a:lnTo>
                    <a:lnTo>
                      <a:pt x="1607" y="2521"/>
                    </a:lnTo>
                    <a:close/>
                    <a:moveTo>
                      <a:pt x="6302" y="11027"/>
                    </a:moveTo>
                    <a:cubicBezTo>
                      <a:pt x="6554" y="11027"/>
                      <a:pt x="6743" y="11216"/>
                      <a:pt x="6743" y="11437"/>
                    </a:cubicBezTo>
                    <a:cubicBezTo>
                      <a:pt x="6743" y="11689"/>
                      <a:pt x="6522" y="11878"/>
                      <a:pt x="6302" y="11878"/>
                    </a:cubicBezTo>
                    <a:cubicBezTo>
                      <a:pt x="6050" y="11878"/>
                      <a:pt x="5892" y="11689"/>
                      <a:pt x="5892" y="11437"/>
                    </a:cubicBezTo>
                    <a:cubicBezTo>
                      <a:pt x="5892" y="11216"/>
                      <a:pt x="6113" y="11027"/>
                      <a:pt x="6302" y="11027"/>
                    </a:cubicBezTo>
                    <a:close/>
                    <a:moveTo>
                      <a:pt x="1229" y="1"/>
                    </a:moveTo>
                    <a:cubicBezTo>
                      <a:pt x="536" y="1"/>
                      <a:pt x="1" y="536"/>
                      <a:pt x="1" y="1261"/>
                    </a:cubicBezTo>
                    <a:cubicBezTo>
                      <a:pt x="1" y="1797"/>
                      <a:pt x="347" y="2238"/>
                      <a:pt x="820" y="2427"/>
                    </a:cubicBezTo>
                    <a:lnTo>
                      <a:pt x="820" y="8286"/>
                    </a:lnTo>
                    <a:lnTo>
                      <a:pt x="442" y="8286"/>
                    </a:lnTo>
                    <a:cubicBezTo>
                      <a:pt x="190" y="8286"/>
                      <a:pt x="32" y="8507"/>
                      <a:pt x="32" y="8728"/>
                    </a:cubicBezTo>
                    <a:cubicBezTo>
                      <a:pt x="32" y="8980"/>
                      <a:pt x="221" y="9169"/>
                      <a:pt x="442" y="9169"/>
                    </a:cubicBezTo>
                    <a:lnTo>
                      <a:pt x="5955" y="9169"/>
                    </a:lnTo>
                    <a:lnTo>
                      <a:pt x="5955" y="10334"/>
                    </a:lnTo>
                    <a:cubicBezTo>
                      <a:pt x="5483" y="10492"/>
                      <a:pt x="5104" y="10964"/>
                      <a:pt x="5104" y="11531"/>
                    </a:cubicBezTo>
                    <a:cubicBezTo>
                      <a:pt x="5104" y="12193"/>
                      <a:pt x="5672" y="12792"/>
                      <a:pt x="6333" y="12792"/>
                    </a:cubicBezTo>
                    <a:cubicBezTo>
                      <a:pt x="6995" y="12792"/>
                      <a:pt x="7593" y="12225"/>
                      <a:pt x="7593" y="11531"/>
                    </a:cubicBezTo>
                    <a:cubicBezTo>
                      <a:pt x="7593" y="10964"/>
                      <a:pt x="7247" y="10555"/>
                      <a:pt x="6774" y="10334"/>
                    </a:cubicBezTo>
                    <a:lnTo>
                      <a:pt x="6774" y="9169"/>
                    </a:lnTo>
                    <a:lnTo>
                      <a:pt x="12288" y="9169"/>
                    </a:lnTo>
                    <a:cubicBezTo>
                      <a:pt x="12508" y="9169"/>
                      <a:pt x="12666" y="8980"/>
                      <a:pt x="12666" y="8728"/>
                    </a:cubicBezTo>
                    <a:cubicBezTo>
                      <a:pt x="12666" y="8507"/>
                      <a:pt x="12477" y="8286"/>
                      <a:pt x="12288" y="8286"/>
                    </a:cubicBezTo>
                    <a:lnTo>
                      <a:pt x="11847" y="8286"/>
                    </a:lnTo>
                    <a:lnTo>
                      <a:pt x="11847" y="2427"/>
                    </a:lnTo>
                    <a:cubicBezTo>
                      <a:pt x="12319" y="2238"/>
                      <a:pt x="12634" y="1797"/>
                      <a:pt x="12634" y="1261"/>
                    </a:cubicBezTo>
                    <a:cubicBezTo>
                      <a:pt x="12634" y="568"/>
                      <a:pt x="12099" y="1"/>
                      <a:pt x="11405" y="1"/>
                    </a:cubicBezTo>
                    <a:close/>
                  </a:path>
                </a:pathLst>
              </a:custGeom>
              <a:solidFill>
                <a:srgbClr val="EE8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217;p42">
                <a:extLst>
                  <a:ext uri="{FF2B5EF4-FFF2-40B4-BE49-F238E27FC236}">
                    <a16:creationId xmlns:a16="http://schemas.microsoft.com/office/drawing/2014/main" id="{3604447A-576F-6388-A6B4-EAB22FCF3F94}"/>
                  </a:ext>
                </a:extLst>
              </p:cNvPr>
              <p:cNvSpPr/>
              <p:nvPr/>
            </p:nvSpPr>
            <p:spPr>
              <a:xfrm>
                <a:off x="-64679425" y="2364825"/>
                <a:ext cx="14650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5860" h="4098" extrusionOk="0">
                    <a:moveTo>
                      <a:pt x="3749" y="1"/>
                    </a:moveTo>
                    <a:cubicBezTo>
                      <a:pt x="3529" y="1"/>
                      <a:pt x="3371" y="190"/>
                      <a:pt x="3371" y="442"/>
                    </a:cubicBezTo>
                    <a:cubicBezTo>
                      <a:pt x="3371" y="662"/>
                      <a:pt x="3560" y="820"/>
                      <a:pt x="3749" y="820"/>
                    </a:cubicBezTo>
                    <a:lnTo>
                      <a:pt x="4442" y="820"/>
                    </a:lnTo>
                    <a:lnTo>
                      <a:pt x="2930" y="2332"/>
                    </a:lnTo>
                    <a:lnTo>
                      <a:pt x="2395" y="1765"/>
                    </a:lnTo>
                    <a:cubicBezTo>
                      <a:pt x="2316" y="1686"/>
                      <a:pt x="2206" y="1647"/>
                      <a:pt x="2095" y="1647"/>
                    </a:cubicBezTo>
                    <a:cubicBezTo>
                      <a:pt x="1985" y="1647"/>
                      <a:pt x="1875" y="1686"/>
                      <a:pt x="1796" y="1765"/>
                    </a:cubicBezTo>
                    <a:lnTo>
                      <a:pt x="126" y="3435"/>
                    </a:lnTo>
                    <a:cubicBezTo>
                      <a:pt x="0" y="3592"/>
                      <a:pt x="0" y="3844"/>
                      <a:pt x="126" y="4033"/>
                    </a:cubicBezTo>
                    <a:cubicBezTo>
                      <a:pt x="195" y="4075"/>
                      <a:pt x="288" y="4098"/>
                      <a:pt x="384" y="4098"/>
                    </a:cubicBezTo>
                    <a:cubicBezTo>
                      <a:pt x="507" y="4098"/>
                      <a:pt x="636" y="4059"/>
                      <a:pt x="725" y="3970"/>
                    </a:cubicBezTo>
                    <a:lnTo>
                      <a:pt x="2111" y="2616"/>
                    </a:lnTo>
                    <a:lnTo>
                      <a:pt x="2647" y="3151"/>
                    </a:lnTo>
                    <a:cubicBezTo>
                      <a:pt x="2725" y="3230"/>
                      <a:pt x="2836" y="3269"/>
                      <a:pt x="2946" y="3269"/>
                    </a:cubicBezTo>
                    <a:cubicBezTo>
                      <a:pt x="3056" y="3269"/>
                      <a:pt x="3166" y="3230"/>
                      <a:pt x="3245" y="3151"/>
                    </a:cubicBezTo>
                    <a:lnTo>
                      <a:pt x="5009" y="1387"/>
                    </a:lnTo>
                    <a:lnTo>
                      <a:pt x="5009" y="2049"/>
                    </a:lnTo>
                    <a:cubicBezTo>
                      <a:pt x="5009" y="2269"/>
                      <a:pt x="5230" y="2490"/>
                      <a:pt x="5451" y="2490"/>
                    </a:cubicBezTo>
                    <a:cubicBezTo>
                      <a:pt x="5703" y="2490"/>
                      <a:pt x="5860" y="2269"/>
                      <a:pt x="5860" y="2049"/>
                    </a:cubicBezTo>
                    <a:lnTo>
                      <a:pt x="5860" y="410"/>
                    </a:lnTo>
                    <a:cubicBezTo>
                      <a:pt x="5860" y="158"/>
                      <a:pt x="5640" y="1"/>
                      <a:pt x="5419" y="1"/>
                    </a:cubicBezTo>
                    <a:close/>
                  </a:path>
                </a:pathLst>
              </a:custGeom>
              <a:solidFill>
                <a:srgbClr val="E89D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ED8FED94-221E-D61F-429C-874B96C41C0C}"/>
              </a:ext>
            </a:extLst>
          </p:cNvPr>
          <p:cNvSpPr txBox="1"/>
          <p:nvPr/>
        </p:nvSpPr>
        <p:spPr>
          <a:xfrm>
            <a:off x="866123" y="2426759"/>
            <a:ext cx="290640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solidFill>
                  <a:srgbClr val="17375E"/>
                </a:solidFill>
                <a:effectLst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Spark Avancé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17375E"/>
                </a:solidFill>
                <a:effectLst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ML PCA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12" name="Image 11" descr="Une image contenant Police, logo, Graphique, symbole&#10;&#10;Description générée automatiquement">
            <a:extLst>
              <a:ext uri="{FF2B5EF4-FFF2-40B4-BE49-F238E27FC236}">
                <a16:creationId xmlns:a16="http://schemas.microsoft.com/office/drawing/2014/main" id="{2E6698BC-47B7-0035-A30B-07E4D74BE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96" y="1422768"/>
            <a:ext cx="1833563" cy="1033463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9971AD4C-61B2-E54F-348A-AD68E0D81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42" y="208193"/>
            <a:ext cx="1679880" cy="87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9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10A95A0-53DE-E2CE-4E14-43866D0C249D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Tout le support d’exercice est constitué de la même manière: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Les objectifs de l’exercice: quel est l’intérêt de l’exercice ?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Un descriptif global des étapes à réaliser qui doit permettre de faire l’exercice en connaissant les notions abordées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 résultat de l’exercice sous forme de copies d’’écran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La correction de l’exercice étape par étape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grpSp>
        <p:nvGrpSpPr>
          <p:cNvPr id="43" name="Google Shape;229;p17">
            <a:extLst>
              <a:ext uri="{FF2B5EF4-FFF2-40B4-BE49-F238E27FC236}">
                <a16:creationId xmlns:a16="http://schemas.microsoft.com/office/drawing/2014/main" id="{8050A46D-E5DF-230C-1D3D-C45C7E91D88C}"/>
              </a:ext>
            </a:extLst>
          </p:cNvPr>
          <p:cNvGrpSpPr/>
          <p:nvPr/>
        </p:nvGrpSpPr>
        <p:grpSpPr>
          <a:xfrm>
            <a:off x="253089" y="58794"/>
            <a:ext cx="3073828" cy="952920"/>
            <a:chOff x="457200" y="3624815"/>
            <a:chExt cx="3073828" cy="952920"/>
          </a:xfrm>
          <a:solidFill>
            <a:srgbClr val="E89D06"/>
          </a:solidFill>
        </p:grpSpPr>
        <p:sp>
          <p:nvSpPr>
            <p:cNvPr id="46" name="Google Shape;230;p17">
              <a:extLst>
                <a:ext uri="{FF2B5EF4-FFF2-40B4-BE49-F238E27FC236}">
                  <a16:creationId xmlns:a16="http://schemas.microsoft.com/office/drawing/2014/main" id="{15404E31-4A3C-09C1-2702-844D6EC923CB}"/>
                </a:ext>
              </a:extLst>
            </p:cNvPr>
            <p:cNvSpPr/>
            <p:nvPr/>
          </p:nvSpPr>
          <p:spPr>
            <a:xfrm>
              <a:off x="932635" y="3624815"/>
              <a:ext cx="2598393" cy="952920"/>
            </a:xfrm>
            <a:custGeom>
              <a:avLst/>
              <a:gdLst/>
              <a:ahLst/>
              <a:cxnLst/>
              <a:rect l="l" t="t" r="r" b="b"/>
              <a:pathLst>
                <a:path w="12451" h="8780" extrusionOk="0">
                  <a:moveTo>
                    <a:pt x="0" y="0"/>
                  </a:moveTo>
                  <a:lnTo>
                    <a:pt x="0" y="8780"/>
                  </a:lnTo>
                  <a:lnTo>
                    <a:pt x="12101" y="8780"/>
                  </a:lnTo>
                  <a:cubicBezTo>
                    <a:pt x="12289" y="8780"/>
                    <a:pt x="12451" y="8618"/>
                    <a:pt x="12451" y="8428"/>
                  </a:cubicBezTo>
                  <a:lnTo>
                    <a:pt x="12451" y="378"/>
                  </a:lnTo>
                  <a:cubicBezTo>
                    <a:pt x="12451" y="162"/>
                    <a:pt x="12289" y="0"/>
                    <a:pt x="12101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85725" dist="57150" dir="12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31;p17">
              <a:extLst>
                <a:ext uri="{FF2B5EF4-FFF2-40B4-BE49-F238E27FC236}">
                  <a16:creationId xmlns:a16="http://schemas.microsoft.com/office/drawing/2014/main" id="{9721E7DF-0628-6CA8-3F7B-6A37732AFEBB}"/>
                </a:ext>
              </a:extLst>
            </p:cNvPr>
            <p:cNvSpPr/>
            <p:nvPr/>
          </p:nvSpPr>
          <p:spPr>
            <a:xfrm>
              <a:off x="457200" y="3624815"/>
              <a:ext cx="530346" cy="952920"/>
            </a:xfrm>
            <a:custGeom>
              <a:avLst/>
              <a:gdLst/>
              <a:ahLst/>
              <a:cxnLst/>
              <a:rect l="l" t="t" r="r" b="b"/>
              <a:pathLst>
                <a:path w="3325" h="6646" extrusionOk="0">
                  <a:moveTo>
                    <a:pt x="3324" y="1"/>
                  </a:moveTo>
                  <a:cubicBezTo>
                    <a:pt x="1488" y="1"/>
                    <a:pt x="1" y="1487"/>
                    <a:pt x="1" y="3324"/>
                  </a:cubicBezTo>
                  <a:cubicBezTo>
                    <a:pt x="1" y="5161"/>
                    <a:pt x="1488" y="6645"/>
                    <a:pt x="3324" y="6645"/>
                  </a:cubicBezTo>
                  <a:lnTo>
                    <a:pt x="3324" y="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1438" dist="57150" dir="114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2;p17">
              <a:extLst>
                <a:ext uri="{FF2B5EF4-FFF2-40B4-BE49-F238E27FC236}">
                  <a16:creationId xmlns:a16="http://schemas.microsoft.com/office/drawing/2014/main" id="{64BC68AD-6A69-B568-F712-AF19EEB78275}"/>
                </a:ext>
              </a:extLst>
            </p:cNvPr>
            <p:cNvSpPr txBox="1"/>
            <p:nvPr/>
          </p:nvSpPr>
          <p:spPr>
            <a:xfrm>
              <a:off x="602635" y="3912335"/>
              <a:ext cx="330000" cy="387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0EC7B5A5-E640-1B4A-17B0-914F60AD1A58}"/>
              </a:ext>
            </a:extLst>
          </p:cNvPr>
          <p:cNvSpPr txBox="1"/>
          <p:nvPr/>
        </p:nvSpPr>
        <p:spPr>
          <a:xfrm>
            <a:off x="824976" y="311564"/>
            <a:ext cx="2977376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Organisation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C3097B-0D2C-CB46-8829-E0A26E71B7D5}"/>
              </a:ext>
            </a:extLst>
          </p:cNvPr>
          <p:cNvSpPr txBox="1"/>
          <p:nvPr/>
        </p:nvSpPr>
        <p:spPr>
          <a:xfrm>
            <a:off x="3363493" y="335199"/>
            <a:ext cx="560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900"/>
              </a:spcBef>
            </a:pPr>
            <a:r>
              <a:rPr lang="fr-FR" sz="2000" b="1" dirty="0">
                <a:solidFill>
                  <a:srgbClr val="ED7D31"/>
                </a:solidFill>
                <a:latin typeface="Arial Unicode MS"/>
              </a:rPr>
              <a:t>Organisation des exercices</a:t>
            </a:r>
          </a:p>
        </p:txBody>
      </p:sp>
    </p:spTree>
    <p:extLst>
      <p:ext uri="{BB962C8B-B14F-4D97-AF65-F5344CB8AC3E}">
        <p14:creationId xmlns:p14="http://schemas.microsoft.com/office/powerpoint/2010/main" val="1764122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9531A-E7DF-1CA6-945C-B89C8D1D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17A597BC-FC40-ED9E-CCD0-685FC66EDFEC}"/>
              </a:ext>
            </a:extLst>
          </p:cNvPr>
          <p:cNvSpPr txBox="1"/>
          <p:nvPr/>
        </p:nvSpPr>
        <p:spPr>
          <a:xfrm>
            <a:off x="702127" y="1048864"/>
            <a:ext cx="794385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Le but de cet exercice est de voir l’utilisation des PCA / ACP (Analyse en composantes principales) 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Elle permet de recomposer des [variables explicatives] pour les projeter selon des axes préférentiels pour mettre en évidence une caractéristique dans notre cas le type de fleurs.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Nous allons utiliser un moteur minimum pour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PySpark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135C58F-F80B-EC87-6F17-0DD433237347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6E6D83B-AED8-8028-3ACB-9CC605E229A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28B9E1D2-E8B0-FDD8-4257-B6A3EC74D6F7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77A63A5-A937-C186-CFF3-78E33528282F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Analyse PCA avec Spark ML </a:t>
            </a:r>
          </a:p>
        </p:txBody>
      </p:sp>
    </p:spTree>
    <p:extLst>
      <p:ext uri="{BB962C8B-B14F-4D97-AF65-F5344CB8AC3E}">
        <p14:creationId xmlns:p14="http://schemas.microsoft.com/office/powerpoint/2010/main" val="2021615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DDF1A-3D6A-CF77-A338-70F6F418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6BCF7ED0-02A2-302E-FC79-A8085B18BAA9}"/>
              </a:ext>
            </a:extLst>
          </p:cNvPr>
          <p:cNvSpPr txBox="1"/>
          <p:nvPr/>
        </p:nvSpPr>
        <p:spPr>
          <a:xfrm>
            <a:off x="702127" y="1048864"/>
            <a:ext cx="794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le fichier docker-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compose.yml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dans un répertoire ~/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pca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: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687B612-98E0-E503-4B4C-49A98DE6688E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DBA39934-6485-A736-9AF4-898E98719039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A773FF71-DD11-F86F-C4ED-4084F23BD1F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194279-4A77-DD74-363D-1BF27B93B373}"/>
              </a:ext>
            </a:extLst>
          </p:cNvPr>
          <p:cNvSpPr/>
          <p:nvPr/>
        </p:nvSpPr>
        <p:spPr>
          <a:xfrm>
            <a:off x="1220399" y="1363012"/>
            <a:ext cx="6102235" cy="35806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services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pyspark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jupyter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pyspark-notebook:latest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-notebook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Pour éviter de récupérer l’URL complexe avec </a:t>
            </a:r>
            <a:r>
              <a:rPr lang="fr-FR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aléatoire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JUPYTER_TOKEN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"admin"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"8888:8888"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Dossier de travail partagé avec le container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work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:/home/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jovyan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work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./data:/home/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jovyan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/data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./notebooks:/home/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jovyan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/notebooks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backend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backend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bridge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794388B-4EF8-4B55-52A6-4CAB8AD4E425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Analyse PCA avec Spark ML </a:t>
            </a:r>
          </a:p>
        </p:txBody>
      </p:sp>
    </p:spTree>
    <p:extLst>
      <p:ext uri="{BB962C8B-B14F-4D97-AF65-F5344CB8AC3E}">
        <p14:creationId xmlns:p14="http://schemas.microsoft.com/office/powerpoint/2010/main" val="148345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CE5F5-8C95-1818-254D-5154F050C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382ED8D-ACD2-8C1A-CB92-AE8E730D71DC}"/>
              </a:ext>
            </a:extLst>
          </p:cNvPr>
          <p:cNvSpPr txBox="1"/>
          <p:nvPr/>
        </p:nvSpPr>
        <p:spPr>
          <a:xfrm>
            <a:off x="702127" y="1048864"/>
            <a:ext cx="79438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Ouvrir un terminal et démarrer le service: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Se connecter et créer un notebook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PCA.ipynb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dans le dossier notebooks.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Dans la première cellule créer une session locale de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E4011542-F342-8AAC-A17B-468C21E0DB00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913AB4D-16DC-6FE1-D130-545C4AC677A7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5B4ED2FF-03F6-2DBF-4C06-C655D43BDA3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203908-2D7D-DB77-A1CA-600EC8C4CDE4}"/>
              </a:ext>
            </a:extLst>
          </p:cNvPr>
          <p:cNvSpPr/>
          <p:nvPr/>
        </p:nvSpPr>
        <p:spPr>
          <a:xfrm>
            <a:off x="1220399" y="1333276"/>
            <a:ext cx="6102235" cy="5103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dirty="0">
                <a:solidFill>
                  <a:schemeClr val="bg1"/>
                </a:solidFill>
                <a:latin typeface="Consolas" panose="020B0609020204030204" pitchFamily="49" charset="0"/>
              </a:rPr>
              <a:t>cd ~/</a:t>
            </a:r>
            <a:r>
              <a:rPr lang="fr-FR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pca</a:t>
            </a:r>
            <a:r>
              <a:rPr lang="fr-FR" sz="1200" dirty="0">
                <a:solidFill>
                  <a:schemeClr val="bg1"/>
                </a:solidFill>
                <a:latin typeface="Consolas" panose="020B0609020204030204" pitchFamily="49" charset="0"/>
              </a:rPr>
              <a:t>/</a:t>
            </a:r>
          </a:p>
          <a:p>
            <a:pPr>
              <a:lnSpc>
                <a:spcPts val="1425"/>
              </a:lnSpc>
            </a:pPr>
            <a:r>
              <a:rPr lang="fr-FR" sz="1200" dirty="0">
                <a:solidFill>
                  <a:schemeClr val="bg1"/>
                </a:solidFill>
                <a:latin typeface="Consolas" panose="020B0609020204030204" pitchFamily="49" charset="0"/>
              </a:rPr>
              <a:t>d</a:t>
            </a:r>
            <a:r>
              <a:rPr lang="fr-FR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ocker compose up -d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861171-BFD8-3A11-9E44-1DFC3EE8388D}"/>
              </a:ext>
            </a:extLst>
          </p:cNvPr>
          <p:cNvSpPr/>
          <p:nvPr/>
        </p:nvSpPr>
        <p:spPr>
          <a:xfrm>
            <a:off x="1220398" y="2649302"/>
            <a:ext cx="6102235" cy="22871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Cellule 1 : Imports et création de la </a:t>
            </a:r>
            <a:r>
              <a:rPr lang="fr-FR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SparkSession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pyspark.sql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SparkSession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pyspark.ml.feature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VectorAssembler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PCA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pyspark.sql.functions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col</a:t>
            </a:r>
          </a:p>
          <a:p>
            <a:pPr>
              <a:lnSpc>
                <a:spcPts val="1425"/>
              </a:lnSpc>
            </a:pP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Création de la </a:t>
            </a:r>
            <a:r>
              <a:rPr lang="fr-FR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SparkSession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SparkSession.builder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appName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Iris_PCA_SparkML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getOrCreate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spark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6FFB0E6-A714-8579-A63A-F6EA7A4498DE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Analyse PCA avec Spark ML </a:t>
            </a:r>
          </a:p>
        </p:txBody>
      </p:sp>
    </p:spTree>
    <p:extLst>
      <p:ext uri="{BB962C8B-B14F-4D97-AF65-F5344CB8AC3E}">
        <p14:creationId xmlns:p14="http://schemas.microsoft.com/office/powerpoint/2010/main" val="1959276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B58E7-7808-8D57-16C7-6284A4D0B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651A2F5-A5C8-663E-886C-96AB1130BB64}"/>
              </a:ext>
            </a:extLst>
          </p:cNvPr>
          <p:cNvSpPr txBox="1"/>
          <p:nvPr/>
        </p:nvSpPr>
        <p:spPr>
          <a:xfrm>
            <a:off x="702127" y="1048864"/>
            <a:ext cx="794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Résultat: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5AAA5A2-6984-9E05-9F7D-F969CB428F4F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0FEB4A75-EB59-8567-B337-E2AE2E06A240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082DE4D8-463A-B188-1E71-F938EF3F7DC1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9EF2BDC-F04A-7724-1A10-834D888E2910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Analyse PCA avec Spark ML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222DAEC-ABFB-23CF-9596-6832D4B3F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616" y="1134324"/>
            <a:ext cx="5836767" cy="395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39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707C3-266A-8481-410B-2C84DE05F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098B0917-2F32-F083-0937-9DBD7DB50DB4}"/>
              </a:ext>
            </a:extLst>
          </p:cNvPr>
          <p:cNvSpPr txBox="1"/>
          <p:nvPr/>
        </p:nvSpPr>
        <p:spPr>
          <a:xfrm>
            <a:off x="702127" y="1048864"/>
            <a:ext cx="794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Chargement du </a:t>
            </a:r>
            <a:r>
              <a:rPr lang="fr-FR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dataset</a:t>
            </a: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Iris et création du </a:t>
            </a:r>
            <a:r>
              <a:rPr lang="fr-FR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Spark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54804C1A-A829-C0BB-2638-2512B58533D3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820B2AB2-FDBA-6618-6790-E63FFB8C93EE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448AD63F-B9A0-AB67-9F91-7CF4EE53A29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757442-DA27-7E42-F5FC-35C9A44A2B7A}"/>
              </a:ext>
            </a:extLst>
          </p:cNvPr>
          <p:cNvSpPr/>
          <p:nvPr/>
        </p:nvSpPr>
        <p:spPr>
          <a:xfrm>
            <a:off x="1198096" y="1368283"/>
            <a:ext cx="7551894" cy="37164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Cellule 2 : Chargement du </a:t>
            </a:r>
            <a:r>
              <a:rPr lang="fr-FR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dataset</a:t>
            </a: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Iris et création du </a:t>
            </a:r>
            <a:r>
              <a:rPr lang="fr-FR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Spark</a:t>
            </a: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datasets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load_iris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pd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Chargement des données Iris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load_iris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.data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              </a:t>
            </a: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4 </a:t>
            </a:r>
            <a:r>
              <a:rPr lang="fr-FR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features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.target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            </a:t>
            </a: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label numérique 0,1,2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feature_names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.feature_names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Création d'un </a:t>
            </a:r>
            <a:r>
              <a:rPr lang="fr-FR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pandas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pdf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feature_names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pdf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Conversion en </a:t>
            </a:r>
            <a:r>
              <a:rPr lang="fr-FR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Spark 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createDataFrame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pdf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pdf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describe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printSchema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75A92FD-314B-A0AA-B898-1B30A715AF50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Analyse PCA avec Spark ML </a:t>
            </a:r>
          </a:p>
        </p:txBody>
      </p:sp>
    </p:spTree>
    <p:extLst>
      <p:ext uri="{BB962C8B-B14F-4D97-AF65-F5344CB8AC3E}">
        <p14:creationId xmlns:p14="http://schemas.microsoft.com/office/powerpoint/2010/main" val="380721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79A9E-B8F3-3A48-3C5B-49876C9DA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C52E91F-139F-C34D-726A-6FAE94F079B5}"/>
              </a:ext>
            </a:extLst>
          </p:cNvPr>
          <p:cNvSpPr txBox="1"/>
          <p:nvPr/>
        </p:nvSpPr>
        <p:spPr>
          <a:xfrm>
            <a:off x="702127" y="1048864"/>
            <a:ext cx="794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Résultat: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E1ED3B67-59DE-51E2-8250-133E7FF672ED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75E1ADD2-ABE1-83BA-8B31-B9C090F0F54D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D3B54565-65A5-04BE-4957-CB8967A8EB0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F6AE524-07F7-F8DE-F56A-2985CD822F9E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Analyse PCA avec Spark ML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29B90E2-F61E-F03E-E5C7-DDB643397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672" y="1092982"/>
            <a:ext cx="4533484" cy="399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85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BCB2F-B05F-B873-AF43-E8FB8729E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C7693DDB-E947-E034-0B59-C825D0D1CF95}"/>
              </a:ext>
            </a:extLst>
          </p:cNvPr>
          <p:cNvSpPr txBox="1"/>
          <p:nvPr/>
        </p:nvSpPr>
        <p:spPr>
          <a:xfrm>
            <a:off x="253090" y="1048864"/>
            <a:ext cx="8742228" cy="638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fr-FR" sz="1600" b="0" dirty="0">
                <a:effectLst/>
                <a:latin typeface="Consolas" panose="020B0609020204030204" pitchFamily="49" charset="0"/>
              </a:rPr>
              <a:t> Assemblage des </a:t>
            </a:r>
            <a:r>
              <a:rPr lang="fr-FR" sz="1600" b="0" dirty="0" err="1">
                <a:effectLst/>
                <a:latin typeface="Consolas" panose="020B0609020204030204" pitchFamily="49" charset="0"/>
              </a:rPr>
              <a:t>features</a:t>
            </a:r>
            <a:r>
              <a:rPr lang="fr-FR" sz="1600" b="0" dirty="0">
                <a:effectLst/>
                <a:latin typeface="Consolas" panose="020B0609020204030204" pitchFamily="49" charset="0"/>
              </a:rPr>
              <a:t> en un seul vecteur (</a:t>
            </a:r>
            <a:r>
              <a:rPr lang="fr-FR" sz="1600" b="0" dirty="0" err="1">
                <a:effectLst/>
                <a:latin typeface="Consolas" panose="020B0609020204030204" pitchFamily="49" charset="0"/>
              </a:rPr>
              <a:t>VectorAssembler</a:t>
            </a:r>
            <a:r>
              <a:rPr lang="fr-FR" sz="1600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600" dirty="0">
                <a:latin typeface="Consolas" panose="020B0609020204030204" pitchFamily="49" charset="0"/>
              </a:rPr>
              <a:t> </a:t>
            </a:r>
            <a:r>
              <a:rPr lang="fr-FR" sz="1600" b="0" dirty="0">
                <a:effectLst/>
                <a:latin typeface="Consolas" panose="020B0609020204030204" pitchFamily="49" charset="0"/>
              </a:rPr>
              <a:t>Spark ML attend un vecteur de </a:t>
            </a:r>
            <a:r>
              <a:rPr lang="fr-FR" sz="1600" b="0" dirty="0" err="1">
                <a:effectLst/>
                <a:latin typeface="Consolas" panose="020B0609020204030204" pitchFamily="49" charset="0"/>
              </a:rPr>
              <a:t>features</a:t>
            </a:r>
            <a:r>
              <a:rPr lang="fr-FR" sz="1600" b="0" dirty="0">
                <a:effectLst/>
                <a:latin typeface="Consolas" panose="020B0609020204030204" pitchFamily="49" charset="0"/>
              </a:rPr>
              <a:t> dans une seule colonne (par défaut </a:t>
            </a:r>
            <a:r>
              <a:rPr lang="fr-FR" sz="1600" b="0" dirty="0" err="1">
                <a:effectLst/>
                <a:latin typeface="Consolas" panose="020B0609020204030204" pitchFamily="49" charset="0"/>
              </a:rPr>
              <a:t>features</a:t>
            </a:r>
            <a:r>
              <a:rPr lang="fr-FR" sz="1600" b="0" dirty="0">
                <a:effectLst/>
                <a:latin typeface="Consolas" panose="020B0609020204030204" pitchFamily="49" charset="0"/>
              </a:rPr>
              <a:t>).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963B2742-004A-88D6-BD78-AAD2A7B4EEA6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B967F4-9C1B-C29B-1CC5-46B7F9E87C3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B831439A-5ACB-AC42-CBBC-3D7D4D0B004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32D0F0-EF72-0457-B1CE-A4FAB40EDFC6}"/>
              </a:ext>
            </a:extLst>
          </p:cNvPr>
          <p:cNvSpPr/>
          <p:nvPr/>
        </p:nvSpPr>
        <p:spPr>
          <a:xfrm>
            <a:off x="1175794" y="1777162"/>
            <a:ext cx="7551894" cy="254951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Cellule 3 : Assemblage des </a:t>
            </a:r>
            <a:r>
              <a:rPr lang="fr-FR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features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feature_cols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feature_names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les 4 colonnes de mesures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assembler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VectorAssembler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inputCols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feature_cols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outputCol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df_features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assembler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df_features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feature_cols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]).</a:t>
            </a:r>
            <a:r>
              <a:rPr lang="fr-FR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truncate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41255F2-53B1-C2E6-B958-3CD159E67A55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Analyse PCA avec Spark ML </a:t>
            </a:r>
          </a:p>
        </p:txBody>
      </p:sp>
    </p:spTree>
    <p:extLst>
      <p:ext uri="{BB962C8B-B14F-4D97-AF65-F5344CB8AC3E}">
        <p14:creationId xmlns:p14="http://schemas.microsoft.com/office/powerpoint/2010/main" val="2180845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CEDBC-11FE-5789-E8E5-AF12827AF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EA7BB3B-378E-23E2-4155-E46C488CAC6E}"/>
              </a:ext>
            </a:extLst>
          </p:cNvPr>
          <p:cNvSpPr txBox="1"/>
          <p:nvPr/>
        </p:nvSpPr>
        <p:spPr>
          <a:xfrm>
            <a:off x="702127" y="1048864"/>
            <a:ext cx="794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Résultat: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B228A28-EE78-7A09-C608-051305B11D48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ACE28E3-2893-1613-7AAB-C994C38DFCD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87F1730-5AE5-3A6B-915F-3BDAA1E0C660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B0754A0-E44E-6635-7320-CB0ADD967C22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Analyse PCA avec Spark ML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F2A2C6-6569-7909-65C9-7D6232BB1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255" y="1048864"/>
            <a:ext cx="5994350" cy="403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15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273CD-D54C-B6C7-9ED4-BAF471AAE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F18660D6-2752-B2C1-5A26-7F3EFD5F156D}"/>
              </a:ext>
            </a:extLst>
          </p:cNvPr>
          <p:cNvSpPr txBox="1"/>
          <p:nvPr/>
        </p:nvSpPr>
        <p:spPr>
          <a:xfrm>
            <a:off x="253090" y="1048864"/>
            <a:ext cx="8742228" cy="818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fr-FR" sz="1600" b="0" dirty="0">
                <a:effectLst/>
                <a:latin typeface="Consolas" panose="020B0609020204030204" pitchFamily="49" charset="0"/>
              </a:rPr>
              <a:t>Application du PCA avec Spark ML</a:t>
            </a:r>
          </a:p>
          <a:p>
            <a:pPr>
              <a:lnSpc>
                <a:spcPts val="1425"/>
              </a:lnSpc>
            </a:pPr>
            <a:br>
              <a:rPr lang="fr-FR" sz="1600" b="0" dirty="0">
                <a:effectLst/>
                <a:latin typeface="Consolas" panose="020B0609020204030204" pitchFamily="49" charset="0"/>
              </a:rPr>
            </a:br>
            <a:r>
              <a:rPr lang="fr-FR" sz="1600" b="0" dirty="0">
                <a:effectLst/>
                <a:latin typeface="Consolas" panose="020B0609020204030204" pitchFamily="49" charset="0"/>
              </a:rPr>
              <a:t>On va réduire à 2 composantes principales pour la visualisation,  k peut être adapté.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9F55A91-415D-47C2-54FF-EA9C3EC1A24D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1629A859-521D-53A4-4DC5-BA791B483FD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E4064E6-BC75-378D-BE12-8F5C307B76C0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31BFB-BEB7-06CF-AC4C-991A27BC5B64}"/>
              </a:ext>
            </a:extLst>
          </p:cNvPr>
          <p:cNvSpPr/>
          <p:nvPr/>
        </p:nvSpPr>
        <p:spPr>
          <a:xfrm>
            <a:off x="1175794" y="1777162"/>
            <a:ext cx="7715116" cy="33075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Cellule 4 : PCA avec Spark ML</a:t>
            </a: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nombre de composantes principales souhaitées</a:t>
            </a: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inputCol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outputCol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pca_features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pca_model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df_features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df_pca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pca_model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df_features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Afficher les premières lignes avec les composantes principales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df_pca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pca_features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truncate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Variance expliquée par chaque composante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explained_variance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pca_model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.explainedVariance.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toArray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"Variance expliquée par chaque composante :"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explained_variance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  PC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:.4f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"Variance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expliquée cumulée (k=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explained_variance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:.4f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8C5F30E-9134-ABAB-68BF-A44D02E7D79A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Analyse PCA avec Spark ML </a:t>
            </a:r>
          </a:p>
        </p:txBody>
      </p:sp>
    </p:spTree>
    <p:extLst>
      <p:ext uri="{BB962C8B-B14F-4D97-AF65-F5344CB8AC3E}">
        <p14:creationId xmlns:p14="http://schemas.microsoft.com/office/powerpoint/2010/main" val="163495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1CB85-46E4-3992-9408-41FD615D8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FB53A535-18BD-E50B-D22C-779F746856C1}"/>
              </a:ext>
            </a:extLst>
          </p:cNvPr>
          <p:cNvSpPr txBox="1"/>
          <p:nvPr/>
        </p:nvSpPr>
        <p:spPr>
          <a:xfrm>
            <a:off x="702127" y="1048864"/>
            <a:ext cx="794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Résultat: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129AB90-32F6-56B6-6F39-4F647D8E6060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38C311A-B0F3-695D-E623-A78ED995E6ED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DA0897E1-E0B6-48F3-D63D-1279FC16517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080E49D-48CC-6290-67E1-4320133DBA5E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Analyse PCA avec Spark ML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F87152A-47CA-00AA-F01E-CEC962459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20" y="1363013"/>
            <a:ext cx="5391902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3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5A095-7E5D-DD1F-C0EE-65053EA5B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3E6791FD-1FCF-AFFB-601A-8F72E2EA395C}"/>
              </a:ext>
            </a:extLst>
          </p:cNvPr>
          <p:cNvSpPr txBox="1"/>
          <p:nvPr/>
        </p:nvSpPr>
        <p:spPr>
          <a:xfrm>
            <a:off x="253090" y="1048864"/>
            <a:ext cx="8742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</a:pPr>
            <a:r>
              <a:rPr lang="fr-FR" sz="1600" b="0" i="0" dirty="0">
                <a:effectLst/>
                <a:latin typeface="system-ui"/>
              </a:rPr>
              <a:t> Récupération des résultats pour visualisation (optionnel, via </a:t>
            </a:r>
            <a:r>
              <a:rPr lang="fr-FR" sz="1600" b="0" i="0" dirty="0" err="1">
                <a:effectLst/>
                <a:latin typeface="system-ui"/>
              </a:rPr>
              <a:t>matplotlib</a:t>
            </a:r>
            <a:r>
              <a:rPr lang="fr-FR" sz="1600" b="0" i="0" dirty="0">
                <a:effectLst/>
                <a:latin typeface="system-ui"/>
              </a:rPr>
              <a:t>)</a:t>
            </a:r>
            <a:r>
              <a:rPr lang="fr-FR" sz="1600" b="0" i="0" u="none" strike="noStrike" dirty="0">
                <a:solidFill>
                  <a:srgbClr val="0D47A1"/>
                </a:solidFill>
                <a:effectLst/>
                <a:latin typeface="system-ui"/>
                <a:hlinkClick r:id="rId2"/>
              </a:rPr>
              <a:t>¶</a:t>
            </a:r>
            <a:r>
              <a:rPr lang="fr-FR" sz="1600" b="0" i="0" dirty="0">
                <a:effectLst/>
                <a:latin typeface="system-ui"/>
              </a:rPr>
              <a:t>Ici on rapatrie les composantes principales côté driver en Pandas pour faire un </a:t>
            </a:r>
            <a:r>
              <a:rPr lang="fr-FR" sz="1600" b="0" i="0" dirty="0" err="1">
                <a:effectLst/>
                <a:latin typeface="system-ui"/>
              </a:rPr>
              <a:t>scatter</a:t>
            </a:r>
            <a:r>
              <a:rPr lang="fr-FR" sz="1600" b="0" i="0" dirty="0">
                <a:effectLst/>
                <a:latin typeface="system-ui"/>
              </a:rPr>
              <a:t> plot avec </a:t>
            </a:r>
            <a:r>
              <a:rPr lang="fr-FR" sz="1600" b="0" i="0" dirty="0" err="1">
                <a:effectLst/>
                <a:latin typeface="system-ui"/>
              </a:rPr>
              <a:t>matplotlib</a:t>
            </a:r>
            <a:r>
              <a:rPr lang="fr-FR" sz="1600" b="0" i="0" dirty="0">
                <a:effectLst/>
                <a:latin typeface="system-ui"/>
              </a:rPr>
              <a:t>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E6EA844-F00F-3233-00B7-53F29DD908E2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76254BB7-BB6E-0A9B-7985-22C695D8AB2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159D1693-2826-4228-B909-5D1FD5825642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489209-4B83-5FBF-ABF3-31F2273F6201}"/>
              </a:ext>
            </a:extLst>
          </p:cNvPr>
          <p:cNvSpPr/>
          <p:nvPr/>
        </p:nvSpPr>
        <p:spPr>
          <a:xfrm>
            <a:off x="1012243" y="1633639"/>
            <a:ext cx="7715116" cy="33769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Cellule 5 : Visualisation 2D des deux premières composantes principales</a:t>
            </a: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plt</a:t>
            </a: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Conversion en pandas </a:t>
            </a:r>
            <a:r>
              <a:rPr lang="fr-FR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DataFrame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pca_pdf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df_pca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pca_features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rdd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pca_features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]),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pca_features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]),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])))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toDF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"PC1"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"PC2"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toPandas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Mapping des labels vers les noms d'espèces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target_names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.target_names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pca_pdf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species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pca_pdf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target_names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fr-FR" sz="1200" dirty="0">
                <a:solidFill>
                  <a:srgbClr val="ABB2BF"/>
                </a:solidFill>
                <a:latin typeface="Consolas" panose="020B0609020204030204" pitchFamily="49" charset="0"/>
              </a:rPr>
              <a:t>… Suite page suivante.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B33FB08-A022-C2E5-3CE3-6578B642DBB7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Analyse PCA avec Spark ML </a:t>
            </a:r>
          </a:p>
        </p:txBody>
      </p:sp>
    </p:spTree>
    <p:extLst>
      <p:ext uri="{BB962C8B-B14F-4D97-AF65-F5344CB8AC3E}">
        <p14:creationId xmlns:p14="http://schemas.microsoft.com/office/powerpoint/2010/main" val="156720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BCDA-6B0D-458E-8783-4C0EAC77B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05DFA0BD-40D2-45C4-6F08-B6BDF1BA5ADF}"/>
              </a:ext>
            </a:extLst>
          </p:cNvPr>
          <p:cNvSpPr txBox="1"/>
          <p:nvPr/>
        </p:nvSpPr>
        <p:spPr>
          <a:xfrm>
            <a:off x="498417" y="1053054"/>
            <a:ext cx="7715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</a:pPr>
            <a:r>
              <a:rPr lang="fr-FR" sz="1600" b="0" i="0" dirty="0">
                <a:effectLst/>
                <a:latin typeface="system-ui"/>
              </a:rPr>
              <a:t>Paramétrage du graphique.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2AB6CDEF-7A64-F88A-6B46-24651C61A499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2471B1DB-2B9A-D478-5AF3-BDDB6C039BDE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08D3C9D8-B4F6-73BB-FB7A-DB36748BBA20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F9F67D-EAFF-E70F-82FC-23C45E858A33}"/>
              </a:ext>
            </a:extLst>
          </p:cNvPr>
          <p:cNvSpPr/>
          <p:nvPr/>
        </p:nvSpPr>
        <p:spPr>
          <a:xfrm>
            <a:off x="1012243" y="1633639"/>
            <a:ext cx="7715116" cy="21800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species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pca_pdf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species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fr-FR" sz="12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subset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pca_pdf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pca_pdf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species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species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scatter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subset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"PC1"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subset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"PC2"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fr-FR" sz="12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species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"PC1"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"PC2"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"PCA sur Iris (Spark 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MLlib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B5BE786-0962-1DE1-6109-E28B90E7C285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Analyse PCA avec Spark ML </a:t>
            </a:r>
          </a:p>
        </p:txBody>
      </p:sp>
    </p:spTree>
    <p:extLst>
      <p:ext uri="{BB962C8B-B14F-4D97-AF65-F5344CB8AC3E}">
        <p14:creationId xmlns:p14="http://schemas.microsoft.com/office/powerpoint/2010/main" val="602082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22680-ECFC-E223-4E4D-753804B6C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19EE155B-623A-1A07-A93D-0260F5012DE5}"/>
              </a:ext>
            </a:extLst>
          </p:cNvPr>
          <p:cNvSpPr txBox="1"/>
          <p:nvPr/>
        </p:nvSpPr>
        <p:spPr>
          <a:xfrm>
            <a:off x="702127" y="1048864"/>
            <a:ext cx="794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Résultat: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8A826AA4-D967-B821-AE10-7F5E4778C460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21B1DC03-D04D-CD10-AB9D-94FBD2F93BB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C8D26534-5952-7E24-35F8-33EC1AB1A818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CBB42C1-DA48-40D4-E5E0-A72B7AA38D41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Analyse PCA avec Spark ML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1B869DF-5B10-CC7F-8C22-AB97D9136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368" y="1048864"/>
            <a:ext cx="5532476" cy="408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2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E933F-D081-B7BE-86E0-78D6B7A23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B4AA3FC9-CFC2-B90F-8581-FAB234E666E7}"/>
              </a:ext>
            </a:extLst>
          </p:cNvPr>
          <p:cNvSpPr txBox="1"/>
          <p:nvPr/>
        </p:nvSpPr>
        <p:spPr>
          <a:xfrm>
            <a:off x="728524" y="1098135"/>
            <a:ext cx="7382130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</a:pPr>
            <a:r>
              <a:rPr lang="fr-FR" sz="1600" b="0" i="0" dirty="0">
                <a:effectLst/>
                <a:latin typeface="system-ui"/>
              </a:rPr>
              <a:t>Présentation de la constitution des composantes principales PC1 et PC2</a:t>
            </a:r>
          </a:p>
          <a:p>
            <a:pPr algn="l">
              <a:spcBef>
                <a:spcPts val="1089"/>
              </a:spcBef>
              <a:spcAft>
                <a:spcPts val="1451"/>
              </a:spcAft>
            </a:pPr>
            <a:endParaRPr lang="fr-FR" sz="1600" dirty="0">
              <a:latin typeface="system-ui"/>
            </a:endParaRPr>
          </a:p>
          <a:p>
            <a:pPr algn="l">
              <a:spcBef>
                <a:spcPts val="1089"/>
              </a:spcBef>
              <a:spcAft>
                <a:spcPts val="1451"/>
              </a:spcAft>
            </a:pPr>
            <a:endParaRPr lang="fr-FR" sz="1600" b="0" i="0" dirty="0">
              <a:effectLst/>
              <a:latin typeface="system-ui"/>
            </a:endParaRPr>
          </a:p>
          <a:p>
            <a:pPr algn="l">
              <a:spcBef>
                <a:spcPts val="1089"/>
              </a:spcBef>
              <a:spcAft>
                <a:spcPts val="1451"/>
              </a:spcAft>
            </a:pPr>
            <a:endParaRPr lang="fr-FR" sz="1600" dirty="0">
              <a:latin typeface="system-ui"/>
            </a:endParaRPr>
          </a:p>
          <a:p>
            <a:pPr algn="l">
              <a:spcBef>
                <a:spcPts val="1089"/>
              </a:spcBef>
              <a:spcAft>
                <a:spcPts val="1451"/>
              </a:spcAft>
            </a:pPr>
            <a:r>
              <a:rPr lang="fr-FR" sz="1600" dirty="0">
                <a:latin typeface="system-ui"/>
              </a:rPr>
              <a:t>Résultat: </a:t>
            </a:r>
            <a:endParaRPr lang="fr-FR" sz="1600" b="0" i="0" dirty="0">
              <a:effectLst/>
              <a:latin typeface="system-ui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780CDD4D-7650-D217-E99A-2CDCAEE8AB46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20254621-9407-B6A5-0138-540E8A4068F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2F65186E-2D98-05CC-98CC-996CCCBD250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FD43CD-6500-B1D9-4B6D-572AAB415E32}"/>
              </a:ext>
            </a:extLst>
          </p:cNvPr>
          <p:cNvSpPr/>
          <p:nvPr/>
        </p:nvSpPr>
        <p:spPr>
          <a:xfrm>
            <a:off x="1012243" y="1424568"/>
            <a:ext cx="7715116" cy="18381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Matrice des composantes principales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pc_matrix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pca_model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.pc.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toArray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pc_df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pc_matrix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"PC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1}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pc_matrix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.shape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])],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feature_names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pc_df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E23DF29-DF79-F862-3ED8-CFA9F2C3BF62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Analyse PCA avec Spark ML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9FB774D-4B68-233E-5967-F339F4837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895" y="3506372"/>
            <a:ext cx="2855277" cy="157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659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783EB-53E6-06E3-C3C6-43339797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BC2D87F-C6C3-9F3A-6A43-7CF2B0937B26}"/>
              </a:ext>
            </a:extLst>
          </p:cNvPr>
          <p:cNvSpPr txBox="1"/>
          <p:nvPr/>
        </p:nvSpPr>
        <p:spPr>
          <a:xfrm>
            <a:off x="498417" y="1053054"/>
            <a:ext cx="7715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</a:pPr>
            <a:r>
              <a:rPr lang="fr-FR" sz="1600" b="0" i="0" dirty="0">
                <a:effectLst/>
                <a:latin typeface="system-ui"/>
              </a:rPr>
              <a:t>Arrêt de la session Spark.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FE4C457B-58AC-2027-5A30-49A2BE456EC9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4B030915-B362-E0B4-5493-2F5EE573C80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74C9BCB9-05B9-1030-E271-CAAFE6934AE1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4A5E52-F477-7359-75AF-7A67F13E99CE}"/>
              </a:ext>
            </a:extLst>
          </p:cNvPr>
          <p:cNvSpPr/>
          <p:nvPr/>
        </p:nvSpPr>
        <p:spPr>
          <a:xfrm>
            <a:off x="1012243" y="1633639"/>
            <a:ext cx="7715116" cy="131028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Cellule 6 : Arrêt de la session Spark (facultatif en notebook, mais propre)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stop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AAAEFC6-6783-ECEC-3D9A-FC8AB6A09347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Analyse PCA avec Spark ML </a:t>
            </a:r>
          </a:p>
        </p:txBody>
      </p:sp>
    </p:spTree>
    <p:extLst>
      <p:ext uri="{BB962C8B-B14F-4D97-AF65-F5344CB8AC3E}">
        <p14:creationId xmlns:p14="http://schemas.microsoft.com/office/powerpoint/2010/main" val="2797893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19587-A903-1E71-4954-6519D3905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1F954EFC-6D98-9F9F-0E81-E0154B7BF76D}"/>
              </a:ext>
            </a:extLst>
          </p:cNvPr>
          <p:cNvSpPr txBox="1"/>
          <p:nvPr/>
        </p:nvSpPr>
        <p:spPr>
          <a:xfrm>
            <a:off x="498417" y="1053054"/>
            <a:ext cx="7715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</a:pPr>
            <a:r>
              <a:rPr lang="fr-FR" sz="1600" b="0" i="0" dirty="0">
                <a:effectLst/>
                <a:latin typeface="system-ui"/>
              </a:rPr>
              <a:t>L’analyse en composante principale: correspond à une analyse linéaire et recherche des valeurs propres en les classant par ordre décroissant, et en déterminant les vecteurs propres correspondants (Axe principaux) 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A0EC8EE0-C99A-BF12-8475-1ACB3A5FC1C5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F55DD08-08FF-F877-740F-08A98E7CC3D3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F143B1C8-4847-070F-62FF-295AD75EA34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84B56C-E594-707B-026F-0338CD721235}"/>
              </a:ext>
            </a:extLst>
          </p:cNvPr>
          <p:cNvSpPr/>
          <p:nvPr/>
        </p:nvSpPr>
        <p:spPr>
          <a:xfrm>
            <a:off x="842891" y="2094297"/>
            <a:ext cx="7715116" cy="1689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b="1" dirty="0"/>
              <a:t>3️⃣ Comment Spark calcule PC1 et PC2 (conceptuellement)</a:t>
            </a:r>
          </a:p>
          <a:p>
            <a:pPr>
              <a:buFont typeface="+mj-lt"/>
              <a:buAutoNum type="arabicPeriod"/>
            </a:pPr>
            <a:r>
              <a:rPr lang="fr-FR" sz="1200" b="1" dirty="0"/>
              <a:t>Standardisation implicite</a:t>
            </a:r>
            <a:r>
              <a:rPr lang="fr-FR" sz="1200" dirty="0"/>
              <a:t> (si tu l’as faite avant PCA, ce qui est recommandé)</a:t>
            </a:r>
          </a:p>
          <a:p>
            <a:pPr>
              <a:buFont typeface="+mj-lt"/>
              <a:buAutoNum type="arabicPeriod"/>
            </a:pPr>
            <a:r>
              <a:rPr lang="fr-FR" sz="1200" dirty="0"/>
              <a:t>Calcul de la </a:t>
            </a:r>
            <a:r>
              <a:rPr lang="fr-FR" sz="1200" b="1" dirty="0"/>
              <a:t>matrice de covariance</a:t>
            </a:r>
            <a:endParaRPr lang="fr-FR" sz="1200" dirty="0"/>
          </a:p>
          <a:p>
            <a:pPr>
              <a:buFont typeface="+mj-lt"/>
              <a:buAutoNum type="arabicPeriod"/>
            </a:pPr>
            <a:r>
              <a:rPr lang="fr-FR" sz="1200" dirty="0"/>
              <a:t>Calcul des </a:t>
            </a:r>
            <a:r>
              <a:rPr lang="fr-FR" sz="1200" b="1" dirty="0"/>
              <a:t>valeurs propres</a:t>
            </a:r>
            <a:r>
              <a:rPr lang="fr-FR" sz="1200" dirty="0"/>
              <a:t> et </a:t>
            </a:r>
            <a:r>
              <a:rPr lang="fr-FR" sz="1200" b="1" dirty="0"/>
              <a:t>vecteurs propres</a:t>
            </a:r>
            <a:endParaRPr lang="fr-FR" sz="1200" dirty="0"/>
          </a:p>
          <a:p>
            <a:pPr>
              <a:buFont typeface="+mj-lt"/>
              <a:buAutoNum type="arabicPeriod"/>
            </a:pPr>
            <a:r>
              <a:rPr lang="fr-FR" sz="1200" dirty="0"/>
              <a:t>Classement par variance expliquée décroissante</a:t>
            </a:r>
          </a:p>
          <a:p>
            <a:pPr>
              <a:buFont typeface="+mj-lt"/>
              <a:buAutoNum type="arabicPeriod"/>
            </a:pPr>
            <a:r>
              <a:rPr lang="fr-FR" sz="1200" dirty="0"/>
              <a:t>Projection des données sur ces axes</a:t>
            </a:r>
          </a:p>
          <a:p>
            <a:r>
              <a:rPr lang="fr-FR" sz="1200" dirty="0"/>
              <a:t>📐 Les vecteurs propres = directions de PC1, PC2</a:t>
            </a:r>
            <a:br>
              <a:rPr lang="fr-FR" sz="1200" dirty="0"/>
            </a:br>
            <a:r>
              <a:rPr lang="fr-FR" sz="1200" dirty="0"/>
              <a:t>📊 Les valeurs propres = variance expliquée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01AAD4-B94F-5022-8B5E-C05BDA4B4A5D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Explication des PCA</a:t>
            </a:r>
          </a:p>
        </p:txBody>
      </p:sp>
    </p:spTree>
    <p:extLst>
      <p:ext uri="{BB962C8B-B14F-4D97-AF65-F5344CB8AC3E}">
        <p14:creationId xmlns:p14="http://schemas.microsoft.com/office/powerpoint/2010/main" val="2141085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5" t="869" r="11671"/>
          <a:stretch/>
        </p:blipFill>
        <p:spPr>
          <a:xfrm>
            <a:off x="4431282" y="-7974"/>
            <a:ext cx="4718608" cy="513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1625" y="932"/>
            <a:ext cx="8138265" cy="5143500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7" name="Parallélogramme 6"/>
          <p:cNvSpPr/>
          <p:nvPr/>
        </p:nvSpPr>
        <p:spPr>
          <a:xfrm>
            <a:off x="-1634180" y="-5770"/>
            <a:ext cx="7690701" cy="5135525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124" y="2162390"/>
            <a:ext cx="3304125" cy="2579399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ctrTitle" idx="4294967295"/>
          </p:nvPr>
        </p:nvSpPr>
        <p:spPr>
          <a:xfrm>
            <a:off x="5971273" y="2636568"/>
            <a:ext cx="2393946" cy="175196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270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cs"/>
              </a:rPr>
              <a:t>Suivez-Nous</a:t>
            </a:r>
            <a:br>
              <a:rPr lang="fr-FR">
                <a:solidFill>
                  <a:schemeClr val="bg1"/>
                </a:solidFill>
              </a:rPr>
            </a:br>
            <a:br>
              <a:rPr lang="fr-FR">
                <a:solidFill>
                  <a:schemeClr val="bg1"/>
                </a:solidFill>
              </a:rPr>
            </a:b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  <a:hlinkClick r:id="rId5"/>
              </a:rPr>
              <a:t>www.mgt-conseils.com</a:t>
            </a: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</a:rPr>
              <a:t>contact@mgt-conseils.com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8619" y="496808"/>
            <a:ext cx="3489311" cy="300082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b="1">
                <a:solidFill>
                  <a:srgbClr val="0070C0"/>
                </a:solidFill>
                <a:latin typeface="Agency FB"/>
              </a:rPr>
              <a:t> </a:t>
            </a:r>
            <a:r>
              <a:rPr lang="fr-FR" sz="1500" b="1">
                <a:solidFill>
                  <a:srgbClr val="F89A33"/>
                </a:solidFill>
                <a:latin typeface="Agency FB"/>
              </a:rPr>
              <a:t>| Direction Commerciale</a:t>
            </a:r>
            <a:endParaRPr lang="fr-FR" sz="1500">
              <a:latin typeface="Agency FB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50011" y="794581"/>
            <a:ext cx="2639741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/>
              </a:rPr>
              <a:t>business@mgt-conseils.com </a:t>
            </a:r>
            <a:endParaRPr lang="fr-FR" sz="1500">
              <a:solidFill>
                <a:srgbClr val="676D72"/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4667449" y="4706090"/>
            <a:ext cx="5001596" cy="54998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825">
                <a:solidFill>
                  <a:schemeClr val="bg1"/>
                </a:solidFill>
              </a:rPr>
              <a:t>SARL au capital de 50 300 € - SIRET 479 638 462 00032 </a:t>
            </a: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871474"/>
            <a:ext cx="146399" cy="1463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59972" y="1314543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Paris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451364" y="1626848"/>
            <a:ext cx="26397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+331 47 20 67 63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Les Champs Elysées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104 Rue du Faubourg Saint - Honoré, 75008 Paris</a:t>
            </a: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79" y="1699834"/>
            <a:ext cx="146399" cy="146399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245868" y="2674542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Abidjan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437260" y="2986846"/>
            <a:ext cx="280687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+225 05 06 75 01 01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Résidence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Palazzo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Posillipo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Cocody - Danga,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BP 10 367, Abidjan 01</a:t>
            </a:r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75" y="3059832"/>
            <a:ext cx="146399" cy="14639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42717" y="3838560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Bénin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434109" y="4150864"/>
            <a:ext cx="30545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+229 90 55 10 55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Akpakpa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Rés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. JR d’Adèle,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Cotonou</a:t>
            </a:r>
          </a:p>
        </p:txBody>
      </p:sp>
      <p:pic>
        <p:nvPicPr>
          <p:cNvPr id="44" name="Imag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4223850"/>
            <a:ext cx="146399" cy="146399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32" y="1946622"/>
            <a:ext cx="141499" cy="141499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4460988"/>
            <a:ext cx="141499" cy="141499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3343186"/>
            <a:ext cx="141499" cy="141499"/>
          </a:xfrm>
          <a:prstGeom prst="rect">
            <a:avLst/>
          </a:prstGeom>
        </p:spPr>
      </p:pic>
      <p:grpSp>
        <p:nvGrpSpPr>
          <p:cNvPr id="16" name="Groupe 15"/>
          <p:cNvGrpSpPr/>
          <p:nvPr/>
        </p:nvGrpSpPr>
        <p:grpSpPr>
          <a:xfrm>
            <a:off x="5935935" y="3045995"/>
            <a:ext cx="2471907" cy="660017"/>
            <a:chOff x="7953078" y="4393803"/>
            <a:chExt cx="3295876" cy="880023"/>
          </a:xfrm>
        </p:grpSpPr>
        <p:grpSp>
          <p:nvGrpSpPr>
            <p:cNvPr id="13" name="Groupe 12"/>
            <p:cNvGrpSpPr/>
            <p:nvPr/>
          </p:nvGrpSpPr>
          <p:grpSpPr>
            <a:xfrm>
              <a:off x="7953078" y="4393803"/>
              <a:ext cx="1235024" cy="880023"/>
              <a:chOff x="7708552" y="4387991"/>
              <a:chExt cx="1235024" cy="880023"/>
            </a:xfrm>
          </p:grpSpPr>
          <p:pic>
            <p:nvPicPr>
              <p:cNvPr id="4" name="Image 3"/>
              <p:cNvPicPr>
                <a:picLocks noChangeAspect="1"/>
              </p:cNvPicPr>
              <p:nvPr/>
            </p:nvPicPr>
            <p:blipFill>
              <a:blip r:embed="rId9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3043" y="4387991"/>
                <a:ext cx="346041" cy="346041"/>
              </a:xfrm>
              <a:prstGeom prst="rect">
                <a:avLst/>
              </a:prstGeom>
            </p:spPr>
          </p:pic>
          <p:sp>
            <p:nvSpPr>
              <p:cNvPr id="47" name="Titre 1"/>
              <p:cNvSpPr txBox="1">
                <a:spLocks/>
              </p:cNvSpPr>
              <p:nvPr/>
            </p:nvSpPr>
            <p:spPr>
              <a:xfrm>
                <a:off x="7708552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MGT.Conseils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/>
          </p:nvGrpSpPr>
          <p:grpSpPr>
            <a:xfrm>
              <a:off x="8943789" y="4426916"/>
              <a:ext cx="1235024" cy="840134"/>
              <a:chOff x="8704148" y="4427880"/>
              <a:chExt cx="1235024" cy="840134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10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3910" y="4427880"/>
                <a:ext cx="349810" cy="349810"/>
              </a:xfrm>
              <a:prstGeom prst="rect">
                <a:avLst/>
              </a:prstGeom>
            </p:spPr>
          </p:pic>
          <p:sp>
            <p:nvSpPr>
              <p:cNvPr id="49" name="Titre 1"/>
              <p:cNvSpPr txBox="1">
                <a:spLocks/>
              </p:cNvSpPr>
              <p:nvPr/>
            </p:nvSpPr>
            <p:spPr>
              <a:xfrm>
                <a:off x="8704148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</a:t>
                </a:r>
                <a:r>
                  <a:rPr lang="fr-FR" sz="825">
                    <a:solidFill>
                      <a:schemeClr val="bg1"/>
                    </a:solidFill>
                  </a:rPr>
                  <a:t>-conseils</a:t>
                </a:r>
              </a:p>
            </p:txBody>
          </p:sp>
        </p:grpSp>
        <p:grpSp>
          <p:nvGrpSpPr>
            <p:cNvPr id="15" name="Groupe 14"/>
            <p:cNvGrpSpPr/>
            <p:nvPr/>
          </p:nvGrpSpPr>
          <p:grpSpPr>
            <a:xfrm>
              <a:off x="10013930" y="4426197"/>
              <a:ext cx="1235024" cy="840853"/>
              <a:chOff x="9613248" y="4415593"/>
              <a:chExt cx="1235024" cy="840853"/>
            </a:xfrm>
          </p:grpSpPr>
          <p:pic>
            <p:nvPicPr>
              <p:cNvPr id="9" name="Image 8"/>
              <p:cNvPicPr>
                <a:picLocks noChangeAspect="1"/>
              </p:cNvPicPr>
              <p:nvPr/>
            </p:nvPicPr>
            <p:blipFill>
              <a:blip r:embed="rId11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153" y="4415593"/>
                <a:ext cx="347214" cy="347214"/>
              </a:xfrm>
              <a:prstGeom prst="rect">
                <a:avLst/>
              </a:prstGeom>
            </p:spPr>
          </p:pic>
          <p:sp>
            <p:nvSpPr>
              <p:cNvPr id="51" name="Titre 1"/>
              <p:cNvSpPr txBox="1">
                <a:spLocks/>
              </p:cNvSpPr>
              <p:nvPr/>
            </p:nvSpPr>
            <p:spPr>
              <a:xfrm>
                <a:off x="9613248" y="4523134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@</a:t>
                </a:r>
                <a:r>
                  <a:rPr lang="fr-FR" sz="825" err="1">
                    <a:solidFill>
                      <a:schemeClr val="bg1"/>
                    </a:solidFill>
                  </a:rPr>
                  <a:t>MGTConseils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10192631-2D34-469C-A952-3B55768F581D}"/>
              </a:ext>
            </a:extLst>
          </p:cNvPr>
          <p:cNvSpPr txBox="1"/>
          <p:nvPr/>
        </p:nvSpPr>
        <p:spPr>
          <a:xfrm>
            <a:off x="6020136" y="501821"/>
            <a:ext cx="2784985" cy="156966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fr-FR" sz="3200" b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Merci pour votre attention </a:t>
            </a:r>
          </a:p>
        </p:txBody>
      </p:sp>
    </p:spTree>
    <p:extLst>
      <p:ext uri="{BB962C8B-B14F-4D97-AF65-F5344CB8AC3E}">
        <p14:creationId xmlns:p14="http://schemas.microsoft.com/office/powerpoint/2010/main" val="78251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eca01c-4ea5-40c8-83fd-b296bd340025">
      <UserInfo>
        <DisplayName>Abir GUENICH - Ingénieure d’affaire</DisplayName>
        <AccountId>246</AccountId>
        <AccountType/>
      </UserInfo>
    </SharedWithUsers>
    <_activity xmlns="6f1b3788-58c0-46a5-9604-64d97c7fc47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419B1710D3DF4A9DAA9ADF73C802B5" ma:contentTypeVersion="14" ma:contentTypeDescription="Crée un document." ma:contentTypeScope="" ma:versionID="d45f398bd182fafaec1e6b20d8a38b6f">
  <xsd:schema xmlns:xsd="http://www.w3.org/2001/XMLSchema" xmlns:xs="http://www.w3.org/2001/XMLSchema" xmlns:p="http://schemas.microsoft.com/office/2006/metadata/properties" xmlns:ns3="6f1b3788-58c0-46a5-9604-64d97c7fc47c" xmlns:ns4="73eca01c-4ea5-40c8-83fd-b296bd340025" targetNamespace="http://schemas.microsoft.com/office/2006/metadata/properties" ma:root="true" ma:fieldsID="de746a5257d740f042749d495693305b" ns3:_="" ns4:_="">
    <xsd:import namespace="6f1b3788-58c0-46a5-9604-64d97c7fc47c"/>
    <xsd:import namespace="73eca01c-4ea5-40c8-83fd-b296bd3400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1b3788-58c0-46a5-9604-64d97c7fc4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eca01c-4ea5-40c8-83fd-b296bd3400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C00205-F11F-4D61-9572-D162BE7CE022}">
  <ds:schemaRefs>
    <ds:schemaRef ds:uri="http://schemas.microsoft.com/office/infopath/2007/PartnerControls"/>
    <ds:schemaRef ds:uri="http://purl.org/dc/terms/"/>
    <ds:schemaRef ds:uri="http://purl.org/dc/elements/1.1/"/>
    <ds:schemaRef ds:uri="6f1b3788-58c0-46a5-9604-64d97c7fc47c"/>
    <ds:schemaRef ds:uri="73eca01c-4ea5-40c8-83fd-b296bd340025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3D40C7A-64C6-4B3B-A1B6-9CB64BC756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1b3788-58c0-46a5-9604-64d97c7fc47c"/>
    <ds:schemaRef ds:uri="73eca01c-4ea5-40c8-83fd-b296bd3400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BAA46D8-DF31-4768-AD82-8F485C82E6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4616</TotalTime>
  <Words>1499</Words>
  <Application>Microsoft Office PowerPoint</Application>
  <PresentationFormat>Affichage à l'écran (16:9)</PresentationFormat>
  <Paragraphs>201</Paragraphs>
  <Slides>19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33" baseType="lpstr">
      <vt:lpstr>Abadi Extra Light</vt:lpstr>
      <vt:lpstr>Arial Unicode MS</vt:lpstr>
      <vt:lpstr>Arial Unicode MS</vt:lpstr>
      <vt:lpstr>FUTURA MEDIUM</vt:lpstr>
      <vt:lpstr>system-ui</vt:lpstr>
      <vt:lpstr>Agency FB</vt:lpstr>
      <vt:lpstr>Calibri</vt:lpstr>
      <vt:lpstr>Consolas</vt:lpstr>
      <vt:lpstr>Ebrima</vt:lpstr>
      <vt:lpstr>Roboto</vt:lpstr>
      <vt:lpstr>Trebuchet MS</vt:lpstr>
      <vt:lpstr>Verdana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Suivez-Nous   www.mgt-conseils.com contact@mgt-conseils.com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Groupe  DataValue Consulting</dc:title>
  <dc:creator>Conrad GBAGUIDI</dc:creator>
  <cp:lastModifiedBy>Denis ARGOUARCH</cp:lastModifiedBy>
  <cp:revision>189</cp:revision>
  <dcterms:created xsi:type="dcterms:W3CDTF">2021-01-18T11:01:50Z</dcterms:created>
  <dcterms:modified xsi:type="dcterms:W3CDTF">2025-12-13T20:33:18Z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2020-03-16T00:00:00Z</vt:filetime>
  </property>
  <property fmtid="{D5CDD505-2E9C-101B-9397-08002B2CF9AE}" pid="3" name="LastSaved">
    <vt:filetime>2021-01-18T00:00:00Z</vt:filetime>
  </property>
  <property fmtid="{D5CDD505-2E9C-101B-9397-08002B2CF9AE}" pid="4" name="ContentTypeId">
    <vt:lpwstr>0x01010058419B1710D3DF4A9DAA9ADF73C802B5</vt:lpwstr>
  </property>
  <property fmtid="{D5CDD505-2E9C-101B-9397-08002B2CF9AE}" pid="5" name="MediaServiceImageTags">
    <vt:lpwstr/>
  </property>
</Properties>
</file>