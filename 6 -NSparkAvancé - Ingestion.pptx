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25"/>
  </p:notesMasterIdLst>
  <p:sldIdLst>
    <p:sldId id="263" r:id="rId5"/>
    <p:sldId id="2134807190" r:id="rId6"/>
    <p:sldId id="342" r:id="rId7"/>
    <p:sldId id="343" r:id="rId8"/>
    <p:sldId id="344" r:id="rId9"/>
    <p:sldId id="345" r:id="rId10"/>
    <p:sldId id="346" r:id="rId11"/>
    <p:sldId id="347" r:id="rId12"/>
    <p:sldId id="348" r:id="rId13"/>
    <p:sldId id="349" r:id="rId14"/>
    <p:sldId id="350" r:id="rId15"/>
    <p:sldId id="351" r:id="rId16"/>
    <p:sldId id="352" r:id="rId17"/>
    <p:sldId id="353" r:id="rId18"/>
    <p:sldId id="354" r:id="rId19"/>
    <p:sldId id="355" r:id="rId20"/>
    <p:sldId id="356" r:id="rId21"/>
    <p:sldId id="358" r:id="rId22"/>
    <p:sldId id="359" r:id="rId23"/>
    <p:sldId id="269" r:id="rId24"/>
  </p:sldIdLst>
  <p:sldSz cx="9144000" cy="5143500" type="screen16x9"/>
  <p:notesSz cx="9144000" cy="51435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E8200"/>
    <a:srgbClr val="E89D06"/>
    <a:srgbClr val="606A7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Style moyen 1 - Accentuation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301B821-A1FF-4177-AEE7-76D212191A09}" styleName="Style moyen 1 - Accentuation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3296810-A885-4BE3-A3E7-6D5BEEA58F35}" styleName="Style moyen 2 - Accentuation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12C8C85-51F0-491E-9774-3900AFEF0FD7}" styleName="Style léger 2 - Accentuation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874" y="62"/>
      </p:cViewPr>
      <p:guideLst>
        <p:guide orient="horz" pos="2880"/>
        <p:guide pos="2160"/>
      </p:guideLst>
    </p:cSldViewPr>
  </p:slideViewPr>
  <p:notesTextViewPr>
    <p:cViewPr>
      <p:scale>
        <a:sx n="1" d="1"/>
        <a:sy n="1" d="1"/>
      </p:scale>
      <p:origin x="0" y="0"/>
    </p:cViewPr>
  </p:notesTextViewPr>
  <p:sorterViewPr>
    <p:cViewPr varScale="1">
      <p:scale>
        <a:sx n="100" d="100"/>
        <a:sy n="100" d="100"/>
      </p:scale>
      <p:origin x="0" y="-3371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3962400" cy="257175"/>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5180013" y="0"/>
            <a:ext cx="3962400" cy="257175"/>
          </a:xfrm>
          <a:prstGeom prst="rect">
            <a:avLst/>
          </a:prstGeom>
        </p:spPr>
        <p:txBody>
          <a:bodyPr vert="horz" lIns="91440" tIns="45720" rIns="91440" bIns="45720" rtlCol="0"/>
          <a:lstStyle>
            <a:lvl1pPr algn="r">
              <a:defRPr sz="1200"/>
            </a:lvl1pPr>
          </a:lstStyle>
          <a:p>
            <a:fld id="{6DEFCF4C-C656-4173-9B19-E1AF5C686E36}" type="datetimeFigureOut">
              <a:rPr lang="fr-FR" smtClean="0"/>
              <a:t>14/12/2025</a:t>
            </a:fld>
            <a:endParaRPr lang="fr-FR"/>
          </a:p>
        </p:txBody>
      </p:sp>
      <p:sp>
        <p:nvSpPr>
          <p:cNvPr id="4" name="Espace réservé de l'image des diapositives 3"/>
          <p:cNvSpPr>
            <a:spLocks noGrp="1" noRot="1" noChangeAspect="1"/>
          </p:cNvSpPr>
          <p:nvPr>
            <p:ph type="sldImg" idx="2"/>
          </p:nvPr>
        </p:nvSpPr>
        <p:spPr>
          <a:xfrm>
            <a:off x="3028950" y="642938"/>
            <a:ext cx="3086100" cy="1736725"/>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914400" y="2474913"/>
            <a:ext cx="7315200" cy="20256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4886325"/>
            <a:ext cx="3962400" cy="257175"/>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5180013" y="4886325"/>
            <a:ext cx="3962400" cy="257175"/>
          </a:xfrm>
          <a:prstGeom prst="rect">
            <a:avLst/>
          </a:prstGeom>
        </p:spPr>
        <p:txBody>
          <a:bodyPr vert="horz" lIns="91440" tIns="45720" rIns="91440" bIns="45720" rtlCol="0" anchor="b"/>
          <a:lstStyle>
            <a:lvl1pPr algn="r">
              <a:defRPr sz="1200"/>
            </a:lvl1pPr>
          </a:lstStyle>
          <a:p>
            <a:fld id="{C2E481D4-7198-485D-BC3A-9DB0AF6D6A61}" type="slidenum">
              <a:rPr lang="fr-FR" smtClean="0"/>
              <a:t>‹N°›</a:t>
            </a:fld>
            <a:endParaRPr lang="fr-FR"/>
          </a:p>
        </p:txBody>
      </p:sp>
    </p:spTree>
    <p:extLst>
      <p:ext uri="{BB962C8B-B14F-4D97-AF65-F5344CB8AC3E}">
        <p14:creationId xmlns:p14="http://schemas.microsoft.com/office/powerpoint/2010/main" val="28092058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C2E481D4-7198-485D-BC3A-9DB0AF6D6A61}" type="slidenum">
              <a:rPr lang="fr-FR" smtClean="0"/>
              <a:t>1</a:t>
            </a:fld>
            <a:endParaRPr lang="fr-FR"/>
          </a:p>
        </p:txBody>
      </p:sp>
    </p:spTree>
    <p:extLst>
      <p:ext uri="{BB962C8B-B14F-4D97-AF65-F5344CB8AC3E}">
        <p14:creationId xmlns:p14="http://schemas.microsoft.com/office/powerpoint/2010/main" val="32547453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5"/>
          </p:nvPr>
        </p:nvSpPr>
        <p:spPr/>
        <p:txBody>
          <a:bodyPr/>
          <a:lstStyle/>
          <a:p>
            <a:fld id="{A84E322D-64CC-F34A-90D4-13BB939FB9F2}" type="slidenum">
              <a:rPr lang="fr-FR" smtClean="0"/>
              <a:t>3</a:t>
            </a:fld>
            <a:endParaRPr lang="fr-FR"/>
          </a:p>
        </p:txBody>
      </p:sp>
    </p:spTree>
    <p:extLst>
      <p:ext uri="{BB962C8B-B14F-4D97-AF65-F5344CB8AC3E}">
        <p14:creationId xmlns:p14="http://schemas.microsoft.com/office/powerpoint/2010/main" val="27422803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CD6F64-B5B5-BE17-97E9-4F2F30B949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B2A535-9459-89A9-B4D0-0358CFD9A1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22AD7D-E8A6-E924-1AD9-D1D2B641D2D8}"/>
              </a:ext>
            </a:extLst>
          </p:cNvPr>
          <p:cNvSpPr>
            <a:spLocks noGrp="1"/>
          </p:cNvSpPr>
          <p:nvPr>
            <p:ph type="body" idx="1"/>
          </p:nvPr>
        </p:nvSpPr>
        <p:spPr/>
        <p:txBody>
          <a:bodyPr/>
          <a:lstStyle/>
          <a:p>
            <a:endParaRPr lang="fr-FR" dirty="0"/>
          </a:p>
        </p:txBody>
      </p:sp>
      <p:sp>
        <p:nvSpPr>
          <p:cNvPr id="4" name="Slide Number Placeholder 3">
            <a:extLst>
              <a:ext uri="{FF2B5EF4-FFF2-40B4-BE49-F238E27FC236}">
                <a16:creationId xmlns:a16="http://schemas.microsoft.com/office/drawing/2014/main" id="{A574FD60-CB34-D214-BFF1-55A1D3E97A09}"/>
              </a:ext>
            </a:extLst>
          </p:cNvPr>
          <p:cNvSpPr>
            <a:spLocks noGrp="1"/>
          </p:cNvSpPr>
          <p:nvPr>
            <p:ph type="sldNum" sz="quarter" idx="5"/>
          </p:nvPr>
        </p:nvSpPr>
        <p:spPr/>
        <p:txBody>
          <a:bodyPr/>
          <a:lstStyle/>
          <a:p>
            <a:fld id="{A84E322D-64CC-F34A-90D4-13BB939FB9F2}" type="slidenum">
              <a:rPr lang="fr-FR" smtClean="0"/>
              <a:t>4</a:t>
            </a:fld>
            <a:endParaRPr lang="fr-FR"/>
          </a:p>
        </p:txBody>
      </p:sp>
    </p:spTree>
    <p:extLst>
      <p:ext uri="{BB962C8B-B14F-4D97-AF65-F5344CB8AC3E}">
        <p14:creationId xmlns:p14="http://schemas.microsoft.com/office/powerpoint/2010/main" val="11472408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991F57-A330-5EAC-B787-D6A1F1873D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B24B60-214F-BB7B-C322-34AD90095B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4CF08E-CDA8-6B63-3D55-BA5B3BBB7BFF}"/>
              </a:ext>
            </a:extLst>
          </p:cNvPr>
          <p:cNvSpPr>
            <a:spLocks noGrp="1"/>
          </p:cNvSpPr>
          <p:nvPr>
            <p:ph type="body" idx="1"/>
          </p:nvPr>
        </p:nvSpPr>
        <p:spPr/>
        <p:txBody>
          <a:bodyPr/>
          <a:lstStyle/>
          <a:p>
            <a:endParaRPr lang="fr-FR" dirty="0"/>
          </a:p>
        </p:txBody>
      </p:sp>
      <p:sp>
        <p:nvSpPr>
          <p:cNvPr id="4" name="Slide Number Placeholder 3">
            <a:extLst>
              <a:ext uri="{FF2B5EF4-FFF2-40B4-BE49-F238E27FC236}">
                <a16:creationId xmlns:a16="http://schemas.microsoft.com/office/drawing/2014/main" id="{4BF4C585-CC58-A3F4-8202-523A1009B8B5}"/>
              </a:ext>
            </a:extLst>
          </p:cNvPr>
          <p:cNvSpPr>
            <a:spLocks noGrp="1"/>
          </p:cNvSpPr>
          <p:nvPr>
            <p:ph type="sldNum" sz="quarter" idx="5"/>
          </p:nvPr>
        </p:nvSpPr>
        <p:spPr/>
        <p:txBody>
          <a:bodyPr/>
          <a:lstStyle/>
          <a:p>
            <a:fld id="{A84E322D-64CC-F34A-90D4-13BB939FB9F2}" type="slidenum">
              <a:rPr lang="fr-FR" smtClean="0"/>
              <a:t>5</a:t>
            </a:fld>
            <a:endParaRPr lang="fr-FR"/>
          </a:p>
        </p:txBody>
      </p:sp>
    </p:spTree>
    <p:extLst>
      <p:ext uri="{BB962C8B-B14F-4D97-AF65-F5344CB8AC3E}">
        <p14:creationId xmlns:p14="http://schemas.microsoft.com/office/powerpoint/2010/main" val="19656954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58DEE2-5BFB-27D9-7BA2-D096207712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09005C-C486-BA23-9674-58237AD0A1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09D38B-4E95-73EC-04D5-D8B39C86DC1F}"/>
              </a:ext>
            </a:extLst>
          </p:cNvPr>
          <p:cNvSpPr>
            <a:spLocks noGrp="1"/>
          </p:cNvSpPr>
          <p:nvPr>
            <p:ph type="body" idx="1"/>
          </p:nvPr>
        </p:nvSpPr>
        <p:spPr/>
        <p:txBody>
          <a:bodyPr/>
          <a:lstStyle/>
          <a:p>
            <a:endParaRPr lang="fr-FR" dirty="0"/>
          </a:p>
        </p:txBody>
      </p:sp>
      <p:sp>
        <p:nvSpPr>
          <p:cNvPr id="4" name="Slide Number Placeholder 3">
            <a:extLst>
              <a:ext uri="{FF2B5EF4-FFF2-40B4-BE49-F238E27FC236}">
                <a16:creationId xmlns:a16="http://schemas.microsoft.com/office/drawing/2014/main" id="{020AC7B6-650C-0449-80C6-F5A2522F0BAD}"/>
              </a:ext>
            </a:extLst>
          </p:cNvPr>
          <p:cNvSpPr>
            <a:spLocks noGrp="1"/>
          </p:cNvSpPr>
          <p:nvPr>
            <p:ph type="sldNum" sz="quarter" idx="5"/>
          </p:nvPr>
        </p:nvSpPr>
        <p:spPr/>
        <p:txBody>
          <a:bodyPr/>
          <a:lstStyle/>
          <a:p>
            <a:fld id="{A84E322D-64CC-F34A-90D4-13BB939FB9F2}" type="slidenum">
              <a:rPr lang="fr-FR" smtClean="0"/>
              <a:t>6</a:t>
            </a:fld>
            <a:endParaRPr lang="fr-FR"/>
          </a:p>
        </p:txBody>
      </p:sp>
    </p:spTree>
    <p:extLst>
      <p:ext uri="{BB962C8B-B14F-4D97-AF65-F5344CB8AC3E}">
        <p14:creationId xmlns:p14="http://schemas.microsoft.com/office/powerpoint/2010/main" val="33014818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19A9B6-634D-0005-BBE9-5E808EB58C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4027DD-0AA1-4742-1607-A9491A044D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949801-FEDD-6A96-9320-2BF08A39303C}"/>
              </a:ext>
            </a:extLst>
          </p:cNvPr>
          <p:cNvSpPr>
            <a:spLocks noGrp="1"/>
          </p:cNvSpPr>
          <p:nvPr>
            <p:ph type="body" idx="1"/>
          </p:nvPr>
        </p:nvSpPr>
        <p:spPr/>
        <p:txBody>
          <a:bodyPr/>
          <a:lstStyle/>
          <a:p>
            <a:endParaRPr lang="fr-FR" dirty="0"/>
          </a:p>
        </p:txBody>
      </p:sp>
      <p:sp>
        <p:nvSpPr>
          <p:cNvPr id="4" name="Slide Number Placeholder 3">
            <a:extLst>
              <a:ext uri="{FF2B5EF4-FFF2-40B4-BE49-F238E27FC236}">
                <a16:creationId xmlns:a16="http://schemas.microsoft.com/office/drawing/2014/main" id="{4D33A991-4FCE-2393-FC87-0A84B6E3F501}"/>
              </a:ext>
            </a:extLst>
          </p:cNvPr>
          <p:cNvSpPr>
            <a:spLocks noGrp="1"/>
          </p:cNvSpPr>
          <p:nvPr>
            <p:ph type="sldNum" sz="quarter" idx="5"/>
          </p:nvPr>
        </p:nvSpPr>
        <p:spPr/>
        <p:txBody>
          <a:bodyPr/>
          <a:lstStyle/>
          <a:p>
            <a:fld id="{A84E322D-64CC-F34A-90D4-13BB939FB9F2}" type="slidenum">
              <a:rPr lang="fr-FR" smtClean="0"/>
              <a:t>7</a:t>
            </a:fld>
            <a:endParaRPr lang="fr-FR"/>
          </a:p>
        </p:txBody>
      </p:sp>
    </p:spTree>
    <p:extLst>
      <p:ext uri="{BB962C8B-B14F-4D97-AF65-F5344CB8AC3E}">
        <p14:creationId xmlns:p14="http://schemas.microsoft.com/office/powerpoint/2010/main" val="31207676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468D59-B9CD-F1DE-58EF-69BBDB8AB0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AF5C38-5318-6731-59AF-FBDDFAC637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BB126B-50C7-3AA4-F9DE-DA67B33E23E2}"/>
              </a:ext>
            </a:extLst>
          </p:cNvPr>
          <p:cNvSpPr>
            <a:spLocks noGrp="1"/>
          </p:cNvSpPr>
          <p:nvPr>
            <p:ph type="body" idx="1"/>
          </p:nvPr>
        </p:nvSpPr>
        <p:spPr/>
        <p:txBody>
          <a:bodyPr/>
          <a:lstStyle/>
          <a:p>
            <a:endParaRPr lang="fr-FR" dirty="0"/>
          </a:p>
        </p:txBody>
      </p:sp>
      <p:sp>
        <p:nvSpPr>
          <p:cNvPr id="4" name="Slide Number Placeholder 3">
            <a:extLst>
              <a:ext uri="{FF2B5EF4-FFF2-40B4-BE49-F238E27FC236}">
                <a16:creationId xmlns:a16="http://schemas.microsoft.com/office/drawing/2014/main" id="{3C2EAC25-7D67-2B45-7E7A-1C776BB1CF43}"/>
              </a:ext>
            </a:extLst>
          </p:cNvPr>
          <p:cNvSpPr>
            <a:spLocks noGrp="1"/>
          </p:cNvSpPr>
          <p:nvPr>
            <p:ph type="sldNum" sz="quarter" idx="5"/>
          </p:nvPr>
        </p:nvSpPr>
        <p:spPr/>
        <p:txBody>
          <a:bodyPr/>
          <a:lstStyle/>
          <a:p>
            <a:fld id="{A84E322D-64CC-F34A-90D4-13BB939FB9F2}" type="slidenum">
              <a:rPr lang="fr-FR" smtClean="0"/>
              <a:t>8</a:t>
            </a:fld>
            <a:endParaRPr lang="fr-FR"/>
          </a:p>
        </p:txBody>
      </p:sp>
    </p:spTree>
    <p:extLst>
      <p:ext uri="{BB962C8B-B14F-4D97-AF65-F5344CB8AC3E}">
        <p14:creationId xmlns:p14="http://schemas.microsoft.com/office/powerpoint/2010/main" val="25076456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2E774-18D7-D934-893C-25162374A6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7AFDB3-54AE-3508-F06F-F442C2CA2C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A70916-3DA6-EB52-2ECF-4BB6C609CAC0}"/>
              </a:ext>
            </a:extLst>
          </p:cNvPr>
          <p:cNvSpPr>
            <a:spLocks noGrp="1"/>
          </p:cNvSpPr>
          <p:nvPr>
            <p:ph type="body" idx="1"/>
          </p:nvPr>
        </p:nvSpPr>
        <p:spPr/>
        <p:txBody>
          <a:bodyPr/>
          <a:lstStyle/>
          <a:p>
            <a:endParaRPr lang="fr-FR" dirty="0"/>
          </a:p>
        </p:txBody>
      </p:sp>
      <p:sp>
        <p:nvSpPr>
          <p:cNvPr id="4" name="Slide Number Placeholder 3">
            <a:extLst>
              <a:ext uri="{FF2B5EF4-FFF2-40B4-BE49-F238E27FC236}">
                <a16:creationId xmlns:a16="http://schemas.microsoft.com/office/drawing/2014/main" id="{C1827271-414B-B3AF-740E-6AF354FB78C5}"/>
              </a:ext>
            </a:extLst>
          </p:cNvPr>
          <p:cNvSpPr>
            <a:spLocks noGrp="1"/>
          </p:cNvSpPr>
          <p:nvPr>
            <p:ph type="sldNum" sz="quarter" idx="5"/>
          </p:nvPr>
        </p:nvSpPr>
        <p:spPr/>
        <p:txBody>
          <a:bodyPr/>
          <a:lstStyle/>
          <a:p>
            <a:fld id="{A84E322D-64CC-F34A-90D4-13BB939FB9F2}" type="slidenum">
              <a:rPr lang="fr-FR" smtClean="0"/>
              <a:t>9</a:t>
            </a:fld>
            <a:endParaRPr lang="fr-FR"/>
          </a:p>
        </p:txBody>
      </p:sp>
    </p:spTree>
    <p:extLst>
      <p:ext uri="{BB962C8B-B14F-4D97-AF65-F5344CB8AC3E}">
        <p14:creationId xmlns:p14="http://schemas.microsoft.com/office/powerpoint/2010/main" val="4063068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BC258D-2ADC-EE5C-E632-57F74A3144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5C9DEB-7A29-FC84-2782-7ADD7F5A75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C7FA74-1A17-F546-F91E-7B04AEC7BB38}"/>
              </a:ext>
            </a:extLst>
          </p:cNvPr>
          <p:cNvSpPr>
            <a:spLocks noGrp="1"/>
          </p:cNvSpPr>
          <p:nvPr>
            <p:ph type="body" idx="1"/>
          </p:nvPr>
        </p:nvSpPr>
        <p:spPr/>
        <p:txBody>
          <a:bodyPr/>
          <a:lstStyle/>
          <a:p>
            <a:endParaRPr lang="fr-FR" dirty="0"/>
          </a:p>
        </p:txBody>
      </p:sp>
      <p:sp>
        <p:nvSpPr>
          <p:cNvPr id="4" name="Slide Number Placeholder 3">
            <a:extLst>
              <a:ext uri="{FF2B5EF4-FFF2-40B4-BE49-F238E27FC236}">
                <a16:creationId xmlns:a16="http://schemas.microsoft.com/office/drawing/2014/main" id="{B1CC5662-08CE-7E11-1A9A-18C951EF79C6}"/>
              </a:ext>
            </a:extLst>
          </p:cNvPr>
          <p:cNvSpPr>
            <a:spLocks noGrp="1"/>
          </p:cNvSpPr>
          <p:nvPr>
            <p:ph type="sldNum" sz="quarter" idx="5"/>
          </p:nvPr>
        </p:nvSpPr>
        <p:spPr/>
        <p:txBody>
          <a:bodyPr/>
          <a:lstStyle/>
          <a:p>
            <a:fld id="{A84E322D-64CC-F34A-90D4-13BB939FB9F2}" type="slidenum">
              <a:rPr lang="fr-FR" smtClean="0"/>
              <a:t>10</a:t>
            </a:fld>
            <a:endParaRPr lang="fr-FR"/>
          </a:p>
        </p:txBody>
      </p:sp>
    </p:spTree>
    <p:extLst>
      <p:ext uri="{BB962C8B-B14F-4D97-AF65-F5344CB8AC3E}">
        <p14:creationId xmlns:p14="http://schemas.microsoft.com/office/powerpoint/2010/main" val="37547917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F2B609-9177-A899-1B9C-4E0331B63B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0E4AE4-B59E-B526-97DA-E0650B5465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E082C8-1F34-A8B8-6F69-B104677E536D}"/>
              </a:ext>
            </a:extLst>
          </p:cNvPr>
          <p:cNvSpPr>
            <a:spLocks noGrp="1"/>
          </p:cNvSpPr>
          <p:nvPr>
            <p:ph type="body" idx="1"/>
          </p:nvPr>
        </p:nvSpPr>
        <p:spPr/>
        <p:txBody>
          <a:bodyPr/>
          <a:lstStyle/>
          <a:p>
            <a:endParaRPr lang="fr-FR" dirty="0"/>
          </a:p>
        </p:txBody>
      </p:sp>
      <p:sp>
        <p:nvSpPr>
          <p:cNvPr id="4" name="Slide Number Placeholder 3">
            <a:extLst>
              <a:ext uri="{FF2B5EF4-FFF2-40B4-BE49-F238E27FC236}">
                <a16:creationId xmlns:a16="http://schemas.microsoft.com/office/drawing/2014/main" id="{97509A1B-FE48-B372-943C-C53617D38670}"/>
              </a:ext>
            </a:extLst>
          </p:cNvPr>
          <p:cNvSpPr>
            <a:spLocks noGrp="1"/>
          </p:cNvSpPr>
          <p:nvPr>
            <p:ph type="sldNum" sz="quarter" idx="5"/>
          </p:nvPr>
        </p:nvSpPr>
        <p:spPr/>
        <p:txBody>
          <a:bodyPr/>
          <a:lstStyle/>
          <a:p>
            <a:fld id="{A84E322D-64CC-F34A-90D4-13BB939FB9F2}" type="slidenum">
              <a:rPr lang="fr-FR" smtClean="0"/>
              <a:t>11</a:t>
            </a:fld>
            <a:endParaRPr lang="fr-FR"/>
          </a:p>
        </p:txBody>
      </p:sp>
    </p:spTree>
    <p:extLst>
      <p:ext uri="{BB962C8B-B14F-4D97-AF65-F5344CB8AC3E}">
        <p14:creationId xmlns:p14="http://schemas.microsoft.com/office/powerpoint/2010/main" val="41507928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BC148F-7A45-C2D1-C75C-83645939F1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88C19E-FAEE-9E13-F13B-2DCCD64472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DDC0A5-92B7-382B-6939-6CC40DA6A9DD}"/>
              </a:ext>
            </a:extLst>
          </p:cNvPr>
          <p:cNvSpPr>
            <a:spLocks noGrp="1"/>
          </p:cNvSpPr>
          <p:nvPr>
            <p:ph type="body" idx="1"/>
          </p:nvPr>
        </p:nvSpPr>
        <p:spPr/>
        <p:txBody>
          <a:bodyPr/>
          <a:lstStyle/>
          <a:p>
            <a:endParaRPr lang="fr-FR" dirty="0"/>
          </a:p>
        </p:txBody>
      </p:sp>
      <p:sp>
        <p:nvSpPr>
          <p:cNvPr id="4" name="Slide Number Placeholder 3">
            <a:extLst>
              <a:ext uri="{FF2B5EF4-FFF2-40B4-BE49-F238E27FC236}">
                <a16:creationId xmlns:a16="http://schemas.microsoft.com/office/drawing/2014/main" id="{7F48764D-46B9-686C-6292-11F51DD9DFB8}"/>
              </a:ext>
            </a:extLst>
          </p:cNvPr>
          <p:cNvSpPr>
            <a:spLocks noGrp="1"/>
          </p:cNvSpPr>
          <p:nvPr>
            <p:ph type="sldNum" sz="quarter" idx="5"/>
          </p:nvPr>
        </p:nvSpPr>
        <p:spPr/>
        <p:txBody>
          <a:bodyPr/>
          <a:lstStyle/>
          <a:p>
            <a:fld id="{A84E322D-64CC-F34A-90D4-13BB939FB9F2}" type="slidenum">
              <a:rPr lang="fr-FR" smtClean="0"/>
              <a:t>12</a:t>
            </a:fld>
            <a:endParaRPr lang="fr-FR"/>
          </a:p>
        </p:txBody>
      </p:sp>
    </p:spTree>
    <p:extLst>
      <p:ext uri="{BB962C8B-B14F-4D97-AF65-F5344CB8AC3E}">
        <p14:creationId xmlns:p14="http://schemas.microsoft.com/office/powerpoint/2010/main" val="27004558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B18860-8A91-96AF-51DC-595F77A855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0FD146-73CF-D1E8-CBF9-2A99D38F47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846EC2-7EAD-D6D2-DBB2-1368FD00EC02}"/>
              </a:ext>
            </a:extLst>
          </p:cNvPr>
          <p:cNvSpPr>
            <a:spLocks noGrp="1"/>
          </p:cNvSpPr>
          <p:nvPr>
            <p:ph type="body" idx="1"/>
          </p:nvPr>
        </p:nvSpPr>
        <p:spPr/>
        <p:txBody>
          <a:bodyPr/>
          <a:lstStyle/>
          <a:p>
            <a:endParaRPr lang="fr-FR" dirty="0"/>
          </a:p>
        </p:txBody>
      </p:sp>
      <p:sp>
        <p:nvSpPr>
          <p:cNvPr id="4" name="Slide Number Placeholder 3">
            <a:extLst>
              <a:ext uri="{FF2B5EF4-FFF2-40B4-BE49-F238E27FC236}">
                <a16:creationId xmlns:a16="http://schemas.microsoft.com/office/drawing/2014/main" id="{B7DA30C7-A324-2B71-C35C-DC7DC393D120}"/>
              </a:ext>
            </a:extLst>
          </p:cNvPr>
          <p:cNvSpPr>
            <a:spLocks noGrp="1"/>
          </p:cNvSpPr>
          <p:nvPr>
            <p:ph type="sldNum" sz="quarter" idx="5"/>
          </p:nvPr>
        </p:nvSpPr>
        <p:spPr/>
        <p:txBody>
          <a:bodyPr/>
          <a:lstStyle/>
          <a:p>
            <a:fld id="{A84E322D-64CC-F34A-90D4-13BB939FB9F2}" type="slidenum">
              <a:rPr lang="fr-FR" smtClean="0"/>
              <a:t>13</a:t>
            </a:fld>
            <a:endParaRPr lang="fr-FR"/>
          </a:p>
        </p:txBody>
      </p:sp>
    </p:spTree>
    <p:extLst>
      <p:ext uri="{BB962C8B-B14F-4D97-AF65-F5344CB8AC3E}">
        <p14:creationId xmlns:p14="http://schemas.microsoft.com/office/powerpoint/2010/main" val="1368174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2C4B56-7FB9-1F59-F5E8-49E5ED1149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F89885-5653-D005-DF7F-87DFDCCF22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4AEC3F-2926-258E-A5E1-B7C53BF1451F}"/>
              </a:ext>
            </a:extLst>
          </p:cNvPr>
          <p:cNvSpPr>
            <a:spLocks noGrp="1"/>
          </p:cNvSpPr>
          <p:nvPr>
            <p:ph type="body" idx="1"/>
          </p:nvPr>
        </p:nvSpPr>
        <p:spPr/>
        <p:txBody>
          <a:bodyPr/>
          <a:lstStyle/>
          <a:p>
            <a:endParaRPr lang="fr-FR" dirty="0"/>
          </a:p>
        </p:txBody>
      </p:sp>
      <p:sp>
        <p:nvSpPr>
          <p:cNvPr id="4" name="Slide Number Placeholder 3">
            <a:extLst>
              <a:ext uri="{FF2B5EF4-FFF2-40B4-BE49-F238E27FC236}">
                <a16:creationId xmlns:a16="http://schemas.microsoft.com/office/drawing/2014/main" id="{5E7F1F4A-38E0-1AC4-BC4B-2C9F69A2EEBD}"/>
              </a:ext>
            </a:extLst>
          </p:cNvPr>
          <p:cNvSpPr>
            <a:spLocks noGrp="1"/>
          </p:cNvSpPr>
          <p:nvPr>
            <p:ph type="sldNum" sz="quarter" idx="5"/>
          </p:nvPr>
        </p:nvSpPr>
        <p:spPr/>
        <p:txBody>
          <a:bodyPr/>
          <a:lstStyle/>
          <a:p>
            <a:fld id="{A84E322D-64CC-F34A-90D4-13BB939FB9F2}" type="slidenum">
              <a:rPr lang="fr-FR" smtClean="0"/>
              <a:t>14</a:t>
            </a:fld>
            <a:endParaRPr lang="fr-FR"/>
          </a:p>
        </p:txBody>
      </p:sp>
    </p:spTree>
    <p:extLst>
      <p:ext uri="{BB962C8B-B14F-4D97-AF65-F5344CB8AC3E}">
        <p14:creationId xmlns:p14="http://schemas.microsoft.com/office/powerpoint/2010/main" val="29561269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D5450-0D5A-BFA3-52CF-11E460C411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6C2A9A-9131-D6FE-78F5-44626224A2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675936-E761-8432-CE17-813B654D2F7F}"/>
              </a:ext>
            </a:extLst>
          </p:cNvPr>
          <p:cNvSpPr>
            <a:spLocks noGrp="1"/>
          </p:cNvSpPr>
          <p:nvPr>
            <p:ph type="body" idx="1"/>
          </p:nvPr>
        </p:nvSpPr>
        <p:spPr/>
        <p:txBody>
          <a:bodyPr/>
          <a:lstStyle/>
          <a:p>
            <a:endParaRPr lang="fr-FR" dirty="0"/>
          </a:p>
        </p:txBody>
      </p:sp>
      <p:sp>
        <p:nvSpPr>
          <p:cNvPr id="4" name="Slide Number Placeholder 3">
            <a:extLst>
              <a:ext uri="{FF2B5EF4-FFF2-40B4-BE49-F238E27FC236}">
                <a16:creationId xmlns:a16="http://schemas.microsoft.com/office/drawing/2014/main" id="{25BF3D8F-0AF6-DF3A-9B5A-8573D8DBC470}"/>
              </a:ext>
            </a:extLst>
          </p:cNvPr>
          <p:cNvSpPr>
            <a:spLocks noGrp="1"/>
          </p:cNvSpPr>
          <p:nvPr>
            <p:ph type="sldNum" sz="quarter" idx="5"/>
          </p:nvPr>
        </p:nvSpPr>
        <p:spPr/>
        <p:txBody>
          <a:bodyPr/>
          <a:lstStyle/>
          <a:p>
            <a:fld id="{A84E322D-64CC-F34A-90D4-13BB939FB9F2}" type="slidenum">
              <a:rPr lang="fr-FR" smtClean="0"/>
              <a:t>15</a:t>
            </a:fld>
            <a:endParaRPr lang="fr-FR"/>
          </a:p>
        </p:txBody>
      </p:sp>
    </p:spTree>
    <p:extLst>
      <p:ext uri="{BB962C8B-B14F-4D97-AF65-F5344CB8AC3E}">
        <p14:creationId xmlns:p14="http://schemas.microsoft.com/office/powerpoint/2010/main" val="19605454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79E293-FD2B-81CF-DFCB-D6C0776672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E5590E-CF9F-B662-69DC-0AD7BC6954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D596CB-9CAC-0634-2501-ED68DEEC8FCE}"/>
              </a:ext>
            </a:extLst>
          </p:cNvPr>
          <p:cNvSpPr>
            <a:spLocks noGrp="1"/>
          </p:cNvSpPr>
          <p:nvPr>
            <p:ph type="body" idx="1"/>
          </p:nvPr>
        </p:nvSpPr>
        <p:spPr/>
        <p:txBody>
          <a:bodyPr/>
          <a:lstStyle/>
          <a:p>
            <a:endParaRPr lang="fr-FR" dirty="0"/>
          </a:p>
        </p:txBody>
      </p:sp>
      <p:sp>
        <p:nvSpPr>
          <p:cNvPr id="4" name="Slide Number Placeholder 3">
            <a:extLst>
              <a:ext uri="{FF2B5EF4-FFF2-40B4-BE49-F238E27FC236}">
                <a16:creationId xmlns:a16="http://schemas.microsoft.com/office/drawing/2014/main" id="{48D28897-6DE2-34ED-3D0E-D33D23C3D0AD}"/>
              </a:ext>
            </a:extLst>
          </p:cNvPr>
          <p:cNvSpPr>
            <a:spLocks noGrp="1"/>
          </p:cNvSpPr>
          <p:nvPr>
            <p:ph type="sldNum" sz="quarter" idx="5"/>
          </p:nvPr>
        </p:nvSpPr>
        <p:spPr/>
        <p:txBody>
          <a:bodyPr/>
          <a:lstStyle/>
          <a:p>
            <a:fld id="{A84E322D-64CC-F34A-90D4-13BB939FB9F2}" type="slidenum">
              <a:rPr lang="fr-FR" smtClean="0"/>
              <a:t>16</a:t>
            </a:fld>
            <a:endParaRPr lang="fr-FR"/>
          </a:p>
        </p:txBody>
      </p:sp>
    </p:spTree>
    <p:extLst>
      <p:ext uri="{BB962C8B-B14F-4D97-AF65-F5344CB8AC3E}">
        <p14:creationId xmlns:p14="http://schemas.microsoft.com/office/powerpoint/2010/main" val="35429747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42CC67-3380-5173-3362-C1146B930A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A7A402-9AC7-69CA-3480-6D30F4BB27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AE6FDC-73C2-7E79-6331-955A09487CBB}"/>
              </a:ext>
            </a:extLst>
          </p:cNvPr>
          <p:cNvSpPr>
            <a:spLocks noGrp="1"/>
          </p:cNvSpPr>
          <p:nvPr>
            <p:ph type="body" idx="1"/>
          </p:nvPr>
        </p:nvSpPr>
        <p:spPr/>
        <p:txBody>
          <a:bodyPr/>
          <a:lstStyle/>
          <a:p>
            <a:endParaRPr lang="fr-FR" dirty="0"/>
          </a:p>
        </p:txBody>
      </p:sp>
      <p:sp>
        <p:nvSpPr>
          <p:cNvPr id="4" name="Slide Number Placeholder 3">
            <a:extLst>
              <a:ext uri="{FF2B5EF4-FFF2-40B4-BE49-F238E27FC236}">
                <a16:creationId xmlns:a16="http://schemas.microsoft.com/office/drawing/2014/main" id="{280E7603-9D7B-4D2B-2FC5-464EE55C648C}"/>
              </a:ext>
            </a:extLst>
          </p:cNvPr>
          <p:cNvSpPr>
            <a:spLocks noGrp="1"/>
          </p:cNvSpPr>
          <p:nvPr>
            <p:ph type="sldNum" sz="quarter" idx="5"/>
          </p:nvPr>
        </p:nvSpPr>
        <p:spPr/>
        <p:txBody>
          <a:bodyPr/>
          <a:lstStyle/>
          <a:p>
            <a:fld id="{A84E322D-64CC-F34A-90D4-13BB939FB9F2}" type="slidenum">
              <a:rPr lang="fr-FR" smtClean="0"/>
              <a:t>17</a:t>
            </a:fld>
            <a:endParaRPr lang="fr-FR"/>
          </a:p>
        </p:txBody>
      </p:sp>
    </p:spTree>
    <p:extLst>
      <p:ext uri="{BB962C8B-B14F-4D97-AF65-F5344CB8AC3E}">
        <p14:creationId xmlns:p14="http://schemas.microsoft.com/office/powerpoint/2010/main" val="8497981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4E27D4-96B7-C03F-9D11-72814224BA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5B09C6-8697-913C-12FC-04E55771B5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7EADD3-E500-FA83-9BD4-A42371180B39}"/>
              </a:ext>
            </a:extLst>
          </p:cNvPr>
          <p:cNvSpPr>
            <a:spLocks noGrp="1"/>
          </p:cNvSpPr>
          <p:nvPr>
            <p:ph type="body" idx="1"/>
          </p:nvPr>
        </p:nvSpPr>
        <p:spPr/>
        <p:txBody>
          <a:bodyPr/>
          <a:lstStyle/>
          <a:p>
            <a:endParaRPr lang="fr-FR" dirty="0"/>
          </a:p>
        </p:txBody>
      </p:sp>
      <p:sp>
        <p:nvSpPr>
          <p:cNvPr id="4" name="Slide Number Placeholder 3">
            <a:extLst>
              <a:ext uri="{FF2B5EF4-FFF2-40B4-BE49-F238E27FC236}">
                <a16:creationId xmlns:a16="http://schemas.microsoft.com/office/drawing/2014/main" id="{C2E5C42C-0F32-43B1-6E2C-D2323E0F1239}"/>
              </a:ext>
            </a:extLst>
          </p:cNvPr>
          <p:cNvSpPr>
            <a:spLocks noGrp="1"/>
          </p:cNvSpPr>
          <p:nvPr>
            <p:ph type="sldNum" sz="quarter" idx="5"/>
          </p:nvPr>
        </p:nvSpPr>
        <p:spPr/>
        <p:txBody>
          <a:bodyPr/>
          <a:lstStyle/>
          <a:p>
            <a:fld id="{A84E322D-64CC-F34A-90D4-13BB939FB9F2}" type="slidenum">
              <a:rPr lang="fr-FR" smtClean="0"/>
              <a:t>18</a:t>
            </a:fld>
            <a:endParaRPr lang="fr-FR"/>
          </a:p>
        </p:txBody>
      </p:sp>
    </p:spTree>
    <p:extLst>
      <p:ext uri="{BB962C8B-B14F-4D97-AF65-F5344CB8AC3E}">
        <p14:creationId xmlns:p14="http://schemas.microsoft.com/office/powerpoint/2010/main" val="28571543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B281DB-DEB6-3E74-40A1-8DD9262678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DB2F5B-24A7-5115-6CB7-1F6840E081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DF016B-BAA3-8917-6FE1-9A5D66C2084D}"/>
              </a:ext>
            </a:extLst>
          </p:cNvPr>
          <p:cNvSpPr>
            <a:spLocks noGrp="1"/>
          </p:cNvSpPr>
          <p:nvPr>
            <p:ph type="body" idx="1"/>
          </p:nvPr>
        </p:nvSpPr>
        <p:spPr/>
        <p:txBody>
          <a:bodyPr/>
          <a:lstStyle/>
          <a:p>
            <a:endParaRPr lang="fr-FR" dirty="0"/>
          </a:p>
        </p:txBody>
      </p:sp>
      <p:sp>
        <p:nvSpPr>
          <p:cNvPr id="4" name="Slide Number Placeholder 3">
            <a:extLst>
              <a:ext uri="{FF2B5EF4-FFF2-40B4-BE49-F238E27FC236}">
                <a16:creationId xmlns:a16="http://schemas.microsoft.com/office/drawing/2014/main" id="{2C2F20BB-8071-E322-8417-5FD35D60868D}"/>
              </a:ext>
            </a:extLst>
          </p:cNvPr>
          <p:cNvSpPr>
            <a:spLocks noGrp="1"/>
          </p:cNvSpPr>
          <p:nvPr>
            <p:ph type="sldNum" sz="quarter" idx="5"/>
          </p:nvPr>
        </p:nvSpPr>
        <p:spPr/>
        <p:txBody>
          <a:bodyPr/>
          <a:lstStyle/>
          <a:p>
            <a:fld id="{A84E322D-64CC-F34A-90D4-13BB939FB9F2}" type="slidenum">
              <a:rPr lang="fr-FR" smtClean="0"/>
              <a:t>19</a:t>
            </a:fld>
            <a:endParaRPr lang="fr-FR"/>
          </a:p>
        </p:txBody>
      </p:sp>
    </p:spTree>
    <p:extLst>
      <p:ext uri="{BB962C8B-B14F-4D97-AF65-F5344CB8AC3E}">
        <p14:creationId xmlns:p14="http://schemas.microsoft.com/office/powerpoint/2010/main" val="19846989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80B8B0EE-DB74-4337-9E39-4F4401AC088C}" type="slidenum">
              <a:rPr lang="fr-FR" smtClean="0"/>
              <a:t>20</a:t>
            </a:fld>
            <a:endParaRPr lang="fr-FR"/>
          </a:p>
        </p:txBody>
      </p:sp>
    </p:spTree>
    <p:extLst>
      <p:ext uri="{BB962C8B-B14F-4D97-AF65-F5344CB8AC3E}">
        <p14:creationId xmlns:p14="http://schemas.microsoft.com/office/powerpoint/2010/main" val="14797418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1594485"/>
            <a:ext cx="7772400" cy="1080135"/>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371600" y="2880360"/>
            <a:ext cx="6400800" cy="1285875"/>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12/14/2025</a:t>
            </a:fld>
            <a:endParaRPr lang="en-US"/>
          </a:p>
        </p:txBody>
      </p:sp>
      <p:sp>
        <p:nvSpPr>
          <p:cNvPr id="6" name="Holder 6"/>
          <p:cNvSpPr>
            <a:spLocks noGrp="1"/>
          </p:cNvSpPr>
          <p:nvPr>
            <p:ph type="sldNum" sz="quarter" idx="7"/>
          </p:nvPr>
        </p:nvSpPr>
        <p:spPr/>
        <p:txBody>
          <a:bodyPr lIns="0" tIns="0" rIns="0" bIns="0"/>
          <a:lstStyle>
            <a:lvl1pPr>
              <a:defRPr sz="1000" b="0" i="0">
                <a:solidFill>
                  <a:srgbClr val="7FB7DF"/>
                </a:solidFill>
                <a:latin typeface="Verdana"/>
                <a:cs typeface="Verdana"/>
              </a:defRPr>
            </a:lvl1pPr>
          </a:lstStyle>
          <a:p>
            <a:pPr marL="38100">
              <a:lnSpc>
                <a:spcPct val="100000"/>
              </a:lnSpc>
              <a:spcBef>
                <a:spcPts val="105"/>
              </a:spcBef>
            </a:pPr>
            <a:fld id="{81D60167-4931-47E6-BA6A-407CBD079E47}" type="slidenum">
              <a:rPr spc="-85" dirty="0">
                <a:solidFill>
                  <a:srgbClr val="FFFFFF"/>
                </a:solidFill>
              </a:rPr>
              <a:t>‹N°›</a:t>
            </a:fld>
            <a:endParaRPr spc="-85">
              <a:solidFill>
                <a:srgbClr val="FFFFFF"/>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rgbClr val="54BCBE"/>
                </a:solidFill>
                <a:latin typeface="Verdana"/>
                <a:cs typeface="Verdana"/>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12/14/2025</a:t>
            </a:fld>
            <a:endParaRPr lang="en-US"/>
          </a:p>
        </p:txBody>
      </p:sp>
      <p:sp>
        <p:nvSpPr>
          <p:cNvPr id="6" name="Holder 6"/>
          <p:cNvSpPr>
            <a:spLocks noGrp="1"/>
          </p:cNvSpPr>
          <p:nvPr>
            <p:ph type="sldNum" sz="quarter" idx="7"/>
          </p:nvPr>
        </p:nvSpPr>
        <p:spPr/>
        <p:txBody>
          <a:bodyPr lIns="0" tIns="0" rIns="0" bIns="0"/>
          <a:lstStyle>
            <a:lvl1pPr>
              <a:defRPr sz="1000" b="0" i="0">
                <a:solidFill>
                  <a:srgbClr val="7FB7DF"/>
                </a:solidFill>
                <a:latin typeface="Verdana"/>
                <a:cs typeface="Verdana"/>
              </a:defRPr>
            </a:lvl1pPr>
          </a:lstStyle>
          <a:p>
            <a:pPr marL="38100">
              <a:lnSpc>
                <a:spcPct val="100000"/>
              </a:lnSpc>
              <a:spcBef>
                <a:spcPts val="105"/>
              </a:spcBef>
            </a:pPr>
            <a:fld id="{81D60167-4931-47E6-BA6A-407CBD079E47}" type="slidenum">
              <a:rPr spc="-85" dirty="0">
                <a:solidFill>
                  <a:srgbClr val="FFFFFF"/>
                </a:solidFill>
              </a:rPr>
              <a:t>‹N°›</a:t>
            </a:fld>
            <a:endParaRPr spc="-85">
              <a:solidFill>
                <a:srgbClr val="FFFFFF"/>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rgbClr val="54BCBE"/>
                </a:solidFill>
                <a:latin typeface="Verdana"/>
                <a:cs typeface="Verdana"/>
              </a:defRPr>
            </a:lvl1pPr>
          </a:lstStyle>
          <a:p>
            <a:endParaRPr/>
          </a:p>
        </p:txBody>
      </p:sp>
      <p:sp>
        <p:nvSpPr>
          <p:cNvPr id="3" name="Holder 3"/>
          <p:cNvSpPr>
            <a:spLocks noGrp="1"/>
          </p:cNvSpPr>
          <p:nvPr>
            <p:ph sz="half" idx="2"/>
          </p:nvPr>
        </p:nvSpPr>
        <p:spPr>
          <a:xfrm>
            <a:off x="457200" y="1183005"/>
            <a:ext cx="3977640" cy="339471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183005"/>
            <a:ext cx="3977640" cy="339471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12/14/2025</a:t>
            </a:fld>
            <a:endParaRPr lang="en-US"/>
          </a:p>
        </p:txBody>
      </p:sp>
      <p:sp>
        <p:nvSpPr>
          <p:cNvPr id="7" name="Holder 7"/>
          <p:cNvSpPr>
            <a:spLocks noGrp="1"/>
          </p:cNvSpPr>
          <p:nvPr>
            <p:ph type="sldNum" sz="quarter" idx="7"/>
          </p:nvPr>
        </p:nvSpPr>
        <p:spPr/>
        <p:txBody>
          <a:bodyPr lIns="0" tIns="0" rIns="0" bIns="0"/>
          <a:lstStyle>
            <a:lvl1pPr>
              <a:defRPr sz="1000" b="0" i="0">
                <a:solidFill>
                  <a:srgbClr val="7FB7DF"/>
                </a:solidFill>
                <a:latin typeface="Verdana"/>
                <a:cs typeface="Verdana"/>
              </a:defRPr>
            </a:lvl1pPr>
          </a:lstStyle>
          <a:p>
            <a:pPr marL="38100">
              <a:lnSpc>
                <a:spcPct val="100000"/>
              </a:lnSpc>
              <a:spcBef>
                <a:spcPts val="105"/>
              </a:spcBef>
            </a:pPr>
            <a:fld id="{81D60167-4931-47E6-BA6A-407CBD079E47}" type="slidenum">
              <a:rPr spc="-85" dirty="0">
                <a:solidFill>
                  <a:srgbClr val="FFFFFF"/>
                </a:solidFill>
              </a:rPr>
              <a:t>‹N°›</a:t>
            </a:fld>
            <a:endParaRPr spc="-85">
              <a:solidFill>
                <a:srgbClr val="FFFFFF"/>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8597370" y="4578722"/>
            <a:ext cx="429860" cy="283298"/>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2400" b="1" i="0">
                <a:solidFill>
                  <a:srgbClr val="54BCBE"/>
                </a:solidFill>
                <a:latin typeface="Verdana"/>
                <a:cs typeface="Verdan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12/14/2025</a:t>
            </a:fld>
            <a:endParaRPr lang="en-US"/>
          </a:p>
        </p:txBody>
      </p:sp>
      <p:sp>
        <p:nvSpPr>
          <p:cNvPr id="5" name="Holder 5"/>
          <p:cNvSpPr>
            <a:spLocks noGrp="1"/>
          </p:cNvSpPr>
          <p:nvPr>
            <p:ph type="sldNum" sz="quarter" idx="7"/>
          </p:nvPr>
        </p:nvSpPr>
        <p:spPr/>
        <p:txBody>
          <a:bodyPr lIns="0" tIns="0" rIns="0" bIns="0"/>
          <a:lstStyle>
            <a:lvl1pPr>
              <a:defRPr sz="1000" b="0" i="0">
                <a:solidFill>
                  <a:srgbClr val="7FB7DF"/>
                </a:solidFill>
                <a:latin typeface="Verdana"/>
                <a:cs typeface="Verdana"/>
              </a:defRPr>
            </a:lvl1pPr>
          </a:lstStyle>
          <a:p>
            <a:pPr marL="38100">
              <a:lnSpc>
                <a:spcPct val="100000"/>
              </a:lnSpc>
              <a:spcBef>
                <a:spcPts val="105"/>
              </a:spcBef>
            </a:pPr>
            <a:fld id="{81D60167-4931-47E6-BA6A-407CBD079E47}" type="slidenum">
              <a:rPr spc="-85" dirty="0">
                <a:solidFill>
                  <a:srgbClr val="FFFFFF"/>
                </a:solidFill>
              </a:rPr>
              <a:t>‹N°›</a:t>
            </a:fld>
            <a:endParaRPr spc="-85">
              <a:solidFill>
                <a:srgbClr val="FFFFFF"/>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12/14/2025</a:t>
            </a:fld>
            <a:endParaRPr lang="en-US"/>
          </a:p>
        </p:txBody>
      </p:sp>
      <p:sp>
        <p:nvSpPr>
          <p:cNvPr id="4" name="Holder 4"/>
          <p:cNvSpPr>
            <a:spLocks noGrp="1"/>
          </p:cNvSpPr>
          <p:nvPr>
            <p:ph type="sldNum" sz="quarter" idx="7"/>
          </p:nvPr>
        </p:nvSpPr>
        <p:spPr/>
        <p:txBody>
          <a:bodyPr lIns="0" tIns="0" rIns="0" bIns="0"/>
          <a:lstStyle>
            <a:lvl1pPr>
              <a:defRPr sz="1000" b="0" i="0">
                <a:solidFill>
                  <a:srgbClr val="7FB7DF"/>
                </a:solidFill>
                <a:latin typeface="Verdana"/>
                <a:cs typeface="Verdana"/>
              </a:defRPr>
            </a:lvl1pPr>
          </a:lstStyle>
          <a:p>
            <a:pPr marL="38100">
              <a:lnSpc>
                <a:spcPct val="100000"/>
              </a:lnSpc>
              <a:spcBef>
                <a:spcPts val="105"/>
              </a:spcBef>
            </a:pPr>
            <a:fld id="{81D60167-4931-47E6-BA6A-407CBD079E47}" type="slidenum">
              <a:rPr spc="-85" dirty="0">
                <a:solidFill>
                  <a:srgbClr val="FFFFFF"/>
                </a:solidFill>
              </a:rPr>
              <a:t>‹N°›</a:t>
            </a:fld>
            <a:endParaRPr spc="-85">
              <a:solidFill>
                <a:srgbClr val="FFFFFF"/>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a:xfrm>
            <a:off x="457200" y="4783455"/>
            <a:ext cx="2103120" cy="276999"/>
          </a:xfrm>
        </p:spPr>
        <p:txBody>
          <a:bodyPr/>
          <a:lstStyle/>
          <a:p>
            <a:fld id="{FE69C2FC-FDFD-4827-B361-612217FFD460}" type="datetimeFigureOut">
              <a:rPr lang="fr-FR" smtClean="0"/>
              <a:t>14/12/2025</a:t>
            </a:fld>
            <a:endParaRPr lang="fr-FR"/>
          </a:p>
        </p:txBody>
      </p:sp>
      <p:sp>
        <p:nvSpPr>
          <p:cNvPr id="3" name="Espace réservé du pied de page 2"/>
          <p:cNvSpPr>
            <a:spLocks noGrp="1"/>
          </p:cNvSpPr>
          <p:nvPr>
            <p:ph type="ftr" sz="quarter" idx="11"/>
          </p:nvPr>
        </p:nvSpPr>
        <p:spPr>
          <a:xfrm>
            <a:off x="3108960" y="4783455"/>
            <a:ext cx="2926080" cy="276999"/>
          </a:xfrm>
        </p:spPr>
        <p:txBody>
          <a:bodyPr/>
          <a:lstStyle/>
          <a:p>
            <a:endParaRPr lang="fr-FR"/>
          </a:p>
        </p:txBody>
      </p:sp>
      <p:sp>
        <p:nvSpPr>
          <p:cNvPr id="4" name="Espace réservé du numéro de diapositive 3"/>
          <p:cNvSpPr>
            <a:spLocks noGrp="1"/>
          </p:cNvSpPr>
          <p:nvPr>
            <p:ph type="sldNum" sz="quarter" idx="12"/>
          </p:nvPr>
        </p:nvSpPr>
        <p:spPr>
          <a:xfrm>
            <a:off x="8874741" y="4894851"/>
            <a:ext cx="215900" cy="307777"/>
          </a:xfrm>
        </p:spPr>
        <p:txBody>
          <a:bodyPr/>
          <a:lstStyle/>
          <a:p>
            <a:fld id="{145EDAB0-9B87-4A61-82A7-24EB9E95EB74}" type="slidenum">
              <a:rPr lang="fr-FR" smtClean="0"/>
              <a:t>‹N°›</a:t>
            </a:fld>
            <a:endParaRPr lang="fr-FR"/>
          </a:p>
        </p:txBody>
      </p:sp>
    </p:spTree>
    <p:extLst>
      <p:ext uri="{BB962C8B-B14F-4D97-AF65-F5344CB8AC3E}">
        <p14:creationId xmlns:p14="http://schemas.microsoft.com/office/powerpoint/2010/main" val="40529460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3876384" y="2592654"/>
            <a:ext cx="4569441" cy="1384995"/>
          </a:xfrm>
        </p:spPr>
        <p:txBody>
          <a:bodyPr anchor="b"/>
          <a:lstStyle>
            <a:lvl1pPr algn="ctr">
              <a:defRPr sz="4500"/>
            </a:lvl1pPr>
          </a:lstStyle>
          <a:p>
            <a:r>
              <a:rPr lang="fr-FR"/>
              <a:t>Modifiez le style du titre</a:t>
            </a:r>
          </a:p>
        </p:txBody>
      </p:sp>
      <p:sp>
        <p:nvSpPr>
          <p:cNvPr id="3" name="Sous-titre 2"/>
          <p:cNvSpPr>
            <a:spLocks noGrp="1"/>
          </p:cNvSpPr>
          <p:nvPr>
            <p:ph type="subTitle" idx="1"/>
          </p:nvPr>
        </p:nvSpPr>
        <p:spPr>
          <a:xfrm>
            <a:off x="3965951" y="3982528"/>
            <a:ext cx="4390307" cy="276999"/>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fr-FR"/>
              <a:t>Modifiez le style des sous-titres du masque</a:t>
            </a:r>
          </a:p>
        </p:txBody>
      </p:sp>
      <p:pic>
        <p:nvPicPr>
          <p:cNvPr id="5" name="Image 4">
            <a:extLst>
              <a:ext uri="{FF2B5EF4-FFF2-40B4-BE49-F238E27FC236}">
                <a16:creationId xmlns:a16="http://schemas.microsoft.com/office/drawing/2014/main" id="{46830C2E-4564-4B17-8002-21FAB136553A}"/>
              </a:ext>
            </a:extLst>
          </p:cNvPr>
          <p:cNvPicPr>
            <a:picLocks noChangeAspect="1"/>
          </p:cNvPicPr>
          <p:nvPr userDrawn="1"/>
        </p:nvPicPr>
        <p:blipFill rotWithShape="1">
          <a:blip r:embed="rId2"/>
          <a:srcRect l="10999" r="11596"/>
          <a:stretch/>
        </p:blipFill>
        <p:spPr>
          <a:xfrm>
            <a:off x="-2024" y="0"/>
            <a:ext cx="7077950" cy="5175317"/>
          </a:xfrm>
          <a:prstGeom prst="rect">
            <a:avLst/>
          </a:prstGeom>
        </p:spPr>
      </p:pic>
      <p:sp>
        <p:nvSpPr>
          <p:cNvPr id="10" name="Rectangle 9">
            <a:extLst>
              <a:ext uri="{FF2B5EF4-FFF2-40B4-BE49-F238E27FC236}">
                <a16:creationId xmlns:a16="http://schemas.microsoft.com/office/drawing/2014/main" id="{AC26AB9D-2720-48E7-9F02-9FF73EC7320C}"/>
              </a:ext>
            </a:extLst>
          </p:cNvPr>
          <p:cNvSpPr/>
          <p:nvPr userDrawn="1"/>
        </p:nvSpPr>
        <p:spPr>
          <a:xfrm>
            <a:off x="5272" y="1"/>
            <a:ext cx="8138265" cy="5159408"/>
          </a:xfrm>
          <a:prstGeom prst="rect">
            <a:avLst/>
          </a:prstGeom>
          <a:solidFill>
            <a:srgbClr val="676D72">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solidFill>
                <a:schemeClr val="bg1"/>
              </a:solidFill>
            </a:endParaRPr>
          </a:p>
        </p:txBody>
      </p:sp>
      <p:sp>
        <p:nvSpPr>
          <p:cNvPr id="11" name="Parallélogramme 10">
            <a:extLst>
              <a:ext uri="{FF2B5EF4-FFF2-40B4-BE49-F238E27FC236}">
                <a16:creationId xmlns:a16="http://schemas.microsoft.com/office/drawing/2014/main" id="{89BE8FA3-37AB-4349-895E-C9147FFA4740}"/>
              </a:ext>
            </a:extLst>
          </p:cNvPr>
          <p:cNvSpPr/>
          <p:nvPr userDrawn="1"/>
        </p:nvSpPr>
        <p:spPr>
          <a:xfrm>
            <a:off x="4348264" y="-15909"/>
            <a:ext cx="5287890" cy="5175317"/>
          </a:xfrm>
          <a:prstGeom prst="parallelogram">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spTree>
    <p:extLst>
      <p:ext uri="{BB962C8B-B14F-4D97-AF65-F5344CB8AC3E}">
        <p14:creationId xmlns:p14="http://schemas.microsoft.com/office/powerpoint/2010/main" val="18699929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586986" y="270763"/>
            <a:ext cx="5970026" cy="391159"/>
          </a:xfrm>
          <a:prstGeom prst="rect">
            <a:avLst/>
          </a:prstGeom>
        </p:spPr>
        <p:txBody>
          <a:bodyPr wrap="square" lIns="0" tIns="0" rIns="0" bIns="0">
            <a:spAutoFit/>
          </a:bodyPr>
          <a:lstStyle>
            <a:lvl1pPr>
              <a:defRPr sz="2400" b="1" i="0">
                <a:solidFill>
                  <a:srgbClr val="54BCBE"/>
                </a:solidFill>
                <a:latin typeface="Verdana"/>
                <a:cs typeface="Verdana"/>
              </a:defRPr>
            </a:lvl1pPr>
          </a:lstStyle>
          <a:p>
            <a:endParaRPr/>
          </a:p>
        </p:txBody>
      </p:sp>
      <p:sp>
        <p:nvSpPr>
          <p:cNvPr id="3" name="Holder 3"/>
          <p:cNvSpPr>
            <a:spLocks noGrp="1"/>
          </p:cNvSpPr>
          <p:nvPr>
            <p:ph type="body" idx="1"/>
          </p:nvPr>
        </p:nvSpPr>
        <p:spPr>
          <a:xfrm>
            <a:off x="88158" y="790177"/>
            <a:ext cx="7865109" cy="144780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3108960" y="4783455"/>
            <a:ext cx="2926080" cy="257175"/>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4783455"/>
            <a:ext cx="2103120" cy="257175"/>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12/14/2025</a:t>
            </a:fld>
            <a:endParaRPr lang="en-US"/>
          </a:p>
        </p:txBody>
      </p:sp>
      <p:sp>
        <p:nvSpPr>
          <p:cNvPr id="6" name="Holder 6"/>
          <p:cNvSpPr>
            <a:spLocks noGrp="1"/>
          </p:cNvSpPr>
          <p:nvPr>
            <p:ph type="sldNum" sz="quarter" idx="7"/>
          </p:nvPr>
        </p:nvSpPr>
        <p:spPr>
          <a:xfrm>
            <a:off x="8874741" y="4894851"/>
            <a:ext cx="215900" cy="181610"/>
          </a:xfrm>
          <a:prstGeom prst="rect">
            <a:avLst/>
          </a:prstGeom>
        </p:spPr>
        <p:txBody>
          <a:bodyPr wrap="square" lIns="0" tIns="0" rIns="0" bIns="0">
            <a:spAutoFit/>
          </a:bodyPr>
          <a:lstStyle>
            <a:lvl1pPr>
              <a:defRPr sz="1000" b="0" i="0">
                <a:solidFill>
                  <a:srgbClr val="7FB7DF"/>
                </a:solidFill>
                <a:latin typeface="Verdana"/>
                <a:cs typeface="Verdana"/>
              </a:defRPr>
            </a:lvl1pPr>
          </a:lstStyle>
          <a:p>
            <a:pPr marL="38100">
              <a:lnSpc>
                <a:spcPct val="100000"/>
              </a:lnSpc>
              <a:spcBef>
                <a:spcPts val="105"/>
              </a:spcBef>
            </a:pPr>
            <a:fld id="{81D60167-4931-47E6-BA6A-407CBD079E47}" type="slidenum">
              <a:rPr spc="-85" dirty="0">
                <a:solidFill>
                  <a:srgbClr val="FFFFFF"/>
                </a:solidFill>
              </a:rPr>
              <a:t>‹N°›</a:t>
            </a:fld>
            <a:endParaRPr spc="-85">
              <a:solidFill>
                <a:srgbClr val="FFFFFF"/>
              </a:solidFill>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7" r:id="rId6"/>
    <p:sldLayoutId id="2147483668" r:id="rId7"/>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0.jpeg"/><Relationship Id="rId7"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6.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hyperlink" Target="http://www.mgt-conseils.com/" TargetMode="External"/><Relationship Id="rId10" Type="http://schemas.openxmlformats.org/officeDocument/2006/relationships/image" Target="../media/image16.png"/><Relationship Id="rId4" Type="http://schemas.openxmlformats.org/officeDocument/2006/relationships/image" Target="../media/image11.emf"/><Relationship Id="rId9"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ZoneTexte 13">
            <a:extLst>
              <a:ext uri="{FF2B5EF4-FFF2-40B4-BE49-F238E27FC236}">
                <a16:creationId xmlns:a16="http://schemas.microsoft.com/office/drawing/2014/main" id="{6645293F-0238-41E2-AE61-25FF444A98FA}"/>
              </a:ext>
            </a:extLst>
          </p:cNvPr>
          <p:cNvSpPr txBox="1"/>
          <p:nvPr/>
        </p:nvSpPr>
        <p:spPr>
          <a:xfrm>
            <a:off x="5241241" y="2668269"/>
            <a:ext cx="3317926" cy="707886"/>
          </a:xfrm>
          <a:prstGeom prst="rect">
            <a:avLst/>
          </a:prstGeom>
          <a:noFill/>
        </p:spPr>
        <p:txBody>
          <a:bodyPr wrap="square">
            <a:spAutoFit/>
          </a:bodyPr>
          <a:lstStyle/>
          <a:p>
            <a:pPr algn="ctr"/>
            <a:r>
              <a:rPr lang="fr-FR" sz="2000" b="1">
                <a:solidFill>
                  <a:srgbClr val="EE8200"/>
                </a:solidFill>
                <a:latin typeface="Arial UNICODE MS"/>
              </a:rPr>
              <a:t>L’accélérateur </a:t>
            </a:r>
            <a:br>
              <a:rPr lang="fr-FR" sz="2000" b="1">
                <a:solidFill>
                  <a:srgbClr val="EE8200"/>
                </a:solidFill>
                <a:latin typeface="Arial UNICODE MS"/>
              </a:rPr>
            </a:br>
            <a:r>
              <a:rPr lang="fr-FR" sz="2000" b="1">
                <a:solidFill>
                  <a:srgbClr val="EE8200"/>
                </a:solidFill>
                <a:latin typeface="Arial UNICODE MS"/>
              </a:rPr>
              <a:t>de vos Performances</a:t>
            </a:r>
          </a:p>
        </p:txBody>
      </p:sp>
      <p:sp>
        <p:nvSpPr>
          <p:cNvPr id="17" name="ZoneTexte 16">
            <a:extLst>
              <a:ext uri="{FF2B5EF4-FFF2-40B4-BE49-F238E27FC236}">
                <a16:creationId xmlns:a16="http://schemas.microsoft.com/office/drawing/2014/main" id="{127EBDE4-AF21-46CC-A637-A8E445A354FC}"/>
              </a:ext>
            </a:extLst>
          </p:cNvPr>
          <p:cNvSpPr txBox="1"/>
          <p:nvPr/>
        </p:nvSpPr>
        <p:spPr>
          <a:xfrm>
            <a:off x="5425360" y="3454631"/>
            <a:ext cx="3047947" cy="430887"/>
          </a:xfrm>
          <a:prstGeom prst="rect">
            <a:avLst/>
          </a:prstGeom>
          <a:noFill/>
        </p:spPr>
        <p:txBody>
          <a:bodyPr wrap="square" rtlCol="0">
            <a:spAutoFit/>
          </a:bodyPr>
          <a:lstStyle/>
          <a:p>
            <a:pPr algn="ctr"/>
            <a:r>
              <a:rPr lang="fr-FR" sz="1100" b="1">
                <a:solidFill>
                  <a:schemeClr val="tx1">
                    <a:lumMod val="50000"/>
                    <a:lumOff val="50000"/>
                  </a:schemeClr>
                </a:solidFill>
                <a:latin typeface="Abadi Extra Light" panose="020B0204020104020204" pitchFamily="34" charset="0"/>
              </a:rPr>
              <a:t>Cabinet de Conseil et Formation spécialisé dans l’Amélioration des Performances des Entreprises</a:t>
            </a:r>
          </a:p>
        </p:txBody>
      </p:sp>
      <p:grpSp>
        <p:nvGrpSpPr>
          <p:cNvPr id="4" name="Google Shape;1211;p42">
            <a:extLst>
              <a:ext uri="{FF2B5EF4-FFF2-40B4-BE49-F238E27FC236}">
                <a16:creationId xmlns:a16="http://schemas.microsoft.com/office/drawing/2014/main" id="{0805AA11-DDF0-28CE-7329-E9ABB8802C46}"/>
              </a:ext>
            </a:extLst>
          </p:cNvPr>
          <p:cNvGrpSpPr/>
          <p:nvPr/>
        </p:nvGrpSpPr>
        <p:grpSpPr>
          <a:xfrm>
            <a:off x="866124" y="1529312"/>
            <a:ext cx="2906404" cy="2211684"/>
            <a:chOff x="4743450" y="1116900"/>
            <a:chExt cx="2486100" cy="1690800"/>
          </a:xfrm>
        </p:grpSpPr>
        <p:sp>
          <p:nvSpPr>
            <p:cNvPr id="5" name="Google Shape;1212;p42">
              <a:extLst>
                <a:ext uri="{FF2B5EF4-FFF2-40B4-BE49-F238E27FC236}">
                  <a16:creationId xmlns:a16="http://schemas.microsoft.com/office/drawing/2014/main" id="{19E28FA2-BA25-9760-C0E3-7AB39B1EEB5E}"/>
                </a:ext>
              </a:extLst>
            </p:cNvPr>
            <p:cNvSpPr/>
            <p:nvPr/>
          </p:nvSpPr>
          <p:spPr>
            <a:xfrm>
              <a:off x="4743450" y="1116900"/>
              <a:ext cx="2486100" cy="1690800"/>
            </a:xfrm>
            <a:prstGeom prst="roundRect">
              <a:avLst>
                <a:gd name="adj" fmla="val 16667"/>
              </a:avLst>
            </a:prstGeom>
            <a:solidFill>
              <a:schemeClr val="bg1">
                <a:alpha val="80000"/>
              </a:scheme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 name="Google Shape;1213;p42">
              <a:extLst>
                <a:ext uri="{FF2B5EF4-FFF2-40B4-BE49-F238E27FC236}">
                  <a16:creationId xmlns:a16="http://schemas.microsoft.com/office/drawing/2014/main" id="{F4C6AACD-E2C4-85E5-CF68-119723003E9E}"/>
                </a:ext>
              </a:extLst>
            </p:cNvPr>
            <p:cNvSpPr/>
            <p:nvPr/>
          </p:nvSpPr>
          <p:spPr>
            <a:xfrm>
              <a:off x="4743450" y="1708870"/>
              <a:ext cx="2486100" cy="729400"/>
            </a:xfrm>
            <a:prstGeom prst="rect">
              <a:avLst/>
            </a:prstGeom>
            <a:gradFill>
              <a:gsLst>
                <a:gs pos="83000">
                  <a:srgbClr val="E89D06"/>
                </a:gs>
                <a:gs pos="38000">
                  <a:srgbClr val="E89D06"/>
                </a:gs>
              </a:gsLst>
              <a:lin ang="5400000" scaled="1"/>
            </a:gradFill>
            <a:ln>
              <a:noFill/>
            </a:ln>
          </p:spPr>
          <p:txBody>
            <a:bodyPr spcFirstLastPara="1" wrap="square" lIns="91425" tIns="91425" rIns="91425" bIns="91425" anchor="ctr" anchorCtr="0">
              <a:noAutofit/>
            </a:bodyPr>
            <a:lstStyle/>
            <a:p>
              <a:pPr algn="just"/>
              <a:endParaRPr lang="fr-FR" sz="2400" b="1">
                <a:solidFill>
                  <a:schemeClr val="bg1"/>
                </a:solidFill>
                <a:latin typeface="Ebrima" panose="02000000000000000000" pitchFamily="2" charset="0"/>
                <a:ea typeface="Ebrima" panose="02000000000000000000" pitchFamily="2" charset="0"/>
                <a:cs typeface="Ebrima" panose="02000000000000000000" pitchFamily="2" charset="0"/>
              </a:endParaRPr>
            </a:p>
          </p:txBody>
        </p:sp>
        <p:sp>
          <p:nvSpPr>
            <p:cNvPr id="7" name="Google Shape;1214;p42">
              <a:extLst>
                <a:ext uri="{FF2B5EF4-FFF2-40B4-BE49-F238E27FC236}">
                  <a16:creationId xmlns:a16="http://schemas.microsoft.com/office/drawing/2014/main" id="{10DB14C9-1189-F962-9C46-48F2025E5D4E}"/>
                </a:ext>
              </a:extLst>
            </p:cNvPr>
            <p:cNvSpPr txBox="1"/>
            <p:nvPr/>
          </p:nvSpPr>
          <p:spPr>
            <a:xfrm>
              <a:off x="4754902" y="2510233"/>
              <a:ext cx="2283900" cy="262072"/>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1200" b="1" dirty="0">
                  <a:solidFill>
                    <a:schemeClr val="tx1">
                      <a:lumMod val="65000"/>
                      <a:lumOff val="35000"/>
                    </a:schemeClr>
                  </a:solidFill>
                  <a:latin typeface="Roboto"/>
                  <a:ea typeface="Roboto"/>
                  <a:cs typeface="Roboto"/>
                  <a:sym typeface="Roboto"/>
                </a:rPr>
                <a:t>18/11/2025</a:t>
              </a:r>
            </a:p>
          </p:txBody>
        </p:sp>
        <p:grpSp>
          <p:nvGrpSpPr>
            <p:cNvPr id="8" name="Google Shape;1215;p42">
              <a:extLst>
                <a:ext uri="{FF2B5EF4-FFF2-40B4-BE49-F238E27FC236}">
                  <a16:creationId xmlns:a16="http://schemas.microsoft.com/office/drawing/2014/main" id="{6C607AC6-5841-D5C0-CDC0-064B9E45A8F0}"/>
                </a:ext>
              </a:extLst>
            </p:cNvPr>
            <p:cNvGrpSpPr/>
            <p:nvPr/>
          </p:nvGrpSpPr>
          <p:grpSpPr>
            <a:xfrm>
              <a:off x="5790959" y="1236253"/>
              <a:ext cx="394134" cy="394090"/>
              <a:chOff x="-64764500" y="2280550"/>
              <a:chExt cx="316650" cy="319800"/>
            </a:xfrm>
          </p:grpSpPr>
          <p:sp>
            <p:nvSpPr>
              <p:cNvPr id="9" name="Google Shape;1216;p42">
                <a:extLst>
                  <a:ext uri="{FF2B5EF4-FFF2-40B4-BE49-F238E27FC236}">
                    <a16:creationId xmlns:a16="http://schemas.microsoft.com/office/drawing/2014/main" id="{185FED04-2E27-BE7C-9209-400D4E0C0465}"/>
                  </a:ext>
                </a:extLst>
              </p:cNvPr>
              <p:cNvSpPr/>
              <p:nvPr/>
            </p:nvSpPr>
            <p:spPr>
              <a:xfrm>
                <a:off x="-64764500" y="2280550"/>
                <a:ext cx="316650" cy="319800"/>
              </a:xfrm>
              <a:custGeom>
                <a:avLst/>
                <a:gdLst/>
                <a:ahLst/>
                <a:cxnLst/>
                <a:rect l="l" t="t" r="r" b="b"/>
                <a:pathLst>
                  <a:path w="12666" h="12792" extrusionOk="0">
                    <a:moveTo>
                      <a:pt x="11405" y="820"/>
                    </a:moveTo>
                    <a:cubicBezTo>
                      <a:pt x="11657" y="820"/>
                      <a:pt x="11815" y="1009"/>
                      <a:pt x="11815" y="1261"/>
                    </a:cubicBezTo>
                    <a:cubicBezTo>
                      <a:pt x="11815" y="1481"/>
                      <a:pt x="11657" y="1670"/>
                      <a:pt x="11405" y="1670"/>
                    </a:cubicBezTo>
                    <a:lnTo>
                      <a:pt x="1229" y="1670"/>
                    </a:lnTo>
                    <a:cubicBezTo>
                      <a:pt x="977" y="1670"/>
                      <a:pt x="788" y="1481"/>
                      <a:pt x="788" y="1261"/>
                    </a:cubicBezTo>
                    <a:cubicBezTo>
                      <a:pt x="788" y="1009"/>
                      <a:pt x="977" y="820"/>
                      <a:pt x="1229" y="820"/>
                    </a:cubicBezTo>
                    <a:close/>
                    <a:moveTo>
                      <a:pt x="10996" y="2521"/>
                    </a:moveTo>
                    <a:lnTo>
                      <a:pt x="10996" y="8286"/>
                    </a:lnTo>
                    <a:lnTo>
                      <a:pt x="1607" y="8286"/>
                    </a:lnTo>
                    <a:lnTo>
                      <a:pt x="1607" y="2521"/>
                    </a:lnTo>
                    <a:close/>
                    <a:moveTo>
                      <a:pt x="6302" y="11027"/>
                    </a:moveTo>
                    <a:cubicBezTo>
                      <a:pt x="6554" y="11027"/>
                      <a:pt x="6743" y="11216"/>
                      <a:pt x="6743" y="11437"/>
                    </a:cubicBezTo>
                    <a:cubicBezTo>
                      <a:pt x="6743" y="11689"/>
                      <a:pt x="6522" y="11878"/>
                      <a:pt x="6302" y="11878"/>
                    </a:cubicBezTo>
                    <a:cubicBezTo>
                      <a:pt x="6050" y="11878"/>
                      <a:pt x="5892" y="11689"/>
                      <a:pt x="5892" y="11437"/>
                    </a:cubicBezTo>
                    <a:cubicBezTo>
                      <a:pt x="5892" y="11216"/>
                      <a:pt x="6113" y="11027"/>
                      <a:pt x="6302" y="11027"/>
                    </a:cubicBezTo>
                    <a:close/>
                    <a:moveTo>
                      <a:pt x="1229" y="1"/>
                    </a:moveTo>
                    <a:cubicBezTo>
                      <a:pt x="536" y="1"/>
                      <a:pt x="1" y="536"/>
                      <a:pt x="1" y="1261"/>
                    </a:cubicBezTo>
                    <a:cubicBezTo>
                      <a:pt x="1" y="1797"/>
                      <a:pt x="347" y="2238"/>
                      <a:pt x="820" y="2427"/>
                    </a:cubicBezTo>
                    <a:lnTo>
                      <a:pt x="820" y="8286"/>
                    </a:lnTo>
                    <a:lnTo>
                      <a:pt x="442" y="8286"/>
                    </a:lnTo>
                    <a:cubicBezTo>
                      <a:pt x="190" y="8286"/>
                      <a:pt x="32" y="8507"/>
                      <a:pt x="32" y="8728"/>
                    </a:cubicBezTo>
                    <a:cubicBezTo>
                      <a:pt x="32" y="8980"/>
                      <a:pt x="221" y="9169"/>
                      <a:pt x="442" y="9169"/>
                    </a:cubicBezTo>
                    <a:lnTo>
                      <a:pt x="5955" y="9169"/>
                    </a:lnTo>
                    <a:lnTo>
                      <a:pt x="5955" y="10334"/>
                    </a:lnTo>
                    <a:cubicBezTo>
                      <a:pt x="5483" y="10492"/>
                      <a:pt x="5104" y="10964"/>
                      <a:pt x="5104" y="11531"/>
                    </a:cubicBezTo>
                    <a:cubicBezTo>
                      <a:pt x="5104" y="12193"/>
                      <a:pt x="5672" y="12792"/>
                      <a:pt x="6333" y="12792"/>
                    </a:cubicBezTo>
                    <a:cubicBezTo>
                      <a:pt x="6995" y="12792"/>
                      <a:pt x="7593" y="12225"/>
                      <a:pt x="7593" y="11531"/>
                    </a:cubicBezTo>
                    <a:cubicBezTo>
                      <a:pt x="7593" y="10964"/>
                      <a:pt x="7247" y="10555"/>
                      <a:pt x="6774" y="10334"/>
                    </a:cubicBezTo>
                    <a:lnTo>
                      <a:pt x="6774" y="9169"/>
                    </a:lnTo>
                    <a:lnTo>
                      <a:pt x="12288" y="9169"/>
                    </a:lnTo>
                    <a:cubicBezTo>
                      <a:pt x="12508" y="9169"/>
                      <a:pt x="12666" y="8980"/>
                      <a:pt x="12666" y="8728"/>
                    </a:cubicBezTo>
                    <a:cubicBezTo>
                      <a:pt x="12666" y="8507"/>
                      <a:pt x="12477" y="8286"/>
                      <a:pt x="12288" y="8286"/>
                    </a:cubicBezTo>
                    <a:lnTo>
                      <a:pt x="11847" y="8286"/>
                    </a:lnTo>
                    <a:lnTo>
                      <a:pt x="11847" y="2427"/>
                    </a:lnTo>
                    <a:cubicBezTo>
                      <a:pt x="12319" y="2238"/>
                      <a:pt x="12634" y="1797"/>
                      <a:pt x="12634" y="1261"/>
                    </a:cubicBezTo>
                    <a:cubicBezTo>
                      <a:pt x="12634" y="568"/>
                      <a:pt x="12099" y="1"/>
                      <a:pt x="11405" y="1"/>
                    </a:cubicBezTo>
                    <a:close/>
                  </a:path>
                </a:pathLst>
              </a:custGeom>
              <a:solidFill>
                <a:srgbClr val="EE82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217;p42">
                <a:extLst>
                  <a:ext uri="{FF2B5EF4-FFF2-40B4-BE49-F238E27FC236}">
                    <a16:creationId xmlns:a16="http://schemas.microsoft.com/office/drawing/2014/main" id="{3604447A-576F-6388-A6B4-EAB22FCF3F94}"/>
                  </a:ext>
                </a:extLst>
              </p:cNvPr>
              <p:cNvSpPr/>
              <p:nvPr/>
            </p:nvSpPr>
            <p:spPr>
              <a:xfrm>
                <a:off x="-64679425" y="2364825"/>
                <a:ext cx="146500" cy="102450"/>
              </a:xfrm>
              <a:custGeom>
                <a:avLst/>
                <a:gdLst/>
                <a:ahLst/>
                <a:cxnLst/>
                <a:rect l="l" t="t" r="r" b="b"/>
                <a:pathLst>
                  <a:path w="5860" h="4098" extrusionOk="0">
                    <a:moveTo>
                      <a:pt x="3749" y="1"/>
                    </a:moveTo>
                    <a:cubicBezTo>
                      <a:pt x="3529" y="1"/>
                      <a:pt x="3371" y="190"/>
                      <a:pt x="3371" y="442"/>
                    </a:cubicBezTo>
                    <a:cubicBezTo>
                      <a:pt x="3371" y="662"/>
                      <a:pt x="3560" y="820"/>
                      <a:pt x="3749" y="820"/>
                    </a:cubicBezTo>
                    <a:lnTo>
                      <a:pt x="4442" y="820"/>
                    </a:lnTo>
                    <a:lnTo>
                      <a:pt x="2930" y="2332"/>
                    </a:lnTo>
                    <a:lnTo>
                      <a:pt x="2395" y="1765"/>
                    </a:lnTo>
                    <a:cubicBezTo>
                      <a:pt x="2316" y="1686"/>
                      <a:pt x="2206" y="1647"/>
                      <a:pt x="2095" y="1647"/>
                    </a:cubicBezTo>
                    <a:cubicBezTo>
                      <a:pt x="1985" y="1647"/>
                      <a:pt x="1875" y="1686"/>
                      <a:pt x="1796" y="1765"/>
                    </a:cubicBezTo>
                    <a:lnTo>
                      <a:pt x="126" y="3435"/>
                    </a:lnTo>
                    <a:cubicBezTo>
                      <a:pt x="0" y="3592"/>
                      <a:pt x="0" y="3844"/>
                      <a:pt x="126" y="4033"/>
                    </a:cubicBezTo>
                    <a:cubicBezTo>
                      <a:pt x="195" y="4075"/>
                      <a:pt x="288" y="4098"/>
                      <a:pt x="384" y="4098"/>
                    </a:cubicBezTo>
                    <a:cubicBezTo>
                      <a:pt x="507" y="4098"/>
                      <a:pt x="636" y="4059"/>
                      <a:pt x="725" y="3970"/>
                    </a:cubicBezTo>
                    <a:lnTo>
                      <a:pt x="2111" y="2616"/>
                    </a:lnTo>
                    <a:lnTo>
                      <a:pt x="2647" y="3151"/>
                    </a:lnTo>
                    <a:cubicBezTo>
                      <a:pt x="2725" y="3230"/>
                      <a:pt x="2836" y="3269"/>
                      <a:pt x="2946" y="3269"/>
                    </a:cubicBezTo>
                    <a:cubicBezTo>
                      <a:pt x="3056" y="3269"/>
                      <a:pt x="3166" y="3230"/>
                      <a:pt x="3245" y="3151"/>
                    </a:cubicBezTo>
                    <a:lnTo>
                      <a:pt x="5009" y="1387"/>
                    </a:lnTo>
                    <a:lnTo>
                      <a:pt x="5009" y="2049"/>
                    </a:lnTo>
                    <a:cubicBezTo>
                      <a:pt x="5009" y="2269"/>
                      <a:pt x="5230" y="2490"/>
                      <a:pt x="5451" y="2490"/>
                    </a:cubicBezTo>
                    <a:cubicBezTo>
                      <a:pt x="5703" y="2490"/>
                      <a:pt x="5860" y="2269"/>
                      <a:pt x="5860" y="2049"/>
                    </a:cubicBezTo>
                    <a:lnTo>
                      <a:pt x="5860" y="410"/>
                    </a:lnTo>
                    <a:cubicBezTo>
                      <a:pt x="5860" y="158"/>
                      <a:pt x="5640" y="1"/>
                      <a:pt x="5419" y="1"/>
                    </a:cubicBezTo>
                    <a:close/>
                  </a:path>
                </a:pathLst>
              </a:custGeom>
              <a:solidFill>
                <a:srgbClr val="E89D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3" name="ZoneTexte 12">
            <a:extLst>
              <a:ext uri="{FF2B5EF4-FFF2-40B4-BE49-F238E27FC236}">
                <a16:creationId xmlns:a16="http://schemas.microsoft.com/office/drawing/2014/main" id="{ED8FED94-221E-D61F-429C-874B96C41C0C}"/>
              </a:ext>
            </a:extLst>
          </p:cNvPr>
          <p:cNvSpPr txBox="1"/>
          <p:nvPr/>
        </p:nvSpPr>
        <p:spPr>
          <a:xfrm>
            <a:off x="866123" y="2426759"/>
            <a:ext cx="2906403" cy="64633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dirty="0">
                <a:solidFill>
                  <a:srgbClr val="17375E"/>
                </a:solidFill>
                <a:effectLst/>
                <a:latin typeface="Trebuchet MS" panose="020B0603020202020204" pitchFamily="34" charset="0"/>
                <a:ea typeface="DengXian" panose="02010600030101010101" pitchFamily="2" charset="-122"/>
                <a:cs typeface="Times New Roman" panose="02020603050405020304" pitchFamily="18" charset="0"/>
              </a:rPr>
              <a:t>Spark Avancé</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b="1" i="0" u="none" strike="noStrike" kern="1200" cap="none" spc="0" normalizeH="0" baseline="0" noProof="0" dirty="0">
                <a:ln>
                  <a:noFill/>
                </a:ln>
                <a:solidFill>
                  <a:srgbClr val="17375E"/>
                </a:solidFill>
                <a:uLnTx/>
                <a:uFillTx/>
                <a:latin typeface="Trebuchet MS" panose="020B0603020202020204" pitchFamily="34" charset="0"/>
                <a:ea typeface="DengXian" panose="02010600030101010101" pitchFamily="2" charset="-122"/>
                <a:cs typeface="Times New Roman" panose="02020603050405020304" pitchFamily="18" charset="0"/>
              </a:rPr>
              <a:t>Intégration </a:t>
            </a:r>
            <a:r>
              <a:rPr kumimoji="0" lang="fr-FR" b="1" i="0" u="none" strike="noStrike" kern="1200" cap="none" spc="0" normalizeH="0" baseline="0" noProof="0" dirty="0" err="1">
                <a:ln>
                  <a:noFill/>
                </a:ln>
                <a:solidFill>
                  <a:srgbClr val="17375E"/>
                </a:solidFill>
                <a:uLnTx/>
                <a:uFillTx/>
                <a:latin typeface="Trebuchet MS" panose="020B0603020202020204" pitchFamily="34" charset="0"/>
                <a:ea typeface="DengXian" panose="02010600030101010101" pitchFamily="2" charset="-122"/>
                <a:cs typeface="Times New Roman" panose="02020603050405020304" pitchFamily="18" charset="0"/>
              </a:rPr>
              <a:t>Kaf</a:t>
            </a:r>
            <a:r>
              <a:rPr lang="fr-FR" b="1" dirty="0">
                <a:solidFill>
                  <a:srgbClr val="17375E"/>
                </a:solidFill>
                <a:latin typeface="Trebuchet MS" panose="020B0603020202020204" pitchFamily="34" charset="0"/>
                <a:ea typeface="DengXian" panose="02010600030101010101" pitchFamily="2" charset="-122"/>
                <a:cs typeface="Times New Roman" panose="02020603050405020304" pitchFamily="18" charset="0"/>
              </a:rPr>
              <a:t>ka</a:t>
            </a:r>
            <a:endParaRPr kumimoji="0" lang="fr-FR" sz="1600" b="1" i="0" u="none" strike="noStrike" kern="1200" cap="none" spc="0" normalizeH="0" baseline="0" noProof="0" dirty="0">
              <a:ln>
                <a:noFill/>
              </a:ln>
              <a:solidFill>
                <a:prstClr val="white"/>
              </a:solidFill>
              <a:effectLst/>
              <a:uLnTx/>
              <a:uFillTx/>
              <a:latin typeface="Ebrima" panose="02000000000000000000" pitchFamily="2" charset="0"/>
              <a:ea typeface="Ebrima" panose="02000000000000000000" pitchFamily="2" charset="0"/>
              <a:cs typeface="Ebrima" panose="02000000000000000000" pitchFamily="2" charset="0"/>
            </a:endParaRPr>
          </a:p>
        </p:txBody>
      </p:sp>
      <p:pic>
        <p:nvPicPr>
          <p:cNvPr id="12" name="Image 11" descr="Une image contenant Police, logo, Graphique, symbole&#10;&#10;Description générée automatiquement">
            <a:extLst>
              <a:ext uri="{FF2B5EF4-FFF2-40B4-BE49-F238E27FC236}">
                <a16:creationId xmlns:a16="http://schemas.microsoft.com/office/drawing/2014/main" id="{2E6698BC-47B7-0035-A30B-07E4D74BEF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12696" y="1422768"/>
            <a:ext cx="1833563" cy="1033463"/>
          </a:xfrm>
          <a:prstGeom prst="rect">
            <a:avLst/>
          </a:prstGeom>
        </p:spPr>
      </p:pic>
      <p:pic>
        <p:nvPicPr>
          <p:cNvPr id="2" name="Picture 3">
            <a:extLst>
              <a:ext uri="{FF2B5EF4-FFF2-40B4-BE49-F238E27FC236}">
                <a16:creationId xmlns:a16="http://schemas.microsoft.com/office/drawing/2014/main" id="{9971AD4C-61B2-E54F-348A-AD68E0D81413}"/>
              </a:ext>
            </a:extLst>
          </p:cNvPr>
          <p:cNvPicPr>
            <a:picLocks noChangeAspect="1"/>
          </p:cNvPicPr>
          <p:nvPr/>
        </p:nvPicPr>
        <p:blipFill>
          <a:blip r:embed="rId4"/>
          <a:stretch>
            <a:fillRect/>
          </a:stretch>
        </p:blipFill>
        <p:spPr>
          <a:xfrm>
            <a:off x="534642" y="208193"/>
            <a:ext cx="1679880" cy="872395"/>
          </a:xfrm>
          <a:prstGeom prst="rect">
            <a:avLst/>
          </a:prstGeom>
        </p:spPr>
      </p:pic>
    </p:spTree>
    <p:extLst>
      <p:ext uri="{BB962C8B-B14F-4D97-AF65-F5344CB8AC3E}">
        <p14:creationId xmlns:p14="http://schemas.microsoft.com/office/powerpoint/2010/main" val="2640599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ZoneTexte 39">
            <a:extLst>
              <a:ext uri="{FF2B5EF4-FFF2-40B4-BE49-F238E27FC236}">
                <a16:creationId xmlns:a16="http://schemas.microsoft.com/office/drawing/2014/main" id="{510A95A0-53DE-E2CE-4E14-43866D0C249D}"/>
              </a:ext>
            </a:extLst>
          </p:cNvPr>
          <p:cNvSpPr txBox="1"/>
          <p:nvPr/>
        </p:nvSpPr>
        <p:spPr>
          <a:xfrm>
            <a:off x="702127" y="1048864"/>
            <a:ext cx="7943850" cy="2482731"/>
          </a:xfrm>
          <a:prstGeom prst="rect">
            <a:avLst/>
          </a:prstGeom>
          <a:noFill/>
        </p:spPr>
        <p:txBody>
          <a:bodyPr wrap="square" rtlCol="0">
            <a:spAutoFit/>
          </a:bodyPr>
          <a:lstStyle/>
          <a:p>
            <a:pPr algn="just">
              <a:spcBef>
                <a:spcPts val="1200"/>
              </a:spcBef>
              <a:spcAft>
                <a:spcPts val="800"/>
              </a:spcAft>
            </a:pPr>
            <a:r>
              <a:rPr lang="fr-FR" sz="1200" dirty="0">
                <a:ea typeface="Calibri" panose="020F0502020204030204" pitchFamily="34" charset="0"/>
                <a:cs typeface="Arial" panose="020B0604020202020204" pitchFamily="34" charset="0"/>
              </a:rPr>
              <a:t>Tout le support d’exercice est constitué de la même manière:</a:t>
            </a:r>
          </a:p>
          <a:p>
            <a:pPr marL="342900" indent="-342900" algn="just">
              <a:spcBef>
                <a:spcPts val="1200"/>
              </a:spcBef>
              <a:spcAft>
                <a:spcPts val="800"/>
              </a:spcAft>
              <a:buClr>
                <a:srgbClr val="ED7D31"/>
              </a:buClr>
              <a:buFont typeface="Wingdings" panose="05000000000000000000" pitchFamily="2" charset="2"/>
              <a:buChar char=""/>
            </a:pPr>
            <a:r>
              <a:rPr lang="fr-FR" sz="1200" dirty="0">
                <a:ea typeface="Arial Unicode MS"/>
              </a:rPr>
              <a:t>Les objectifs de l’exercice: quel est l’intérêt de l’exercice ?</a:t>
            </a:r>
          </a:p>
          <a:p>
            <a:pPr marL="342900" indent="-342900" algn="just">
              <a:spcBef>
                <a:spcPts val="1200"/>
              </a:spcBef>
              <a:spcAft>
                <a:spcPts val="800"/>
              </a:spcAft>
              <a:buClr>
                <a:srgbClr val="ED7D31"/>
              </a:buClr>
              <a:buFont typeface="Wingdings" panose="05000000000000000000" pitchFamily="2" charset="2"/>
              <a:buChar char=""/>
            </a:pPr>
            <a:r>
              <a:rPr lang="fr-FR" sz="1200" dirty="0">
                <a:ea typeface="Arial Unicode MS"/>
              </a:rPr>
              <a:t>Un descriptif global des étapes à réaliser qui doit permettre de faire l’exercice en connaissant les notions abordées</a:t>
            </a:r>
          </a:p>
          <a:p>
            <a:pPr marL="342900" indent="-342900" algn="just">
              <a:spcBef>
                <a:spcPts val="1200"/>
              </a:spcBef>
              <a:spcAft>
                <a:spcPts val="800"/>
              </a:spcAft>
              <a:buClr>
                <a:srgbClr val="ED7D31"/>
              </a:buClr>
              <a:buFont typeface="Wingdings" panose="05000000000000000000" pitchFamily="2" charset="2"/>
              <a:buChar char=""/>
            </a:pPr>
            <a:r>
              <a:rPr lang="fr-FR" sz="1200" dirty="0">
                <a:ea typeface="Arial Unicode MS"/>
              </a:rPr>
              <a:t>Le résultat de l’exercice sous forme de copies d’’écran</a:t>
            </a:r>
          </a:p>
          <a:p>
            <a:pPr marL="342900" indent="-342900" algn="just">
              <a:spcBef>
                <a:spcPts val="1200"/>
              </a:spcBef>
              <a:spcAft>
                <a:spcPts val="800"/>
              </a:spcAft>
              <a:buClr>
                <a:srgbClr val="ED7D31"/>
              </a:buClr>
              <a:buFont typeface="Wingdings" panose="05000000000000000000" pitchFamily="2" charset="2"/>
              <a:buChar char=""/>
            </a:pPr>
            <a:r>
              <a:rPr lang="fr-FR" sz="1200" dirty="0">
                <a:ea typeface="Arial Unicode MS"/>
              </a:rPr>
              <a:t>La correction de l’exercice étape par étape</a:t>
            </a:r>
          </a:p>
          <a:p>
            <a:pPr marL="342900" indent="-342900" algn="just">
              <a:spcBef>
                <a:spcPts val="1200"/>
              </a:spcBef>
              <a:spcAft>
                <a:spcPts val="800"/>
              </a:spcAft>
              <a:buClr>
                <a:srgbClr val="ED7D31"/>
              </a:buClr>
              <a:buFont typeface="Wingdings" panose="05000000000000000000" pitchFamily="2" charset="2"/>
              <a:buChar char=""/>
            </a:pPr>
            <a:endParaRPr lang="fr-FR" sz="1200" dirty="0">
              <a:ea typeface="Arial Unicode MS"/>
            </a:endParaRPr>
          </a:p>
        </p:txBody>
      </p:sp>
      <p:grpSp>
        <p:nvGrpSpPr>
          <p:cNvPr id="43" name="Google Shape;229;p17">
            <a:extLst>
              <a:ext uri="{FF2B5EF4-FFF2-40B4-BE49-F238E27FC236}">
                <a16:creationId xmlns:a16="http://schemas.microsoft.com/office/drawing/2014/main" id="{8050A46D-E5DF-230C-1D3D-C45C7E91D88C}"/>
              </a:ext>
            </a:extLst>
          </p:cNvPr>
          <p:cNvGrpSpPr/>
          <p:nvPr/>
        </p:nvGrpSpPr>
        <p:grpSpPr>
          <a:xfrm>
            <a:off x="253089" y="58794"/>
            <a:ext cx="3073828" cy="952920"/>
            <a:chOff x="457200" y="3624815"/>
            <a:chExt cx="3073828" cy="952920"/>
          </a:xfrm>
          <a:solidFill>
            <a:srgbClr val="E89D06"/>
          </a:solidFill>
        </p:grpSpPr>
        <p:sp>
          <p:nvSpPr>
            <p:cNvPr id="46" name="Google Shape;230;p17">
              <a:extLst>
                <a:ext uri="{FF2B5EF4-FFF2-40B4-BE49-F238E27FC236}">
                  <a16:creationId xmlns:a16="http://schemas.microsoft.com/office/drawing/2014/main" id="{15404E31-4A3C-09C1-2702-844D6EC923CB}"/>
                </a:ext>
              </a:extLst>
            </p:cNvPr>
            <p:cNvSpPr/>
            <p:nvPr/>
          </p:nvSpPr>
          <p:spPr>
            <a:xfrm>
              <a:off x="932635" y="3624815"/>
              <a:ext cx="2598393" cy="952920"/>
            </a:xfrm>
            <a:custGeom>
              <a:avLst/>
              <a:gdLst/>
              <a:ahLst/>
              <a:cxnLst/>
              <a:rect l="l" t="t" r="r" b="b"/>
              <a:pathLst>
                <a:path w="12451" h="8780" extrusionOk="0">
                  <a:moveTo>
                    <a:pt x="0" y="0"/>
                  </a:moveTo>
                  <a:lnTo>
                    <a:pt x="0" y="8780"/>
                  </a:lnTo>
                  <a:lnTo>
                    <a:pt x="12101" y="8780"/>
                  </a:lnTo>
                  <a:cubicBezTo>
                    <a:pt x="12289" y="8780"/>
                    <a:pt x="12451" y="8618"/>
                    <a:pt x="12451" y="8428"/>
                  </a:cubicBezTo>
                  <a:lnTo>
                    <a:pt x="12451" y="378"/>
                  </a:lnTo>
                  <a:cubicBezTo>
                    <a:pt x="12451" y="162"/>
                    <a:pt x="12289" y="0"/>
                    <a:pt x="12101" y="0"/>
                  </a:cubicBezTo>
                  <a:close/>
                </a:path>
              </a:pathLst>
            </a:custGeom>
            <a:grpFill/>
            <a:ln>
              <a:noFill/>
            </a:ln>
            <a:effectLst>
              <a:outerShdw blurRad="85725" dist="57150" dir="12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231;p17">
              <a:extLst>
                <a:ext uri="{FF2B5EF4-FFF2-40B4-BE49-F238E27FC236}">
                  <a16:creationId xmlns:a16="http://schemas.microsoft.com/office/drawing/2014/main" id="{9721E7DF-0628-6CA8-3F7B-6A37732AFEBB}"/>
                </a:ext>
              </a:extLst>
            </p:cNvPr>
            <p:cNvSpPr/>
            <p:nvPr/>
          </p:nvSpPr>
          <p:spPr>
            <a:xfrm>
              <a:off x="457200" y="3624815"/>
              <a:ext cx="530346" cy="952920"/>
            </a:xfrm>
            <a:custGeom>
              <a:avLst/>
              <a:gdLst/>
              <a:ahLst/>
              <a:cxnLst/>
              <a:rect l="l" t="t" r="r" b="b"/>
              <a:pathLst>
                <a:path w="3325" h="6646" extrusionOk="0">
                  <a:moveTo>
                    <a:pt x="3324" y="1"/>
                  </a:moveTo>
                  <a:cubicBezTo>
                    <a:pt x="1488" y="1"/>
                    <a:pt x="1" y="1487"/>
                    <a:pt x="1" y="3324"/>
                  </a:cubicBezTo>
                  <a:cubicBezTo>
                    <a:pt x="1" y="5161"/>
                    <a:pt x="1488" y="6645"/>
                    <a:pt x="3324" y="6645"/>
                  </a:cubicBezTo>
                  <a:lnTo>
                    <a:pt x="3324" y="1"/>
                  </a:lnTo>
                  <a:close/>
                </a:path>
              </a:pathLst>
            </a:custGeom>
            <a:grpFill/>
            <a:ln>
              <a:noFill/>
            </a:ln>
            <a:effectLst>
              <a:outerShdw blurRad="71438" dist="57150" dir="1140000" algn="bl" rotWithShape="0">
                <a:schemeClr val="dk1">
                  <a:alpha val="2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232;p17">
              <a:extLst>
                <a:ext uri="{FF2B5EF4-FFF2-40B4-BE49-F238E27FC236}">
                  <a16:creationId xmlns:a16="http://schemas.microsoft.com/office/drawing/2014/main" id="{64BC68AD-6A69-B568-F712-AF19EEB78275}"/>
                </a:ext>
              </a:extLst>
            </p:cNvPr>
            <p:cNvSpPr txBox="1"/>
            <p:nvPr/>
          </p:nvSpPr>
          <p:spPr>
            <a:xfrm>
              <a:off x="602635" y="3912335"/>
              <a:ext cx="330000" cy="387300"/>
            </a:xfrm>
            <a:prstGeom prst="rect">
              <a:avLst/>
            </a:prstGeom>
            <a:grp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2000" b="1">
                  <a:solidFill>
                    <a:schemeClr val="lt1"/>
                  </a:solidFill>
                  <a:latin typeface="Roboto"/>
                  <a:ea typeface="Roboto"/>
                  <a:cs typeface="Roboto"/>
                  <a:sym typeface="Roboto"/>
                </a:rPr>
                <a:t>+</a:t>
              </a:r>
              <a:endParaRPr sz="2000" b="1">
                <a:solidFill>
                  <a:schemeClr val="lt1"/>
                </a:solidFill>
                <a:latin typeface="Roboto"/>
                <a:ea typeface="Roboto"/>
                <a:cs typeface="Roboto"/>
                <a:sym typeface="Roboto"/>
              </a:endParaRPr>
            </a:p>
          </p:txBody>
        </p:sp>
      </p:grpSp>
      <p:sp>
        <p:nvSpPr>
          <p:cNvPr id="51" name="ZoneTexte 50">
            <a:extLst>
              <a:ext uri="{FF2B5EF4-FFF2-40B4-BE49-F238E27FC236}">
                <a16:creationId xmlns:a16="http://schemas.microsoft.com/office/drawing/2014/main" id="{0EC7B5A5-E640-1B4A-17B0-914F60AD1A58}"/>
              </a:ext>
            </a:extLst>
          </p:cNvPr>
          <p:cNvSpPr txBox="1"/>
          <p:nvPr/>
        </p:nvSpPr>
        <p:spPr>
          <a:xfrm>
            <a:off x="824976" y="311564"/>
            <a:ext cx="2977376" cy="453970"/>
          </a:xfrm>
          <a:prstGeom prst="rect">
            <a:avLst/>
          </a:prstGeom>
          <a:noFill/>
        </p:spPr>
        <p:txBody>
          <a:bodyPr wrap="square" lIns="68580" tIns="34290" rIns="68580" bIns="34290" rtlCol="0" anchor="t">
            <a:spAutoFit/>
          </a:bodyPr>
          <a:lstStyle/>
          <a:p>
            <a:r>
              <a:rPr lang="fr-FR" sz="2500" b="1" dirty="0">
                <a:solidFill>
                  <a:schemeClr val="bg1"/>
                </a:solidFill>
                <a:latin typeface="+mj-lt"/>
              </a:rPr>
              <a:t>Organisation</a:t>
            </a:r>
          </a:p>
        </p:txBody>
      </p:sp>
      <p:sp>
        <p:nvSpPr>
          <p:cNvPr id="2" name="ZoneTexte 1">
            <a:extLst>
              <a:ext uri="{FF2B5EF4-FFF2-40B4-BE49-F238E27FC236}">
                <a16:creationId xmlns:a16="http://schemas.microsoft.com/office/drawing/2014/main" id="{54C3097B-0D2C-CB46-8829-E0A26E71B7D5}"/>
              </a:ext>
            </a:extLst>
          </p:cNvPr>
          <p:cNvSpPr txBox="1"/>
          <p:nvPr/>
        </p:nvSpPr>
        <p:spPr>
          <a:xfrm>
            <a:off x="3363493" y="335199"/>
            <a:ext cx="5607519" cy="400110"/>
          </a:xfrm>
          <a:prstGeom prst="rect">
            <a:avLst/>
          </a:prstGeom>
          <a:noFill/>
        </p:spPr>
        <p:txBody>
          <a:bodyPr wrap="square" rtlCol="0">
            <a:spAutoFit/>
          </a:bodyPr>
          <a:lstStyle/>
          <a:p>
            <a:pPr algn="just">
              <a:spcBef>
                <a:spcPts val="900"/>
              </a:spcBef>
            </a:pPr>
            <a:r>
              <a:rPr lang="fr-FR" sz="2000" b="1" dirty="0">
                <a:solidFill>
                  <a:srgbClr val="ED7D31"/>
                </a:solidFill>
                <a:latin typeface="Arial Unicode MS"/>
              </a:rPr>
              <a:t>Organisation des exercices</a:t>
            </a:r>
          </a:p>
        </p:txBody>
      </p:sp>
    </p:spTree>
    <p:extLst>
      <p:ext uri="{BB962C8B-B14F-4D97-AF65-F5344CB8AC3E}">
        <p14:creationId xmlns:p14="http://schemas.microsoft.com/office/powerpoint/2010/main" val="17641224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3CE4416-D11C-D4D0-2BF3-6FF1055F195C}"/>
              </a:ext>
            </a:extLst>
          </p:cNvPr>
          <p:cNvSpPr>
            <a:spLocks noGrp="1"/>
          </p:cNvSpPr>
          <p:nvPr>
            <p:ph idx="1"/>
          </p:nvPr>
        </p:nvSpPr>
        <p:spPr>
          <a:xfrm>
            <a:off x="838200" y="1070501"/>
            <a:ext cx="5898832" cy="1731243"/>
          </a:xfrm>
        </p:spPr>
        <p:txBody>
          <a:bodyPr/>
          <a:lstStyle/>
          <a:p>
            <a:pPr>
              <a:spcBef>
                <a:spcPts val="900"/>
              </a:spcBef>
            </a:pPr>
            <a:r>
              <a:rPr lang="fr-FR" sz="1350" b="1" dirty="0">
                <a:solidFill>
                  <a:schemeClr val="accent2"/>
                </a:solidFill>
                <a:latin typeface="Calibri Light" panose="020F0302020204030204" pitchFamily="34" charset="0"/>
                <a:ea typeface="DengXian Light" panose="02010600030101010101" pitchFamily="2" charset="-122"/>
                <a:cs typeface="Times New Roman" panose="02020603050405020304" pitchFamily="18" charset="0"/>
              </a:rPr>
              <a:t>Objectif</a:t>
            </a:r>
          </a:p>
          <a:p>
            <a:r>
              <a:rPr lang="fr-FR" sz="1350" dirty="0">
                <a:latin typeface="Calibri" panose="020F0502020204030204" pitchFamily="34" charset="0"/>
                <a:ea typeface="Calibri" panose="020F0502020204030204" pitchFamily="34" charset="0"/>
                <a:cs typeface="Times New Roman" panose="02020603050405020304" pitchFamily="18" charset="0"/>
              </a:rPr>
              <a:t>Présentation du jeu de données</a:t>
            </a:r>
          </a:p>
          <a:p>
            <a:r>
              <a:rPr lang="fr-FR" sz="1350" dirty="0">
                <a:latin typeface="Calibri" panose="020F0502020204030204" pitchFamily="34" charset="0"/>
                <a:ea typeface="Calibri" panose="020F0502020204030204" pitchFamily="34" charset="0"/>
                <a:cs typeface="Times New Roman" panose="02020603050405020304" pitchFamily="18" charset="0"/>
              </a:rPr>
              <a:t>Le jeu de données que vous allez utiliser dans ce TP comprend les données de véhicules assurées, des informations sur les conducteurs et la prime d'assurance payée. Les données ont été collectées par sondage, et ils vont être utilisées par un courtier d'assurance pour pouvoir estimer les primes d'assurances pour ses nouveaux clients. Ce sondage a été effectué en 2016.</a:t>
            </a:r>
          </a:p>
          <a:p>
            <a:endParaRPr lang="fr-FR" dirty="0"/>
          </a:p>
        </p:txBody>
      </p:sp>
      <p:graphicFrame>
        <p:nvGraphicFramePr>
          <p:cNvPr id="17" name="Tableau 16">
            <a:extLst>
              <a:ext uri="{FF2B5EF4-FFF2-40B4-BE49-F238E27FC236}">
                <a16:creationId xmlns:a16="http://schemas.microsoft.com/office/drawing/2014/main" id="{EC289883-85EF-29B3-4280-7E7F1922675B}"/>
              </a:ext>
            </a:extLst>
          </p:cNvPr>
          <p:cNvGraphicFramePr>
            <a:graphicFrameLocks noGrp="1"/>
          </p:cNvGraphicFramePr>
          <p:nvPr>
            <p:extLst>
              <p:ext uri="{D42A27DB-BD31-4B8C-83A1-F6EECF244321}">
                <p14:modId xmlns:p14="http://schemas.microsoft.com/office/powerpoint/2010/main" val="960794517"/>
              </p:ext>
            </p:extLst>
          </p:nvPr>
        </p:nvGraphicFramePr>
        <p:xfrm>
          <a:off x="838200" y="2611083"/>
          <a:ext cx="7467600" cy="1783080"/>
        </p:xfrm>
        <a:graphic>
          <a:graphicData uri="http://schemas.openxmlformats.org/drawingml/2006/table">
            <a:tbl>
              <a:tblPr>
                <a:tableStyleId>{5C22544A-7EE6-4342-B048-85BDC9FD1C3A}</a:tableStyleId>
              </a:tblPr>
              <a:tblGrid>
                <a:gridCol w="1924050">
                  <a:extLst>
                    <a:ext uri="{9D8B030D-6E8A-4147-A177-3AD203B41FA5}">
                      <a16:colId xmlns:a16="http://schemas.microsoft.com/office/drawing/2014/main" val="794783512"/>
                    </a:ext>
                  </a:extLst>
                </a:gridCol>
                <a:gridCol w="590550">
                  <a:extLst>
                    <a:ext uri="{9D8B030D-6E8A-4147-A177-3AD203B41FA5}">
                      <a16:colId xmlns:a16="http://schemas.microsoft.com/office/drawing/2014/main" val="618725429"/>
                    </a:ext>
                  </a:extLst>
                </a:gridCol>
                <a:gridCol w="4953000">
                  <a:extLst>
                    <a:ext uri="{9D8B030D-6E8A-4147-A177-3AD203B41FA5}">
                      <a16:colId xmlns:a16="http://schemas.microsoft.com/office/drawing/2014/main" val="3785861927"/>
                    </a:ext>
                  </a:extLst>
                </a:gridCol>
              </a:tblGrid>
              <a:tr h="137160">
                <a:tc>
                  <a:txBody>
                    <a:bodyPr/>
                    <a:lstStyle/>
                    <a:p>
                      <a:pPr algn="l" fontAlgn="ctr"/>
                      <a:r>
                        <a:rPr lang="fr-FR" sz="800" u="none" strike="noStrike" dirty="0">
                          <a:effectLst/>
                        </a:rPr>
                        <a:t>Colonne</a:t>
                      </a:r>
                      <a:endParaRPr lang="fr-FR" sz="800" b="1" i="0" u="none" strike="noStrike" dirty="0">
                        <a:solidFill>
                          <a:srgbClr val="000000"/>
                        </a:solidFill>
                        <a:effectLst/>
                        <a:latin typeface="Aptos Narrow" panose="020B0004020202020204" pitchFamily="34" charset="0"/>
                      </a:endParaRPr>
                    </a:p>
                  </a:txBody>
                  <a:tcPr marL="5715" marR="5715" marT="5715" marB="0" anchor="ctr"/>
                </a:tc>
                <a:tc>
                  <a:txBody>
                    <a:bodyPr/>
                    <a:lstStyle/>
                    <a:p>
                      <a:pPr algn="l" fontAlgn="ctr"/>
                      <a:r>
                        <a:rPr lang="fr-FR" sz="800" u="none" strike="noStrike" dirty="0">
                          <a:effectLst/>
                        </a:rPr>
                        <a:t>Type</a:t>
                      </a:r>
                      <a:endParaRPr lang="fr-FR" sz="800" b="1" i="0" u="none" strike="noStrike" dirty="0">
                        <a:solidFill>
                          <a:srgbClr val="000000"/>
                        </a:solidFill>
                        <a:effectLst/>
                        <a:latin typeface="Aptos Narrow" panose="020B0004020202020204" pitchFamily="34" charset="0"/>
                      </a:endParaRPr>
                    </a:p>
                  </a:txBody>
                  <a:tcPr marL="5715" marR="5715" marT="5715" marB="0" anchor="ctr"/>
                </a:tc>
                <a:tc>
                  <a:txBody>
                    <a:bodyPr/>
                    <a:lstStyle/>
                    <a:p>
                      <a:pPr algn="l" fontAlgn="ctr"/>
                      <a:r>
                        <a:rPr lang="fr-FR" sz="800" u="none" strike="noStrike" dirty="0">
                          <a:effectLst/>
                        </a:rPr>
                        <a:t>Description probable</a:t>
                      </a:r>
                      <a:endParaRPr lang="fr-FR" sz="800" b="1" i="0" u="none" strike="noStrike" dirty="0">
                        <a:solidFill>
                          <a:srgbClr val="000000"/>
                        </a:solidFill>
                        <a:effectLst/>
                        <a:latin typeface="Aptos Narrow" panose="020B0004020202020204" pitchFamily="34" charset="0"/>
                      </a:endParaRPr>
                    </a:p>
                  </a:txBody>
                  <a:tcPr marL="5715" marR="5715" marT="5715" marB="0" anchor="ctr"/>
                </a:tc>
                <a:extLst>
                  <a:ext uri="{0D108BD9-81ED-4DB2-BD59-A6C34878D82A}">
                    <a16:rowId xmlns:a16="http://schemas.microsoft.com/office/drawing/2014/main" val="4177127371"/>
                  </a:ext>
                </a:extLst>
              </a:tr>
              <a:tr h="137160">
                <a:tc>
                  <a:txBody>
                    <a:bodyPr/>
                    <a:lstStyle/>
                    <a:p>
                      <a:pPr algn="l" fontAlgn="ctr"/>
                      <a:r>
                        <a:rPr lang="fr-FR" sz="800" u="none" strike="noStrike" dirty="0">
                          <a:effectLst/>
                        </a:rPr>
                        <a:t>id</a:t>
                      </a:r>
                      <a:endParaRPr lang="fr-FR" sz="800" b="0" i="0" u="none" strike="noStrike" dirty="0">
                        <a:solidFill>
                          <a:srgbClr val="000000"/>
                        </a:solidFill>
                        <a:effectLst/>
                        <a:latin typeface="Arial Unicode MS"/>
                      </a:endParaRPr>
                    </a:p>
                  </a:txBody>
                  <a:tcPr marL="5715" marR="5715" marT="5715" marB="0" anchor="ctr"/>
                </a:tc>
                <a:tc>
                  <a:txBody>
                    <a:bodyPr/>
                    <a:lstStyle/>
                    <a:p>
                      <a:pPr algn="l" fontAlgn="ctr"/>
                      <a:r>
                        <a:rPr lang="fr-FR" sz="800" u="none" strike="noStrike" dirty="0">
                          <a:effectLst/>
                        </a:rPr>
                        <a:t>entier</a:t>
                      </a:r>
                      <a:endParaRPr lang="fr-FR" sz="800" b="0" i="0" u="none" strike="noStrike" dirty="0">
                        <a:solidFill>
                          <a:srgbClr val="000000"/>
                        </a:solidFill>
                        <a:effectLst/>
                        <a:latin typeface="Aptos Narrow" panose="020B0004020202020204" pitchFamily="34" charset="0"/>
                      </a:endParaRPr>
                    </a:p>
                  </a:txBody>
                  <a:tcPr marL="5715" marR="5715" marT="5715" marB="0" anchor="ctr"/>
                </a:tc>
                <a:tc>
                  <a:txBody>
                    <a:bodyPr/>
                    <a:lstStyle/>
                    <a:p>
                      <a:pPr algn="l" fontAlgn="ctr"/>
                      <a:r>
                        <a:rPr lang="fr-FR" sz="800" u="none" strike="noStrike" dirty="0">
                          <a:effectLst/>
                        </a:rPr>
                        <a:t>Identifiant unique de l’observation</a:t>
                      </a:r>
                      <a:endParaRPr lang="fr-FR" sz="800" b="0" i="0" u="none" strike="noStrike" dirty="0">
                        <a:solidFill>
                          <a:srgbClr val="000000"/>
                        </a:solidFill>
                        <a:effectLst/>
                        <a:latin typeface="Aptos Narrow" panose="020B0004020202020204" pitchFamily="34" charset="0"/>
                      </a:endParaRPr>
                    </a:p>
                  </a:txBody>
                  <a:tcPr marL="5715" marR="5715" marT="5715" marB="0" anchor="ctr"/>
                </a:tc>
                <a:extLst>
                  <a:ext uri="{0D108BD9-81ED-4DB2-BD59-A6C34878D82A}">
                    <a16:rowId xmlns:a16="http://schemas.microsoft.com/office/drawing/2014/main" val="3647932846"/>
                  </a:ext>
                </a:extLst>
              </a:tr>
              <a:tr h="137160">
                <a:tc>
                  <a:txBody>
                    <a:bodyPr/>
                    <a:lstStyle/>
                    <a:p>
                      <a:pPr algn="l" fontAlgn="ctr"/>
                      <a:r>
                        <a:rPr lang="fr-FR" sz="800" u="none" strike="noStrike" dirty="0" err="1">
                          <a:effectLst/>
                        </a:rPr>
                        <a:t>annee_naissance</a:t>
                      </a:r>
                      <a:endParaRPr lang="fr-FR" sz="800" b="0" i="0" u="none" strike="noStrike" dirty="0">
                        <a:solidFill>
                          <a:srgbClr val="000000"/>
                        </a:solidFill>
                        <a:effectLst/>
                        <a:latin typeface="Arial Unicode MS"/>
                      </a:endParaRPr>
                    </a:p>
                  </a:txBody>
                  <a:tcPr marL="5715" marR="5715" marT="5715" marB="0" anchor="ctr"/>
                </a:tc>
                <a:tc>
                  <a:txBody>
                    <a:bodyPr/>
                    <a:lstStyle/>
                    <a:p>
                      <a:pPr algn="l" fontAlgn="ctr"/>
                      <a:r>
                        <a:rPr lang="fr-FR" sz="800" u="none" strike="noStrike">
                          <a:effectLst/>
                        </a:rPr>
                        <a:t>entier</a:t>
                      </a:r>
                      <a:endParaRPr lang="fr-FR" sz="800" b="0" i="0" u="none" strike="noStrike">
                        <a:solidFill>
                          <a:srgbClr val="000000"/>
                        </a:solidFill>
                        <a:effectLst/>
                        <a:latin typeface="Aptos Narrow" panose="020B0004020202020204" pitchFamily="34" charset="0"/>
                      </a:endParaRPr>
                    </a:p>
                  </a:txBody>
                  <a:tcPr marL="5715" marR="5715" marT="5715" marB="0" anchor="ctr"/>
                </a:tc>
                <a:tc>
                  <a:txBody>
                    <a:bodyPr/>
                    <a:lstStyle/>
                    <a:p>
                      <a:pPr algn="l" fontAlgn="ctr"/>
                      <a:r>
                        <a:rPr lang="fr-FR" sz="800" u="none" strike="noStrike">
                          <a:effectLst/>
                        </a:rPr>
                        <a:t>Année de naissance de l’assuré</a:t>
                      </a:r>
                      <a:endParaRPr lang="fr-FR" sz="800" b="0" i="0" u="none" strike="noStrike">
                        <a:solidFill>
                          <a:srgbClr val="000000"/>
                        </a:solidFill>
                        <a:effectLst/>
                        <a:latin typeface="Aptos Narrow" panose="020B0004020202020204" pitchFamily="34" charset="0"/>
                      </a:endParaRPr>
                    </a:p>
                  </a:txBody>
                  <a:tcPr marL="5715" marR="5715" marT="5715" marB="0" anchor="ctr"/>
                </a:tc>
                <a:extLst>
                  <a:ext uri="{0D108BD9-81ED-4DB2-BD59-A6C34878D82A}">
                    <a16:rowId xmlns:a16="http://schemas.microsoft.com/office/drawing/2014/main" val="2211144410"/>
                  </a:ext>
                </a:extLst>
              </a:tr>
              <a:tr h="137160">
                <a:tc>
                  <a:txBody>
                    <a:bodyPr/>
                    <a:lstStyle/>
                    <a:p>
                      <a:pPr algn="l" fontAlgn="ctr"/>
                      <a:r>
                        <a:rPr lang="fr-FR" sz="800" u="none" strike="noStrike">
                          <a:effectLst/>
                        </a:rPr>
                        <a:t>annee_permis</a:t>
                      </a:r>
                      <a:endParaRPr lang="fr-FR" sz="800" b="0" i="0" u="none" strike="noStrike">
                        <a:solidFill>
                          <a:srgbClr val="000000"/>
                        </a:solidFill>
                        <a:effectLst/>
                        <a:latin typeface="Arial Unicode MS"/>
                      </a:endParaRPr>
                    </a:p>
                  </a:txBody>
                  <a:tcPr marL="5715" marR="5715" marT="5715" marB="0" anchor="ctr"/>
                </a:tc>
                <a:tc>
                  <a:txBody>
                    <a:bodyPr/>
                    <a:lstStyle/>
                    <a:p>
                      <a:pPr algn="l" fontAlgn="ctr"/>
                      <a:r>
                        <a:rPr lang="fr-FR" sz="800" u="none" strike="noStrike">
                          <a:effectLst/>
                        </a:rPr>
                        <a:t>entier</a:t>
                      </a:r>
                      <a:endParaRPr lang="fr-FR" sz="800" b="0" i="0" u="none" strike="noStrike">
                        <a:solidFill>
                          <a:srgbClr val="000000"/>
                        </a:solidFill>
                        <a:effectLst/>
                        <a:latin typeface="Aptos Narrow" panose="020B0004020202020204" pitchFamily="34" charset="0"/>
                      </a:endParaRPr>
                    </a:p>
                  </a:txBody>
                  <a:tcPr marL="5715" marR="5715" marT="5715" marB="0" anchor="ctr"/>
                </a:tc>
                <a:tc>
                  <a:txBody>
                    <a:bodyPr/>
                    <a:lstStyle/>
                    <a:p>
                      <a:pPr algn="l" fontAlgn="ctr"/>
                      <a:r>
                        <a:rPr lang="fr-FR" sz="800" u="none" strike="noStrike">
                          <a:effectLst/>
                        </a:rPr>
                        <a:t>Année d’obtention du permis</a:t>
                      </a:r>
                      <a:endParaRPr lang="fr-FR" sz="800" b="0" i="0" u="none" strike="noStrike">
                        <a:solidFill>
                          <a:srgbClr val="000000"/>
                        </a:solidFill>
                        <a:effectLst/>
                        <a:latin typeface="Aptos Narrow" panose="020B0004020202020204" pitchFamily="34" charset="0"/>
                      </a:endParaRPr>
                    </a:p>
                  </a:txBody>
                  <a:tcPr marL="5715" marR="5715" marT="5715" marB="0" anchor="ctr"/>
                </a:tc>
                <a:extLst>
                  <a:ext uri="{0D108BD9-81ED-4DB2-BD59-A6C34878D82A}">
                    <a16:rowId xmlns:a16="http://schemas.microsoft.com/office/drawing/2014/main" val="121058728"/>
                  </a:ext>
                </a:extLst>
              </a:tr>
              <a:tr h="137160">
                <a:tc>
                  <a:txBody>
                    <a:bodyPr/>
                    <a:lstStyle/>
                    <a:p>
                      <a:pPr algn="l" fontAlgn="ctr"/>
                      <a:r>
                        <a:rPr lang="fr-FR" sz="800" u="none" strike="noStrike">
                          <a:effectLst/>
                        </a:rPr>
                        <a:t>marque</a:t>
                      </a:r>
                      <a:endParaRPr lang="fr-FR" sz="800" b="0" i="0" u="none" strike="noStrike">
                        <a:solidFill>
                          <a:srgbClr val="000000"/>
                        </a:solidFill>
                        <a:effectLst/>
                        <a:latin typeface="Arial Unicode MS"/>
                      </a:endParaRPr>
                    </a:p>
                  </a:txBody>
                  <a:tcPr marL="5715" marR="5715" marT="5715" marB="0" anchor="ctr"/>
                </a:tc>
                <a:tc>
                  <a:txBody>
                    <a:bodyPr/>
                    <a:lstStyle/>
                    <a:p>
                      <a:pPr algn="l" fontAlgn="ctr"/>
                      <a:r>
                        <a:rPr lang="fr-FR" sz="800" u="none" strike="noStrike">
                          <a:effectLst/>
                        </a:rPr>
                        <a:t>Texte</a:t>
                      </a:r>
                      <a:endParaRPr lang="fr-FR" sz="800" b="0" i="0" u="none" strike="noStrike">
                        <a:solidFill>
                          <a:srgbClr val="000000"/>
                        </a:solidFill>
                        <a:effectLst/>
                        <a:latin typeface="Aptos Narrow" panose="020B0004020202020204" pitchFamily="34" charset="0"/>
                      </a:endParaRPr>
                    </a:p>
                  </a:txBody>
                  <a:tcPr marL="5715" marR="5715" marT="5715" marB="0" anchor="ctr"/>
                </a:tc>
                <a:tc>
                  <a:txBody>
                    <a:bodyPr/>
                    <a:lstStyle/>
                    <a:p>
                      <a:pPr algn="l" fontAlgn="ctr"/>
                      <a:r>
                        <a:rPr lang="fr-FR" sz="800" u="none" strike="noStrike">
                          <a:effectLst/>
                        </a:rPr>
                        <a:t>Marque du véhicule (155 marques distinctes, ex : RENAULT, PEUGEOT, DACIA...)</a:t>
                      </a:r>
                      <a:endParaRPr lang="fr-FR" sz="800" b="0" i="0" u="none" strike="noStrike">
                        <a:solidFill>
                          <a:srgbClr val="000000"/>
                        </a:solidFill>
                        <a:effectLst/>
                        <a:latin typeface="Aptos Narrow" panose="020B0004020202020204" pitchFamily="34" charset="0"/>
                      </a:endParaRPr>
                    </a:p>
                  </a:txBody>
                  <a:tcPr marL="5715" marR="5715" marT="5715" marB="0" anchor="ctr"/>
                </a:tc>
                <a:extLst>
                  <a:ext uri="{0D108BD9-81ED-4DB2-BD59-A6C34878D82A}">
                    <a16:rowId xmlns:a16="http://schemas.microsoft.com/office/drawing/2014/main" val="1642870450"/>
                  </a:ext>
                </a:extLst>
              </a:tr>
              <a:tr h="137160">
                <a:tc>
                  <a:txBody>
                    <a:bodyPr/>
                    <a:lstStyle/>
                    <a:p>
                      <a:pPr algn="l" fontAlgn="ctr"/>
                      <a:r>
                        <a:rPr lang="fr-FR" sz="800" u="none" strike="noStrike">
                          <a:effectLst/>
                        </a:rPr>
                        <a:t>puis_fiscale</a:t>
                      </a:r>
                      <a:endParaRPr lang="fr-FR" sz="800" b="0" i="0" u="none" strike="noStrike">
                        <a:solidFill>
                          <a:srgbClr val="000000"/>
                        </a:solidFill>
                        <a:effectLst/>
                        <a:latin typeface="Arial Unicode MS"/>
                      </a:endParaRPr>
                    </a:p>
                  </a:txBody>
                  <a:tcPr marL="5715" marR="5715" marT="5715" marB="0" anchor="ctr"/>
                </a:tc>
                <a:tc>
                  <a:txBody>
                    <a:bodyPr/>
                    <a:lstStyle/>
                    <a:p>
                      <a:pPr algn="l" fontAlgn="ctr"/>
                      <a:r>
                        <a:rPr lang="fr-FR" sz="800" u="none" strike="noStrike">
                          <a:effectLst/>
                        </a:rPr>
                        <a:t>entier</a:t>
                      </a:r>
                      <a:endParaRPr lang="fr-FR" sz="800" b="0" i="0" u="none" strike="noStrike">
                        <a:solidFill>
                          <a:srgbClr val="000000"/>
                        </a:solidFill>
                        <a:effectLst/>
                        <a:latin typeface="Aptos Narrow" panose="020B0004020202020204" pitchFamily="34" charset="0"/>
                      </a:endParaRPr>
                    </a:p>
                  </a:txBody>
                  <a:tcPr marL="5715" marR="5715" marT="5715" marB="0" anchor="ctr"/>
                </a:tc>
                <a:tc>
                  <a:txBody>
                    <a:bodyPr/>
                    <a:lstStyle/>
                    <a:p>
                      <a:pPr algn="l" fontAlgn="ctr"/>
                      <a:r>
                        <a:rPr lang="fr-FR" sz="800" u="none" strike="noStrike">
                          <a:effectLst/>
                        </a:rPr>
                        <a:t>Puissance fiscale du véhicule (moyenne ≈ 6,8 CV)</a:t>
                      </a:r>
                      <a:endParaRPr lang="fr-FR" sz="800" b="0" i="0" u="none" strike="noStrike">
                        <a:solidFill>
                          <a:srgbClr val="000000"/>
                        </a:solidFill>
                        <a:effectLst/>
                        <a:latin typeface="Aptos Narrow" panose="020B0004020202020204" pitchFamily="34" charset="0"/>
                      </a:endParaRPr>
                    </a:p>
                  </a:txBody>
                  <a:tcPr marL="5715" marR="5715" marT="5715" marB="0" anchor="ctr"/>
                </a:tc>
                <a:extLst>
                  <a:ext uri="{0D108BD9-81ED-4DB2-BD59-A6C34878D82A}">
                    <a16:rowId xmlns:a16="http://schemas.microsoft.com/office/drawing/2014/main" val="1269624799"/>
                  </a:ext>
                </a:extLst>
              </a:tr>
              <a:tr h="137160">
                <a:tc>
                  <a:txBody>
                    <a:bodyPr/>
                    <a:lstStyle/>
                    <a:p>
                      <a:pPr algn="l" fontAlgn="ctr"/>
                      <a:r>
                        <a:rPr lang="fr-FR" sz="800" u="none" strike="noStrike">
                          <a:effectLst/>
                        </a:rPr>
                        <a:t>anc_veh</a:t>
                      </a:r>
                      <a:endParaRPr lang="fr-FR" sz="800" b="0" i="0" u="none" strike="noStrike">
                        <a:solidFill>
                          <a:srgbClr val="000000"/>
                        </a:solidFill>
                        <a:effectLst/>
                        <a:latin typeface="Arial Unicode MS"/>
                      </a:endParaRPr>
                    </a:p>
                  </a:txBody>
                  <a:tcPr marL="5715" marR="5715" marT="5715" marB="0" anchor="ctr"/>
                </a:tc>
                <a:tc>
                  <a:txBody>
                    <a:bodyPr/>
                    <a:lstStyle/>
                    <a:p>
                      <a:pPr algn="l" fontAlgn="ctr"/>
                      <a:r>
                        <a:rPr lang="fr-FR" sz="800" u="none" strike="noStrike">
                          <a:effectLst/>
                        </a:rPr>
                        <a:t>entier</a:t>
                      </a:r>
                      <a:endParaRPr lang="fr-FR" sz="800" b="0" i="0" u="none" strike="noStrike">
                        <a:solidFill>
                          <a:srgbClr val="000000"/>
                        </a:solidFill>
                        <a:effectLst/>
                        <a:latin typeface="Aptos Narrow" panose="020B0004020202020204" pitchFamily="34" charset="0"/>
                      </a:endParaRPr>
                    </a:p>
                  </a:txBody>
                  <a:tcPr marL="5715" marR="5715" marT="5715" marB="0" anchor="ctr"/>
                </a:tc>
                <a:tc>
                  <a:txBody>
                    <a:bodyPr/>
                    <a:lstStyle/>
                    <a:p>
                      <a:pPr algn="l" fontAlgn="ctr"/>
                      <a:r>
                        <a:rPr lang="fr-FR" sz="800" u="none" strike="noStrike">
                          <a:effectLst/>
                        </a:rPr>
                        <a:t>Ancienneté du véhicule (probablement en années, médiane ≈ 2)</a:t>
                      </a:r>
                      <a:endParaRPr lang="fr-FR" sz="800" b="0" i="0" u="none" strike="noStrike">
                        <a:solidFill>
                          <a:srgbClr val="000000"/>
                        </a:solidFill>
                        <a:effectLst/>
                        <a:latin typeface="Aptos Narrow" panose="020B0004020202020204" pitchFamily="34" charset="0"/>
                      </a:endParaRPr>
                    </a:p>
                  </a:txBody>
                  <a:tcPr marL="5715" marR="5715" marT="5715" marB="0" anchor="ctr"/>
                </a:tc>
                <a:extLst>
                  <a:ext uri="{0D108BD9-81ED-4DB2-BD59-A6C34878D82A}">
                    <a16:rowId xmlns:a16="http://schemas.microsoft.com/office/drawing/2014/main" val="274478531"/>
                  </a:ext>
                </a:extLst>
              </a:tr>
              <a:tr h="137160">
                <a:tc>
                  <a:txBody>
                    <a:bodyPr/>
                    <a:lstStyle/>
                    <a:p>
                      <a:pPr algn="l" fontAlgn="ctr"/>
                      <a:r>
                        <a:rPr lang="fr-FR" sz="800" u="none" strike="noStrike">
                          <a:effectLst/>
                        </a:rPr>
                        <a:t>codepostal</a:t>
                      </a:r>
                      <a:endParaRPr lang="fr-FR" sz="800" b="0" i="0" u="none" strike="noStrike">
                        <a:solidFill>
                          <a:srgbClr val="000000"/>
                        </a:solidFill>
                        <a:effectLst/>
                        <a:latin typeface="Arial Unicode MS"/>
                      </a:endParaRPr>
                    </a:p>
                  </a:txBody>
                  <a:tcPr marL="5715" marR="5715" marT="5715" marB="0" anchor="ctr"/>
                </a:tc>
                <a:tc>
                  <a:txBody>
                    <a:bodyPr/>
                    <a:lstStyle/>
                    <a:p>
                      <a:pPr algn="l" fontAlgn="ctr"/>
                      <a:r>
                        <a:rPr lang="fr-FR" sz="800" u="none" strike="noStrike">
                          <a:effectLst/>
                        </a:rPr>
                        <a:t>Texte</a:t>
                      </a:r>
                      <a:endParaRPr lang="fr-FR" sz="800" b="0" i="0" u="none" strike="noStrike">
                        <a:solidFill>
                          <a:srgbClr val="000000"/>
                        </a:solidFill>
                        <a:effectLst/>
                        <a:latin typeface="Aptos Narrow" panose="020B0004020202020204" pitchFamily="34" charset="0"/>
                      </a:endParaRPr>
                    </a:p>
                  </a:txBody>
                  <a:tcPr marL="5715" marR="5715" marT="5715" marB="0" anchor="ctr"/>
                </a:tc>
                <a:tc>
                  <a:txBody>
                    <a:bodyPr/>
                    <a:lstStyle/>
                    <a:p>
                      <a:pPr algn="l" fontAlgn="ctr"/>
                      <a:r>
                        <a:rPr lang="fr-FR" sz="800" u="none" strike="noStrike">
                          <a:effectLst/>
                        </a:rPr>
                        <a:t>Code postal de résidence (23 725 codes distincts)</a:t>
                      </a:r>
                      <a:endParaRPr lang="fr-FR" sz="800" b="0" i="0" u="none" strike="noStrike">
                        <a:solidFill>
                          <a:srgbClr val="000000"/>
                        </a:solidFill>
                        <a:effectLst/>
                        <a:latin typeface="Aptos Narrow" panose="020B0004020202020204" pitchFamily="34" charset="0"/>
                      </a:endParaRPr>
                    </a:p>
                  </a:txBody>
                  <a:tcPr marL="5715" marR="5715" marT="5715" marB="0" anchor="ctr"/>
                </a:tc>
                <a:extLst>
                  <a:ext uri="{0D108BD9-81ED-4DB2-BD59-A6C34878D82A}">
                    <a16:rowId xmlns:a16="http://schemas.microsoft.com/office/drawing/2014/main" val="1997117933"/>
                  </a:ext>
                </a:extLst>
              </a:tr>
              <a:tr h="137160">
                <a:tc>
                  <a:txBody>
                    <a:bodyPr/>
                    <a:lstStyle/>
                    <a:p>
                      <a:pPr algn="l" fontAlgn="ctr"/>
                      <a:r>
                        <a:rPr lang="fr-FR" sz="800" u="none" strike="noStrike">
                          <a:effectLst/>
                        </a:rPr>
                        <a:t>energie_veh</a:t>
                      </a:r>
                      <a:endParaRPr lang="fr-FR" sz="800" b="0" i="0" u="none" strike="noStrike">
                        <a:solidFill>
                          <a:srgbClr val="000000"/>
                        </a:solidFill>
                        <a:effectLst/>
                        <a:latin typeface="Arial Unicode MS"/>
                      </a:endParaRPr>
                    </a:p>
                  </a:txBody>
                  <a:tcPr marL="5715" marR="5715" marT="5715" marB="0" anchor="ctr"/>
                </a:tc>
                <a:tc>
                  <a:txBody>
                    <a:bodyPr/>
                    <a:lstStyle/>
                    <a:p>
                      <a:pPr algn="l" fontAlgn="ctr"/>
                      <a:r>
                        <a:rPr lang="fr-FR" sz="800" u="none" strike="noStrike">
                          <a:effectLst/>
                        </a:rPr>
                        <a:t>Texte</a:t>
                      </a:r>
                      <a:endParaRPr lang="fr-FR" sz="800" b="0" i="0" u="none" strike="noStrike">
                        <a:solidFill>
                          <a:srgbClr val="000000"/>
                        </a:solidFill>
                        <a:effectLst/>
                        <a:latin typeface="Aptos Narrow" panose="020B0004020202020204" pitchFamily="34" charset="0"/>
                      </a:endParaRPr>
                    </a:p>
                  </a:txBody>
                  <a:tcPr marL="5715" marR="5715" marT="5715" marB="0" anchor="ctr"/>
                </a:tc>
                <a:tc>
                  <a:txBody>
                    <a:bodyPr/>
                    <a:lstStyle/>
                    <a:p>
                      <a:pPr algn="l" fontAlgn="ctr"/>
                      <a:r>
                        <a:rPr lang="fr-FR" sz="800" u="none" strike="noStrike">
                          <a:effectLst/>
                        </a:rPr>
                        <a:t>Type de carburant (6 types : gazole, essence, GPL, électrique…)</a:t>
                      </a:r>
                      <a:endParaRPr lang="fr-FR" sz="800" b="0" i="0" u="none" strike="noStrike">
                        <a:solidFill>
                          <a:srgbClr val="000000"/>
                        </a:solidFill>
                        <a:effectLst/>
                        <a:latin typeface="Aptos Narrow" panose="020B0004020202020204" pitchFamily="34" charset="0"/>
                      </a:endParaRPr>
                    </a:p>
                  </a:txBody>
                  <a:tcPr marL="5715" marR="5715" marT="5715" marB="0" anchor="ctr"/>
                </a:tc>
                <a:extLst>
                  <a:ext uri="{0D108BD9-81ED-4DB2-BD59-A6C34878D82A}">
                    <a16:rowId xmlns:a16="http://schemas.microsoft.com/office/drawing/2014/main" val="2030908249"/>
                  </a:ext>
                </a:extLst>
              </a:tr>
              <a:tr h="137160">
                <a:tc>
                  <a:txBody>
                    <a:bodyPr/>
                    <a:lstStyle/>
                    <a:p>
                      <a:pPr algn="l" fontAlgn="ctr"/>
                      <a:r>
                        <a:rPr lang="fr-FR" sz="800" u="none" strike="noStrike">
                          <a:effectLst/>
                        </a:rPr>
                        <a:t>kmage_annuel</a:t>
                      </a:r>
                      <a:endParaRPr lang="fr-FR" sz="800" b="0" i="0" u="none" strike="noStrike">
                        <a:solidFill>
                          <a:srgbClr val="000000"/>
                        </a:solidFill>
                        <a:effectLst/>
                        <a:latin typeface="Arial Unicode MS"/>
                      </a:endParaRPr>
                    </a:p>
                  </a:txBody>
                  <a:tcPr marL="5715" marR="5715" marT="5715" marB="0" anchor="ctr"/>
                </a:tc>
                <a:tc>
                  <a:txBody>
                    <a:bodyPr/>
                    <a:lstStyle/>
                    <a:p>
                      <a:pPr algn="l" fontAlgn="ctr"/>
                      <a:r>
                        <a:rPr lang="fr-FR" sz="800" u="none" strike="noStrike">
                          <a:effectLst/>
                        </a:rPr>
                        <a:t>entier</a:t>
                      </a:r>
                      <a:endParaRPr lang="fr-FR" sz="800" b="0" i="0" u="none" strike="noStrike">
                        <a:solidFill>
                          <a:srgbClr val="000000"/>
                        </a:solidFill>
                        <a:effectLst/>
                        <a:latin typeface="Aptos Narrow" panose="020B0004020202020204" pitchFamily="34" charset="0"/>
                      </a:endParaRPr>
                    </a:p>
                  </a:txBody>
                  <a:tcPr marL="5715" marR="5715" marT="5715" marB="0" anchor="ctr"/>
                </a:tc>
                <a:tc>
                  <a:txBody>
                    <a:bodyPr/>
                    <a:lstStyle/>
                    <a:p>
                      <a:pPr algn="l" fontAlgn="ctr"/>
                      <a:r>
                        <a:rPr lang="fr-FR" sz="800" u="none" strike="noStrike">
                          <a:effectLst/>
                        </a:rPr>
                        <a:t>Kilométrage annuel estimé (moyenne ≈ 7 360 km)</a:t>
                      </a:r>
                      <a:endParaRPr lang="fr-FR" sz="800" b="0" i="0" u="none" strike="noStrike">
                        <a:solidFill>
                          <a:srgbClr val="000000"/>
                        </a:solidFill>
                        <a:effectLst/>
                        <a:latin typeface="Aptos Narrow" panose="020B0004020202020204" pitchFamily="34" charset="0"/>
                      </a:endParaRPr>
                    </a:p>
                  </a:txBody>
                  <a:tcPr marL="5715" marR="5715" marT="5715" marB="0" anchor="ctr"/>
                </a:tc>
                <a:extLst>
                  <a:ext uri="{0D108BD9-81ED-4DB2-BD59-A6C34878D82A}">
                    <a16:rowId xmlns:a16="http://schemas.microsoft.com/office/drawing/2014/main" val="4207777597"/>
                  </a:ext>
                </a:extLst>
              </a:tr>
              <a:tr h="137160">
                <a:tc>
                  <a:txBody>
                    <a:bodyPr/>
                    <a:lstStyle/>
                    <a:p>
                      <a:pPr algn="l" fontAlgn="ctr"/>
                      <a:r>
                        <a:rPr lang="fr-FR" sz="800" u="none" strike="noStrike">
                          <a:effectLst/>
                        </a:rPr>
                        <a:t>crm</a:t>
                      </a:r>
                      <a:endParaRPr lang="fr-FR" sz="800" b="0" i="0" u="none" strike="noStrike">
                        <a:solidFill>
                          <a:srgbClr val="000000"/>
                        </a:solidFill>
                        <a:effectLst/>
                        <a:latin typeface="Arial Unicode MS"/>
                      </a:endParaRPr>
                    </a:p>
                  </a:txBody>
                  <a:tcPr marL="5715" marR="5715" marT="5715" marB="0" anchor="ctr"/>
                </a:tc>
                <a:tc>
                  <a:txBody>
                    <a:bodyPr/>
                    <a:lstStyle/>
                    <a:p>
                      <a:pPr algn="l" fontAlgn="ctr"/>
                      <a:r>
                        <a:rPr lang="fr-FR" sz="800" u="none" strike="noStrike">
                          <a:effectLst/>
                        </a:rPr>
                        <a:t>entier</a:t>
                      </a:r>
                      <a:endParaRPr lang="fr-FR" sz="800" b="0" i="0" u="none" strike="noStrike">
                        <a:solidFill>
                          <a:srgbClr val="000000"/>
                        </a:solidFill>
                        <a:effectLst/>
                        <a:latin typeface="Aptos Narrow" panose="020B0004020202020204" pitchFamily="34" charset="0"/>
                      </a:endParaRPr>
                    </a:p>
                  </a:txBody>
                  <a:tcPr marL="5715" marR="5715" marT="5715" marB="0" anchor="ctr"/>
                </a:tc>
                <a:tc>
                  <a:txBody>
                    <a:bodyPr/>
                    <a:lstStyle/>
                    <a:p>
                      <a:pPr algn="l" fontAlgn="ctr"/>
                      <a:r>
                        <a:rPr lang="fr-FR" sz="800" u="none" strike="noStrike">
                          <a:effectLst/>
                        </a:rPr>
                        <a:t>Coefficient de réduction/majoration (bonus-malus)</a:t>
                      </a:r>
                      <a:endParaRPr lang="fr-FR" sz="800" b="0" i="0" u="none" strike="noStrike">
                        <a:solidFill>
                          <a:srgbClr val="000000"/>
                        </a:solidFill>
                        <a:effectLst/>
                        <a:latin typeface="Aptos Narrow" panose="020B0004020202020204" pitchFamily="34" charset="0"/>
                      </a:endParaRPr>
                    </a:p>
                  </a:txBody>
                  <a:tcPr marL="5715" marR="5715" marT="5715" marB="0" anchor="ctr"/>
                </a:tc>
                <a:extLst>
                  <a:ext uri="{0D108BD9-81ED-4DB2-BD59-A6C34878D82A}">
                    <a16:rowId xmlns:a16="http://schemas.microsoft.com/office/drawing/2014/main" val="3187711396"/>
                  </a:ext>
                </a:extLst>
              </a:tr>
              <a:tr h="137160">
                <a:tc>
                  <a:txBody>
                    <a:bodyPr/>
                    <a:lstStyle/>
                    <a:p>
                      <a:pPr algn="l" fontAlgn="ctr"/>
                      <a:r>
                        <a:rPr lang="fr-FR" sz="800" u="none" strike="noStrike">
                          <a:effectLst/>
                        </a:rPr>
                        <a:t>var1</a:t>
                      </a:r>
                      <a:endParaRPr lang="fr-FR" sz="800" b="0" i="0" u="none" strike="noStrike">
                        <a:solidFill>
                          <a:srgbClr val="000000"/>
                        </a:solidFill>
                        <a:effectLst/>
                        <a:latin typeface="Arial Unicode MS"/>
                      </a:endParaRPr>
                    </a:p>
                  </a:txBody>
                  <a:tcPr marL="5715" marR="5715" marT="5715" marB="0" anchor="ctr"/>
                </a:tc>
                <a:tc>
                  <a:txBody>
                    <a:bodyPr/>
                    <a:lstStyle/>
                    <a:p>
                      <a:pPr algn="l" fontAlgn="ctr"/>
                      <a:r>
                        <a:rPr lang="fr-FR" sz="800" u="none" strike="noStrike">
                          <a:effectLst/>
                        </a:rPr>
                        <a:t>entier</a:t>
                      </a:r>
                      <a:endParaRPr lang="fr-FR" sz="800" b="0" i="0" u="none" strike="noStrike">
                        <a:solidFill>
                          <a:srgbClr val="000000"/>
                        </a:solidFill>
                        <a:effectLst/>
                        <a:latin typeface="Aptos Narrow" panose="020B0004020202020204" pitchFamily="34" charset="0"/>
                      </a:endParaRPr>
                    </a:p>
                  </a:txBody>
                  <a:tcPr marL="5715" marR="5715" marT="5715" marB="0" anchor="ctr"/>
                </a:tc>
                <a:tc>
                  <a:txBody>
                    <a:bodyPr/>
                    <a:lstStyle/>
                    <a:p>
                      <a:pPr algn="l" fontAlgn="ctr"/>
                      <a:r>
                        <a:rPr lang="fr-FR" sz="800" u="none" strike="noStrike">
                          <a:effectLst/>
                        </a:rPr>
                        <a:t>Variable numérique non étiquetée (peut représenter un score ou une segmentation interne)</a:t>
                      </a:r>
                      <a:endParaRPr lang="fr-FR" sz="800" b="0" i="0" u="none" strike="noStrike">
                        <a:solidFill>
                          <a:srgbClr val="000000"/>
                        </a:solidFill>
                        <a:effectLst/>
                        <a:latin typeface="Aptos Narrow" panose="020B0004020202020204" pitchFamily="34" charset="0"/>
                      </a:endParaRPr>
                    </a:p>
                  </a:txBody>
                  <a:tcPr marL="5715" marR="5715" marT="5715" marB="0" anchor="ctr"/>
                </a:tc>
                <a:extLst>
                  <a:ext uri="{0D108BD9-81ED-4DB2-BD59-A6C34878D82A}">
                    <a16:rowId xmlns:a16="http://schemas.microsoft.com/office/drawing/2014/main" val="1717925685"/>
                  </a:ext>
                </a:extLst>
              </a:tr>
              <a:tr h="137160">
                <a:tc>
                  <a:txBody>
                    <a:bodyPr/>
                    <a:lstStyle/>
                    <a:p>
                      <a:pPr algn="l" fontAlgn="ctr"/>
                      <a:r>
                        <a:rPr lang="fr-FR" sz="800" u="none" strike="noStrike">
                          <a:effectLst/>
                        </a:rPr>
                        <a:t>prime_tot_ttc</a:t>
                      </a:r>
                      <a:endParaRPr lang="fr-FR" sz="800" b="0" i="0" u="none" strike="noStrike">
                        <a:solidFill>
                          <a:srgbClr val="000000"/>
                        </a:solidFill>
                        <a:effectLst/>
                        <a:latin typeface="Arial Unicode MS"/>
                      </a:endParaRPr>
                    </a:p>
                  </a:txBody>
                  <a:tcPr marL="5715" marR="5715" marT="5715" marB="0" anchor="ctr"/>
                </a:tc>
                <a:tc>
                  <a:txBody>
                    <a:bodyPr/>
                    <a:lstStyle/>
                    <a:p>
                      <a:pPr algn="l" fontAlgn="ctr"/>
                      <a:r>
                        <a:rPr lang="fr-FR" sz="800" u="none" strike="noStrike">
                          <a:effectLst/>
                        </a:rPr>
                        <a:t>décimal</a:t>
                      </a:r>
                      <a:endParaRPr lang="fr-FR" sz="800" b="0" i="0" u="none" strike="noStrike">
                        <a:solidFill>
                          <a:srgbClr val="000000"/>
                        </a:solidFill>
                        <a:effectLst/>
                        <a:latin typeface="Aptos Narrow" panose="020B0004020202020204" pitchFamily="34" charset="0"/>
                      </a:endParaRPr>
                    </a:p>
                  </a:txBody>
                  <a:tcPr marL="5715" marR="5715" marT="5715" marB="0" anchor="ctr"/>
                </a:tc>
                <a:tc>
                  <a:txBody>
                    <a:bodyPr/>
                    <a:lstStyle/>
                    <a:p>
                      <a:pPr algn="l" fontAlgn="ctr"/>
                      <a:r>
                        <a:rPr lang="fr-FR" sz="800" u="none" strike="noStrike" dirty="0">
                          <a:effectLst/>
                        </a:rPr>
                        <a:t>Prime d’assurance totale (TTC) en euros — cible principale</a:t>
                      </a:r>
                      <a:endParaRPr lang="fr-FR" sz="800" b="0" i="0" u="none" strike="noStrike" dirty="0">
                        <a:solidFill>
                          <a:srgbClr val="000000"/>
                        </a:solidFill>
                        <a:effectLst/>
                        <a:latin typeface="Aptos Narrow" panose="020B0004020202020204" pitchFamily="34" charset="0"/>
                      </a:endParaRPr>
                    </a:p>
                  </a:txBody>
                  <a:tcPr marL="5715" marR="5715" marT="5715" marB="0" anchor="ctr"/>
                </a:tc>
                <a:extLst>
                  <a:ext uri="{0D108BD9-81ED-4DB2-BD59-A6C34878D82A}">
                    <a16:rowId xmlns:a16="http://schemas.microsoft.com/office/drawing/2014/main" val="527393999"/>
                  </a:ext>
                </a:extLst>
              </a:tr>
            </a:tbl>
          </a:graphicData>
        </a:graphic>
      </p:graphicFrame>
      <p:sp>
        <p:nvSpPr>
          <p:cNvPr id="5" name="Google Shape;230;p17">
            <a:extLst>
              <a:ext uri="{FF2B5EF4-FFF2-40B4-BE49-F238E27FC236}">
                <a16:creationId xmlns:a16="http://schemas.microsoft.com/office/drawing/2014/main" id="{9FFA6859-2032-CF68-3549-667A3C043C4F}"/>
              </a:ext>
            </a:extLst>
          </p:cNvPr>
          <p:cNvSpPr/>
          <p:nvPr/>
        </p:nvSpPr>
        <p:spPr>
          <a:xfrm>
            <a:off x="728524" y="58794"/>
            <a:ext cx="5716881" cy="952920"/>
          </a:xfrm>
          <a:custGeom>
            <a:avLst/>
            <a:gdLst/>
            <a:ahLst/>
            <a:cxnLst/>
            <a:rect l="l" t="t" r="r" b="b"/>
            <a:pathLst>
              <a:path w="12451" h="8780" extrusionOk="0">
                <a:moveTo>
                  <a:pt x="0" y="0"/>
                </a:moveTo>
                <a:lnTo>
                  <a:pt x="0" y="8780"/>
                </a:lnTo>
                <a:lnTo>
                  <a:pt x="12101" y="8780"/>
                </a:lnTo>
                <a:cubicBezTo>
                  <a:pt x="12289" y="8780"/>
                  <a:pt x="12451" y="8618"/>
                  <a:pt x="12451" y="8428"/>
                </a:cubicBezTo>
                <a:lnTo>
                  <a:pt x="12451" y="378"/>
                </a:lnTo>
                <a:cubicBezTo>
                  <a:pt x="12451" y="162"/>
                  <a:pt x="12289" y="0"/>
                  <a:pt x="12101" y="0"/>
                </a:cubicBezTo>
                <a:close/>
              </a:path>
            </a:pathLst>
          </a:custGeom>
          <a:solidFill>
            <a:srgbClr val="E89D06"/>
          </a:solidFill>
          <a:ln>
            <a:noFill/>
          </a:ln>
          <a:effectLst>
            <a:outerShdw blurRad="85725" dist="57150" dir="12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231;p17">
            <a:extLst>
              <a:ext uri="{FF2B5EF4-FFF2-40B4-BE49-F238E27FC236}">
                <a16:creationId xmlns:a16="http://schemas.microsoft.com/office/drawing/2014/main" id="{8503660B-A7AA-3968-F8FB-A4204E695D06}"/>
              </a:ext>
            </a:extLst>
          </p:cNvPr>
          <p:cNvSpPr/>
          <p:nvPr/>
        </p:nvSpPr>
        <p:spPr>
          <a:xfrm>
            <a:off x="253089" y="58794"/>
            <a:ext cx="530346" cy="952920"/>
          </a:xfrm>
          <a:custGeom>
            <a:avLst/>
            <a:gdLst/>
            <a:ahLst/>
            <a:cxnLst/>
            <a:rect l="l" t="t" r="r" b="b"/>
            <a:pathLst>
              <a:path w="3325" h="6646" extrusionOk="0">
                <a:moveTo>
                  <a:pt x="3324" y="1"/>
                </a:moveTo>
                <a:cubicBezTo>
                  <a:pt x="1488" y="1"/>
                  <a:pt x="1" y="1487"/>
                  <a:pt x="1" y="3324"/>
                </a:cubicBezTo>
                <a:cubicBezTo>
                  <a:pt x="1" y="5161"/>
                  <a:pt x="1488" y="6645"/>
                  <a:pt x="3324" y="6645"/>
                </a:cubicBezTo>
                <a:lnTo>
                  <a:pt x="3324" y="1"/>
                </a:lnTo>
                <a:close/>
              </a:path>
            </a:pathLst>
          </a:custGeom>
          <a:solidFill>
            <a:srgbClr val="E89D06"/>
          </a:solidFill>
          <a:ln>
            <a:noFill/>
          </a:ln>
          <a:effectLst>
            <a:outerShdw blurRad="71438" dist="57150" dir="1140000" algn="bl" rotWithShape="0">
              <a:schemeClr val="dk1">
                <a:alpha val="2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232;p17">
            <a:extLst>
              <a:ext uri="{FF2B5EF4-FFF2-40B4-BE49-F238E27FC236}">
                <a16:creationId xmlns:a16="http://schemas.microsoft.com/office/drawing/2014/main" id="{8C79E494-C13B-C74E-DDED-1BA13C4B9A75}"/>
              </a:ext>
            </a:extLst>
          </p:cNvPr>
          <p:cNvSpPr txBox="1"/>
          <p:nvPr/>
        </p:nvSpPr>
        <p:spPr>
          <a:xfrm>
            <a:off x="398524" y="346314"/>
            <a:ext cx="330000" cy="387300"/>
          </a:xfrm>
          <a:prstGeom prst="rect">
            <a:avLst/>
          </a:prstGeom>
          <a:solidFill>
            <a:srgbClr val="E89D06"/>
          </a:solid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2000" b="1">
                <a:solidFill>
                  <a:schemeClr val="lt1"/>
                </a:solidFill>
                <a:latin typeface="Roboto"/>
                <a:ea typeface="Roboto"/>
                <a:cs typeface="Roboto"/>
                <a:sym typeface="Roboto"/>
              </a:rPr>
              <a:t>+</a:t>
            </a:r>
            <a:endParaRPr sz="2000" b="1">
              <a:solidFill>
                <a:schemeClr val="lt1"/>
              </a:solidFill>
              <a:latin typeface="Roboto"/>
              <a:ea typeface="Roboto"/>
              <a:cs typeface="Roboto"/>
              <a:sym typeface="Roboto"/>
            </a:endParaRPr>
          </a:p>
        </p:txBody>
      </p:sp>
      <p:sp>
        <p:nvSpPr>
          <p:cNvPr id="8" name="ZoneTexte 7">
            <a:extLst>
              <a:ext uri="{FF2B5EF4-FFF2-40B4-BE49-F238E27FC236}">
                <a16:creationId xmlns:a16="http://schemas.microsoft.com/office/drawing/2014/main" id="{6353A4F6-FECD-2952-FAB9-9B07CDA02DB2}"/>
              </a:ext>
            </a:extLst>
          </p:cNvPr>
          <p:cNvSpPr txBox="1"/>
          <p:nvPr/>
        </p:nvSpPr>
        <p:spPr>
          <a:xfrm>
            <a:off x="824976" y="311564"/>
            <a:ext cx="5048000" cy="453970"/>
          </a:xfrm>
          <a:prstGeom prst="rect">
            <a:avLst/>
          </a:prstGeom>
          <a:noFill/>
        </p:spPr>
        <p:txBody>
          <a:bodyPr wrap="square" lIns="68580" tIns="34290" rIns="68580" bIns="34290" rtlCol="0" anchor="t">
            <a:spAutoFit/>
          </a:bodyPr>
          <a:lstStyle/>
          <a:p>
            <a:r>
              <a:rPr lang="fr-FR" sz="2500" b="1" dirty="0">
                <a:solidFill>
                  <a:schemeClr val="bg1"/>
                </a:solidFill>
                <a:latin typeface="+mj-lt"/>
              </a:rPr>
              <a:t>TP : chargement des données</a:t>
            </a:r>
          </a:p>
        </p:txBody>
      </p:sp>
    </p:spTree>
    <p:extLst>
      <p:ext uri="{BB962C8B-B14F-4D97-AF65-F5344CB8AC3E}">
        <p14:creationId xmlns:p14="http://schemas.microsoft.com/office/powerpoint/2010/main" val="11619014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379CCE-6E04-6A2B-3089-22572CBB167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619EBBA-E09E-D210-80C7-A9906195F99B}"/>
              </a:ext>
            </a:extLst>
          </p:cNvPr>
          <p:cNvSpPr>
            <a:spLocks noGrp="1"/>
          </p:cNvSpPr>
          <p:nvPr>
            <p:ph idx="1"/>
          </p:nvPr>
        </p:nvSpPr>
        <p:spPr>
          <a:xfrm>
            <a:off x="453915" y="1169318"/>
            <a:ext cx="7865109" cy="1938992"/>
          </a:xfrm>
        </p:spPr>
        <p:txBody>
          <a:bodyPr/>
          <a:lstStyle/>
          <a:p>
            <a:r>
              <a:rPr lang="fr-FR" dirty="0"/>
              <a:t>Créer un Notebook: Exploration</a:t>
            </a:r>
          </a:p>
          <a:p>
            <a:r>
              <a:rPr lang="fr-FR" dirty="0"/>
              <a:t>Importer les librairies suivantes: </a:t>
            </a:r>
          </a:p>
          <a:p>
            <a:pPr lvl="1"/>
            <a:r>
              <a:rPr lang="en-US" b="0" i="0" dirty="0">
                <a:solidFill>
                  <a:srgbClr val="222222"/>
                </a:solidFill>
                <a:effectLst/>
                <a:latin typeface="Arial" panose="020B0604020202020204" pitchFamily="34" charset="0"/>
              </a:rPr>
              <a:t>from </a:t>
            </a:r>
            <a:r>
              <a:rPr lang="en-US" b="0" i="0" dirty="0" err="1">
                <a:solidFill>
                  <a:srgbClr val="222222"/>
                </a:solidFill>
                <a:effectLst/>
                <a:latin typeface="Arial" panose="020B0604020202020204" pitchFamily="34" charset="0"/>
              </a:rPr>
              <a:t>pyspark.sql</a:t>
            </a:r>
            <a:r>
              <a:rPr lang="en-US" b="0" i="0" dirty="0">
                <a:solidFill>
                  <a:srgbClr val="222222"/>
                </a:solidFill>
                <a:effectLst/>
                <a:latin typeface="Arial" panose="020B0604020202020204" pitchFamily="34" charset="0"/>
              </a:rPr>
              <a:t> import </a:t>
            </a:r>
            <a:r>
              <a:rPr lang="en-US" b="0" i="0" dirty="0" err="1">
                <a:solidFill>
                  <a:srgbClr val="222222"/>
                </a:solidFill>
                <a:effectLst/>
                <a:latin typeface="Arial" panose="020B0604020202020204" pitchFamily="34" charset="0"/>
              </a:rPr>
              <a:t>SparkSession</a:t>
            </a:r>
            <a:endParaRPr lang="fr-FR" b="0" i="0" dirty="0">
              <a:solidFill>
                <a:srgbClr val="222222"/>
              </a:solidFill>
              <a:effectLst/>
              <a:latin typeface="Arial" panose="020B0604020202020204" pitchFamily="34" charset="0"/>
            </a:endParaRPr>
          </a:p>
          <a:p>
            <a:pPr lvl="1"/>
            <a:r>
              <a:rPr lang="fr-FR" b="0" i="0" dirty="0">
                <a:solidFill>
                  <a:srgbClr val="222222"/>
                </a:solidFill>
                <a:effectLst/>
                <a:latin typeface="Arial" panose="020B0604020202020204" pitchFamily="34" charset="0"/>
              </a:rPr>
              <a:t>import </a:t>
            </a:r>
            <a:r>
              <a:rPr lang="fr-FR" b="0" i="0" dirty="0" err="1">
                <a:solidFill>
                  <a:srgbClr val="222222"/>
                </a:solidFill>
                <a:effectLst/>
                <a:latin typeface="Arial" panose="020B0604020202020204" pitchFamily="34" charset="0"/>
              </a:rPr>
              <a:t>pyspark.sql.functions</a:t>
            </a:r>
            <a:r>
              <a:rPr lang="fr-FR" b="0" i="0" dirty="0">
                <a:solidFill>
                  <a:srgbClr val="222222"/>
                </a:solidFill>
                <a:effectLst/>
                <a:latin typeface="Arial" panose="020B0604020202020204" pitchFamily="34" charset="0"/>
              </a:rPr>
              <a:t> as f</a:t>
            </a:r>
          </a:p>
          <a:p>
            <a:pPr lvl="1"/>
            <a:r>
              <a:rPr lang="fr-FR" b="0" i="0" dirty="0">
                <a:solidFill>
                  <a:srgbClr val="222222"/>
                </a:solidFill>
                <a:effectLst/>
                <a:latin typeface="Arial" panose="020B0604020202020204" pitchFamily="34" charset="0"/>
              </a:rPr>
              <a:t>import </a:t>
            </a:r>
            <a:r>
              <a:rPr lang="fr-FR" b="0" i="0" dirty="0" err="1">
                <a:solidFill>
                  <a:srgbClr val="222222"/>
                </a:solidFill>
                <a:effectLst/>
                <a:latin typeface="Arial" panose="020B0604020202020204" pitchFamily="34" charset="0"/>
              </a:rPr>
              <a:t>seaborn</a:t>
            </a:r>
            <a:r>
              <a:rPr lang="fr-FR" b="0" i="0" dirty="0">
                <a:solidFill>
                  <a:srgbClr val="222222"/>
                </a:solidFill>
                <a:effectLst/>
                <a:latin typeface="Arial" panose="020B0604020202020204" pitchFamily="34" charset="0"/>
              </a:rPr>
              <a:t> as </a:t>
            </a:r>
            <a:r>
              <a:rPr lang="fr-FR" b="0" i="0" dirty="0" err="1">
                <a:solidFill>
                  <a:srgbClr val="222222"/>
                </a:solidFill>
                <a:effectLst/>
                <a:latin typeface="Arial" panose="020B0604020202020204" pitchFamily="34" charset="0"/>
              </a:rPr>
              <a:t>sns</a:t>
            </a:r>
            <a:endParaRPr lang="fr-FR" b="0" i="0" dirty="0">
              <a:solidFill>
                <a:srgbClr val="222222"/>
              </a:solidFill>
              <a:effectLst/>
              <a:latin typeface="Arial" panose="020B0604020202020204" pitchFamily="34" charset="0"/>
            </a:endParaRPr>
          </a:p>
          <a:p>
            <a:pPr lvl="1"/>
            <a:r>
              <a:rPr lang="fr-FR" b="0" i="0" dirty="0" err="1">
                <a:solidFill>
                  <a:srgbClr val="222222"/>
                </a:solidFill>
                <a:effectLst/>
                <a:latin typeface="Arial" panose="020B0604020202020204" pitchFamily="34" charset="0"/>
              </a:rPr>
              <a:t>from</a:t>
            </a:r>
            <a:r>
              <a:rPr lang="fr-FR" b="0" i="0" dirty="0">
                <a:solidFill>
                  <a:srgbClr val="222222"/>
                </a:solidFill>
                <a:effectLst/>
                <a:latin typeface="Arial" panose="020B0604020202020204" pitchFamily="34" charset="0"/>
              </a:rPr>
              <a:t> </a:t>
            </a:r>
            <a:r>
              <a:rPr lang="fr-FR" b="0" i="0" dirty="0" err="1">
                <a:solidFill>
                  <a:srgbClr val="222222"/>
                </a:solidFill>
                <a:effectLst/>
                <a:latin typeface="Arial" panose="020B0604020202020204" pitchFamily="34" charset="0"/>
              </a:rPr>
              <a:t>pyspark.sql.types</a:t>
            </a:r>
            <a:r>
              <a:rPr lang="fr-FR" b="0" i="0" dirty="0">
                <a:solidFill>
                  <a:srgbClr val="222222"/>
                </a:solidFill>
                <a:effectLst/>
                <a:latin typeface="Arial" panose="020B0604020202020204" pitchFamily="34" charset="0"/>
              </a:rPr>
              <a:t> import *</a:t>
            </a:r>
          </a:p>
          <a:p>
            <a:pPr lvl="1"/>
            <a:r>
              <a:rPr lang="fr-FR" b="0" i="0" dirty="0">
                <a:solidFill>
                  <a:srgbClr val="222222"/>
                </a:solidFill>
                <a:effectLst/>
                <a:latin typeface="Arial" panose="020B0604020202020204" pitchFamily="34" charset="0"/>
              </a:rPr>
              <a:t>import </a:t>
            </a:r>
            <a:r>
              <a:rPr lang="fr-FR" b="0" i="0" dirty="0" err="1">
                <a:solidFill>
                  <a:srgbClr val="222222"/>
                </a:solidFill>
                <a:effectLst/>
                <a:latin typeface="Arial" panose="020B0604020202020204" pitchFamily="34" charset="0"/>
              </a:rPr>
              <a:t>matplotlib.pyplot</a:t>
            </a:r>
            <a:r>
              <a:rPr lang="fr-FR" b="0" i="0" dirty="0">
                <a:solidFill>
                  <a:srgbClr val="222222"/>
                </a:solidFill>
                <a:effectLst/>
                <a:latin typeface="Arial" panose="020B0604020202020204" pitchFamily="34" charset="0"/>
              </a:rPr>
              <a:t> as </a:t>
            </a:r>
            <a:r>
              <a:rPr lang="fr-FR" b="0" i="0" dirty="0" err="1">
                <a:solidFill>
                  <a:srgbClr val="222222"/>
                </a:solidFill>
                <a:effectLst/>
                <a:latin typeface="Arial" panose="020B0604020202020204" pitchFamily="34" charset="0"/>
              </a:rPr>
              <a:t>plt</a:t>
            </a:r>
            <a:endParaRPr lang="fr-FR" dirty="0"/>
          </a:p>
        </p:txBody>
      </p:sp>
      <p:sp>
        <p:nvSpPr>
          <p:cNvPr id="6" name="Google Shape;230;p17">
            <a:extLst>
              <a:ext uri="{FF2B5EF4-FFF2-40B4-BE49-F238E27FC236}">
                <a16:creationId xmlns:a16="http://schemas.microsoft.com/office/drawing/2014/main" id="{84A81E75-1FFF-4466-BCBE-3DB7409D57BF}"/>
              </a:ext>
            </a:extLst>
          </p:cNvPr>
          <p:cNvSpPr/>
          <p:nvPr/>
        </p:nvSpPr>
        <p:spPr>
          <a:xfrm>
            <a:off x="728524" y="58794"/>
            <a:ext cx="7791008" cy="952920"/>
          </a:xfrm>
          <a:custGeom>
            <a:avLst/>
            <a:gdLst/>
            <a:ahLst/>
            <a:cxnLst/>
            <a:rect l="l" t="t" r="r" b="b"/>
            <a:pathLst>
              <a:path w="12451" h="8780" extrusionOk="0">
                <a:moveTo>
                  <a:pt x="0" y="0"/>
                </a:moveTo>
                <a:lnTo>
                  <a:pt x="0" y="8780"/>
                </a:lnTo>
                <a:lnTo>
                  <a:pt x="12101" y="8780"/>
                </a:lnTo>
                <a:cubicBezTo>
                  <a:pt x="12289" y="8780"/>
                  <a:pt x="12451" y="8618"/>
                  <a:pt x="12451" y="8428"/>
                </a:cubicBezTo>
                <a:lnTo>
                  <a:pt x="12451" y="378"/>
                </a:lnTo>
                <a:cubicBezTo>
                  <a:pt x="12451" y="162"/>
                  <a:pt x="12289" y="0"/>
                  <a:pt x="12101" y="0"/>
                </a:cubicBezTo>
                <a:close/>
              </a:path>
            </a:pathLst>
          </a:custGeom>
          <a:solidFill>
            <a:srgbClr val="E89D06"/>
          </a:solidFill>
          <a:ln>
            <a:noFill/>
          </a:ln>
          <a:effectLst>
            <a:outerShdw blurRad="85725" dist="57150" dir="12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231;p17">
            <a:extLst>
              <a:ext uri="{FF2B5EF4-FFF2-40B4-BE49-F238E27FC236}">
                <a16:creationId xmlns:a16="http://schemas.microsoft.com/office/drawing/2014/main" id="{928791B8-59CB-8E9F-FA15-D26A7839E3B3}"/>
              </a:ext>
            </a:extLst>
          </p:cNvPr>
          <p:cNvSpPr/>
          <p:nvPr/>
        </p:nvSpPr>
        <p:spPr>
          <a:xfrm>
            <a:off x="253089" y="58794"/>
            <a:ext cx="530346" cy="952920"/>
          </a:xfrm>
          <a:custGeom>
            <a:avLst/>
            <a:gdLst/>
            <a:ahLst/>
            <a:cxnLst/>
            <a:rect l="l" t="t" r="r" b="b"/>
            <a:pathLst>
              <a:path w="3325" h="6646" extrusionOk="0">
                <a:moveTo>
                  <a:pt x="3324" y="1"/>
                </a:moveTo>
                <a:cubicBezTo>
                  <a:pt x="1488" y="1"/>
                  <a:pt x="1" y="1487"/>
                  <a:pt x="1" y="3324"/>
                </a:cubicBezTo>
                <a:cubicBezTo>
                  <a:pt x="1" y="5161"/>
                  <a:pt x="1488" y="6645"/>
                  <a:pt x="3324" y="6645"/>
                </a:cubicBezTo>
                <a:lnTo>
                  <a:pt x="3324" y="1"/>
                </a:lnTo>
                <a:close/>
              </a:path>
            </a:pathLst>
          </a:custGeom>
          <a:solidFill>
            <a:srgbClr val="E89D06"/>
          </a:solidFill>
          <a:ln>
            <a:noFill/>
          </a:ln>
          <a:effectLst>
            <a:outerShdw blurRad="71438" dist="57150" dir="1140000" algn="bl" rotWithShape="0">
              <a:schemeClr val="dk1">
                <a:alpha val="2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232;p17">
            <a:extLst>
              <a:ext uri="{FF2B5EF4-FFF2-40B4-BE49-F238E27FC236}">
                <a16:creationId xmlns:a16="http://schemas.microsoft.com/office/drawing/2014/main" id="{1713C7BB-138F-CACD-7598-A44616F9F2E7}"/>
              </a:ext>
            </a:extLst>
          </p:cNvPr>
          <p:cNvSpPr txBox="1"/>
          <p:nvPr/>
        </p:nvSpPr>
        <p:spPr>
          <a:xfrm>
            <a:off x="398524" y="346314"/>
            <a:ext cx="330000" cy="387300"/>
          </a:xfrm>
          <a:prstGeom prst="rect">
            <a:avLst/>
          </a:prstGeom>
          <a:solidFill>
            <a:srgbClr val="E89D06"/>
          </a:solid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2000" b="1">
                <a:solidFill>
                  <a:schemeClr val="lt1"/>
                </a:solidFill>
                <a:latin typeface="Roboto"/>
                <a:ea typeface="Roboto"/>
                <a:cs typeface="Roboto"/>
                <a:sym typeface="Roboto"/>
              </a:rPr>
              <a:t>+</a:t>
            </a:r>
            <a:endParaRPr sz="2000" b="1">
              <a:solidFill>
                <a:schemeClr val="lt1"/>
              </a:solidFill>
              <a:latin typeface="Roboto"/>
              <a:ea typeface="Roboto"/>
              <a:cs typeface="Roboto"/>
              <a:sym typeface="Roboto"/>
            </a:endParaRPr>
          </a:p>
        </p:txBody>
      </p:sp>
      <p:sp>
        <p:nvSpPr>
          <p:cNvPr id="9" name="ZoneTexte 8">
            <a:extLst>
              <a:ext uri="{FF2B5EF4-FFF2-40B4-BE49-F238E27FC236}">
                <a16:creationId xmlns:a16="http://schemas.microsoft.com/office/drawing/2014/main" id="{E4707843-4F9B-3F73-68C2-D09CC832EE61}"/>
              </a:ext>
            </a:extLst>
          </p:cNvPr>
          <p:cNvSpPr txBox="1"/>
          <p:nvPr/>
        </p:nvSpPr>
        <p:spPr>
          <a:xfrm>
            <a:off x="824975" y="311564"/>
            <a:ext cx="7590501" cy="453970"/>
          </a:xfrm>
          <a:prstGeom prst="rect">
            <a:avLst/>
          </a:prstGeom>
          <a:noFill/>
        </p:spPr>
        <p:txBody>
          <a:bodyPr wrap="square" lIns="68580" tIns="34290" rIns="68580" bIns="34290" rtlCol="0" anchor="t">
            <a:spAutoFit/>
          </a:bodyPr>
          <a:lstStyle/>
          <a:p>
            <a:r>
              <a:rPr lang="fr-FR" sz="2500" b="1" dirty="0">
                <a:solidFill>
                  <a:schemeClr val="bg1"/>
                </a:solidFill>
                <a:latin typeface="+mj-lt"/>
              </a:rPr>
              <a:t>TP : chargement des données</a:t>
            </a:r>
          </a:p>
        </p:txBody>
      </p:sp>
    </p:spTree>
    <p:extLst>
      <p:ext uri="{BB962C8B-B14F-4D97-AF65-F5344CB8AC3E}">
        <p14:creationId xmlns:p14="http://schemas.microsoft.com/office/powerpoint/2010/main" val="36190328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C881E8-41E1-D1B7-2F1A-049B2ED83F3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6143944-C735-83B3-879B-A60B22EB6952}"/>
              </a:ext>
            </a:extLst>
          </p:cNvPr>
          <p:cNvSpPr>
            <a:spLocks noGrp="1"/>
          </p:cNvSpPr>
          <p:nvPr>
            <p:ph idx="1"/>
          </p:nvPr>
        </p:nvSpPr>
        <p:spPr>
          <a:xfrm>
            <a:off x="518262" y="1223683"/>
            <a:ext cx="7865109" cy="1661993"/>
          </a:xfrm>
        </p:spPr>
        <p:txBody>
          <a:bodyPr/>
          <a:lstStyle/>
          <a:p>
            <a:r>
              <a:rPr lang="fr-FR" dirty="0"/>
              <a:t>Créer une session sur </a:t>
            </a:r>
            <a:r>
              <a:rPr lang="fr-FR" dirty="0" err="1"/>
              <a:t>spark</a:t>
            </a:r>
            <a:endParaRPr lang="fr-FR" dirty="0"/>
          </a:p>
          <a:p>
            <a:r>
              <a:rPr lang="fr-FR" dirty="0"/>
              <a:t>Création d’un Session standard: </a:t>
            </a:r>
          </a:p>
          <a:p>
            <a:pPr lvl="1"/>
            <a:r>
              <a:rPr lang="en-US" b="0" i="0" dirty="0">
                <a:solidFill>
                  <a:srgbClr val="222222"/>
                </a:solidFill>
                <a:effectLst/>
                <a:latin typeface="Arial" panose="020B0604020202020204" pitchFamily="34" charset="0"/>
              </a:rPr>
              <a:t>spark = (</a:t>
            </a:r>
            <a:r>
              <a:rPr lang="en-US" b="0" i="0" dirty="0" err="1">
                <a:solidFill>
                  <a:srgbClr val="222222"/>
                </a:solidFill>
                <a:effectLst/>
                <a:latin typeface="Arial" panose="020B0604020202020204" pitchFamily="34" charset="0"/>
              </a:rPr>
              <a:t>SparkSession.builder</a:t>
            </a:r>
            <a:endParaRPr lang="en-US" b="0" i="0" dirty="0">
              <a:solidFill>
                <a:srgbClr val="222222"/>
              </a:solidFill>
              <a:effectLst/>
              <a:latin typeface="Arial" panose="020B0604020202020204" pitchFamily="34" charset="0"/>
            </a:endParaRPr>
          </a:p>
          <a:p>
            <a:pPr lvl="1"/>
            <a:r>
              <a:rPr lang="en-US" b="0" i="0" dirty="0">
                <a:solidFill>
                  <a:srgbClr val="222222"/>
                </a:solidFill>
                <a:effectLst/>
                <a:latin typeface="Arial" panose="020B0604020202020204" pitchFamily="34" charset="0"/>
              </a:rPr>
              <a:t>.</a:t>
            </a:r>
            <a:r>
              <a:rPr lang="en-US" b="0" i="0" dirty="0" err="1">
                <a:solidFill>
                  <a:srgbClr val="222222"/>
                </a:solidFill>
                <a:effectLst/>
                <a:latin typeface="Arial" panose="020B0604020202020204" pitchFamily="34" charset="0"/>
              </a:rPr>
              <a:t>appName</a:t>
            </a:r>
            <a:r>
              <a:rPr lang="en-US" b="0" i="0" dirty="0">
                <a:solidFill>
                  <a:srgbClr val="222222"/>
                </a:solidFill>
                <a:effectLst/>
                <a:latin typeface="Arial" panose="020B0604020202020204" pitchFamily="34" charset="0"/>
              </a:rPr>
              <a:t>("</a:t>
            </a:r>
            <a:r>
              <a:rPr lang="en-US" b="0" i="0" dirty="0" err="1">
                <a:solidFill>
                  <a:srgbClr val="222222"/>
                </a:solidFill>
                <a:effectLst/>
                <a:latin typeface="Arial" panose="020B0604020202020204" pitchFamily="34" charset="0"/>
              </a:rPr>
              <a:t>ReadCSVExample</a:t>
            </a:r>
            <a:r>
              <a:rPr lang="en-US" b="0" i="0" dirty="0">
                <a:solidFill>
                  <a:srgbClr val="222222"/>
                </a:solidFill>
                <a:effectLst/>
                <a:latin typeface="Arial" panose="020B0604020202020204" pitchFamily="34" charset="0"/>
              </a:rPr>
              <a:t>")</a:t>
            </a:r>
          </a:p>
          <a:p>
            <a:pPr lvl="1"/>
            <a:r>
              <a:rPr lang="en-US" b="0" i="0" dirty="0">
                <a:solidFill>
                  <a:srgbClr val="222222"/>
                </a:solidFill>
                <a:effectLst/>
                <a:latin typeface="Arial" panose="020B0604020202020204" pitchFamily="34" charset="0"/>
              </a:rPr>
              <a:t>.master("spark://spark-master:7077") # </a:t>
            </a:r>
            <a:r>
              <a:rPr lang="en-US" b="0" i="0" dirty="0" err="1">
                <a:solidFill>
                  <a:srgbClr val="222222"/>
                </a:solidFill>
                <a:effectLst/>
                <a:latin typeface="Arial" panose="020B0604020202020204" pitchFamily="34" charset="0"/>
              </a:rPr>
              <a:t>même</a:t>
            </a:r>
            <a:r>
              <a:rPr lang="en-US" b="0" i="0" dirty="0">
                <a:solidFill>
                  <a:srgbClr val="222222"/>
                </a:solidFill>
                <a:effectLst/>
                <a:latin typeface="Arial" panose="020B0604020202020204" pitchFamily="34" charset="0"/>
              </a:rPr>
              <a:t> URL que ton cluster</a:t>
            </a:r>
          </a:p>
          <a:p>
            <a:pPr lvl="1"/>
            <a:r>
              <a:rPr lang="en-US" b="0" i="0" dirty="0">
                <a:solidFill>
                  <a:srgbClr val="222222"/>
                </a:solidFill>
                <a:effectLst/>
                <a:latin typeface="Arial" panose="020B0604020202020204" pitchFamily="34" charset="0"/>
              </a:rPr>
              <a:t>.</a:t>
            </a:r>
            <a:r>
              <a:rPr lang="en-US" b="0" i="0" dirty="0" err="1">
                <a:solidFill>
                  <a:srgbClr val="222222"/>
                </a:solidFill>
                <a:effectLst/>
                <a:latin typeface="Arial" panose="020B0604020202020204" pitchFamily="34" charset="0"/>
              </a:rPr>
              <a:t>getOrCreate</a:t>
            </a:r>
            <a:r>
              <a:rPr lang="en-US" b="0" i="0" dirty="0">
                <a:solidFill>
                  <a:srgbClr val="222222"/>
                </a:solidFill>
                <a:effectLst/>
                <a:latin typeface="Arial" panose="020B0604020202020204" pitchFamily="34" charset="0"/>
              </a:rPr>
              <a:t>())</a:t>
            </a:r>
            <a:endParaRPr lang="fr-FR" dirty="0"/>
          </a:p>
        </p:txBody>
      </p:sp>
      <p:sp>
        <p:nvSpPr>
          <p:cNvPr id="5" name="Titre 4">
            <a:extLst>
              <a:ext uri="{FF2B5EF4-FFF2-40B4-BE49-F238E27FC236}">
                <a16:creationId xmlns:a16="http://schemas.microsoft.com/office/drawing/2014/main" id="{80839C78-6474-3E49-DAAB-334BA8467553}"/>
              </a:ext>
            </a:extLst>
          </p:cNvPr>
          <p:cNvSpPr>
            <a:spLocks noGrp="1"/>
          </p:cNvSpPr>
          <p:nvPr>
            <p:ph type="title"/>
          </p:nvPr>
        </p:nvSpPr>
        <p:spPr/>
        <p:txBody>
          <a:bodyPr/>
          <a:lstStyle/>
          <a:p>
            <a:endParaRPr lang="fr-FR"/>
          </a:p>
        </p:txBody>
      </p:sp>
      <p:sp>
        <p:nvSpPr>
          <p:cNvPr id="6" name="Google Shape;230;p17">
            <a:extLst>
              <a:ext uri="{FF2B5EF4-FFF2-40B4-BE49-F238E27FC236}">
                <a16:creationId xmlns:a16="http://schemas.microsoft.com/office/drawing/2014/main" id="{F1E580BF-DCF4-1EAE-D223-F959893A92BC}"/>
              </a:ext>
            </a:extLst>
          </p:cNvPr>
          <p:cNvSpPr/>
          <p:nvPr/>
        </p:nvSpPr>
        <p:spPr>
          <a:xfrm>
            <a:off x="728524" y="58794"/>
            <a:ext cx="7791008" cy="952920"/>
          </a:xfrm>
          <a:custGeom>
            <a:avLst/>
            <a:gdLst/>
            <a:ahLst/>
            <a:cxnLst/>
            <a:rect l="l" t="t" r="r" b="b"/>
            <a:pathLst>
              <a:path w="12451" h="8780" extrusionOk="0">
                <a:moveTo>
                  <a:pt x="0" y="0"/>
                </a:moveTo>
                <a:lnTo>
                  <a:pt x="0" y="8780"/>
                </a:lnTo>
                <a:lnTo>
                  <a:pt x="12101" y="8780"/>
                </a:lnTo>
                <a:cubicBezTo>
                  <a:pt x="12289" y="8780"/>
                  <a:pt x="12451" y="8618"/>
                  <a:pt x="12451" y="8428"/>
                </a:cubicBezTo>
                <a:lnTo>
                  <a:pt x="12451" y="378"/>
                </a:lnTo>
                <a:cubicBezTo>
                  <a:pt x="12451" y="162"/>
                  <a:pt x="12289" y="0"/>
                  <a:pt x="12101" y="0"/>
                </a:cubicBezTo>
                <a:close/>
              </a:path>
            </a:pathLst>
          </a:custGeom>
          <a:solidFill>
            <a:srgbClr val="E89D06"/>
          </a:solidFill>
          <a:ln>
            <a:noFill/>
          </a:ln>
          <a:effectLst>
            <a:outerShdw blurRad="85725" dist="57150" dir="12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231;p17">
            <a:extLst>
              <a:ext uri="{FF2B5EF4-FFF2-40B4-BE49-F238E27FC236}">
                <a16:creationId xmlns:a16="http://schemas.microsoft.com/office/drawing/2014/main" id="{F7F32B03-69EC-D8AB-610B-F5A0A1A6FE74}"/>
              </a:ext>
            </a:extLst>
          </p:cNvPr>
          <p:cNvSpPr/>
          <p:nvPr/>
        </p:nvSpPr>
        <p:spPr>
          <a:xfrm>
            <a:off x="253089" y="58794"/>
            <a:ext cx="530346" cy="952920"/>
          </a:xfrm>
          <a:custGeom>
            <a:avLst/>
            <a:gdLst/>
            <a:ahLst/>
            <a:cxnLst/>
            <a:rect l="l" t="t" r="r" b="b"/>
            <a:pathLst>
              <a:path w="3325" h="6646" extrusionOk="0">
                <a:moveTo>
                  <a:pt x="3324" y="1"/>
                </a:moveTo>
                <a:cubicBezTo>
                  <a:pt x="1488" y="1"/>
                  <a:pt x="1" y="1487"/>
                  <a:pt x="1" y="3324"/>
                </a:cubicBezTo>
                <a:cubicBezTo>
                  <a:pt x="1" y="5161"/>
                  <a:pt x="1488" y="6645"/>
                  <a:pt x="3324" y="6645"/>
                </a:cubicBezTo>
                <a:lnTo>
                  <a:pt x="3324" y="1"/>
                </a:lnTo>
                <a:close/>
              </a:path>
            </a:pathLst>
          </a:custGeom>
          <a:solidFill>
            <a:srgbClr val="E89D06"/>
          </a:solidFill>
          <a:ln>
            <a:noFill/>
          </a:ln>
          <a:effectLst>
            <a:outerShdw blurRad="71438" dist="57150" dir="1140000" algn="bl" rotWithShape="0">
              <a:schemeClr val="dk1">
                <a:alpha val="2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232;p17">
            <a:extLst>
              <a:ext uri="{FF2B5EF4-FFF2-40B4-BE49-F238E27FC236}">
                <a16:creationId xmlns:a16="http://schemas.microsoft.com/office/drawing/2014/main" id="{70BE97EA-7712-20F2-EFEC-FDA0FE714B54}"/>
              </a:ext>
            </a:extLst>
          </p:cNvPr>
          <p:cNvSpPr txBox="1"/>
          <p:nvPr/>
        </p:nvSpPr>
        <p:spPr>
          <a:xfrm>
            <a:off x="398524" y="346314"/>
            <a:ext cx="330000" cy="387300"/>
          </a:xfrm>
          <a:prstGeom prst="rect">
            <a:avLst/>
          </a:prstGeom>
          <a:solidFill>
            <a:srgbClr val="E89D06"/>
          </a:solid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2000" b="1">
                <a:solidFill>
                  <a:schemeClr val="lt1"/>
                </a:solidFill>
                <a:latin typeface="Roboto"/>
                <a:ea typeface="Roboto"/>
                <a:cs typeface="Roboto"/>
                <a:sym typeface="Roboto"/>
              </a:rPr>
              <a:t>+</a:t>
            </a:r>
            <a:endParaRPr sz="2000" b="1">
              <a:solidFill>
                <a:schemeClr val="lt1"/>
              </a:solidFill>
              <a:latin typeface="Roboto"/>
              <a:ea typeface="Roboto"/>
              <a:cs typeface="Roboto"/>
              <a:sym typeface="Roboto"/>
            </a:endParaRPr>
          </a:p>
        </p:txBody>
      </p:sp>
      <p:sp>
        <p:nvSpPr>
          <p:cNvPr id="9" name="ZoneTexte 8">
            <a:extLst>
              <a:ext uri="{FF2B5EF4-FFF2-40B4-BE49-F238E27FC236}">
                <a16:creationId xmlns:a16="http://schemas.microsoft.com/office/drawing/2014/main" id="{15C7F9FE-8CA2-6E4E-F736-74FC1C1E9A5A}"/>
              </a:ext>
            </a:extLst>
          </p:cNvPr>
          <p:cNvSpPr txBox="1"/>
          <p:nvPr/>
        </p:nvSpPr>
        <p:spPr>
          <a:xfrm>
            <a:off x="824975" y="311564"/>
            <a:ext cx="7694557" cy="453970"/>
          </a:xfrm>
          <a:prstGeom prst="rect">
            <a:avLst/>
          </a:prstGeom>
          <a:noFill/>
        </p:spPr>
        <p:txBody>
          <a:bodyPr wrap="square" lIns="68580" tIns="34290" rIns="68580" bIns="34290" rtlCol="0" anchor="t">
            <a:spAutoFit/>
          </a:bodyPr>
          <a:lstStyle/>
          <a:p>
            <a:r>
              <a:rPr lang="fr-FR" sz="2500" b="1" dirty="0">
                <a:solidFill>
                  <a:schemeClr val="bg1"/>
                </a:solidFill>
                <a:latin typeface="+mj-lt"/>
              </a:rPr>
              <a:t>TP : chargement des données</a:t>
            </a:r>
          </a:p>
        </p:txBody>
      </p:sp>
    </p:spTree>
    <p:extLst>
      <p:ext uri="{BB962C8B-B14F-4D97-AF65-F5344CB8AC3E}">
        <p14:creationId xmlns:p14="http://schemas.microsoft.com/office/powerpoint/2010/main" val="24545436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C4B30-D22B-C1C0-D382-725CA07C513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06884D-8156-FE25-3194-789640EE694F}"/>
              </a:ext>
            </a:extLst>
          </p:cNvPr>
          <p:cNvSpPr>
            <a:spLocks noGrp="1"/>
          </p:cNvSpPr>
          <p:nvPr>
            <p:ph idx="1"/>
          </p:nvPr>
        </p:nvSpPr>
        <p:spPr>
          <a:xfrm>
            <a:off x="691473" y="1264484"/>
            <a:ext cx="7865109" cy="3323987"/>
          </a:xfrm>
        </p:spPr>
        <p:txBody>
          <a:bodyPr wrap="square" lIns="0" tIns="0" rIns="0" bIns="0">
            <a:spAutoFit/>
          </a:bodyPr>
          <a:lstStyle/>
          <a:p>
            <a:r>
              <a:rPr lang="fr-FR" dirty="0"/>
              <a:t>Chargement des données</a:t>
            </a:r>
          </a:p>
          <a:p>
            <a:pPr lvl="1"/>
            <a:r>
              <a:rPr lang="en-US" dirty="0">
                <a:solidFill>
                  <a:srgbClr val="222222"/>
                </a:solidFill>
                <a:latin typeface="Arial" panose="020B0604020202020204" pitchFamily="34" charset="0"/>
              </a:rPr>
              <a:t>path = "/data/data_prime_auto.csv" # le chemin accessible au cluster</a:t>
            </a:r>
          </a:p>
          <a:p>
            <a:pPr lvl="1"/>
            <a:r>
              <a:rPr lang="en-US" dirty="0">
                <a:solidFill>
                  <a:srgbClr val="222222"/>
                </a:solidFill>
                <a:latin typeface="Arial" panose="020B0604020202020204" pitchFamily="34" charset="0"/>
              </a:rPr>
              <a:t>data = </a:t>
            </a:r>
            <a:r>
              <a:rPr lang="en-US" dirty="0" err="1">
                <a:solidFill>
                  <a:srgbClr val="222222"/>
                </a:solidFill>
                <a:latin typeface="Arial" panose="020B0604020202020204" pitchFamily="34" charset="0"/>
              </a:rPr>
              <a:t>spark.read</a:t>
            </a:r>
            <a:r>
              <a:rPr lang="en-US" dirty="0">
                <a:solidFill>
                  <a:srgbClr val="222222"/>
                </a:solidFill>
                <a:latin typeface="Arial" panose="020B0604020202020204" pitchFamily="34" charset="0"/>
              </a:rPr>
              <a:t>\</a:t>
            </a:r>
          </a:p>
          <a:p>
            <a:pPr lvl="1"/>
            <a:r>
              <a:rPr lang="en-US" dirty="0">
                <a:solidFill>
                  <a:srgbClr val="222222"/>
                </a:solidFill>
                <a:latin typeface="Arial" panose="020B0604020202020204" pitchFamily="34" charset="0"/>
              </a:rPr>
              <a:t>.option("</a:t>
            </a:r>
            <a:r>
              <a:rPr lang="en-US" dirty="0" err="1">
                <a:solidFill>
                  <a:srgbClr val="222222"/>
                </a:solidFill>
                <a:latin typeface="Arial" panose="020B0604020202020204" pitchFamily="34" charset="0"/>
              </a:rPr>
              <a:t>inferSchema</a:t>
            </a:r>
            <a:r>
              <a:rPr lang="en-US" dirty="0">
                <a:solidFill>
                  <a:srgbClr val="222222"/>
                </a:solidFill>
                <a:latin typeface="Arial" panose="020B0604020202020204" pitchFamily="34" charset="0"/>
              </a:rPr>
              <a:t>",True)\</a:t>
            </a:r>
          </a:p>
          <a:p>
            <a:pPr lvl="1"/>
            <a:r>
              <a:rPr lang="en-US" dirty="0">
                <a:solidFill>
                  <a:srgbClr val="222222"/>
                </a:solidFill>
                <a:latin typeface="Arial" panose="020B0604020202020204" pitchFamily="34" charset="0"/>
              </a:rPr>
              <a:t>.option("</a:t>
            </a:r>
            <a:r>
              <a:rPr lang="en-US" dirty="0" err="1">
                <a:solidFill>
                  <a:srgbClr val="222222"/>
                </a:solidFill>
                <a:latin typeface="Arial" panose="020B0604020202020204" pitchFamily="34" charset="0"/>
              </a:rPr>
              <a:t>header",True</a:t>
            </a:r>
            <a:r>
              <a:rPr lang="en-US" dirty="0">
                <a:solidFill>
                  <a:srgbClr val="222222"/>
                </a:solidFill>
                <a:latin typeface="Arial" panose="020B0604020202020204" pitchFamily="34" charset="0"/>
              </a:rPr>
              <a:t>)\</a:t>
            </a:r>
          </a:p>
          <a:p>
            <a:pPr lvl="1"/>
            <a:r>
              <a:rPr lang="en-US" dirty="0">
                <a:solidFill>
                  <a:srgbClr val="222222"/>
                </a:solidFill>
                <a:latin typeface="Arial" panose="020B0604020202020204" pitchFamily="34" charset="0"/>
              </a:rPr>
              <a:t>.csv(path)</a:t>
            </a:r>
          </a:p>
          <a:p>
            <a:pPr lvl="1"/>
            <a:r>
              <a:rPr lang="en-US" dirty="0" err="1">
                <a:solidFill>
                  <a:srgbClr val="222222"/>
                </a:solidFill>
                <a:latin typeface="Arial" panose="020B0604020202020204" pitchFamily="34" charset="0"/>
              </a:rPr>
              <a:t>data.show</a:t>
            </a:r>
            <a:r>
              <a:rPr lang="en-US" dirty="0">
                <a:solidFill>
                  <a:srgbClr val="222222"/>
                </a:solidFill>
                <a:latin typeface="Arial" panose="020B0604020202020204" pitchFamily="34" charset="0"/>
              </a:rPr>
              <a:t>(10)</a:t>
            </a:r>
          </a:p>
          <a:p>
            <a:r>
              <a:rPr lang="en-US" dirty="0"/>
              <a:t>Remarque </a:t>
            </a:r>
            <a:r>
              <a:rPr lang="en-US" dirty="0" err="1"/>
              <a:t>c’est</a:t>
            </a:r>
            <a:r>
              <a:rPr lang="en-US" dirty="0"/>
              <a:t> trop lent =&gt; </a:t>
            </a:r>
            <a:r>
              <a:rPr lang="en-US" dirty="0" err="1"/>
              <a:t>Arrêter</a:t>
            </a:r>
            <a:r>
              <a:rPr lang="en-US" dirty="0"/>
              <a:t> le </a:t>
            </a:r>
            <a:r>
              <a:rPr lang="en-US" dirty="0" err="1"/>
              <a:t>traitement</a:t>
            </a:r>
            <a:endParaRPr lang="en-US" dirty="0"/>
          </a:p>
          <a:p>
            <a:pPr lvl="1"/>
            <a:r>
              <a:rPr lang="en-US" dirty="0">
                <a:solidFill>
                  <a:srgbClr val="222222"/>
                </a:solidFill>
                <a:latin typeface="Arial" panose="020B0604020202020204" pitchFamily="34" charset="0"/>
              </a:rPr>
              <a:t>try:</a:t>
            </a:r>
          </a:p>
          <a:p>
            <a:pPr lvl="1"/>
            <a:r>
              <a:rPr lang="en-US" dirty="0">
                <a:solidFill>
                  <a:srgbClr val="222222"/>
                </a:solidFill>
                <a:latin typeface="Arial" panose="020B0604020202020204" pitchFamily="34" charset="0"/>
              </a:rPr>
              <a:t>    </a:t>
            </a:r>
            <a:r>
              <a:rPr lang="en-US" dirty="0" err="1">
                <a:solidFill>
                  <a:srgbClr val="222222"/>
                </a:solidFill>
                <a:latin typeface="Arial" panose="020B0604020202020204" pitchFamily="34" charset="0"/>
              </a:rPr>
              <a:t>spark.stop</a:t>
            </a:r>
            <a:r>
              <a:rPr lang="en-US" dirty="0">
                <a:solidFill>
                  <a:srgbClr val="222222"/>
                </a:solidFill>
                <a:latin typeface="Arial" panose="020B0604020202020204" pitchFamily="34" charset="0"/>
              </a:rPr>
              <a:t>()</a:t>
            </a:r>
          </a:p>
          <a:p>
            <a:pPr lvl="1"/>
            <a:r>
              <a:rPr lang="en-US" dirty="0">
                <a:solidFill>
                  <a:srgbClr val="222222"/>
                </a:solidFill>
                <a:latin typeface="Arial" panose="020B0604020202020204" pitchFamily="34" charset="0"/>
              </a:rPr>
              <a:t>except:</a:t>
            </a:r>
          </a:p>
          <a:p>
            <a:pPr lvl="1"/>
            <a:r>
              <a:rPr lang="en-US" dirty="0">
                <a:solidFill>
                  <a:srgbClr val="222222"/>
                </a:solidFill>
                <a:latin typeface="Arial" panose="020B0604020202020204" pitchFamily="34" charset="0"/>
              </a:rPr>
              <a:t>    pass</a:t>
            </a:r>
            <a:endParaRPr lang="fr-FR" dirty="0">
              <a:solidFill>
                <a:srgbClr val="222222"/>
              </a:solidFill>
              <a:latin typeface="Arial" panose="020B0604020202020204" pitchFamily="34" charset="0"/>
            </a:endParaRPr>
          </a:p>
        </p:txBody>
      </p:sp>
      <p:sp>
        <p:nvSpPr>
          <p:cNvPr id="5" name="Titre 4">
            <a:extLst>
              <a:ext uri="{FF2B5EF4-FFF2-40B4-BE49-F238E27FC236}">
                <a16:creationId xmlns:a16="http://schemas.microsoft.com/office/drawing/2014/main" id="{D1EB5E0D-45BF-92A5-7773-4C59CCE08907}"/>
              </a:ext>
            </a:extLst>
          </p:cNvPr>
          <p:cNvSpPr>
            <a:spLocks noGrp="1"/>
          </p:cNvSpPr>
          <p:nvPr>
            <p:ph type="title"/>
          </p:nvPr>
        </p:nvSpPr>
        <p:spPr/>
        <p:txBody>
          <a:bodyPr/>
          <a:lstStyle/>
          <a:p>
            <a:endParaRPr lang="fr-FR"/>
          </a:p>
        </p:txBody>
      </p:sp>
      <p:sp>
        <p:nvSpPr>
          <p:cNvPr id="6" name="Google Shape;230;p17">
            <a:extLst>
              <a:ext uri="{FF2B5EF4-FFF2-40B4-BE49-F238E27FC236}">
                <a16:creationId xmlns:a16="http://schemas.microsoft.com/office/drawing/2014/main" id="{A348769E-4945-9D26-C4CC-650452136E43}"/>
              </a:ext>
            </a:extLst>
          </p:cNvPr>
          <p:cNvSpPr/>
          <p:nvPr/>
        </p:nvSpPr>
        <p:spPr>
          <a:xfrm>
            <a:off x="728524" y="58794"/>
            <a:ext cx="7791008" cy="952920"/>
          </a:xfrm>
          <a:custGeom>
            <a:avLst/>
            <a:gdLst/>
            <a:ahLst/>
            <a:cxnLst/>
            <a:rect l="l" t="t" r="r" b="b"/>
            <a:pathLst>
              <a:path w="12451" h="8780" extrusionOk="0">
                <a:moveTo>
                  <a:pt x="0" y="0"/>
                </a:moveTo>
                <a:lnTo>
                  <a:pt x="0" y="8780"/>
                </a:lnTo>
                <a:lnTo>
                  <a:pt x="12101" y="8780"/>
                </a:lnTo>
                <a:cubicBezTo>
                  <a:pt x="12289" y="8780"/>
                  <a:pt x="12451" y="8618"/>
                  <a:pt x="12451" y="8428"/>
                </a:cubicBezTo>
                <a:lnTo>
                  <a:pt x="12451" y="378"/>
                </a:lnTo>
                <a:cubicBezTo>
                  <a:pt x="12451" y="162"/>
                  <a:pt x="12289" y="0"/>
                  <a:pt x="12101" y="0"/>
                </a:cubicBezTo>
                <a:close/>
              </a:path>
            </a:pathLst>
          </a:custGeom>
          <a:solidFill>
            <a:srgbClr val="E89D06"/>
          </a:solidFill>
          <a:ln>
            <a:noFill/>
          </a:ln>
          <a:effectLst>
            <a:outerShdw blurRad="85725" dist="57150" dir="12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231;p17">
            <a:extLst>
              <a:ext uri="{FF2B5EF4-FFF2-40B4-BE49-F238E27FC236}">
                <a16:creationId xmlns:a16="http://schemas.microsoft.com/office/drawing/2014/main" id="{3E6A7ABF-1D5E-B068-625E-399FCCE4D432}"/>
              </a:ext>
            </a:extLst>
          </p:cNvPr>
          <p:cNvSpPr/>
          <p:nvPr/>
        </p:nvSpPr>
        <p:spPr>
          <a:xfrm>
            <a:off x="253089" y="58794"/>
            <a:ext cx="530346" cy="952920"/>
          </a:xfrm>
          <a:custGeom>
            <a:avLst/>
            <a:gdLst/>
            <a:ahLst/>
            <a:cxnLst/>
            <a:rect l="l" t="t" r="r" b="b"/>
            <a:pathLst>
              <a:path w="3325" h="6646" extrusionOk="0">
                <a:moveTo>
                  <a:pt x="3324" y="1"/>
                </a:moveTo>
                <a:cubicBezTo>
                  <a:pt x="1488" y="1"/>
                  <a:pt x="1" y="1487"/>
                  <a:pt x="1" y="3324"/>
                </a:cubicBezTo>
                <a:cubicBezTo>
                  <a:pt x="1" y="5161"/>
                  <a:pt x="1488" y="6645"/>
                  <a:pt x="3324" y="6645"/>
                </a:cubicBezTo>
                <a:lnTo>
                  <a:pt x="3324" y="1"/>
                </a:lnTo>
                <a:close/>
              </a:path>
            </a:pathLst>
          </a:custGeom>
          <a:solidFill>
            <a:srgbClr val="E89D06"/>
          </a:solidFill>
          <a:ln>
            <a:noFill/>
          </a:ln>
          <a:effectLst>
            <a:outerShdw blurRad="71438" dist="57150" dir="1140000" algn="bl" rotWithShape="0">
              <a:schemeClr val="dk1">
                <a:alpha val="2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232;p17">
            <a:extLst>
              <a:ext uri="{FF2B5EF4-FFF2-40B4-BE49-F238E27FC236}">
                <a16:creationId xmlns:a16="http://schemas.microsoft.com/office/drawing/2014/main" id="{059B6F33-8863-5622-DD9C-EA58DE415965}"/>
              </a:ext>
            </a:extLst>
          </p:cNvPr>
          <p:cNvSpPr txBox="1"/>
          <p:nvPr/>
        </p:nvSpPr>
        <p:spPr>
          <a:xfrm>
            <a:off x="398524" y="346314"/>
            <a:ext cx="330000" cy="387300"/>
          </a:xfrm>
          <a:prstGeom prst="rect">
            <a:avLst/>
          </a:prstGeom>
          <a:solidFill>
            <a:srgbClr val="E89D06"/>
          </a:solid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2000" b="1">
                <a:solidFill>
                  <a:schemeClr val="lt1"/>
                </a:solidFill>
                <a:latin typeface="Roboto"/>
                <a:ea typeface="Roboto"/>
                <a:cs typeface="Roboto"/>
                <a:sym typeface="Roboto"/>
              </a:rPr>
              <a:t>+</a:t>
            </a:r>
            <a:endParaRPr sz="2000" b="1">
              <a:solidFill>
                <a:schemeClr val="lt1"/>
              </a:solidFill>
              <a:latin typeface="Roboto"/>
              <a:ea typeface="Roboto"/>
              <a:cs typeface="Roboto"/>
              <a:sym typeface="Roboto"/>
            </a:endParaRPr>
          </a:p>
        </p:txBody>
      </p:sp>
      <p:sp>
        <p:nvSpPr>
          <p:cNvPr id="9" name="ZoneTexte 8">
            <a:extLst>
              <a:ext uri="{FF2B5EF4-FFF2-40B4-BE49-F238E27FC236}">
                <a16:creationId xmlns:a16="http://schemas.microsoft.com/office/drawing/2014/main" id="{89899488-7188-12A5-4BFB-8938E0F671C1}"/>
              </a:ext>
            </a:extLst>
          </p:cNvPr>
          <p:cNvSpPr txBox="1"/>
          <p:nvPr/>
        </p:nvSpPr>
        <p:spPr>
          <a:xfrm>
            <a:off x="824975" y="311564"/>
            <a:ext cx="7694557" cy="453970"/>
          </a:xfrm>
          <a:prstGeom prst="rect">
            <a:avLst/>
          </a:prstGeom>
          <a:noFill/>
        </p:spPr>
        <p:txBody>
          <a:bodyPr wrap="square" lIns="68580" tIns="34290" rIns="68580" bIns="34290" rtlCol="0" anchor="t">
            <a:spAutoFit/>
          </a:bodyPr>
          <a:lstStyle/>
          <a:p>
            <a:r>
              <a:rPr lang="fr-FR" sz="2500" b="1" dirty="0">
                <a:solidFill>
                  <a:schemeClr val="bg1"/>
                </a:solidFill>
                <a:latin typeface="+mj-lt"/>
              </a:rPr>
              <a:t>TP : chargement des données</a:t>
            </a:r>
          </a:p>
        </p:txBody>
      </p:sp>
    </p:spTree>
    <p:extLst>
      <p:ext uri="{BB962C8B-B14F-4D97-AF65-F5344CB8AC3E}">
        <p14:creationId xmlns:p14="http://schemas.microsoft.com/office/powerpoint/2010/main" val="31912706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E17B11-961B-DF02-5DC0-E938C6BE8DE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9E4A96F-F139-CBCD-A8C8-D9D88B042B88}"/>
              </a:ext>
            </a:extLst>
          </p:cNvPr>
          <p:cNvSpPr>
            <a:spLocks noGrp="1"/>
          </p:cNvSpPr>
          <p:nvPr>
            <p:ph idx="1"/>
          </p:nvPr>
        </p:nvSpPr>
        <p:spPr>
          <a:xfrm>
            <a:off x="518262" y="1052515"/>
            <a:ext cx="9369153" cy="3939540"/>
          </a:xfrm>
        </p:spPr>
        <p:txBody>
          <a:bodyPr wrap="square" lIns="0" tIns="0" rIns="0" bIns="0">
            <a:spAutoFit/>
          </a:bodyPr>
          <a:lstStyle/>
          <a:p>
            <a:r>
              <a:rPr lang="fr-FR" sz="1600" dirty="0">
                <a:latin typeface="Arial" panose="020B0604020202020204" pitchFamily="34" charset="0"/>
                <a:cs typeface="Arial" panose="020B0604020202020204" pitchFamily="34" charset="0"/>
              </a:rPr>
              <a:t>Création d’un Session optimisée: </a:t>
            </a:r>
          </a:p>
          <a:p>
            <a:pPr lvl="1"/>
            <a:r>
              <a:rPr lang="en-US" sz="1600" dirty="0">
                <a:solidFill>
                  <a:srgbClr val="222222"/>
                </a:solidFill>
                <a:latin typeface="Arial" panose="020B0604020202020204" pitchFamily="34" charset="0"/>
                <a:cs typeface="Arial" panose="020B0604020202020204" pitchFamily="34" charset="0"/>
              </a:rPr>
              <a:t>spark = (</a:t>
            </a:r>
          </a:p>
          <a:p>
            <a:pPr lvl="1"/>
            <a:r>
              <a:rPr lang="en-US" sz="1600" dirty="0" err="1">
                <a:solidFill>
                  <a:srgbClr val="222222"/>
                </a:solidFill>
                <a:latin typeface="Arial" panose="020B0604020202020204" pitchFamily="34" charset="0"/>
                <a:cs typeface="Arial" panose="020B0604020202020204" pitchFamily="34" charset="0"/>
              </a:rPr>
              <a:t>SparkSession.builder</a:t>
            </a:r>
            <a:endParaRPr lang="en-US" sz="1600" dirty="0">
              <a:solidFill>
                <a:srgbClr val="222222"/>
              </a:solidFill>
              <a:latin typeface="Arial" panose="020B0604020202020204" pitchFamily="34" charset="0"/>
              <a:cs typeface="Arial" panose="020B0604020202020204" pitchFamily="34" charset="0"/>
            </a:endParaRPr>
          </a:p>
          <a:p>
            <a:pPr lvl="1"/>
            <a:r>
              <a:rPr lang="en-US" sz="1600" dirty="0">
                <a:solidFill>
                  <a:srgbClr val="222222"/>
                </a:solidFill>
                <a:latin typeface="Arial" panose="020B0604020202020204" pitchFamily="34" charset="0"/>
                <a:cs typeface="Arial" panose="020B0604020202020204" pitchFamily="34" charset="0"/>
              </a:rPr>
              <a:t>.</a:t>
            </a:r>
            <a:r>
              <a:rPr lang="en-US" sz="1600" dirty="0" err="1">
                <a:solidFill>
                  <a:srgbClr val="222222"/>
                </a:solidFill>
                <a:latin typeface="Arial" panose="020B0604020202020204" pitchFamily="34" charset="0"/>
                <a:cs typeface="Arial" panose="020B0604020202020204" pitchFamily="34" charset="0"/>
              </a:rPr>
              <a:t>appName</a:t>
            </a:r>
            <a:r>
              <a:rPr lang="en-US" sz="1600" dirty="0">
                <a:solidFill>
                  <a:srgbClr val="222222"/>
                </a:solidFill>
                <a:latin typeface="Arial" panose="020B0604020202020204" pitchFamily="34" charset="0"/>
                <a:cs typeface="Arial" panose="020B0604020202020204" pitchFamily="34" charset="0"/>
              </a:rPr>
              <a:t>("</a:t>
            </a:r>
            <a:r>
              <a:rPr lang="en-US" sz="1600" dirty="0" err="1">
                <a:solidFill>
                  <a:srgbClr val="222222"/>
                </a:solidFill>
                <a:latin typeface="Arial" panose="020B0604020202020204" pitchFamily="34" charset="0"/>
                <a:cs typeface="Arial" panose="020B0604020202020204" pitchFamily="34" charset="0"/>
              </a:rPr>
              <a:t>ReadCSV</a:t>
            </a:r>
            <a:r>
              <a:rPr lang="en-US" sz="1600" dirty="0">
                <a:solidFill>
                  <a:srgbClr val="222222"/>
                </a:solidFill>
                <a:latin typeface="Arial" panose="020B0604020202020204" pitchFamily="34" charset="0"/>
                <a:cs typeface="Arial" panose="020B0604020202020204" pitchFamily="34" charset="0"/>
              </a:rPr>
              <a:t>-optimized")</a:t>
            </a:r>
          </a:p>
          <a:p>
            <a:pPr lvl="1"/>
            <a:r>
              <a:rPr lang="en-US" sz="1600" dirty="0">
                <a:solidFill>
                  <a:srgbClr val="222222"/>
                </a:solidFill>
                <a:latin typeface="Arial" panose="020B0604020202020204" pitchFamily="34" charset="0"/>
                <a:cs typeface="Arial" panose="020B0604020202020204" pitchFamily="34" charset="0"/>
              </a:rPr>
              <a:t>.master("spark://spark-master:7077")</a:t>
            </a:r>
          </a:p>
          <a:p>
            <a:pPr lvl="1"/>
            <a:r>
              <a:rPr lang="en-US" sz="1600" dirty="0">
                <a:solidFill>
                  <a:srgbClr val="222222"/>
                </a:solidFill>
                <a:latin typeface="Arial" panose="020B0604020202020204" pitchFamily="34" charset="0"/>
                <a:cs typeface="Arial" panose="020B0604020202020204" pitchFamily="34" charset="0"/>
              </a:rPr>
              <a:t># Executors (&lt;= </a:t>
            </a:r>
            <a:r>
              <a:rPr lang="en-US" sz="1600" dirty="0" err="1">
                <a:solidFill>
                  <a:srgbClr val="222222"/>
                </a:solidFill>
                <a:latin typeface="Arial" panose="020B0604020202020204" pitchFamily="34" charset="0"/>
                <a:cs typeface="Arial" panose="020B0604020202020204" pitchFamily="34" charset="0"/>
              </a:rPr>
              <a:t>ressources</a:t>
            </a:r>
            <a:r>
              <a:rPr lang="en-US" sz="1600" dirty="0">
                <a:solidFill>
                  <a:srgbClr val="222222"/>
                </a:solidFill>
                <a:latin typeface="Arial" panose="020B0604020202020204" pitchFamily="34" charset="0"/>
                <a:cs typeface="Arial" panose="020B0604020202020204" pitchFamily="34" charset="0"/>
              </a:rPr>
              <a:t> des workers)</a:t>
            </a:r>
          </a:p>
          <a:p>
            <a:pPr lvl="1"/>
            <a:r>
              <a:rPr lang="en-US" sz="1600" dirty="0">
                <a:solidFill>
                  <a:srgbClr val="222222"/>
                </a:solidFill>
                <a:latin typeface="Arial" panose="020B0604020202020204" pitchFamily="34" charset="0"/>
                <a:cs typeface="Arial" panose="020B0604020202020204" pitchFamily="34" charset="0"/>
              </a:rPr>
              <a:t>.config("</a:t>
            </a:r>
            <a:r>
              <a:rPr lang="en-US" sz="1600" dirty="0" err="1">
                <a:solidFill>
                  <a:srgbClr val="222222"/>
                </a:solidFill>
                <a:latin typeface="Arial" panose="020B0604020202020204" pitchFamily="34" charset="0"/>
                <a:cs typeface="Arial" panose="020B0604020202020204" pitchFamily="34" charset="0"/>
              </a:rPr>
              <a:t>spark.executor.instances</a:t>
            </a:r>
            <a:r>
              <a:rPr lang="en-US" sz="1600" dirty="0">
                <a:solidFill>
                  <a:srgbClr val="222222"/>
                </a:solidFill>
                <a:latin typeface="Arial" panose="020B0604020202020204" pitchFamily="34" charset="0"/>
                <a:cs typeface="Arial" panose="020B0604020202020204" pitchFamily="34" charset="0"/>
              </a:rPr>
              <a:t>", "3") # 3 </a:t>
            </a:r>
            <a:r>
              <a:rPr lang="en-US" sz="1600" dirty="0" err="1">
                <a:solidFill>
                  <a:srgbClr val="222222"/>
                </a:solidFill>
                <a:latin typeface="Arial" panose="020B0604020202020204" pitchFamily="34" charset="0"/>
                <a:cs typeface="Arial" panose="020B0604020202020204" pitchFamily="34" charset="0"/>
              </a:rPr>
              <a:t>exécuteurs</a:t>
            </a:r>
            <a:endParaRPr lang="en-US" sz="1600" dirty="0">
              <a:solidFill>
                <a:srgbClr val="222222"/>
              </a:solidFill>
              <a:latin typeface="Arial" panose="020B0604020202020204" pitchFamily="34" charset="0"/>
              <a:cs typeface="Arial" panose="020B0604020202020204" pitchFamily="34" charset="0"/>
            </a:endParaRPr>
          </a:p>
          <a:p>
            <a:pPr lvl="1"/>
            <a:r>
              <a:rPr lang="en-US" sz="1600" dirty="0">
                <a:solidFill>
                  <a:srgbClr val="222222"/>
                </a:solidFill>
                <a:latin typeface="Arial" panose="020B0604020202020204" pitchFamily="34" charset="0"/>
                <a:cs typeface="Arial" panose="020B0604020202020204" pitchFamily="34" charset="0"/>
              </a:rPr>
              <a:t>.config("</a:t>
            </a:r>
            <a:r>
              <a:rPr lang="en-US" sz="1600" dirty="0" err="1">
                <a:solidFill>
                  <a:srgbClr val="222222"/>
                </a:solidFill>
                <a:latin typeface="Arial" panose="020B0604020202020204" pitchFamily="34" charset="0"/>
                <a:cs typeface="Arial" panose="020B0604020202020204" pitchFamily="34" charset="0"/>
              </a:rPr>
              <a:t>spark.executor.cores</a:t>
            </a:r>
            <a:r>
              <a:rPr lang="en-US" sz="1600" dirty="0">
                <a:solidFill>
                  <a:srgbClr val="222222"/>
                </a:solidFill>
                <a:latin typeface="Arial" panose="020B0604020202020204" pitchFamily="34" charset="0"/>
                <a:cs typeface="Arial" panose="020B0604020202020204" pitchFamily="34" charset="0"/>
              </a:rPr>
              <a:t>", "2") # 2 </a:t>
            </a:r>
            <a:r>
              <a:rPr lang="en-US" sz="1600" dirty="0" err="1">
                <a:solidFill>
                  <a:srgbClr val="222222"/>
                </a:solidFill>
                <a:latin typeface="Arial" panose="020B0604020202020204" pitchFamily="34" charset="0"/>
                <a:cs typeface="Arial" panose="020B0604020202020204" pitchFamily="34" charset="0"/>
              </a:rPr>
              <a:t>cœurs</a:t>
            </a:r>
            <a:r>
              <a:rPr lang="en-US" sz="1600" dirty="0">
                <a:solidFill>
                  <a:srgbClr val="222222"/>
                </a:solidFill>
                <a:latin typeface="Arial" panose="020B0604020202020204" pitchFamily="34" charset="0"/>
                <a:cs typeface="Arial" panose="020B0604020202020204" pitchFamily="34" charset="0"/>
              </a:rPr>
              <a:t> / </a:t>
            </a:r>
            <a:r>
              <a:rPr lang="en-US" sz="1600" dirty="0" err="1">
                <a:solidFill>
                  <a:srgbClr val="222222"/>
                </a:solidFill>
                <a:latin typeface="Arial" panose="020B0604020202020204" pitchFamily="34" charset="0"/>
                <a:cs typeface="Arial" panose="020B0604020202020204" pitchFamily="34" charset="0"/>
              </a:rPr>
              <a:t>exécuteur</a:t>
            </a:r>
            <a:r>
              <a:rPr lang="en-US" sz="1600" dirty="0">
                <a:solidFill>
                  <a:srgbClr val="222222"/>
                </a:solidFill>
                <a:latin typeface="Arial" panose="020B0604020202020204" pitchFamily="34" charset="0"/>
                <a:cs typeface="Arial" panose="020B0604020202020204" pitchFamily="34" charset="0"/>
              </a:rPr>
              <a:t> =&gt; 6 </a:t>
            </a:r>
            <a:r>
              <a:rPr lang="en-US" sz="1600" dirty="0" err="1">
                <a:solidFill>
                  <a:srgbClr val="222222"/>
                </a:solidFill>
                <a:latin typeface="Arial" panose="020B0604020202020204" pitchFamily="34" charset="0"/>
                <a:cs typeface="Arial" panose="020B0604020202020204" pitchFamily="34" charset="0"/>
              </a:rPr>
              <a:t>cœurs</a:t>
            </a:r>
            <a:r>
              <a:rPr lang="en-US" sz="1600" dirty="0">
                <a:solidFill>
                  <a:srgbClr val="222222"/>
                </a:solidFill>
                <a:latin typeface="Arial" panose="020B0604020202020204" pitchFamily="34" charset="0"/>
                <a:cs typeface="Arial" panose="020B0604020202020204" pitchFamily="34" charset="0"/>
              </a:rPr>
              <a:t> au total</a:t>
            </a:r>
          </a:p>
          <a:p>
            <a:pPr lvl="1"/>
            <a:r>
              <a:rPr lang="en-US" sz="1600" dirty="0">
                <a:solidFill>
                  <a:srgbClr val="222222"/>
                </a:solidFill>
                <a:latin typeface="Arial" panose="020B0604020202020204" pitchFamily="34" charset="0"/>
                <a:cs typeface="Arial" panose="020B0604020202020204" pitchFamily="34" charset="0"/>
              </a:rPr>
              <a:t>.config("</a:t>
            </a:r>
            <a:r>
              <a:rPr lang="en-US" sz="1600" dirty="0" err="1">
                <a:solidFill>
                  <a:srgbClr val="222222"/>
                </a:solidFill>
                <a:latin typeface="Arial" panose="020B0604020202020204" pitchFamily="34" charset="0"/>
                <a:cs typeface="Arial" panose="020B0604020202020204" pitchFamily="34" charset="0"/>
              </a:rPr>
              <a:t>spark.executor.memory</a:t>
            </a:r>
            <a:r>
              <a:rPr lang="en-US" sz="1600" dirty="0">
                <a:solidFill>
                  <a:srgbClr val="222222"/>
                </a:solidFill>
                <a:latin typeface="Arial" panose="020B0604020202020204" pitchFamily="34" charset="0"/>
                <a:cs typeface="Arial" panose="020B0604020202020204" pitchFamily="34" charset="0"/>
              </a:rPr>
              <a:t>", "4g") # 4 Go / </a:t>
            </a:r>
            <a:r>
              <a:rPr lang="en-US" sz="1600" dirty="0" err="1">
                <a:solidFill>
                  <a:srgbClr val="222222"/>
                </a:solidFill>
                <a:latin typeface="Arial" panose="020B0604020202020204" pitchFamily="34" charset="0"/>
                <a:cs typeface="Arial" panose="020B0604020202020204" pitchFamily="34" charset="0"/>
              </a:rPr>
              <a:t>exécuteur</a:t>
            </a:r>
            <a:r>
              <a:rPr lang="en-US" sz="1600" dirty="0">
                <a:solidFill>
                  <a:srgbClr val="222222"/>
                </a:solidFill>
                <a:latin typeface="Arial" panose="020B0604020202020204" pitchFamily="34" charset="0"/>
                <a:cs typeface="Arial" panose="020B0604020202020204" pitchFamily="34" charset="0"/>
              </a:rPr>
              <a:t> =&gt; ~12 Go au total</a:t>
            </a:r>
          </a:p>
          <a:p>
            <a:pPr lvl="1"/>
            <a:r>
              <a:rPr lang="en-US" sz="1600" dirty="0">
                <a:solidFill>
                  <a:srgbClr val="222222"/>
                </a:solidFill>
                <a:latin typeface="Arial" panose="020B0604020202020204" pitchFamily="34" charset="0"/>
                <a:cs typeface="Arial" panose="020B0604020202020204" pitchFamily="34" charset="0"/>
              </a:rPr>
              <a:t># Driver (le notebook)</a:t>
            </a:r>
          </a:p>
          <a:p>
            <a:pPr lvl="1"/>
            <a:r>
              <a:rPr lang="en-US" sz="1600" dirty="0">
                <a:solidFill>
                  <a:srgbClr val="222222"/>
                </a:solidFill>
                <a:latin typeface="Arial" panose="020B0604020202020204" pitchFamily="34" charset="0"/>
                <a:cs typeface="Arial" panose="020B0604020202020204" pitchFamily="34" charset="0"/>
              </a:rPr>
              <a:t>.config("</a:t>
            </a:r>
            <a:r>
              <a:rPr lang="en-US" sz="1600" dirty="0" err="1">
                <a:solidFill>
                  <a:srgbClr val="222222"/>
                </a:solidFill>
                <a:latin typeface="Arial" panose="020B0604020202020204" pitchFamily="34" charset="0"/>
                <a:cs typeface="Arial" panose="020B0604020202020204" pitchFamily="34" charset="0"/>
              </a:rPr>
              <a:t>spark.driver.memory</a:t>
            </a:r>
            <a:r>
              <a:rPr lang="en-US" sz="1600" dirty="0">
                <a:solidFill>
                  <a:srgbClr val="222222"/>
                </a:solidFill>
                <a:latin typeface="Arial" panose="020B0604020202020204" pitchFamily="34" charset="0"/>
                <a:cs typeface="Arial" panose="020B0604020202020204" pitchFamily="34" charset="0"/>
              </a:rPr>
              <a:t>", "2g")</a:t>
            </a:r>
          </a:p>
          <a:p>
            <a:pPr lvl="1"/>
            <a:r>
              <a:rPr lang="en-US" sz="1600" dirty="0">
                <a:solidFill>
                  <a:srgbClr val="222222"/>
                </a:solidFill>
                <a:latin typeface="Arial" panose="020B0604020202020204" pitchFamily="34" charset="0"/>
                <a:cs typeface="Arial" panose="020B0604020202020204" pitchFamily="34" charset="0"/>
              </a:rPr>
              <a:t># Shuffle &amp; lecture de </a:t>
            </a:r>
            <a:r>
              <a:rPr lang="en-US" sz="1600" dirty="0" err="1">
                <a:solidFill>
                  <a:srgbClr val="222222"/>
                </a:solidFill>
                <a:latin typeface="Arial" panose="020B0604020202020204" pitchFamily="34" charset="0"/>
                <a:cs typeface="Arial" panose="020B0604020202020204" pitchFamily="34" charset="0"/>
              </a:rPr>
              <a:t>fichiers</a:t>
            </a:r>
            <a:r>
              <a:rPr lang="en-US" sz="1600" dirty="0">
                <a:solidFill>
                  <a:srgbClr val="222222"/>
                </a:solidFill>
                <a:latin typeface="Arial" panose="020B0604020202020204" pitchFamily="34" charset="0"/>
                <a:cs typeface="Arial" panose="020B0604020202020204" pitchFamily="34" charset="0"/>
              </a:rPr>
              <a:t> (plus </a:t>
            </a:r>
            <a:r>
              <a:rPr lang="en-US" sz="1600" dirty="0" err="1">
                <a:solidFill>
                  <a:srgbClr val="222222"/>
                </a:solidFill>
                <a:latin typeface="Arial" panose="020B0604020202020204" pitchFamily="34" charset="0"/>
                <a:cs typeface="Arial" panose="020B0604020202020204" pitchFamily="34" charset="0"/>
              </a:rPr>
              <a:t>raisonnable</a:t>
            </a:r>
            <a:r>
              <a:rPr lang="en-US" sz="1600" dirty="0">
                <a:solidFill>
                  <a:srgbClr val="222222"/>
                </a:solidFill>
                <a:latin typeface="Arial" panose="020B0604020202020204" pitchFamily="34" charset="0"/>
                <a:cs typeface="Arial" panose="020B0604020202020204" pitchFamily="34" charset="0"/>
              </a:rPr>
              <a:t> que 200)</a:t>
            </a:r>
          </a:p>
          <a:p>
            <a:pPr lvl="1"/>
            <a:r>
              <a:rPr lang="en-US" sz="1600" dirty="0">
                <a:solidFill>
                  <a:srgbClr val="222222"/>
                </a:solidFill>
                <a:latin typeface="Arial" panose="020B0604020202020204" pitchFamily="34" charset="0"/>
                <a:cs typeface="Arial" panose="020B0604020202020204" pitchFamily="34" charset="0"/>
              </a:rPr>
              <a:t>.config("</a:t>
            </a:r>
            <a:r>
              <a:rPr lang="en-US" sz="1600" dirty="0" err="1">
                <a:solidFill>
                  <a:srgbClr val="222222"/>
                </a:solidFill>
                <a:latin typeface="Arial" panose="020B0604020202020204" pitchFamily="34" charset="0"/>
                <a:cs typeface="Arial" panose="020B0604020202020204" pitchFamily="34" charset="0"/>
              </a:rPr>
              <a:t>spark.sql.shuffle.partitions</a:t>
            </a:r>
            <a:r>
              <a:rPr lang="en-US" sz="1600" dirty="0">
                <a:solidFill>
                  <a:srgbClr val="222222"/>
                </a:solidFill>
                <a:latin typeface="Arial" panose="020B0604020202020204" pitchFamily="34" charset="0"/>
                <a:cs typeface="Arial" panose="020B0604020202020204" pitchFamily="34" charset="0"/>
              </a:rPr>
              <a:t>", "48")</a:t>
            </a:r>
          </a:p>
          <a:p>
            <a:pPr lvl="1"/>
            <a:r>
              <a:rPr lang="en-US" sz="1600" dirty="0">
                <a:solidFill>
                  <a:srgbClr val="222222"/>
                </a:solidFill>
                <a:latin typeface="Arial" panose="020B0604020202020204" pitchFamily="34" charset="0"/>
                <a:cs typeface="Arial" panose="020B0604020202020204" pitchFamily="34" charset="0"/>
              </a:rPr>
              <a:t>.config("</a:t>
            </a:r>
            <a:r>
              <a:rPr lang="en-US" sz="1600" dirty="0" err="1">
                <a:solidFill>
                  <a:srgbClr val="222222"/>
                </a:solidFill>
                <a:latin typeface="Arial" panose="020B0604020202020204" pitchFamily="34" charset="0"/>
                <a:cs typeface="Arial" panose="020B0604020202020204" pitchFamily="34" charset="0"/>
              </a:rPr>
              <a:t>spark.sql.files.maxPartitionBytes</a:t>
            </a:r>
            <a:r>
              <a:rPr lang="en-US" sz="1600" dirty="0">
                <a:solidFill>
                  <a:srgbClr val="222222"/>
                </a:solidFill>
                <a:latin typeface="Arial" panose="020B0604020202020204" pitchFamily="34" charset="0"/>
                <a:cs typeface="Arial" panose="020B0604020202020204" pitchFamily="34" charset="0"/>
              </a:rPr>
              <a:t>", str(64*1024*1024)) # 64 MiB</a:t>
            </a:r>
          </a:p>
          <a:p>
            <a:pPr lvl="1"/>
            <a:r>
              <a:rPr lang="en-US" sz="1600" dirty="0">
                <a:solidFill>
                  <a:srgbClr val="222222"/>
                </a:solidFill>
                <a:latin typeface="Arial" panose="020B0604020202020204" pitchFamily="34" charset="0"/>
                <a:cs typeface="Arial" panose="020B0604020202020204" pitchFamily="34" charset="0"/>
              </a:rPr>
              <a:t>.</a:t>
            </a:r>
            <a:r>
              <a:rPr lang="en-US" sz="1600" dirty="0" err="1">
                <a:solidFill>
                  <a:srgbClr val="222222"/>
                </a:solidFill>
                <a:latin typeface="Arial" panose="020B0604020202020204" pitchFamily="34" charset="0"/>
                <a:cs typeface="Arial" panose="020B0604020202020204" pitchFamily="34" charset="0"/>
              </a:rPr>
              <a:t>getOrCreate</a:t>
            </a:r>
            <a:r>
              <a:rPr lang="en-US" sz="1600" dirty="0">
                <a:solidFill>
                  <a:srgbClr val="222222"/>
                </a:solidFill>
                <a:latin typeface="Arial" panose="020B0604020202020204" pitchFamily="34" charset="0"/>
                <a:cs typeface="Arial" panose="020B0604020202020204" pitchFamily="34" charset="0"/>
              </a:rPr>
              <a:t>()</a:t>
            </a:r>
          </a:p>
          <a:p>
            <a:pPr lvl="1"/>
            <a:r>
              <a:rPr lang="en-US" sz="1600" dirty="0">
                <a:solidFill>
                  <a:srgbClr val="222222"/>
                </a:solidFill>
                <a:latin typeface="Arial" panose="020B0604020202020204" pitchFamily="34" charset="0"/>
                <a:cs typeface="Arial" panose="020B0604020202020204" pitchFamily="34" charset="0"/>
              </a:rPr>
              <a:t>)</a:t>
            </a:r>
            <a:endParaRPr lang="fr-FR" sz="1600" dirty="0">
              <a:solidFill>
                <a:srgbClr val="222222"/>
              </a:solidFill>
              <a:latin typeface="Arial" panose="020B0604020202020204" pitchFamily="34" charset="0"/>
              <a:cs typeface="Arial" panose="020B0604020202020204" pitchFamily="34" charset="0"/>
            </a:endParaRPr>
          </a:p>
        </p:txBody>
      </p:sp>
      <p:sp>
        <p:nvSpPr>
          <p:cNvPr id="5" name="Titre 4">
            <a:extLst>
              <a:ext uri="{FF2B5EF4-FFF2-40B4-BE49-F238E27FC236}">
                <a16:creationId xmlns:a16="http://schemas.microsoft.com/office/drawing/2014/main" id="{15560218-C80D-101F-3C0B-78E411C1108D}"/>
              </a:ext>
            </a:extLst>
          </p:cNvPr>
          <p:cNvSpPr>
            <a:spLocks noGrp="1"/>
          </p:cNvSpPr>
          <p:nvPr>
            <p:ph type="title"/>
          </p:nvPr>
        </p:nvSpPr>
        <p:spPr/>
        <p:txBody>
          <a:bodyPr/>
          <a:lstStyle/>
          <a:p>
            <a:endParaRPr lang="fr-FR"/>
          </a:p>
        </p:txBody>
      </p:sp>
      <p:sp>
        <p:nvSpPr>
          <p:cNvPr id="6" name="Google Shape;230;p17">
            <a:extLst>
              <a:ext uri="{FF2B5EF4-FFF2-40B4-BE49-F238E27FC236}">
                <a16:creationId xmlns:a16="http://schemas.microsoft.com/office/drawing/2014/main" id="{6303A60C-0A7C-9AEF-C6B9-8DD32EC37A56}"/>
              </a:ext>
            </a:extLst>
          </p:cNvPr>
          <p:cNvSpPr/>
          <p:nvPr/>
        </p:nvSpPr>
        <p:spPr>
          <a:xfrm>
            <a:off x="728524" y="58794"/>
            <a:ext cx="7791008" cy="952920"/>
          </a:xfrm>
          <a:custGeom>
            <a:avLst/>
            <a:gdLst/>
            <a:ahLst/>
            <a:cxnLst/>
            <a:rect l="l" t="t" r="r" b="b"/>
            <a:pathLst>
              <a:path w="12451" h="8780" extrusionOk="0">
                <a:moveTo>
                  <a:pt x="0" y="0"/>
                </a:moveTo>
                <a:lnTo>
                  <a:pt x="0" y="8780"/>
                </a:lnTo>
                <a:lnTo>
                  <a:pt x="12101" y="8780"/>
                </a:lnTo>
                <a:cubicBezTo>
                  <a:pt x="12289" y="8780"/>
                  <a:pt x="12451" y="8618"/>
                  <a:pt x="12451" y="8428"/>
                </a:cubicBezTo>
                <a:lnTo>
                  <a:pt x="12451" y="378"/>
                </a:lnTo>
                <a:cubicBezTo>
                  <a:pt x="12451" y="162"/>
                  <a:pt x="12289" y="0"/>
                  <a:pt x="12101" y="0"/>
                </a:cubicBezTo>
                <a:close/>
              </a:path>
            </a:pathLst>
          </a:custGeom>
          <a:solidFill>
            <a:srgbClr val="E89D06"/>
          </a:solidFill>
          <a:ln>
            <a:noFill/>
          </a:ln>
          <a:effectLst>
            <a:outerShdw blurRad="85725" dist="57150" dir="12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231;p17">
            <a:extLst>
              <a:ext uri="{FF2B5EF4-FFF2-40B4-BE49-F238E27FC236}">
                <a16:creationId xmlns:a16="http://schemas.microsoft.com/office/drawing/2014/main" id="{D209AC34-CD1A-37EE-ACD4-0E32D4AF7DDE}"/>
              </a:ext>
            </a:extLst>
          </p:cNvPr>
          <p:cNvSpPr/>
          <p:nvPr/>
        </p:nvSpPr>
        <p:spPr>
          <a:xfrm>
            <a:off x="253089" y="58794"/>
            <a:ext cx="530346" cy="952920"/>
          </a:xfrm>
          <a:custGeom>
            <a:avLst/>
            <a:gdLst/>
            <a:ahLst/>
            <a:cxnLst/>
            <a:rect l="l" t="t" r="r" b="b"/>
            <a:pathLst>
              <a:path w="3325" h="6646" extrusionOk="0">
                <a:moveTo>
                  <a:pt x="3324" y="1"/>
                </a:moveTo>
                <a:cubicBezTo>
                  <a:pt x="1488" y="1"/>
                  <a:pt x="1" y="1487"/>
                  <a:pt x="1" y="3324"/>
                </a:cubicBezTo>
                <a:cubicBezTo>
                  <a:pt x="1" y="5161"/>
                  <a:pt x="1488" y="6645"/>
                  <a:pt x="3324" y="6645"/>
                </a:cubicBezTo>
                <a:lnTo>
                  <a:pt x="3324" y="1"/>
                </a:lnTo>
                <a:close/>
              </a:path>
            </a:pathLst>
          </a:custGeom>
          <a:solidFill>
            <a:srgbClr val="E89D06"/>
          </a:solidFill>
          <a:ln>
            <a:noFill/>
          </a:ln>
          <a:effectLst>
            <a:outerShdw blurRad="71438" dist="57150" dir="1140000" algn="bl" rotWithShape="0">
              <a:schemeClr val="dk1">
                <a:alpha val="2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232;p17">
            <a:extLst>
              <a:ext uri="{FF2B5EF4-FFF2-40B4-BE49-F238E27FC236}">
                <a16:creationId xmlns:a16="http://schemas.microsoft.com/office/drawing/2014/main" id="{E40E6DA2-DAC8-19FB-3633-CDB18CBFA931}"/>
              </a:ext>
            </a:extLst>
          </p:cNvPr>
          <p:cNvSpPr txBox="1"/>
          <p:nvPr/>
        </p:nvSpPr>
        <p:spPr>
          <a:xfrm>
            <a:off x="398524" y="346314"/>
            <a:ext cx="330000" cy="387300"/>
          </a:xfrm>
          <a:prstGeom prst="rect">
            <a:avLst/>
          </a:prstGeom>
          <a:solidFill>
            <a:srgbClr val="E89D06"/>
          </a:solid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2000" b="1">
                <a:solidFill>
                  <a:schemeClr val="lt1"/>
                </a:solidFill>
                <a:latin typeface="Roboto"/>
                <a:ea typeface="Roboto"/>
                <a:cs typeface="Roboto"/>
                <a:sym typeface="Roboto"/>
              </a:rPr>
              <a:t>+</a:t>
            </a:r>
            <a:endParaRPr sz="2000" b="1">
              <a:solidFill>
                <a:schemeClr val="lt1"/>
              </a:solidFill>
              <a:latin typeface="Roboto"/>
              <a:ea typeface="Roboto"/>
              <a:cs typeface="Roboto"/>
              <a:sym typeface="Roboto"/>
            </a:endParaRPr>
          </a:p>
        </p:txBody>
      </p:sp>
      <p:sp>
        <p:nvSpPr>
          <p:cNvPr id="9" name="ZoneTexte 8">
            <a:extLst>
              <a:ext uri="{FF2B5EF4-FFF2-40B4-BE49-F238E27FC236}">
                <a16:creationId xmlns:a16="http://schemas.microsoft.com/office/drawing/2014/main" id="{D3F5AEB9-EEB6-8D0B-3516-EBEDF77683A5}"/>
              </a:ext>
            </a:extLst>
          </p:cNvPr>
          <p:cNvSpPr txBox="1"/>
          <p:nvPr/>
        </p:nvSpPr>
        <p:spPr>
          <a:xfrm>
            <a:off x="824975" y="311564"/>
            <a:ext cx="7694557" cy="453970"/>
          </a:xfrm>
          <a:prstGeom prst="rect">
            <a:avLst/>
          </a:prstGeom>
          <a:noFill/>
        </p:spPr>
        <p:txBody>
          <a:bodyPr wrap="square" lIns="68580" tIns="34290" rIns="68580" bIns="34290" rtlCol="0" anchor="t">
            <a:spAutoFit/>
          </a:bodyPr>
          <a:lstStyle/>
          <a:p>
            <a:r>
              <a:rPr lang="fr-FR" sz="2500" b="1" dirty="0">
                <a:solidFill>
                  <a:schemeClr val="bg1"/>
                </a:solidFill>
                <a:latin typeface="+mj-lt"/>
              </a:rPr>
              <a:t>TP : chargement des données</a:t>
            </a:r>
          </a:p>
        </p:txBody>
      </p:sp>
    </p:spTree>
    <p:extLst>
      <p:ext uri="{BB962C8B-B14F-4D97-AF65-F5344CB8AC3E}">
        <p14:creationId xmlns:p14="http://schemas.microsoft.com/office/powerpoint/2010/main" val="35845695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03B19C-0562-667E-BF7C-3D19464CFC4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6814838-72E1-2BD1-891F-B15C7DD559A4}"/>
              </a:ext>
            </a:extLst>
          </p:cNvPr>
          <p:cNvSpPr>
            <a:spLocks noGrp="1"/>
          </p:cNvSpPr>
          <p:nvPr>
            <p:ph idx="1"/>
          </p:nvPr>
        </p:nvSpPr>
        <p:spPr>
          <a:xfrm>
            <a:off x="398524" y="1264484"/>
            <a:ext cx="7865109" cy="1447800"/>
          </a:xfrm>
        </p:spPr>
        <p:txBody>
          <a:bodyPr wrap="square" lIns="0" tIns="0" rIns="0" bIns="0">
            <a:spAutoFit/>
          </a:bodyPr>
          <a:lstStyle/>
          <a:p>
            <a:r>
              <a:rPr lang="fr-FR" sz="1600" dirty="0">
                <a:latin typeface="Arial" panose="020B0604020202020204" pitchFamily="34" charset="0"/>
                <a:cs typeface="Arial" panose="020B0604020202020204" pitchFamily="34" charset="0"/>
              </a:rPr>
              <a:t>Relancer le chargement des données</a:t>
            </a:r>
          </a:p>
          <a:p>
            <a:pPr lvl="1"/>
            <a:r>
              <a:rPr lang="en-US" sz="1600" dirty="0">
                <a:solidFill>
                  <a:srgbClr val="222222"/>
                </a:solidFill>
                <a:latin typeface="Arial" panose="020B0604020202020204" pitchFamily="34" charset="0"/>
                <a:cs typeface="Arial" panose="020B0604020202020204" pitchFamily="34" charset="0"/>
              </a:rPr>
              <a:t>path = "/data/data_prime_auto.csv" # le chemin accessible au cluster</a:t>
            </a:r>
          </a:p>
          <a:p>
            <a:pPr lvl="1"/>
            <a:r>
              <a:rPr lang="en-US" sz="1600" dirty="0">
                <a:solidFill>
                  <a:srgbClr val="222222"/>
                </a:solidFill>
                <a:latin typeface="Arial" panose="020B0604020202020204" pitchFamily="34" charset="0"/>
                <a:cs typeface="Arial" panose="020B0604020202020204" pitchFamily="34" charset="0"/>
              </a:rPr>
              <a:t>data = </a:t>
            </a:r>
            <a:r>
              <a:rPr lang="en-US" sz="1600" dirty="0" err="1">
                <a:solidFill>
                  <a:srgbClr val="222222"/>
                </a:solidFill>
                <a:latin typeface="Arial" panose="020B0604020202020204" pitchFamily="34" charset="0"/>
                <a:cs typeface="Arial" panose="020B0604020202020204" pitchFamily="34" charset="0"/>
              </a:rPr>
              <a:t>spark.read</a:t>
            </a:r>
            <a:r>
              <a:rPr lang="en-US" sz="1600" dirty="0">
                <a:solidFill>
                  <a:srgbClr val="222222"/>
                </a:solidFill>
                <a:latin typeface="Arial" panose="020B0604020202020204" pitchFamily="34" charset="0"/>
                <a:cs typeface="Arial" panose="020B0604020202020204" pitchFamily="34" charset="0"/>
              </a:rPr>
              <a:t>\</a:t>
            </a:r>
          </a:p>
          <a:p>
            <a:pPr lvl="1"/>
            <a:r>
              <a:rPr lang="en-US" sz="1600" dirty="0">
                <a:solidFill>
                  <a:srgbClr val="222222"/>
                </a:solidFill>
                <a:latin typeface="Arial" panose="020B0604020202020204" pitchFamily="34" charset="0"/>
                <a:cs typeface="Arial" panose="020B0604020202020204" pitchFamily="34" charset="0"/>
              </a:rPr>
              <a:t>.option("</a:t>
            </a:r>
            <a:r>
              <a:rPr lang="en-US" sz="1600" dirty="0" err="1">
                <a:solidFill>
                  <a:srgbClr val="222222"/>
                </a:solidFill>
                <a:latin typeface="Arial" panose="020B0604020202020204" pitchFamily="34" charset="0"/>
                <a:cs typeface="Arial" panose="020B0604020202020204" pitchFamily="34" charset="0"/>
              </a:rPr>
              <a:t>inferSchema</a:t>
            </a:r>
            <a:r>
              <a:rPr lang="en-US" sz="1600" dirty="0">
                <a:solidFill>
                  <a:srgbClr val="222222"/>
                </a:solidFill>
                <a:latin typeface="Arial" panose="020B0604020202020204" pitchFamily="34" charset="0"/>
                <a:cs typeface="Arial" panose="020B0604020202020204" pitchFamily="34" charset="0"/>
              </a:rPr>
              <a:t>",True)\</a:t>
            </a:r>
          </a:p>
          <a:p>
            <a:pPr lvl="1"/>
            <a:r>
              <a:rPr lang="en-US" sz="1600" dirty="0">
                <a:solidFill>
                  <a:srgbClr val="222222"/>
                </a:solidFill>
                <a:latin typeface="Arial" panose="020B0604020202020204" pitchFamily="34" charset="0"/>
                <a:cs typeface="Arial" panose="020B0604020202020204" pitchFamily="34" charset="0"/>
              </a:rPr>
              <a:t>.option("</a:t>
            </a:r>
            <a:r>
              <a:rPr lang="en-US" sz="1600" dirty="0" err="1">
                <a:solidFill>
                  <a:srgbClr val="222222"/>
                </a:solidFill>
                <a:latin typeface="Arial" panose="020B0604020202020204" pitchFamily="34" charset="0"/>
                <a:cs typeface="Arial" panose="020B0604020202020204" pitchFamily="34" charset="0"/>
              </a:rPr>
              <a:t>header",True</a:t>
            </a:r>
            <a:r>
              <a:rPr lang="en-US" sz="1600" dirty="0">
                <a:solidFill>
                  <a:srgbClr val="222222"/>
                </a:solidFill>
                <a:latin typeface="Arial" panose="020B0604020202020204" pitchFamily="34" charset="0"/>
                <a:cs typeface="Arial" panose="020B0604020202020204" pitchFamily="34" charset="0"/>
              </a:rPr>
              <a:t>)\</a:t>
            </a:r>
          </a:p>
          <a:p>
            <a:pPr lvl="1"/>
            <a:r>
              <a:rPr lang="en-US" sz="1600" dirty="0">
                <a:solidFill>
                  <a:srgbClr val="222222"/>
                </a:solidFill>
                <a:latin typeface="Arial" panose="020B0604020202020204" pitchFamily="34" charset="0"/>
                <a:cs typeface="Arial" panose="020B0604020202020204" pitchFamily="34" charset="0"/>
              </a:rPr>
              <a:t>.csv(path)</a:t>
            </a:r>
          </a:p>
          <a:p>
            <a:pPr lvl="1"/>
            <a:r>
              <a:rPr lang="en-US" sz="1600" dirty="0" err="1">
                <a:solidFill>
                  <a:srgbClr val="222222"/>
                </a:solidFill>
                <a:latin typeface="Arial" panose="020B0604020202020204" pitchFamily="34" charset="0"/>
                <a:cs typeface="Arial" panose="020B0604020202020204" pitchFamily="34" charset="0"/>
              </a:rPr>
              <a:t>data.show</a:t>
            </a:r>
            <a:r>
              <a:rPr lang="en-US" sz="1600" dirty="0">
                <a:solidFill>
                  <a:srgbClr val="222222"/>
                </a:solidFill>
                <a:latin typeface="Arial" panose="020B0604020202020204" pitchFamily="34" charset="0"/>
                <a:cs typeface="Arial" panose="020B0604020202020204" pitchFamily="34" charset="0"/>
              </a:rPr>
              <a:t>(10)</a:t>
            </a:r>
          </a:p>
        </p:txBody>
      </p:sp>
      <p:sp>
        <p:nvSpPr>
          <p:cNvPr id="5" name="Titre 4">
            <a:extLst>
              <a:ext uri="{FF2B5EF4-FFF2-40B4-BE49-F238E27FC236}">
                <a16:creationId xmlns:a16="http://schemas.microsoft.com/office/drawing/2014/main" id="{5EA7714C-4522-18B3-DF72-2DA366DA3D81}"/>
              </a:ext>
            </a:extLst>
          </p:cNvPr>
          <p:cNvSpPr>
            <a:spLocks noGrp="1"/>
          </p:cNvSpPr>
          <p:nvPr>
            <p:ph type="title"/>
          </p:nvPr>
        </p:nvSpPr>
        <p:spPr/>
        <p:txBody>
          <a:bodyPr/>
          <a:lstStyle/>
          <a:p>
            <a:endParaRPr lang="fr-FR"/>
          </a:p>
        </p:txBody>
      </p:sp>
      <p:sp>
        <p:nvSpPr>
          <p:cNvPr id="6" name="Google Shape;230;p17">
            <a:extLst>
              <a:ext uri="{FF2B5EF4-FFF2-40B4-BE49-F238E27FC236}">
                <a16:creationId xmlns:a16="http://schemas.microsoft.com/office/drawing/2014/main" id="{4ED1D791-4ABA-EA92-487D-72638A5FA515}"/>
              </a:ext>
            </a:extLst>
          </p:cNvPr>
          <p:cNvSpPr/>
          <p:nvPr/>
        </p:nvSpPr>
        <p:spPr>
          <a:xfrm>
            <a:off x="728524" y="58794"/>
            <a:ext cx="7791008" cy="952920"/>
          </a:xfrm>
          <a:custGeom>
            <a:avLst/>
            <a:gdLst/>
            <a:ahLst/>
            <a:cxnLst/>
            <a:rect l="l" t="t" r="r" b="b"/>
            <a:pathLst>
              <a:path w="12451" h="8780" extrusionOk="0">
                <a:moveTo>
                  <a:pt x="0" y="0"/>
                </a:moveTo>
                <a:lnTo>
                  <a:pt x="0" y="8780"/>
                </a:lnTo>
                <a:lnTo>
                  <a:pt x="12101" y="8780"/>
                </a:lnTo>
                <a:cubicBezTo>
                  <a:pt x="12289" y="8780"/>
                  <a:pt x="12451" y="8618"/>
                  <a:pt x="12451" y="8428"/>
                </a:cubicBezTo>
                <a:lnTo>
                  <a:pt x="12451" y="378"/>
                </a:lnTo>
                <a:cubicBezTo>
                  <a:pt x="12451" y="162"/>
                  <a:pt x="12289" y="0"/>
                  <a:pt x="12101" y="0"/>
                </a:cubicBezTo>
                <a:close/>
              </a:path>
            </a:pathLst>
          </a:custGeom>
          <a:solidFill>
            <a:srgbClr val="E89D06"/>
          </a:solidFill>
          <a:ln>
            <a:noFill/>
          </a:ln>
          <a:effectLst>
            <a:outerShdw blurRad="85725" dist="57150" dir="12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231;p17">
            <a:extLst>
              <a:ext uri="{FF2B5EF4-FFF2-40B4-BE49-F238E27FC236}">
                <a16:creationId xmlns:a16="http://schemas.microsoft.com/office/drawing/2014/main" id="{58C4BB03-4D15-4B0F-5EA2-69F11AE2617C}"/>
              </a:ext>
            </a:extLst>
          </p:cNvPr>
          <p:cNvSpPr/>
          <p:nvPr/>
        </p:nvSpPr>
        <p:spPr>
          <a:xfrm>
            <a:off x="253089" y="58794"/>
            <a:ext cx="530346" cy="952920"/>
          </a:xfrm>
          <a:custGeom>
            <a:avLst/>
            <a:gdLst/>
            <a:ahLst/>
            <a:cxnLst/>
            <a:rect l="l" t="t" r="r" b="b"/>
            <a:pathLst>
              <a:path w="3325" h="6646" extrusionOk="0">
                <a:moveTo>
                  <a:pt x="3324" y="1"/>
                </a:moveTo>
                <a:cubicBezTo>
                  <a:pt x="1488" y="1"/>
                  <a:pt x="1" y="1487"/>
                  <a:pt x="1" y="3324"/>
                </a:cubicBezTo>
                <a:cubicBezTo>
                  <a:pt x="1" y="5161"/>
                  <a:pt x="1488" y="6645"/>
                  <a:pt x="3324" y="6645"/>
                </a:cubicBezTo>
                <a:lnTo>
                  <a:pt x="3324" y="1"/>
                </a:lnTo>
                <a:close/>
              </a:path>
            </a:pathLst>
          </a:custGeom>
          <a:solidFill>
            <a:srgbClr val="E89D06"/>
          </a:solidFill>
          <a:ln>
            <a:noFill/>
          </a:ln>
          <a:effectLst>
            <a:outerShdw blurRad="71438" dist="57150" dir="1140000" algn="bl" rotWithShape="0">
              <a:schemeClr val="dk1">
                <a:alpha val="2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232;p17">
            <a:extLst>
              <a:ext uri="{FF2B5EF4-FFF2-40B4-BE49-F238E27FC236}">
                <a16:creationId xmlns:a16="http://schemas.microsoft.com/office/drawing/2014/main" id="{79E9C64B-BE65-DDBE-D564-344885E034DD}"/>
              </a:ext>
            </a:extLst>
          </p:cNvPr>
          <p:cNvSpPr txBox="1"/>
          <p:nvPr/>
        </p:nvSpPr>
        <p:spPr>
          <a:xfrm>
            <a:off x="398524" y="346314"/>
            <a:ext cx="330000" cy="387300"/>
          </a:xfrm>
          <a:prstGeom prst="rect">
            <a:avLst/>
          </a:prstGeom>
          <a:solidFill>
            <a:srgbClr val="E89D06"/>
          </a:solid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2000" b="1">
                <a:solidFill>
                  <a:schemeClr val="lt1"/>
                </a:solidFill>
                <a:latin typeface="Roboto"/>
                <a:ea typeface="Roboto"/>
                <a:cs typeface="Roboto"/>
                <a:sym typeface="Roboto"/>
              </a:rPr>
              <a:t>+</a:t>
            </a:r>
            <a:endParaRPr sz="2000" b="1">
              <a:solidFill>
                <a:schemeClr val="lt1"/>
              </a:solidFill>
              <a:latin typeface="Roboto"/>
              <a:ea typeface="Roboto"/>
              <a:cs typeface="Roboto"/>
              <a:sym typeface="Roboto"/>
            </a:endParaRPr>
          </a:p>
        </p:txBody>
      </p:sp>
      <p:sp>
        <p:nvSpPr>
          <p:cNvPr id="9" name="ZoneTexte 8">
            <a:extLst>
              <a:ext uri="{FF2B5EF4-FFF2-40B4-BE49-F238E27FC236}">
                <a16:creationId xmlns:a16="http://schemas.microsoft.com/office/drawing/2014/main" id="{B671A7EA-E751-86CA-0148-7FC43A5C4F68}"/>
              </a:ext>
            </a:extLst>
          </p:cNvPr>
          <p:cNvSpPr txBox="1"/>
          <p:nvPr/>
        </p:nvSpPr>
        <p:spPr>
          <a:xfrm>
            <a:off x="824975" y="318998"/>
            <a:ext cx="7791008" cy="453970"/>
          </a:xfrm>
          <a:prstGeom prst="rect">
            <a:avLst/>
          </a:prstGeom>
          <a:noFill/>
        </p:spPr>
        <p:txBody>
          <a:bodyPr wrap="square" lIns="68580" tIns="34290" rIns="68580" bIns="34290" rtlCol="0" anchor="t">
            <a:spAutoFit/>
          </a:bodyPr>
          <a:lstStyle/>
          <a:p>
            <a:r>
              <a:rPr lang="fr-FR" sz="2500" b="1" dirty="0">
                <a:solidFill>
                  <a:schemeClr val="bg1"/>
                </a:solidFill>
                <a:latin typeface="+mj-lt"/>
              </a:rPr>
              <a:t>TP : chargement des données</a:t>
            </a:r>
          </a:p>
        </p:txBody>
      </p:sp>
    </p:spTree>
    <p:extLst>
      <p:ext uri="{BB962C8B-B14F-4D97-AF65-F5344CB8AC3E}">
        <p14:creationId xmlns:p14="http://schemas.microsoft.com/office/powerpoint/2010/main" val="33969103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BE12DA-1055-AD50-B5B1-2E83A3E42B0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653028-3986-C084-7F8B-491A19D255F5}"/>
              </a:ext>
            </a:extLst>
          </p:cNvPr>
          <p:cNvSpPr>
            <a:spLocks noGrp="1"/>
          </p:cNvSpPr>
          <p:nvPr>
            <p:ph idx="1"/>
          </p:nvPr>
        </p:nvSpPr>
        <p:spPr>
          <a:xfrm>
            <a:off x="753483" y="1123950"/>
            <a:ext cx="7865109" cy="1447800"/>
          </a:xfrm>
        </p:spPr>
        <p:txBody>
          <a:bodyPr>
            <a:normAutofit/>
          </a:bodyPr>
          <a:lstStyle/>
          <a:p>
            <a:r>
              <a:rPr lang="fr-FR" dirty="0"/>
              <a:t>Résultat</a:t>
            </a:r>
          </a:p>
        </p:txBody>
      </p:sp>
      <p:pic>
        <p:nvPicPr>
          <p:cNvPr id="6" name="Image 5">
            <a:extLst>
              <a:ext uri="{FF2B5EF4-FFF2-40B4-BE49-F238E27FC236}">
                <a16:creationId xmlns:a16="http://schemas.microsoft.com/office/drawing/2014/main" id="{19561701-B59B-2442-80F0-EA5960FDCBB9}"/>
              </a:ext>
            </a:extLst>
          </p:cNvPr>
          <p:cNvPicPr>
            <a:picLocks noChangeAspect="1"/>
          </p:cNvPicPr>
          <p:nvPr/>
        </p:nvPicPr>
        <p:blipFill>
          <a:blip r:embed="rId3"/>
          <a:stretch>
            <a:fillRect/>
          </a:stretch>
        </p:blipFill>
        <p:spPr>
          <a:xfrm>
            <a:off x="824975" y="1504125"/>
            <a:ext cx="7075842" cy="3105337"/>
          </a:xfrm>
          <a:prstGeom prst="rect">
            <a:avLst/>
          </a:prstGeom>
        </p:spPr>
      </p:pic>
      <p:sp>
        <p:nvSpPr>
          <p:cNvPr id="5" name="Titre 4">
            <a:extLst>
              <a:ext uri="{FF2B5EF4-FFF2-40B4-BE49-F238E27FC236}">
                <a16:creationId xmlns:a16="http://schemas.microsoft.com/office/drawing/2014/main" id="{C33A680C-3D26-9196-DA5B-CBD4ADAB16C9}"/>
              </a:ext>
            </a:extLst>
          </p:cNvPr>
          <p:cNvSpPr>
            <a:spLocks noGrp="1"/>
          </p:cNvSpPr>
          <p:nvPr>
            <p:ph type="title"/>
          </p:nvPr>
        </p:nvSpPr>
        <p:spPr/>
        <p:txBody>
          <a:bodyPr/>
          <a:lstStyle/>
          <a:p>
            <a:endParaRPr lang="fr-FR"/>
          </a:p>
        </p:txBody>
      </p:sp>
      <p:sp>
        <p:nvSpPr>
          <p:cNvPr id="7" name="Google Shape;230;p17">
            <a:extLst>
              <a:ext uri="{FF2B5EF4-FFF2-40B4-BE49-F238E27FC236}">
                <a16:creationId xmlns:a16="http://schemas.microsoft.com/office/drawing/2014/main" id="{0F046861-779C-20A8-A167-5164F090632B}"/>
              </a:ext>
            </a:extLst>
          </p:cNvPr>
          <p:cNvSpPr/>
          <p:nvPr/>
        </p:nvSpPr>
        <p:spPr>
          <a:xfrm>
            <a:off x="728524" y="58794"/>
            <a:ext cx="7791008" cy="952920"/>
          </a:xfrm>
          <a:custGeom>
            <a:avLst/>
            <a:gdLst/>
            <a:ahLst/>
            <a:cxnLst/>
            <a:rect l="l" t="t" r="r" b="b"/>
            <a:pathLst>
              <a:path w="12451" h="8780" extrusionOk="0">
                <a:moveTo>
                  <a:pt x="0" y="0"/>
                </a:moveTo>
                <a:lnTo>
                  <a:pt x="0" y="8780"/>
                </a:lnTo>
                <a:lnTo>
                  <a:pt x="12101" y="8780"/>
                </a:lnTo>
                <a:cubicBezTo>
                  <a:pt x="12289" y="8780"/>
                  <a:pt x="12451" y="8618"/>
                  <a:pt x="12451" y="8428"/>
                </a:cubicBezTo>
                <a:lnTo>
                  <a:pt x="12451" y="378"/>
                </a:lnTo>
                <a:cubicBezTo>
                  <a:pt x="12451" y="162"/>
                  <a:pt x="12289" y="0"/>
                  <a:pt x="12101" y="0"/>
                </a:cubicBezTo>
                <a:close/>
              </a:path>
            </a:pathLst>
          </a:custGeom>
          <a:solidFill>
            <a:srgbClr val="E89D06"/>
          </a:solidFill>
          <a:ln>
            <a:noFill/>
          </a:ln>
          <a:effectLst>
            <a:outerShdw blurRad="85725" dist="57150" dir="12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231;p17">
            <a:extLst>
              <a:ext uri="{FF2B5EF4-FFF2-40B4-BE49-F238E27FC236}">
                <a16:creationId xmlns:a16="http://schemas.microsoft.com/office/drawing/2014/main" id="{DCDBAFC0-1FFC-C600-330B-C4E03E86450A}"/>
              </a:ext>
            </a:extLst>
          </p:cNvPr>
          <p:cNvSpPr/>
          <p:nvPr/>
        </p:nvSpPr>
        <p:spPr>
          <a:xfrm>
            <a:off x="253089" y="58794"/>
            <a:ext cx="530346" cy="952920"/>
          </a:xfrm>
          <a:custGeom>
            <a:avLst/>
            <a:gdLst/>
            <a:ahLst/>
            <a:cxnLst/>
            <a:rect l="l" t="t" r="r" b="b"/>
            <a:pathLst>
              <a:path w="3325" h="6646" extrusionOk="0">
                <a:moveTo>
                  <a:pt x="3324" y="1"/>
                </a:moveTo>
                <a:cubicBezTo>
                  <a:pt x="1488" y="1"/>
                  <a:pt x="1" y="1487"/>
                  <a:pt x="1" y="3324"/>
                </a:cubicBezTo>
                <a:cubicBezTo>
                  <a:pt x="1" y="5161"/>
                  <a:pt x="1488" y="6645"/>
                  <a:pt x="3324" y="6645"/>
                </a:cubicBezTo>
                <a:lnTo>
                  <a:pt x="3324" y="1"/>
                </a:lnTo>
                <a:close/>
              </a:path>
            </a:pathLst>
          </a:custGeom>
          <a:solidFill>
            <a:srgbClr val="E89D06"/>
          </a:solidFill>
          <a:ln>
            <a:noFill/>
          </a:ln>
          <a:effectLst>
            <a:outerShdw blurRad="71438" dist="57150" dir="1140000" algn="bl" rotWithShape="0">
              <a:schemeClr val="dk1">
                <a:alpha val="2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232;p17">
            <a:extLst>
              <a:ext uri="{FF2B5EF4-FFF2-40B4-BE49-F238E27FC236}">
                <a16:creationId xmlns:a16="http://schemas.microsoft.com/office/drawing/2014/main" id="{1FEA9977-8622-3C1B-3225-C03BDEC524F2}"/>
              </a:ext>
            </a:extLst>
          </p:cNvPr>
          <p:cNvSpPr txBox="1"/>
          <p:nvPr/>
        </p:nvSpPr>
        <p:spPr>
          <a:xfrm>
            <a:off x="398524" y="346314"/>
            <a:ext cx="330000" cy="387300"/>
          </a:xfrm>
          <a:prstGeom prst="rect">
            <a:avLst/>
          </a:prstGeom>
          <a:solidFill>
            <a:srgbClr val="E89D06"/>
          </a:solid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2000" b="1">
                <a:solidFill>
                  <a:schemeClr val="lt1"/>
                </a:solidFill>
                <a:latin typeface="Roboto"/>
                <a:ea typeface="Roboto"/>
                <a:cs typeface="Roboto"/>
                <a:sym typeface="Roboto"/>
              </a:rPr>
              <a:t>+</a:t>
            </a:r>
            <a:endParaRPr sz="2000" b="1">
              <a:solidFill>
                <a:schemeClr val="lt1"/>
              </a:solidFill>
              <a:latin typeface="Roboto"/>
              <a:ea typeface="Roboto"/>
              <a:cs typeface="Roboto"/>
              <a:sym typeface="Roboto"/>
            </a:endParaRPr>
          </a:p>
        </p:txBody>
      </p:sp>
      <p:sp>
        <p:nvSpPr>
          <p:cNvPr id="10" name="ZoneTexte 9">
            <a:extLst>
              <a:ext uri="{FF2B5EF4-FFF2-40B4-BE49-F238E27FC236}">
                <a16:creationId xmlns:a16="http://schemas.microsoft.com/office/drawing/2014/main" id="{64153AA9-F8E5-FB73-2B72-8E9E78AD3071}"/>
              </a:ext>
            </a:extLst>
          </p:cNvPr>
          <p:cNvSpPr txBox="1"/>
          <p:nvPr/>
        </p:nvSpPr>
        <p:spPr>
          <a:xfrm>
            <a:off x="824975" y="311564"/>
            <a:ext cx="7694557" cy="453970"/>
          </a:xfrm>
          <a:prstGeom prst="rect">
            <a:avLst/>
          </a:prstGeom>
          <a:noFill/>
        </p:spPr>
        <p:txBody>
          <a:bodyPr wrap="square" lIns="68580" tIns="34290" rIns="68580" bIns="34290" rtlCol="0" anchor="t">
            <a:spAutoFit/>
          </a:bodyPr>
          <a:lstStyle/>
          <a:p>
            <a:r>
              <a:rPr lang="fr-FR" sz="2500" b="1" dirty="0">
                <a:solidFill>
                  <a:schemeClr val="bg1"/>
                </a:solidFill>
                <a:latin typeface="+mj-lt"/>
              </a:rPr>
              <a:t>TP : chargement des données</a:t>
            </a:r>
          </a:p>
        </p:txBody>
      </p:sp>
    </p:spTree>
    <p:extLst>
      <p:ext uri="{BB962C8B-B14F-4D97-AF65-F5344CB8AC3E}">
        <p14:creationId xmlns:p14="http://schemas.microsoft.com/office/powerpoint/2010/main" val="30024592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9CDF99-32D9-DAFA-AD1E-7CA05D67DC1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4F60EB6-D880-CB97-B515-DD6AE8174FD8}"/>
              </a:ext>
            </a:extLst>
          </p:cNvPr>
          <p:cNvSpPr>
            <a:spLocks noGrp="1"/>
          </p:cNvSpPr>
          <p:nvPr>
            <p:ph idx="1"/>
          </p:nvPr>
        </p:nvSpPr>
        <p:spPr>
          <a:xfrm>
            <a:off x="541641" y="1123950"/>
            <a:ext cx="7865109" cy="1661993"/>
          </a:xfrm>
        </p:spPr>
        <p:txBody>
          <a:bodyPr wrap="square" lIns="0" tIns="0" rIns="0" bIns="0">
            <a:spAutoFit/>
          </a:bodyPr>
          <a:lstStyle/>
          <a:p>
            <a:r>
              <a:rPr lang="fr-FR" dirty="0"/>
              <a:t>Vérifiez que le </a:t>
            </a:r>
            <a:r>
              <a:rPr lang="fr-FR" dirty="0" err="1"/>
              <a:t>DataFrame</a:t>
            </a:r>
            <a:r>
              <a:rPr lang="fr-FR" dirty="0"/>
              <a:t> est de dimension (300006,12)</a:t>
            </a:r>
          </a:p>
          <a:p>
            <a:r>
              <a:rPr lang="fr-FR" dirty="0"/>
              <a:t>Appelez la méthode "</a:t>
            </a:r>
            <a:r>
              <a:rPr lang="fr-FR" dirty="0" err="1"/>
              <a:t>describe</a:t>
            </a:r>
            <a:r>
              <a:rPr lang="fr-FR" dirty="0"/>
              <a:t>" du </a:t>
            </a:r>
            <a:r>
              <a:rPr lang="fr-FR" dirty="0" err="1"/>
              <a:t>DataFrame</a:t>
            </a:r>
            <a:r>
              <a:rPr lang="fr-FR" dirty="0"/>
              <a:t> pour afficher les statistiques des colonnes. </a:t>
            </a:r>
          </a:p>
          <a:p>
            <a:r>
              <a:rPr lang="fr-FR" dirty="0"/>
              <a:t>Interprétez les résultats et identifiez les anomalies potentielles.</a:t>
            </a:r>
          </a:p>
          <a:p>
            <a:r>
              <a:rPr lang="fr-FR" dirty="0"/>
              <a:t>Affichez le schéma en appelant "</a:t>
            </a:r>
            <a:r>
              <a:rPr lang="fr-FR" dirty="0" err="1"/>
              <a:t>printSchema</a:t>
            </a:r>
            <a:r>
              <a:rPr lang="fr-FR" dirty="0"/>
              <a:t>". </a:t>
            </a:r>
          </a:p>
          <a:p>
            <a:r>
              <a:rPr lang="fr-FR" dirty="0"/>
              <a:t>Identifiez les anomalies de types.</a:t>
            </a:r>
          </a:p>
        </p:txBody>
      </p:sp>
      <p:sp>
        <p:nvSpPr>
          <p:cNvPr id="6" name="Titre 4">
            <a:extLst>
              <a:ext uri="{FF2B5EF4-FFF2-40B4-BE49-F238E27FC236}">
                <a16:creationId xmlns:a16="http://schemas.microsoft.com/office/drawing/2014/main" id="{98EE74D1-BA93-28F3-91AB-F9470E641905}"/>
              </a:ext>
            </a:extLst>
          </p:cNvPr>
          <p:cNvSpPr>
            <a:spLocks noGrp="1"/>
          </p:cNvSpPr>
          <p:nvPr>
            <p:ph type="title"/>
          </p:nvPr>
        </p:nvSpPr>
        <p:spPr>
          <a:xfrm>
            <a:off x="1586986" y="270763"/>
            <a:ext cx="5970026" cy="391159"/>
          </a:xfrm>
        </p:spPr>
        <p:txBody>
          <a:bodyPr/>
          <a:lstStyle/>
          <a:p>
            <a:endParaRPr lang="fr-FR"/>
          </a:p>
        </p:txBody>
      </p:sp>
      <p:sp>
        <p:nvSpPr>
          <p:cNvPr id="7" name="Google Shape;230;p17">
            <a:extLst>
              <a:ext uri="{FF2B5EF4-FFF2-40B4-BE49-F238E27FC236}">
                <a16:creationId xmlns:a16="http://schemas.microsoft.com/office/drawing/2014/main" id="{DC381F84-D85B-0BD7-E866-0AFAC5C516A6}"/>
              </a:ext>
            </a:extLst>
          </p:cNvPr>
          <p:cNvSpPr/>
          <p:nvPr/>
        </p:nvSpPr>
        <p:spPr>
          <a:xfrm>
            <a:off x="728524" y="58794"/>
            <a:ext cx="7791008" cy="952920"/>
          </a:xfrm>
          <a:custGeom>
            <a:avLst/>
            <a:gdLst/>
            <a:ahLst/>
            <a:cxnLst/>
            <a:rect l="l" t="t" r="r" b="b"/>
            <a:pathLst>
              <a:path w="12451" h="8780" extrusionOk="0">
                <a:moveTo>
                  <a:pt x="0" y="0"/>
                </a:moveTo>
                <a:lnTo>
                  <a:pt x="0" y="8780"/>
                </a:lnTo>
                <a:lnTo>
                  <a:pt x="12101" y="8780"/>
                </a:lnTo>
                <a:cubicBezTo>
                  <a:pt x="12289" y="8780"/>
                  <a:pt x="12451" y="8618"/>
                  <a:pt x="12451" y="8428"/>
                </a:cubicBezTo>
                <a:lnTo>
                  <a:pt x="12451" y="378"/>
                </a:lnTo>
                <a:cubicBezTo>
                  <a:pt x="12451" y="162"/>
                  <a:pt x="12289" y="0"/>
                  <a:pt x="12101" y="0"/>
                </a:cubicBezTo>
                <a:close/>
              </a:path>
            </a:pathLst>
          </a:custGeom>
          <a:solidFill>
            <a:srgbClr val="E89D06"/>
          </a:solidFill>
          <a:ln>
            <a:noFill/>
          </a:ln>
          <a:effectLst>
            <a:outerShdw blurRad="85725" dist="57150" dir="12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231;p17">
            <a:extLst>
              <a:ext uri="{FF2B5EF4-FFF2-40B4-BE49-F238E27FC236}">
                <a16:creationId xmlns:a16="http://schemas.microsoft.com/office/drawing/2014/main" id="{2A49A667-4B16-4005-17E1-EA0748342293}"/>
              </a:ext>
            </a:extLst>
          </p:cNvPr>
          <p:cNvSpPr/>
          <p:nvPr/>
        </p:nvSpPr>
        <p:spPr>
          <a:xfrm>
            <a:off x="253089" y="58794"/>
            <a:ext cx="530346" cy="952920"/>
          </a:xfrm>
          <a:custGeom>
            <a:avLst/>
            <a:gdLst/>
            <a:ahLst/>
            <a:cxnLst/>
            <a:rect l="l" t="t" r="r" b="b"/>
            <a:pathLst>
              <a:path w="3325" h="6646" extrusionOk="0">
                <a:moveTo>
                  <a:pt x="3324" y="1"/>
                </a:moveTo>
                <a:cubicBezTo>
                  <a:pt x="1488" y="1"/>
                  <a:pt x="1" y="1487"/>
                  <a:pt x="1" y="3324"/>
                </a:cubicBezTo>
                <a:cubicBezTo>
                  <a:pt x="1" y="5161"/>
                  <a:pt x="1488" y="6645"/>
                  <a:pt x="3324" y="6645"/>
                </a:cubicBezTo>
                <a:lnTo>
                  <a:pt x="3324" y="1"/>
                </a:lnTo>
                <a:close/>
              </a:path>
            </a:pathLst>
          </a:custGeom>
          <a:solidFill>
            <a:srgbClr val="E89D06"/>
          </a:solidFill>
          <a:ln>
            <a:noFill/>
          </a:ln>
          <a:effectLst>
            <a:outerShdw blurRad="71438" dist="57150" dir="1140000" algn="bl" rotWithShape="0">
              <a:schemeClr val="dk1">
                <a:alpha val="2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232;p17">
            <a:extLst>
              <a:ext uri="{FF2B5EF4-FFF2-40B4-BE49-F238E27FC236}">
                <a16:creationId xmlns:a16="http://schemas.microsoft.com/office/drawing/2014/main" id="{82871BAE-2481-286D-752B-301DF00C14D4}"/>
              </a:ext>
            </a:extLst>
          </p:cNvPr>
          <p:cNvSpPr txBox="1"/>
          <p:nvPr/>
        </p:nvSpPr>
        <p:spPr>
          <a:xfrm>
            <a:off x="398524" y="346314"/>
            <a:ext cx="330000" cy="387300"/>
          </a:xfrm>
          <a:prstGeom prst="rect">
            <a:avLst/>
          </a:prstGeom>
          <a:solidFill>
            <a:srgbClr val="E89D06"/>
          </a:solid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2000" b="1">
                <a:solidFill>
                  <a:schemeClr val="lt1"/>
                </a:solidFill>
                <a:latin typeface="Roboto"/>
                <a:ea typeface="Roboto"/>
                <a:cs typeface="Roboto"/>
                <a:sym typeface="Roboto"/>
              </a:rPr>
              <a:t>+</a:t>
            </a:r>
            <a:endParaRPr sz="2000" b="1">
              <a:solidFill>
                <a:schemeClr val="lt1"/>
              </a:solidFill>
              <a:latin typeface="Roboto"/>
              <a:ea typeface="Roboto"/>
              <a:cs typeface="Roboto"/>
              <a:sym typeface="Roboto"/>
            </a:endParaRPr>
          </a:p>
        </p:txBody>
      </p:sp>
      <p:sp>
        <p:nvSpPr>
          <p:cNvPr id="10" name="ZoneTexte 9">
            <a:extLst>
              <a:ext uri="{FF2B5EF4-FFF2-40B4-BE49-F238E27FC236}">
                <a16:creationId xmlns:a16="http://schemas.microsoft.com/office/drawing/2014/main" id="{59F0CAAA-7EC6-C3E4-7709-FFC81B1A1205}"/>
              </a:ext>
            </a:extLst>
          </p:cNvPr>
          <p:cNvSpPr txBox="1"/>
          <p:nvPr/>
        </p:nvSpPr>
        <p:spPr>
          <a:xfrm>
            <a:off x="824975" y="311564"/>
            <a:ext cx="7581775" cy="453970"/>
          </a:xfrm>
          <a:prstGeom prst="rect">
            <a:avLst/>
          </a:prstGeom>
          <a:noFill/>
        </p:spPr>
        <p:txBody>
          <a:bodyPr wrap="square" lIns="68580" tIns="34290" rIns="68580" bIns="34290" rtlCol="0" anchor="t">
            <a:spAutoFit/>
          </a:bodyPr>
          <a:lstStyle/>
          <a:p>
            <a:r>
              <a:rPr lang="fr-FR" sz="2500" b="1" dirty="0">
                <a:solidFill>
                  <a:schemeClr val="bg1"/>
                </a:solidFill>
                <a:latin typeface="+mj-lt"/>
              </a:rPr>
              <a:t>TP : chargement des données</a:t>
            </a:r>
          </a:p>
        </p:txBody>
      </p:sp>
    </p:spTree>
    <p:extLst>
      <p:ext uri="{BB962C8B-B14F-4D97-AF65-F5344CB8AC3E}">
        <p14:creationId xmlns:p14="http://schemas.microsoft.com/office/powerpoint/2010/main" val="26258748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24EA79-58FA-6A21-4FD8-DF67B12E3EB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802B20E-149C-0C52-098E-09D6D7DCE3D4}"/>
              </a:ext>
            </a:extLst>
          </p:cNvPr>
          <p:cNvSpPr>
            <a:spLocks noGrp="1"/>
          </p:cNvSpPr>
          <p:nvPr>
            <p:ph idx="1"/>
          </p:nvPr>
        </p:nvSpPr>
        <p:spPr>
          <a:xfrm>
            <a:off x="654423" y="1299234"/>
            <a:ext cx="7865109" cy="1447800"/>
          </a:xfrm>
        </p:spPr>
        <p:txBody>
          <a:bodyPr wrap="square" lIns="0" tIns="0" rIns="0" bIns="0">
            <a:spAutoFit/>
          </a:bodyPr>
          <a:lstStyle/>
          <a:p>
            <a:r>
              <a:rPr lang="fr-FR" dirty="0"/>
              <a:t>Script de dimension </a:t>
            </a:r>
          </a:p>
          <a:p>
            <a:pPr lvl="1"/>
            <a:r>
              <a:rPr lang="en-US" dirty="0" err="1"/>
              <a:t>n_cols</a:t>
            </a:r>
            <a:r>
              <a:rPr lang="en-US" dirty="0"/>
              <a:t> = </a:t>
            </a:r>
            <a:r>
              <a:rPr lang="en-US" dirty="0" err="1"/>
              <a:t>len</a:t>
            </a:r>
            <a:r>
              <a:rPr lang="en-US" dirty="0"/>
              <a:t>(</a:t>
            </a:r>
            <a:r>
              <a:rPr lang="en-US" dirty="0" err="1"/>
              <a:t>data.columns</a:t>
            </a:r>
            <a:r>
              <a:rPr lang="en-US" dirty="0"/>
              <a:t>)</a:t>
            </a:r>
          </a:p>
          <a:p>
            <a:pPr lvl="1"/>
            <a:r>
              <a:rPr lang="en-US" dirty="0" err="1"/>
              <a:t>n_rows</a:t>
            </a:r>
            <a:r>
              <a:rPr lang="en-US" dirty="0"/>
              <a:t> = </a:t>
            </a:r>
            <a:r>
              <a:rPr lang="en-US" dirty="0" err="1"/>
              <a:t>data.count</a:t>
            </a:r>
            <a:r>
              <a:rPr lang="en-US" dirty="0"/>
              <a:t>()</a:t>
            </a:r>
          </a:p>
          <a:p>
            <a:pPr lvl="1"/>
            <a:r>
              <a:rPr lang="en-US" dirty="0"/>
              <a:t>print("</a:t>
            </a:r>
            <a:r>
              <a:rPr lang="en-US" dirty="0" err="1"/>
              <a:t>DataFrame</a:t>
            </a:r>
            <a:r>
              <a:rPr lang="en-US" dirty="0"/>
              <a:t> shape=(%</a:t>
            </a:r>
            <a:r>
              <a:rPr lang="en-US" dirty="0" err="1"/>
              <a:t>i</a:t>
            </a:r>
            <a:r>
              <a:rPr lang="en-US" dirty="0"/>
              <a:t>,%</a:t>
            </a:r>
            <a:r>
              <a:rPr lang="en-US" dirty="0" err="1"/>
              <a:t>i</a:t>
            </a:r>
            <a:r>
              <a:rPr lang="en-US" dirty="0"/>
              <a:t>)"%(</a:t>
            </a:r>
            <a:r>
              <a:rPr lang="en-US" dirty="0" err="1"/>
              <a:t>n_rows,n_cols</a:t>
            </a:r>
            <a:r>
              <a:rPr lang="en-US" dirty="0"/>
              <a:t>))</a:t>
            </a:r>
          </a:p>
          <a:p>
            <a:r>
              <a:rPr lang="en-US" dirty="0"/>
              <a:t>Script </a:t>
            </a:r>
            <a:r>
              <a:rPr lang="fr-FR" dirty="0"/>
              <a:t>statistiques des colonnes:</a:t>
            </a:r>
            <a:endParaRPr lang="en-US" dirty="0"/>
          </a:p>
          <a:p>
            <a:pPr lvl="1"/>
            <a:r>
              <a:rPr lang="fr-FR" dirty="0" err="1"/>
              <a:t>data.describe</a:t>
            </a:r>
            <a:r>
              <a:rPr lang="fr-FR" dirty="0"/>
              <a:t>().show(10,20)</a:t>
            </a:r>
          </a:p>
          <a:p>
            <a:pPr lvl="1"/>
            <a:endParaRPr lang="en-US" dirty="0"/>
          </a:p>
          <a:p>
            <a:pPr lvl="1"/>
            <a:endParaRPr lang="en-US" dirty="0"/>
          </a:p>
          <a:p>
            <a:pPr lvl="1"/>
            <a:endParaRPr lang="en-US" dirty="0"/>
          </a:p>
        </p:txBody>
      </p:sp>
      <p:sp>
        <p:nvSpPr>
          <p:cNvPr id="5" name="Titre 4">
            <a:extLst>
              <a:ext uri="{FF2B5EF4-FFF2-40B4-BE49-F238E27FC236}">
                <a16:creationId xmlns:a16="http://schemas.microsoft.com/office/drawing/2014/main" id="{991A2193-CE51-00F6-A97A-30A17E349296}"/>
              </a:ext>
            </a:extLst>
          </p:cNvPr>
          <p:cNvSpPr>
            <a:spLocks noGrp="1"/>
          </p:cNvSpPr>
          <p:nvPr>
            <p:ph type="title"/>
          </p:nvPr>
        </p:nvSpPr>
        <p:spPr/>
        <p:txBody>
          <a:bodyPr/>
          <a:lstStyle/>
          <a:p>
            <a:endParaRPr lang="fr-FR"/>
          </a:p>
        </p:txBody>
      </p:sp>
      <p:sp>
        <p:nvSpPr>
          <p:cNvPr id="6" name="Google Shape;230;p17">
            <a:extLst>
              <a:ext uri="{FF2B5EF4-FFF2-40B4-BE49-F238E27FC236}">
                <a16:creationId xmlns:a16="http://schemas.microsoft.com/office/drawing/2014/main" id="{4C7043F2-8820-5AA0-9BB1-79E49803F59C}"/>
              </a:ext>
            </a:extLst>
          </p:cNvPr>
          <p:cNvSpPr/>
          <p:nvPr/>
        </p:nvSpPr>
        <p:spPr>
          <a:xfrm>
            <a:off x="728524" y="58794"/>
            <a:ext cx="7791008" cy="952920"/>
          </a:xfrm>
          <a:custGeom>
            <a:avLst/>
            <a:gdLst/>
            <a:ahLst/>
            <a:cxnLst/>
            <a:rect l="l" t="t" r="r" b="b"/>
            <a:pathLst>
              <a:path w="12451" h="8780" extrusionOk="0">
                <a:moveTo>
                  <a:pt x="0" y="0"/>
                </a:moveTo>
                <a:lnTo>
                  <a:pt x="0" y="8780"/>
                </a:lnTo>
                <a:lnTo>
                  <a:pt x="12101" y="8780"/>
                </a:lnTo>
                <a:cubicBezTo>
                  <a:pt x="12289" y="8780"/>
                  <a:pt x="12451" y="8618"/>
                  <a:pt x="12451" y="8428"/>
                </a:cubicBezTo>
                <a:lnTo>
                  <a:pt x="12451" y="378"/>
                </a:lnTo>
                <a:cubicBezTo>
                  <a:pt x="12451" y="162"/>
                  <a:pt x="12289" y="0"/>
                  <a:pt x="12101" y="0"/>
                </a:cubicBezTo>
                <a:close/>
              </a:path>
            </a:pathLst>
          </a:custGeom>
          <a:solidFill>
            <a:srgbClr val="E89D06"/>
          </a:solidFill>
          <a:ln>
            <a:noFill/>
          </a:ln>
          <a:effectLst>
            <a:outerShdw blurRad="85725" dist="57150" dir="12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231;p17">
            <a:extLst>
              <a:ext uri="{FF2B5EF4-FFF2-40B4-BE49-F238E27FC236}">
                <a16:creationId xmlns:a16="http://schemas.microsoft.com/office/drawing/2014/main" id="{65B66C57-BEB8-B32E-7F6A-E25542A763CA}"/>
              </a:ext>
            </a:extLst>
          </p:cNvPr>
          <p:cNvSpPr/>
          <p:nvPr/>
        </p:nvSpPr>
        <p:spPr>
          <a:xfrm>
            <a:off x="253089" y="58794"/>
            <a:ext cx="530346" cy="952920"/>
          </a:xfrm>
          <a:custGeom>
            <a:avLst/>
            <a:gdLst/>
            <a:ahLst/>
            <a:cxnLst/>
            <a:rect l="l" t="t" r="r" b="b"/>
            <a:pathLst>
              <a:path w="3325" h="6646" extrusionOk="0">
                <a:moveTo>
                  <a:pt x="3324" y="1"/>
                </a:moveTo>
                <a:cubicBezTo>
                  <a:pt x="1488" y="1"/>
                  <a:pt x="1" y="1487"/>
                  <a:pt x="1" y="3324"/>
                </a:cubicBezTo>
                <a:cubicBezTo>
                  <a:pt x="1" y="5161"/>
                  <a:pt x="1488" y="6645"/>
                  <a:pt x="3324" y="6645"/>
                </a:cubicBezTo>
                <a:lnTo>
                  <a:pt x="3324" y="1"/>
                </a:lnTo>
                <a:close/>
              </a:path>
            </a:pathLst>
          </a:custGeom>
          <a:solidFill>
            <a:srgbClr val="E89D06"/>
          </a:solidFill>
          <a:ln>
            <a:noFill/>
          </a:ln>
          <a:effectLst>
            <a:outerShdw blurRad="71438" dist="57150" dir="1140000" algn="bl" rotWithShape="0">
              <a:schemeClr val="dk1">
                <a:alpha val="2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232;p17">
            <a:extLst>
              <a:ext uri="{FF2B5EF4-FFF2-40B4-BE49-F238E27FC236}">
                <a16:creationId xmlns:a16="http://schemas.microsoft.com/office/drawing/2014/main" id="{7D93CE4A-B17E-0F0E-A0CE-4F4756A69239}"/>
              </a:ext>
            </a:extLst>
          </p:cNvPr>
          <p:cNvSpPr txBox="1"/>
          <p:nvPr/>
        </p:nvSpPr>
        <p:spPr>
          <a:xfrm>
            <a:off x="398524" y="346314"/>
            <a:ext cx="330000" cy="387300"/>
          </a:xfrm>
          <a:prstGeom prst="rect">
            <a:avLst/>
          </a:prstGeom>
          <a:solidFill>
            <a:srgbClr val="E89D06"/>
          </a:solid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2000" b="1">
                <a:solidFill>
                  <a:schemeClr val="lt1"/>
                </a:solidFill>
                <a:latin typeface="Roboto"/>
                <a:ea typeface="Roboto"/>
                <a:cs typeface="Roboto"/>
                <a:sym typeface="Roboto"/>
              </a:rPr>
              <a:t>+</a:t>
            </a:r>
            <a:endParaRPr sz="2000" b="1">
              <a:solidFill>
                <a:schemeClr val="lt1"/>
              </a:solidFill>
              <a:latin typeface="Roboto"/>
              <a:ea typeface="Roboto"/>
              <a:cs typeface="Roboto"/>
              <a:sym typeface="Roboto"/>
            </a:endParaRPr>
          </a:p>
        </p:txBody>
      </p:sp>
      <p:sp>
        <p:nvSpPr>
          <p:cNvPr id="9" name="ZoneTexte 8">
            <a:extLst>
              <a:ext uri="{FF2B5EF4-FFF2-40B4-BE49-F238E27FC236}">
                <a16:creationId xmlns:a16="http://schemas.microsoft.com/office/drawing/2014/main" id="{B6C70995-07AF-4452-C61C-4AE62FAEC6AC}"/>
              </a:ext>
            </a:extLst>
          </p:cNvPr>
          <p:cNvSpPr txBox="1"/>
          <p:nvPr/>
        </p:nvSpPr>
        <p:spPr>
          <a:xfrm>
            <a:off x="824975" y="311564"/>
            <a:ext cx="7581775" cy="453970"/>
          </a:xfrm>
          <a:prstGeom prst="rect">
            <a:avLst/>
          </a:prstGeom>
          <a:noFill/>
        </p:spPr>
        <p:txBody>
          <a:bodyPr wrap="square" lIns="68580" tIns="34290" rIns="68580" bIns="34290" rtlCol="0" anchor="t">
            <a:spAutoFit/>
          </a:bodyPr>
          <a:lstStyle/>
          <a:p>
            <a:r>
              <a:rPr lang="fr-FR" sz="2500" b="1" dirty="0">
                <a:solidFill>
                  <a:schemeClr val="bg1"/>
                </a:solidFill>
                <a:latin typeface="+mj-lt"/>
              </a:rPr>
              <a:t>TP : chargement des données</a:t>
            </a:r>
          </a:p>
        </p:txBody>
      </p:sp>
    </p:spTree>
    <p:extLst>
      <p:ext uri="{BB962C8B-B14F-4D97-AF65-F5344CB8AC3E}">
        <p14:creationId xmlns:p14="http://schemas.microsoft.com/office/powerpoint/2010/main" val="42376161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57A25-7656-E2DD-F775-879BBD324E3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9FC0A0-CD38-52B0-85F9-58C5B42BE2EC}"/>
              </a:ext>
            </a:extLst>
          </p:cNvPr>
          <p:cNvSpPr>
            <a:spLocks noGrp="1"/>
          </p:cNvSpPr>
          <p:nvPr>
            <p:ph idx="1"/>
          </p:nvPr>
        </p:nvSpPr>
        <p:spPr>
          <a:xfrm>
            <a:off x="563524" y="1011714"/>
            <a:ext cx="7865109" cy="1447800"/>
          </a:xfrm>
        </p:spPr>
        <p:txBody>
          <a:bodyPr>
            <a:normAutofit/>
          </a:bodyPr>
          <a:lstStyle/>
          <a:p>
            <a:r>
              <a:rPr lang="fr-FR" dirty="0"/>
              <a:t>Résultat</a:t>
            </a:r>
          </a:p>
        </p:txBody>
      </p:sp>
      <p:pic>
        <p:nvPicPr>
          <p:cNvPr id="5" name="Image 4">
            <a:extLst>
              <a:ext uri="{FF2B5EF4-FFF2-40B4-BE49-F238E27FC236}">
                <a16:creationId xmlns:a16="http://schemas.microsoft.com/office/drawing/2014/main" id="{6E9DBEC4-BBB1-9B76-641F-ABC6FBEB7EEC}"/>
              </a:ext>
            </a:extLst>
          </p:cNvPr>
          <p:cNvPicPr>
            <a:picLocks noChangeAspect="1"/>
          </p:cNvPicPr>
          <p:nvPr/>
        </p:nvPicPr>
        <p:blipFill>
          <a:blip r:embed="rId3"/>
          <a:stretch>
            <a:fillRect/>
          </a:stretch>
        </p:blipFill>
        <p:spPr>
          <a:xfrm>
            <a:off x="1496122" y="1257894"/>
            <a:ext cx="6738272" cy="3629054"/>
          </a:xfrm>
          <a:prstGeom prst="rect">
            <a:avLst/>
          </a:prstGeom>
        </p:spPr>
      </p:pic>
      <p:sp>
        <p:nvSpPr>
          <p:cNvPr id="6" name="Titre 5">
            <a:extLst>
              <a:ext uri="{FF2B5EF4-FFF2-40B4-BE49-F238E27FC236}">
                <a16:creationId xmlns:a16="http://schemas.microsoft.com/office/drawing/2014/main" id="{126E6912-27BE-23C1-4FFE-F09D6B71C6B4}"/>
              </a:ext>
            </a:extLst>
          </p:cNvPr>
          <p:cNvSpPr>
            <a:spLocks noGrp="1"/>
          </p:cNvSpPr>
          <p:nvPr>
            <p:ph type="title"/>
          </p:nvPr>
        </p:nvSpPr>
        <p:spPr/>
        <p:txBody>
          <a:bodyPr/>
          <a:lstStyle/>
          <a:p>
            <a:endParaRPr lang="fr-FR"/>
          </a:p>
        </p:txBody>
      </p:sp>
      <p:sp>
        <p:nvSpPr>
          <p:cNvPr id="7" name="Google Shape;230;p17">
            <a:extLst>
              <a:ext uri="{FF2B5EF4-FFF2-40B4-BE49-F238E27FC236}">
                <a16:creationId xmlns:a16="http://schemas.microsoft.com/office/drawing/2014/main" id="{BC892B11-BD13-9F8C-793C-249282B08010}"/>
              </a:ext>
            </a:extLst>
          </p:cNvPr>
          <p:cNvSpPr/>
          <p:nvPr/>
        </p:nvSpPr>
        <p:spPr>
          <a:xfrm>
            <a:off x="728524" y="58794"/>
            <a:ext cx="7791008" cy="952920"/>
          </a:xfrm>
          <a:custGeom>
            <a:avLst/>
            <a:gdLst/>
            <a:ahLst/>
            <a:cxnLst/>
            <a:rect l="l" t="t" r="r" b="b"/>
            <a:pathLst>
              <a:path w="12451" h="8780" extrusionOk="0">
                <a:moveTo>
                  <a:pt x="0" y="0"/>
                </a:moveTo>
                <a:lnTo>
                  <a:pt x="0" y="8780"/>
                </a:lnTo>
                <a:lnTo>
                  <a:pt x="12101" y="8780"/>
                </a:lnTo>
                <a:cubicBezTo>
                  <a:pt x="12289" y="8780"/>
                  <a:pt x="12451" y="8618"/>
                  <a:pt x="12451" y="8428"/>
                </a:cubicBezTo>
                <a:lnTo>
                  <a:pt x="12451" y="378"/>
                </a:lnTo>
                <a:cubicBezTo>
                  <a:pt x="12451" y="162"/>
                  <a:pt x="12289" y="0"/>
                  <a:pt x="12101" y="0"/>
                </a:cubicBezTo>
                <a:close/>
              </a:path>
            </a:pathLst>
          </a:custGeom>
          <a:solidFill>
            <a:srgbClr val="E89D06"/>
          </a:solidFill>
          <a:ln>
            <a:noFill/>
          </a:ln>
          <a:effectLst>
            <a:outerShdw blurRad="85725" dist="57150" dir="12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231;p17">
            <a:extLst>
              <a:ext uri="{FF2B5EF4-FFF2-40B4-BE49-F238E27FC236}">
                <a16:creationId xmlns:a16="http://schemas.microsoft.com/office/drawing/2014/main" id="{B52DA2BE-1417-0240-386A-619F085CFD3E}"/>
              </a:ext>
            </a:extLst>
          </p:cNvPr>
          <p:cNvSpPr/>
          <p:nvPr/>
        </p:nvSpPr>
        <p:spPr>
          <a:xfrm>
            <a:off x="253089" y="58794"/>
            <a:ext cx="530346" cy="952920"/>
          </a:xfrm>
          <a:custGeom>
            <a:avLst/>
            <a:gdLst/>
            <a:ahLst/>
            <a:cxnLst/>
            <a:rect l="l" t="t" r="r" b="b"/>
            <a:pathLst>
              <a:path w="3325" h="6646" extrusionOk="0">
                <a:moveTo>
                  <a:pt x="3324" y="1"/>
                </a:moveTo>
                <a:cubicBezTo>
                  <a:pt x="1488" y="1"/>
                  <a:pt x="1" y="1487"/>
                  <a:pt x="1" y="3324"/>
                </a:cubicBezTo>
                <a:cubicBezTo>
                  <a:pt x="1" y="5161"/>
                  <a:pt x="1488" y="6645"/>
                  <a:pt x="3324" y="6645"/>
                </a:cubicBezTo>
                <a:lnTo>
                  <a:pt x="3324" y="1"/>
                </a:lnTo>
                <a:close/>
              </a:path>
            </a:pathLst>
          </a:custGeom>
          <a:solidFill>
            <a:srgbClr val="E89D06"/>
          </a:solidFill>
          <a:ln>
            <a:noFill/>
          </a:ln>
          <a:effectLst>
            <a:outerShdw blurRad="71438" dist="57150" dir="1140000" algn="bl" rotWithShape="0">
              <a:schemeClr val="dk1">
                <a:alpha val="2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232;p17">
            <a:extLst>
              <a:ext uri="{FF2B5EF4-FFF2-40B4-BE49-F238E27FC236}">
                <a16:creationId xmlns:a16="http://schemas.microsoft.com/office/drawing/2014/main" id="{A0E17A1D-0533-B488-4B53-18CEFE61D637}"/>
              </a:ext>
            </a:extLst>
          </p:cNvPr>
          <p:cNvSpPr txBox="1"/>
          <p:nvPr/>
        </p:nvSpPr>
        <p:spPr>
          <a:xfrm>
            <a:off x="398524" y="346314"/>
            <a:ext cx="330000" cy="387300"/>
          </a:xfrm>
          <a:prstGeom prst="rect">
            <a:avLst/>
          </a:prstGeom>
          <a:solidFill>
            <a:srgbClr val="E89D06"/>
          </a:solid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2000" b="1">
                <a:solidFill>
                  <a:schemeClr val="lt1"/>
                </a:solidFill>
                <a:latin typeface="Roboto"/>
                <a:ea typeface="Roboto"/>
                <a:cs typeface="Roboto"/>
                <a:sym typeface="Roboto"/>
              </a:rPr>
              <a:t>+</a:t>
            </a:r>
            <a:endParaRPr sz="2000" b="1">
              <a:solidFill>
                <a:schemeClr val="lt1"/>
              </a:solidFill>
              <a:latin typeface="Roboto"/>
              <a:ea typeface="Roboto"/>
              <a:cs typeface="Roboto"/>
              <a:sym typeface="Roboto"/>
            </a:endParaRPr>
          </a:p>
        </p:txBody>
      </p:sp>
      <p:sp>
        <p:nvSpPr>
          <p:cNvPr id="10" name="ZoneTexte 9">
            <a:extLst>
              <a:ext uri="{FF2B5EF4-FFF2-40B4-BE49-F238E27FC236}">
                <a16:creationId xmlns:a16="http://schemas.microsoft.com/office/drawing/2014/main" id="{425931B5-A617-8F47-4F62-B8A4FF65502E}"/>
              </a:ext>
            </a:extLst>
          </p:cNvPr>
          <p:cNvSpPr txBox="1"/>
          <p:nvPr/>
        </p:nvSpPr>
        <p:spPr>
          <a:xfrm>
            <a:off x="824975" y="311564"/>
            <a:ext cx="7581775" cy="453970"/>
          </a:xfrm>
          <a:prstGeom prst="rect">
            <a:avLst/>
          </a:prstGeom>
          <a:noFill/>
        </p:spPr>
        <p:txBody>
          <a:bodyPr wrap="square" lIns="68580" tIns="34290" rIns="68580" bIns="34290" rtlCol="0" anchor="t">
            <a:spAutoFit/>
          </a:bodyPr>
          <a:lstStyle/>
          <a:p>
            <a:r>
              <a:rPr lang="fr-FR" sz="2500" b="1" dirty="0">
                <a:solidFill>
                  <a:schemeClr val="bg1"/>
                </a:solidFill>
                <a:latin typeface="+mj-lt"/>
              </a:rPr>
              <a:t>TP : chargement des données</a:t>
            </a:r>
          </a:p>
        </p:txBody>
      </p:sp>
    </p:spTree>
    <p:extLst>
      <p:ext uri="{BB962C8B-B14F-4D97-AF65-F5344CB8AC3E}">
        <p14:creationId xmlns:p14="http://schemas.microsoft.com/office/powerpoint/2010/main" val="37350656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362FA2-45EF-84A4-6B05-66B399AE1E4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2F2CD3-F34B-C3DF-601D-77636AFBD7F9}"/>
              </a:ext>
            </a:extLst>
          </p:cNvPr>
          <p:cNvSpPr>
            <a:spLocks noGrp="1"/>
          </p:cNvSpPr>
          <p:nvPr>
            <p:ph idx="1"/>
          </p:nvPr>
        </p:nvSpPr>
        <p:spPr>
          <a:xfrm>
            <a:off x="563524" y="1123950"/>
            <a:ext cx="7865109" cy="754561"/>
          </a:xfrm>
        </p:spPr>
        <p:txBody>
          <a:bodyPr>
            <a:normAutofit/>
          </a:bodyPr>
          <a:lstStyle/>
          <a:p>
            <a:r>
              <a:rPr lang="fr-FR" dirty="0">
                <a:latin typeface="+mj-lt"/>
              </a:rPr>
              <a:t>Script Appel de </a:t>
            </a:r>
            <a:r>
              <a:rPr lang="fr-FR" dirty="0" err="1">
                <a:latin typeface="+mj-lt"/>
              </a:rPr>
              <a:t>printSchema</a:t>
            </a:r>
            <a:endParaRPr lang="fr-FR" dirty="0">
              <a:latin typeface="+mj-lt"/>
            </a:endParaRPr>
          </a:p>
          <a:p>
            <a:pPr lvl="1"/>
            <a:r>
              <a:rPr lang="fr-FR" b="0" i="0" dirty="0" err="1">
                <a:solidFill>
                  <a:srgbClr val="222222"/>
                </a:solidFill>
                <a:effectLst/>
                <a:latin typeface="+mj-lt"/>
              </a:rPr>
              <a:t>data.</a:t>
            </a:r>
            <a:r>
              <a:rPr lang="fr-FR" dirty="0" err="1">
                <a:solidFill>
                  <a:srgbClr val="222222"/>
                </a:solidFill>
                <a:latin typeface="+mj-lt"/>
              </a:rPr>
              <a:t>printSchema</a:t>
            </a:r>
            <a:r>
              <a:rPr lang="fr-FR" dirty="0">
                <a:solidFill>
                  <a:srgbClr val="222222"/>
                </a:solidFill>
                <a:latin typeface="+mj-lt"/>
              </a:rPr>
              <a:t>()</a:t>
            </a:r>
            <a:endParaRPr lang="fr-FR" b="0" i="0" dirty="0">
              <a:solidFill>
                <a:srgbClr val="222222"/>
              </a:solidFill>
              <a:effectLst/>
              <a:latin typeface="+mj-lt"/>
            </a:endParaRPr>
          </a:p>
          <a:p>
            <a:pPr lvl="1"/>
            <a:endParaRPr lang="en-US" b="0" i="0" dirty="0">
              <a:solidFill>
                <a:srgbClr val="222222"/>
              </a:solidFill>
              <a:effectLst/>
              <a:latin typeface="+mj-lt"/>
            </a:endParaRPr>
          </a:p>
          <a:p>
            <a:pPr lvl="1"/>
            <a:endParaRPr lang="en-US" dirty="0">
              <a:solidFill>
                <a:srgbClr val="222222"/>
              </a:solidFill>
              <a:latin typeface="+mj-lt"/>
            </a:endParaRPr>
          </a:p>
          <a:p>
            <a:pPr lvl="1"/>
            <a:endParaRPr lang="en-US" b="0" i="0" dirty="0">
              <a:solidFill>
                <a:srgbClr val="222222"/>
              </a:solidFill>
              <a:effectLst/>
              <a:latin typeface="+mj-lt"/>
            </a:endParaRPr>
          </a:p>
        </p:txBody>
      </p:sp>
      <p:pic>
        <p:nvPicPr>
          <p:cNvPr id="5" name="Image 4">
            <a:extLst>
              <a:ext uri="{FF2B5EF4-FFF2-40B4-BE49-F238E27FC236}">
                <a16:creationId xmlns:a16="http://schemas.microsoft.com/office/drawing/2014/main" id="{F6035A5A-9C25-293E-F57A-15110EAF292B}"/>
              </a:ext>
            </a:extLst>
          </p:cNvPr>
          <p:cNvPicPr>
            <a:picLocks noChangeAspect="1"/>
          </p:cNvPicPr>
          <p:nvPr/>
        </p:nvPicPr>
        <p:blipFill>
          <a:blip r:embed="rId3"/>
          <a:stretch>
            <a:fillRect/>
          </a:stretch>
        </p:blipFill>
        <p:spPr>
          <a:xfrm>
            <a:off x="1144395" y="1820285"/>
            <a:ext cx="7132599" cy="2889410"/>
          </a:xfrm>
          <a:prstGeom prst="rect">
            <a:avLst/>
          </a:prstGeom>
        </p:spPr>
      </p:pic>
      <p:sp>
        <p:nvSpPr>
          <p:cNvPr id="6" name="Titre 5">
            <a:extLst>
              <a:ext uri="{FF2B5EF4-FFF2-40B4-BE49-F238E27FC236}">
                <a16:creationId xmlns:a16="http://schemas.microsoft.com/office/drawing/2014/main" id="{D1FE8096-C448-57C6-B345-31BB616E0ACB}"/>
              </a:ext>
            </a:extLst>
          </p:cNvPr>
          <p:cNvSpPr>
            <a:spLocks noGrp="1"/>
          </p:cNvSpPr>
          <p:nvPr>
            <p:ph type="title"/>
          </p:nvPr>
        </p:nvSpPr>
        <p:spPr>
          <a:xfrm>
            <a:off x="1586986" y="270763"/>
            <a:ext cx="5970026" cy="369332"/>
          </a:xfrm>
        </p:spPr>
        <p:txBody>
          <a:bodyPr/>
          <a:lstStyle/>
          <a:p>
            <a:endParaRPr lang="fr-FR">
              <a:latin typeface="+mj-lt"/>
            </a:endParaRPr>
          </a:p>
        </p:txBody>
      </p:sp>
      <p:sp>
        <p:nvSpPr>
          <p:cNvPr id="7" name="Google Shape;230;p17">
            <a:extLst>
              <a:ext uri="{FF2B5EF4-FFF2-40B4-BE49-F238E27FC236}">
                <a16:creationId xmlns:a16="http://schemas.microsoft.com/office/drawing/2014/main" id="{F8CABBCA-6F9C-5010-345A-E81DBF195E63}"/>
              </a:ext>
            </a:extLst>
          </p:cNvPr>
          <p:cNvSpPr/>
          <p:nvPr/>
        </p:nvSpPr>
        <p:spPr>
          <a:xfrm>
            <a:off x="728524" y="58794"/>
            <a:ext cx="7791008" cy="952920"/>
          </a:xfrm>
          <a:custGeom>
            <a:avLst/>
            <a:gdLst/>
            <a:ahLst/>
            <a:cxnLst/>
            <a:rect l="l" t="t" r="r" b="b"/>
            <a:pathLst>
              <a:path w="12451" h="8780" extrusionOk="0">
                <a:moveTo>
                  <a:pt x="0" y="0"/>
                </a:moveTo>
                <a:lnTo>
                  <a:pt x="0" y="8780"/>
                </a:lnTo>
                <a:lnTo>
                  <a:pt x="12101" y="8780"/>
                </a:lnTo>
                <a:cubicBezTo>
                  <a:pt x="12289" y="8780"/>
                  <a:pt x="12451" y="8618"/>
                  <a:pt x="12451" y="8428"/>
                </a:cubicBezTo>
                <a:lnTo>
                  <a:pt x="12451" y="378"/>
                </a:lnTo>
                <a:cubicBezTo>
                  <a:pt x="12451" y="162"/>
                  <a:pt x="12289" y="0"/>
                  <a:pt x="12101" y="0"/>
                </a:cubicBezTo>
                <a:close/>
              </a:path>
            </a:pathLst>
          </a:custGeom>
          <a:solidFill>
            <a:srgbClr val="E89D06"/>
          </a:solidFill>
          <a:ln>
            <a:noFill/>
          </a:ln>
          <a:effectLst>
            <a:outerShdw blurRad="85725" dist="57150" dir="12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8" name="Google Shape;231;p17">
            <a:extLst>
              <a:ext uri="{FF2B5EF4-FFF2-40B4-BE49-F238E27FC236}">
                <a16:creationId xmlns:a16="http://schemas.microsoft.com/office/drawing/2014/main" id="{C36FD714-6D6D-3127-2C0D-906F920091EB}"/>
              </a:ext>
            </a:extLst>
          </p:cNvPr>
          <p:cNvSpPr/>
          <p:nvPr/>
        </p:nvSpPr>
        <p:spPr>
          <a:xfrm>
            <a:off x="253089" y="58794"/>
            <a:ext cx="530346" cy="952920"/>
          </a:xfrm>
          <a:custGeom>
            <a:avLst/>
            <a:gdLst/>
            <a:ahLst/>
            <a:cxnLst/>
            <a:rect l="l" t="t" r="r" b="b"/>
            <a:pathLst>
              <a:path w="3325" h="6646" extrusionOk="0">
                <a:moveTo>
                  <a:pt x="3324" y="1"/>
                </a:moveTo>
                <a:cubicBezTo>
                  <a:pt x="1488" y="1"/>
                  <a:pt x="1" y="1487"/>
                  <a:pt x="1" y="3324"/>
                </a:cubicBezTo>
                <a:cubicBezTo>
                  <a:pt x="1" y="5161"/>
                  <a:pt x="1488" y="6645"/>
                  <a:pt x="3324" y="6645"/>
                </a:cubicBezTo>
                <a:lnTo>
                  <a:pt x="3324" y="1"/>
                </a:lnTo>
                <a:close/>
              </a:path>
            </a:pathLst>
          </a:custGeom>
          <a:solidFill>
            <a:srgbClr val="E89D06"/>
          </a:solidFill>
          <a:ln>
            <a:noFill/>
          </a:ln>
          <a:effectLst>
            <a:outerShdw blurRad="71438" dist="57150" dir="1140000" algn="bl" rotWithShape="0">
              <a:schemeClr val="dk1">
                <a:alpha val="2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9" name="Google Shape;232;p17">
            <a:extLst>
              <a:ext uri="{FF2B5EF4-FFF2-40B4-BE49-F238E27FC236}">
                <a16:creationId xmlns:a16="http://schemas.microsoft.com/office/drawing/2014/main" id="{9D64DFE3-A344-394B-B10D-C0EF69CCBD7C}"/>
              </a:ext>
            </a:extLst>
          </p:cNvPr>
          <p:cNvSpPr txBox="1"/>
          <p:nvPr/>
        </p:nvSpPr>
        <p:spPr>
          <a:xfrm>
            <a:off x="398524" y="346314"/>
            <a:ext cx="330000" cy="387300"/>
          </a:xfrm>
          <a:prstGeom prst="rect">
            <a:avLst/>
          </a:prstGeom>
          <a:solidFill>
            <a:srgbClr val="E89D06"/>
          </a:solid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2000" b="1">
                <a:solidFill>
                  <a:schemeClr val="lt1"/>
                </a:solidFill>
                <a:latin typeface="+mj-lt"/>
                <a:ea typeface="Roboto"/>
                <a:cs typeface="Roboto"/>
                <a:sym typeface="Roboto"/>
              </a:rPr>
              <a:t>+</a:t>
            </a:r>
            <a:endParaRPr sz="2000" b="1">
              <a:solidFill>
                <a:schemeClr val="lt1"/>
              </a:solidFill>
              <a:latin typeface="+mj-lt"/>
              <a:ea typeface="Roboto"/>
              <a:cs typeface="Roboto"/>
              <a:sym typeface="Roboto"/>
            </a:endParaRPr>
          </a:p>
        </p:txBody>
      </p:sp>
      <p:sp>
        <p:nvSpPr>
          <p:cNvPr id="10" name="ZoneTexte 9">
            <a:extLst>
              <a:ext uri="{FF2B5EF4-FFF2-40B4-BE49-F238E27FC236}">
                <a16:creationId xmlns:a16="http://schemas.microsoft.com/office/drawing/2014/main" id="{11FBDB84-C575-1F98-E9CE-E700C76D59D6}"/>
              </a:ext>
            </a:extLst>
          </p:cNvPr>
          <p:cNvSpPr txBox="1"/>
          <p:nvPr/>
        </p:nvSpPr>
        <p:spPr>
          <a:xfrm>
            <a:off x="824975" y="311564"/>
            <a:ext cx="7581775" cy="453970"/>
          </a:xfrm>
          <a:prstGeom prst="rect">
            <a:avLst/>
          </a:prstGeom>
          <a:noFill/>
        </p:spPr>
        <p:txBody>
          <a:bodyPr wrap="square" lIns="68580" tIns="34290" rIns="68580" bIns="34290" rtlCol="0" anchor="t">
            <a:spAutoFit/>
          </a:bodyPr>
          <a:lstStyle/>
          <a:p>
            <a:r>
              <a:rPr lang="fr-FR" sz="2500" b="1" dirty="0">
                <a:solidFill>
                  <a:schemeClr val="bg1"/>
                </a:solidFill>
                <a:latin typeface="+mj-lt"/>
              </a:rPr>
              <a:t>TP : chargement des données</a:t>
            </a:r>
          </a:p>
        </p:txBody>
      </p:sp>
    </p:spTree>
    <p:extLst>
      <p:ext uri="{BB962C8B-B14F-4D97-AF65-F5344CB8AC3E}">
        <p14:creationId xmlns:p14="http://schemas.microsoft.com/office/powerpoint/2010/main" val="31521066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687746-A9B0-FF1D-783B-4945820F035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E18C3F6-1B00-5F1F-DC3A-4BD882B7E1F6}"/>
              </a:ext>
            </a:extLst>
          </p:cNvPr>
          <p:cNvSpPr>
            <a:spLocks noGrp="1"/>
          </p:cNvSpPr>
          <p:nvPr>
            <p:ph idx="1"/>
          </p:nvPr>
        </p:nvSpPr>
        <p:spPr>
          <a:xfrm>
            <a:off x="519315" y="1052515"/>
            <a:ext cx="8209426" cy="3877985"/>
          </a:xfrm>
        </p:spPr>
        <p:txBody>
          <a:bodyPr wrap="square" lIns="0" tIns="0" rIns="0" bIns="0">
            <a:spAutoFit/>
          </a:bodyPr>
          <a:lstStyle/>
          <a:p>
            <a:r>
              <a:rPr lang="fr-FR" dirty="0"/>
              <a:t>Afin d'éviter des problèmes de type et d'accélérer le chargement des données, une bonne pratique consiste à forcer le schéma au chargement du </a:t>
            </a:r>
            <a:r>
              <a:rPr lang="fr-FR" dirty="0" err="1"/>
              <a:t>DataFrame</a:t>
            </a:r>
            <a:r>
              <a:rPr lang="fr-FR" dirty="0"/>
              <a:t> au lieu de l'utilisation de l'option "</a:t>
            </a:r>
            <a:r>
              <a:rPr lang="fr-FR" dirty="0" err="1"/>
              <a:t>inferSchema</a:t>
            </a:r>
            <a:r>
              <a:rPr lang="fr-FR" dirty="0"/>
              <a:t>". </a:t>
            </a:r>
          </a:p>
          <a:p>
            <a:r>
              <a:rPr lang="fr-FR" dirty="0"/>
              <a:t>Le schéma du </a:t>
            </a:r>
            <a:r>
              <a:rPr lang="fr-FR" dirty="0" err="1"/>
              <a:t>DataFrame</a:t>
            </a:r>
            <a:r>
              <a:rPr lang="fr-FR" dirty="0"/>
              <a:t> est décrit avec une combinaison de classes </a:t>
            </a:r>
            <a:r>
              <a:rPr lang="fr-FR" dirty="0" err="1"/>
              <a:t>StructType</a:t>
            </a:r>
            <a:r>
              <a:rPr lang="fr-FR" dirty="0"/>
              <a:t>, </a:t>
            </a:r>
            <a:r>
              <a:rPr lang="fr-FR" dirty="0" err="1"/>
              <a:t>StructField</a:t>
            </a:r>
            <a:r>
              <a:rPr lang="fr-FR" dirty="0"/>
              <a:t> et les types Spark tel que </a:t>
            </a:r>
            <a:r>
              <a:rPr lang="fr-FR" dirty="0" err="1"/>
              <a:t>IntegerType</a:t>
            </a:r>
            <a:r>
              <a:rPr lang="fr-FR" dirty="0"/>
              <a:t>, </a:t>
            </a:r>
            <a:r>
              <a:rPr lang="fr-FR" dirty="0" err="1"/>
              <a:t>StringType</a:t>
            </a:r>
            <a:r>
              <a:rPr lang="fr-FR" dirty="0"/>
              <a:t>, </a:t>
            </a:r>
            <a:r>
              <a:rPr lang="fr-FR" dirty="0" err="1"/>
              <a:t>DoubleType</a:t>
            </a:r>
            <a:r>
              <a:rPr lang="fr-FR" dirty="0"/>
              <a:t>…. Toutes ces classes sont déclarées dans le package </a:t>
            </a:r>
            <a:r>
              <a:rPr lang="fr-FR" dirty="0" err="1"/>
              <a:t>pyspark.sql.types</a:t>
            </a:r>
            <a:r>
              <a:rPr lang="fr-FR" dirty="0"/>
              <a:t>.</a:t>
            </a:r>
          </a:p>
          <a:p>
            <a:r>
              <a:rPr lang="fr-FR" dirty="0"/>
              <a:t>Pour ne pas écrire tout le schéma à la main, nous pouvons récupérer le schéma auto-détecté avec "</a:t>
            </a:r>
            <a:r>
              <a:rPr lang="fr-FR" dirty="0" err="1"/>
              <a:t>inferSchema</a:t>
            </a:r>
            <a:r>
              <a:rPr lang="fr-FR" dirty="0"/>
              <a:t>" et le modifier. </a:t>
            </a:r>
          </a:p>
          <a:p>
            <a:pPr marL="285750" indent="-285750">
              <a:buFont typeface="Arial" panose="020B0604020202020204" pitchFamily="34" charset="0"/>
              <a:buChar char="•"/>
            </a:pPr>
            <a:r>
              <a:rPr lang="fr-FR" dirty="0"/>
              <a:t>Affichez le schéma du </a:t>
            </a:r>
            <a:r>
              <a:rPr lang="fr-FR" dirty="0" err="1"/>
              <a:t>DataFrame</a:t>
            </a:r>
            <a:r>
              <a:rPr lang="fr-FR" dirty="0"/>
              <a:t>. </a:t>
            </a:r>
          </a:p>
          <a:p>
            <a:pPr marL="285750" indent="-285750">
              <a:buFont typeface="Arial" panose="020B0604020202020204" pitchFamily="34" charset="0"/>
              <a:buChar char="•"/>
            </a:pPr>
            <a:r>
              <a:rPr lang="fr-FR" dirty="0"/>
              <a:t>Modifiez-le comme souhaité, </a:t>
            </a:r>
          </a:p>
          <a:p>
            <a:pPr marL="285750" indent="-285750">
              <a:buFont typeface="Arial" panose="020B0604020202020204" pitchFamily="34" charset="0"/>
              <a:buChar char="•"/>
            </a:pPr>
            <a:r>
              <a:rPr lang="fr-FR" dirty="0"/>
              <a:t>Recréez le </a:t>
            </a:r>
            <a:r>
              <a:rPr lang="fr-FR" dirty="0" err="1"/>
              <a:t>DataFrame</a:t>
            </a:r>
            <a:r>
              <a:rPr lang="fr-FR" dirty="0"/>
              <a:t> avec ce nouveau Schéma. (Remplacez la méthode option("</a:t>
            </a:r>
            <a:r>
              <a:rPr lang="fr-FR" dirty="0" err="1"/>
              <a:t>inferSchema</a:t>
            </a:r>
            <a:r>
              <a:rPr lang="fr-FR" dirty="0"/>
              <a:t>",</a:t>
            </a:r>
            <a:r>
              <a:rPr lang="fr-FR" dirty="0" err="1"/>
              <a:t>True</a:t>
            </a:r>
            <a:r>
              <a:rPr lang="fr-FR" dirty="0"/>
              <a:t>) par </a:t>
            </a:r>
            <a:r>
              <a:rPr lang="fr-FR" dirty="0" err="1"/>
              <a:t>schema</a:t>
            </a:r>
            <a:r>
              <a:rPr lang="fr-FR" dirty="0"/>
              <a:t>(</a:t>
            </a:r>
            <a:r>
              <a:rPr lang="fr-FR" dirty="0" err="1"/>
              <a:t>nouveau_schéma</a:t>
            </a:r>
            <a:r>
              <a:rPr lang="fr-FR" dirty="0"/>
              <a:t>) dans l'appel à "</a:t>
            </a:r>
            <a:r>
              <a:rPr lang="fr-FR" dirty="0" err="1"/>
              <a:t>read</a:t>
            </a:r>
            <a:r>
              <a:rPr lang="fr-FR" dirty="0"/>
              <a:t>")</a:t>
            </a:r>
          </a:p>
          <a:p>
            <a:r>
              <a:rPr lang="fr-FR" dirty="0"/>
              <a:t>Attention, toutes les valeurs dans les colonnes qui ne sont pas du bon type seront positionnées à NULL</a:t>
            </a:r>
          </a:p>
        </p:txBody>
      </p:sp>
      <p:sp>
        <p:nvSpPr>
          <p:cNvPr id="5" name="Titre 4">
            <a:extLst>
              <a:ext uri="{FF2B5EF4-FFF2-40B4-BE49-F238E27FC236}">
                <a16:creationId xmlns:a16="http://schemas.microsoft.com/office/drawing/2014/main" id="{A43116AD-0A12-89BD-EFD3-5B556716381F}"/>
              </a:ext>
            </a:extLst>
          </p:cNvPr>
          <p:cNvSpPr>
            <a:spLocks noGrp="1"/>
          </p:cNvSpPr>
          <p:nvPr>
            <p:ph type="title"/>
          </p:nvPr>
        </p:nvSpPr>
        <p:spPr/>
        <p:txBody>
          <a:bodyPr/>
          <a:lstStyle/>
          <a:p>
            <a:endParaRPr lang="fr-FR"/>
          </a:p>
        </p:txBody>
      </p:sp>
      <p:sp>
        <p:nvSpPr>
          <p:cNvPr id="6" name="Google Shape;230;p17">
            <a:extLst>
              <a:ext uri="{FF2B5EF4-FFF2-40B4-BE49-F238E27FC236}">
                <a16:creationId xmlns:a16="http://schemas.microsoft.com/office/drawing/2014/main" id="{85AA7250-E657-9DFA-AF1A-8A05E570A656}"/>
              </a:ext>
            </a:extLst>
          </p:cNvPr>
          <p:cNvSpPr/>
          <p:nvPr/>
        </p:nvSpPr>
        <p:spPr>
          <a:xfrm>
            <a:off x="728524" y="58794"/>
            <a:ext cx="7791008" cy="952920"/>
          </a:xfrm>
          <a:custGeom>
            <a:avLst/>
            <a:gdLst/>
            <a:ahLst/>
            <a:cxnLst/>
            <a:rect l="l" t="t" r="r" b="b"/>
            <a:pathLst>
              <a:path w="12451" h="8780" extrusionOk="0">
                <a:moveTo>
                  <a:pt x="0" y="0"/>
                </a:moveTo>
                <a:lnTo>
                  <a:pt x="0" y="8780"/>
                </a:lnTo>
                <a:lnTo>
                  <a:pt x="12101" y="8780"/>
                </a:lnTo>
                <a:cubicBezTo>
                  <a:pt x="12289" y="8780"/>
                  <a:pt x="12451" y="8618"/>
                  <a:pt x="12451" y="8428"/>
                </a:cubicBezTo>
                <a:lnTo>
                  <a:pt x="12451" y="378"/>
                </a:lnTo>
                <a:cubicBezTo>
                  <a:pt x="12451" y="162"/>
                  <a:pt x="12289" y="0"/>
                  <a:pt x="12101" y="0"/>
                </a:cubicBezTo>
                <a:close/>
              </a:path>
            </a:pathLst>
          </a:custGeom>
          <a:solidFill>
            <a:srgbClr val="E89D06"/>
          </a:solidFill>
          <a:ln>
            <a:noFill/>
          </a:ln>
          <a:effectLst>
            <a:outerShdw blurRad="85725" dist="57150" dir="12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7" name="Google Shape;231;p17">
            <a:extLst>
              <a:ext uri="{FF2B5EF4-FFF2-40B4-BE49-F238E27FC236}">
                <a16:creationId xmlns:a16="http://schemas.microsoft.com/office/drawing/2014/main" id="{18769B9A-7072-95DD-3CCF-193F2B945D59}"/>
              </a:ext>
            </a:extLst>
          </p:cNvPr>
          <p:cNvSpPr/>
          <p:nvPr/>
        </p:nvSpPr>
        <p:spPr>
          <a:xfrm>
            <a:off x="253089" y="58794"/>
            <a:ext cx="530346" cy="952920"/>
          </a:xfrm>
          <a:custGeom>
            <a:avLst/>
            <a:gdLst/>
            <a:ahLst/>
            <a:cxnLst/>
            <a:rect l="l" t="t" r="r" b="b"/>
            <a:pathLst>
              <a:path w="3325" h="6646" extrusionOk="0">
                <a:moveTo>
                  <a:pt x="3324" y="1"/>
                </a:moveTo>
                <a:cubicBezTo>
                  <a:pt x="1488" y="1"/>
                  <a:pt x="1" y="1487"/>
                  <a:pt x="1" y="3324"/>
                </a:cubicBezTo>
                <a:cubicBezTo>
                  <a:pt x="1" y="5161"/>
                  <a:pt x="1488" y="6645"/>
                  <a:pt x="3324" y="6645"/>
                </a:cubicBezTo>
                <a:lnTo>
                  <a:pt x="3324" y="1"/>
                </a:lnTo>
                <a:close/>
              </a:path>
            </a:pathLst>
          </a:custGeom>
          <a:solidFill>
            <a:srgbClr val="E89D06"/>
          </a:solidFill>
          <a:ln>
            <a:noFill/>
          </a:ln>
          <a:effectLst>
            <a:outerShdw blurRad="71438" dist="57150" dir="1140000" algn="bl" rotWithShape="0">
              <a:schemeClr val="dk1">
                <a:alpha val="2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8" name="Google Shape;232;p17">
            <a:extLst>
              <a:ext uri="{FF2B5EF4-FFF2-40B4-BE49-F238E27FC236}">
                <a16:creationId xmlns:a16="http://schemas.microsoft.com/office/drawing/2014/main" id="{394F3426-D47A-3541-3896-80C61579F129}"/>
              </a:ext>
            </a:extLst>
          </p:cNvPr>
          <p:cNvSpPr txBox="1"/>
          <p:nvPr/>
        </p:nvSpPr>
        <p:spPr>
          <a:xfrm>
            <a:off x="398524" y="346314"/>
            <a:ext cx="330000" cy="387300"/>
          </a:xfrm>
          <a:prstGeom prst="rect">
            <a:avLst/>
          </a:prstGeom>
          <a:solidFill>
            <a:srgbClr val="E89D06"/>
          </a:solid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2000" b="1">
                <a:solidFill>
                  <a:schemeClr val="lt1"/>
                </a:solidFill>
                <a:latin typeface="+mj-lt"/>
                <a:ea typeface="Roboto"/>
                <a:cs typeface="Roboto"/>
                <a:sym typeface="Roboto"/>
              </a:rPr>
              <a:t>+</a:t>
            </a:r>
            <a:endParaRPr sz="2000" b="1">
              <a:solidFill>
                <a:schemeClr val="lt1"/>
              </a:solidFill>
              <a:latin typeface="+mj-lt"/>
              <a:ea typeface="Roboto"/>
              <a:cs typeface="Roboto"/>
              <a:sym typeface="Roboto"/>
            </a:endParaRPr>
          </a:p>
        </p:txBody>
      </p:sp>
      <p:sp>
        <p:nvSpPr>
          <p:cNvPr id="9" name="ZoneTexte 8">
            <a:extLst>
              <a:ext uri="{FF2B5EF4-FFF2-40B4-BE49-F238E27FC236}">
                <a16:creationId xmlns:a16="http://schemas.microsoft.com/office/drawing/2014/main" id="{E4225D8D-DD23-107E-5A1A-7932CE72F57A}"/>
              </a:ext>
            </a:extLst>
          </p:cNvPr>
          <p:cNvSpPr txBox="1"/>
          <p:nvPr/>
        </p:nvSpPr>
        <p:spPr>
          <a:xfrm>
            <a:off x="824975" y="311564"/>
            <a:ext cx="7581775" cy="453970"/>
          </a:xfrm>
          <a:prstGeom prst="rect">
            <a:avLst/>
          </a:prstGeom>
          <a:noFill/>
        </p:spPr>
        <p:txBody>
          <a:bodyPr wrap="square" lIns="68580" tIns="34290" rIns="68580" bIns="34290" rtlCol="0" anchor="t">
            <a:spAutoFit/>
          </a:bodyPr>
          <a:lstStyle/>
          <a:p>
            <a:r>
              <a:rPr lang="fr-FR" sz="2500" b="1" dirty="0">
                <a:solidFill>
                  <a:schemeClr val="bg1"/>
                </a:solidFill>
                <a:latin typeface="+mj-lt"/>
              </a:rPr>
              <a:t>TP : chargement des données</a:t>
            </a:r>
          </a:p>
        </p:txBody>
      </p:sp>
    </p:spTree>
    <p:extLst>
      <p:ext uri="{BB962C8B-B14F-4D97-AF65-F5344CB8AC3E}">
        <p14:creationId xmlns:p14="http://schemas.microsoft.com/office/powerpoint/2010/main" val="3060346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D22724-DB17-8ED8-D4AE-5CB676FC340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1B3FE9-3C32-3AAA-C103-4AD20DDE4086}"/>
              </a:ext>
            </a:extLst>
          </p:cNvPr>
          <p:cNvSpPr>
            <a:spLocks noGrp="1"/>
          </p:cNvSpPr>
          <p:nvPr>
            <p:ph idx="1"/>
          </p:nvPr>
        </p:nvSpPr>
        <p:spPr>
          <a:xfrm>
            <a:off x="608550" y="1027305"/>
            <a:ext cx="8193480" cy="4708981"/>
          </a:xfrm>
        </p:spPr>
        <p:txBody>
          <a:bodyPr wrap="square" lIns="0" tIns="0" rIns="0" bIns="0">
            <a:spAutoFit/>
          </a:bodyPr>
          <a:lstStyle/>
          <a:p>
            <a:r>
              <a:rPr lang="fr-FR" dirty="0"/>
              <a:t>Script de récupération du schéma</a:t>
            </a:r>
          </a:p>
          <a:p>
            <a:pPr lvl="1"/>
            <a:r>
              <a:rPr lang="en-US" dirty="0" err="1"/>
              <a:t>data.schema</a:t>
            </a:r>
            <a:endParaRPr lang="en-US" dirty="0"/>
          </a:p>
          <a:p>
            <a:r>
              <a:rPr lang="fr-FR" dirty="0"/>
              <a:t>Script pour modifier le schéma</a:t>
            </a:r>
            <a:endParaRPr lang="en-US" dirty="0"/>
          </a:p>
          <a:p>
            <a:r>
              <a:rPr lang="fr-FR" dirty="0" err="1"/>
              <a:t>prime_auto_schema</a:t>
            </a:r>
            <a:r>
              <a:rPr lang="fr-FR" dirty="0"/>
              <a:t> = </a:t>
            </a:r>
            <a:r>
              <a:rPr lang="fr-FR" dirty="0" err="1"/>
              <a:t>StructType</a:t>
            </a:r>
            <a:r>
              <a:rPr lang="fr-FR" dirty="0"/>
              <a:t>([</a:t>
            </a:r>
            <a:r>
              <a:rPr lang="fr-FR" dirty="0" err="1"/>
              <a:t>StructField</a:t>
            </a:r>
            <a:r>
              <a:rPr lang="fr-FR" dirty="0"/>
              <a:t>('id', </a:t>
            </a:r>
            <a:r>
              <a:rPr lang="fr-FR" dirty="0" err="1"/>
              <a:t>IntegerType</a:t>
            </a:r>
            <a:r>
              <a:rPr lang="fr-FR" dirty="0"/>
              <a:t>(), </a:t>
            </a:r>
            <a:r>
              <a:rPr lang="fr-FR" dirty="0" err="1"/>
              <a:t>True</a:t>
            </a:r>
            <a:r>
              <a:rPr lang="fr-FR" dirty="0"/>
              <a:t>),</a:t>
            </a:r>
          </a:p>
          <a:p>
            <a:r>
              <a:rPr lang="fr-FR" dirty="0"/>
              <a:t>  </a:t>
            </a:r>
            <a:r>
              <a:rPr lang="fr-FR" dirty="0" err="1"/>
              <a:t>StructField</a:t>
            </a:r>
            <a:r>
              <a:rPr lang="fr-FR" dirty="0"/>
              <a:t>('</a:t>
            </a:r>
            <a:r>
              <a:rPr lang="fr-FR" dirty="0" err="1"/>
              <a:t>annee_naissance</a:t>
            </a:r>
            <a:r>
              <a:rPr lang="fr-FR" dirty="0"/>
              <a:t>', </a:t>
            </a:r>
            <a:r>
              <a:rPr lang="fr-FR" dirty="0" err="1"/>
              <a:t>IntegerType</a:t>
            </a:r>
            <a:r>
              <a:rPr lang="fr-FR" dirty="0"/>
              <a:t>(), </a:t>
            </a:r>
            <a:r>
              <a:rPr lang="fr-FR" dirty="0" err="1"/>
              <a:t>True</a:t>
            </a:r>
            <a:r>
              <a:rPr lang="fr-FR" dirty="0"/>
              <a:t>),</a:t>
            </a:r>
          </a:p>
          <a:p>
            <a:r>
              <a:rPr lang="fr-FR" dirty="0"/>
              <a:t>  </a:t>
            </a:r>
            <a:r>
              <a:rPr lang="fr-FR" dirty="0" err="1"/>
              <a:t>StructField</a:t>
            </a:r>
            <a:r>
              <a:rPr lang="fr-FR" dirty="0"/>
              <a:t>('</a:t>
            </a:r>
            <a:r>
              <a:rPr lang="fr-FR" dirty="0" err="1"/>
              <a:t>annee_permis</a:t>
            </a:r>
            <a:r>
              <a:rPr lang="fr-FR" dirty="0"/>
              <a:t>', </a:t>
            </a:r>
            <a:r>
              <a:rPr lang="fr-FR" dirty="0" err="1"/>
              <a:t>IntegerType</a:t>
            </a:r>
            <a:r>
              <a:rPr lang="fr-FR" dirty="0"/>
              <a:t>(), </a:t>
            </a:r>
            <a:r>
              <a:rPr lang="fr-FR" dirty="0" err="1"/>
              <a:t>True</a:t>
            </a:r>
            <a:r>
              <a:rPr lang="fr-FR" dirty="0"/>
              <a:t>),</a:t>
            </a:r>
          </a:p>
          <a:p>
            <a:r>
              <a:rPr lang="fr-FR" dirty="0"/>
              <a:t>  </a:t>
            </a:r>
            <a:r>
              <a:rPr lang="fr-FR" dirty="0" err="1"/>
              <a:t>StructField</a:t>
            </a:r>
            <a:r>
              <a:rPr lang="fr-FR" dirty="0"/>
              <a:t>('marque', </a:t>
            </a:r>
            <a:r>
              <a:rPr lang="fr-FR" dirty="0" err="1"/>
              <a:t>StringType</a:t>
            </a:r>
            <a:r>
              <a:rPr lang="fr-FR" dirty="0"/>
              <a:t>(), </a:t>
            </a:r>
            <a:r>
              <a:rPr lang="fr-FR" dirty="0" err="1"/>
              <a:t>True</a:t>
            </a:r>
            <a:r>
              <a:rPr lang="fr-FR" dirty="0"/>
              <a:t>),</a:t>
            </a:r>
          </a:p>
          <a:p>
            <a:r>
              <a:rPr lang="fr-FR" dirty="0"/>
              <a:t>  </a:t>
            </a:r>
            <a:r>
              <a:rPr lang="fr-FR" dirty="0" err="1"/>
              <a:t>StructField</a:t>
            </a:r>
            <a:r>
              <a:rPr lang="fr-FR" dirty="0"/>
              <a:t>('</a:t>
            </a:r>
            <a:r>
              <a:rPr lang="fr-FR" dirty="0" err="1"/>
              <a:t>puis_fiscale</a:t>
            </a:r>
            <a:r>
              <a:rPr lang="fr-FR" dirty="0"/>
              <a:t>', </a:t>
            </a:r>
            <a:r>
              <a:rPr lang="fr-FR" dirty="0" err="1"/>
              <a:t>IntegerType</a:t>
            </a:r>
            <a:r>
              <a:rPr lang="fr-FR" dirty="0"/>
              <a:t>(), </a:t>
            </a:r>
            <a:r>
              <a:rPr lang="fr-FR" dirty="0" err="1"/>
              <a:t>True</a:t>
            </a:r>
            <a:r>
              <a:rPr lang="fr-FR" dirty="0"/>
              <a:t>),</a:t>
            </a:r>
          </a:p>
          <a:p>
            <a:r>
              <a:rPr lang="fr-FR" dirty="0"/>
              <a:t>  </a:t>
            </a:r>
            <a:r>
              <a:rPr lang="fr-FR" dirty="0" err="1"/>
              <a:t>StructField</a:t>
            </a:r>
            <a:r>
              <a:rPr lang="fr-FR" dirty="0"/>
              <a:t>('</a:t>
            </a:r>
            <a:r>
              <a:rPr lang="fr-FR" dirty="0" err="1"/>
              <a:t>anc_veh</a:t>
            </a:r>
            <a:r>
              <a:rPr lang="fr-FR" dirty="0"/>
              <a:t>', </a:t>
            </a:r>
            <a:r>
              <a:rPr lang="fr-FR" dirty="0" err="1"/>
              <a:t>IntegerType</a:t>
            </a:r>
            <a:r>
              <a:rPr lang="fr-FR" dirty="0"/>
              <a:t>(), </a:t>
            </a:r>
            <a:r>
              <a:rPr lang="fr-FR" dirty="0" err="1"/>
              <a:t>True</a:t>
            </a:r>
            <a:r>
              <a:rPr lang="fr-FR" dirty="0"/>
              <a:t>),</a:t>
            </a:r>
          </a:p>
          <a:p>
            <a:r>
              <a:rPr lang="fr-FR" dirty="0"/>
              <a:t>  </a:t>
            </a:r>
            <a:r>
              <a:rPr lang="fr-FR" dirty="0" err="1"/>
              <a:t>StructField</a:t>
            </a:r>
            <a:r>
              <a:rPr lang="fr-FR" dirty="0"/>
              <a:t>('</a:t>
            </a:r>
            <a:r>
              <a:rPr lang="fr-FR" dirty="0" err="1"/>
              <a:t>codepostal</a:t>
            </a:r>
            <a:r>
              <a:rPr lang="fr-FR" dirty="0"/>
              <a:t>', </a:t>
            </a:r>
            <a:r>
              <a:rPr lang="fr-FR" dirty="0" err="1"/>
              <a:t>IntegerType</a:t>
            </a:r>
            <a:r>
              <a:rPr lang="fr-FR" dirty="0"/>
              <a:t>(), </a:t>
            </a:r>
            <a:r>
              <a:rPr lang="fr-FR" dirty="0" err="1"/>
              <a:t>True</a:t>
            </a:r>
            <a:r>
              <a:rPr lang="fr-FR" dirty="0"/>
              <a:t>),</a:t>
            </a:r>
          </a:p>
          <a:p>
            <a:r>
              <a:rPr lang="fr-FR" dirty="0"/>
              <a:t>  </a:t>
            </a:r>
            <a:r>
              <a:rPr lang="fr-FR" dirty="0" err="1"/>
              <a:t>StructField</a:t>
            </a:r>
            <a:r>
              <a:rPr lang="fr-FR" dirty="0"/>
              <a:t>('</a:t>
            </a:r>
            <a:r>
              <a:rPr lang="fr-FR" dirty="0" err="1"/>
              <a:t>energie_veh</a:t>
            </a:r>
            <a:r>
              <a:rPr lang="fr-FR" dirty="0"/>
              <a:t>', </a:t>
            </a:r>
            <a:r>
              <a:rPr lang="fr-FR" dirty="0" err="1"/>
              <a:t>StringType</a:t>
            </a:r>
            <a:r>
              <a:rPr lang="fr-FR" dirty="0"/>
              <a:t>(), </a:t>
            </a:r>
            <a:r>
              <a:rPr lang="fr-FR" dirty="0" err="1"/>
              <a:t>True</a:t>
            </a:r>
            <a:r>
              <a:rPr lang="fr-FR" dirty="0"/>
              <a:t>),</a:t>
            </a:r>
          </a:p>
          <a:p>
            <a:r>
              <a:rPr lang="fr-FR" dirty="0"/>
              <a:t>  </a:t>
            </a:r>
            <a:r>
              <a:rPr lang="fr-FR" dirty="0" err="1"/>
              <a:t>StructField</a:t>
            </a:r>
            <a:r>
              <a:rPr lang="fr-FR" dirty="0"/>
              <a:t>('</a:t>
            </a:r>
            <a:r>
              <a:rPr lang="fr-FR" dirty="0" err="1"/>
              <a:t>kmage_annuel</a:t>
            </a:r>
            <a:r>
              <a:rPr lang="fr-FR" dirty="0"/>
              <a:t>', </a:t>
            </a:r>
            <a:r>
              <a:rPr lang="fr-FR" dirty="0" err="1"/>
              <a:t>IntegerType</a:t>
            </a:r>
            <a:r>
              <a:rPr lang="fr-FR" dirty="0"/>
              <a:t>(), </a:t>
            </a:r>
            <a:r>
              <a:rPr lang="fr-FR" dirty="0" err="1"/>
              <a:t>True</a:t>
            </a:r>
            <a:r>
              <a:rPr lang="fr-FR" dirty="0"/>
              <a:t>),</a:t>
            </a:r>
          </a:p>
          <a:p>
            <a:r>
              <a:rPr lang="fr-FR" dirty="0"/>
              <a:t>  </a:t>
            </a:r>
            <a:r>
              <a:rPr lang="fr-FR" dirty="0" err="1"/>
              <a:t>StructField</a:t>
            </a:r>
            <a:r>
              <a:rPr lang="fr-FR" dirty="0"/>
              <a:t>('</a:t>
            </a:r>
            <a:r>
              <a:rPr lang="fr-FR" dirty="0" err="1"/>
              <a:t>crm</a:t>
            </a:r>
            <a:r>
              <a:rPr lang="fr-FR" dirty="0"/>
              <a:t>', </a:t>
            </a:r>
            <a:r>
              <a:rPr lang="fr-FR" dirty="0" err="1"/>
              <a:t>IntegerType</a:t>
            </a:r>
            <a:r>
              <a:rPr lang="fr-FR" dirty="0"/>
              <a:t>(), </a:t>
            </a:r>
            <a:r>
              <a:rPr lang="fr-FR" dirty="0" err="1"/>
              <a:t>True</a:t>
            </a:r>
            <a:r>
              <a:rPr lang="fr-FR" dirty="0"/>
              <a:t>),</a:t>
            </a:r>
          </a:p>
          <a:p>
            <a:r>
              <a:rPr lang="fr-FR" dirty="0"/>
              <a:t>  </a:t>
            </a:r>
            <a:r>
              <a:rPr lang="fr-FR" dirty="0" err="1"/>
              <a:t>StructField</a:t>
            </a:r>
            <a:r>
              <a:rPr lang="fr-FR" dirty="0"/>
              <a:t>('var1', </a:t>
            </a:r>
            <a:r>
              <a:rPr lang="fr-FR" dirty="0" err="1"/>
              <a:t>IntegerType</a:t>
            </a:r>
            <a:r>
              <a:rPr lang="fr-FR" dirty="0"/>
              <a:t>(), </a:t>
            </a:r>
            <a:r>
              <a:rPr lang="fr-FR" dirty="0" err="1"/>
              <a:t>True</a:t>
            </a:r>
            <a:r>
              <a:rPr lang="fr-FR" dirty="0"/>
              <a:t>),</a:t>
            </a:r>
          </a:p>
          <a:p>
            <a:r>
              <a:rPr lang="fr-FR" dirty="0"/>
              <a:t> </a:t>
            </a:r>
            <a:r>
              <a:rPr lang="fr-FR" dirty="0" err="1"/>
              <a:t>StructField</a:t>
            </a:r>
            <a:r>
              <a:rPr lang="fr-FR" dirty="0"/>
              <a:t>('</a:t>
            </a:r>
            <a:r>
              <a:rPr lang="fr-FR" dirty="0" err="1"/>
              <a:t>prime_tot_ttc</a:t>
            </a:r>
            <a:r>
              <a:rPr lang="fr-FR" dirty="0"/>
              <a:t>', </a:t>
            </a:r>
            <a:r>
              <a:rPr lang="fr-FR" dirty="0" err="1"/>
              <a:t>DoubleType</a:t>
            </a:r>
            <a:r>
              <a:rPr lang="fr-FR" dirty="0"/>
              <a:t>(), </a:t>
            </a:r>
            <a:r>
              <a:rPr lang="fr-FR" dirty="0" err="1"/>
              <a:t>True</a:t>
            </a:r>
            <a:r>
              <a:rPr lang="fr-FR" dirty="0"/>
              <a:t>)])</a:t>
            </a:r>
            <a:endParaRPr lang="en-US" dirty="0"/>
          </a:p>
          <a:p>
            <a:pPr lvl="1"/>
            <a:endParaRPr lang="en-US" dirty="0"/>
          </a:p>
          <a:p>
            <a:pPr lvl="1"/>
            <a:endParaRPr lang="en-US" dirty="0"/>
          </a:p>
        </p:txBody>
      </p:sp>
      <p:sp>
        <p:nvSpPr>
          <p:cNvPr id="5" name="Titre 4">
            <a:extLst>
              <a:ext uri="{FF2B5EF4-FFF2-40B4-BE49-F238E27FC236}">
                <a16:creationId xmlns:a16="http://schemas.microsoft.com/office/drawing/2014/main" id="{D86B9B44-E03A-ACB2-35A3-E268C3599651}"/>
              </a:ext>
            </a:extLst>
          </p:cNvPr>
          <p:cNvSpPr>
            <a:spLocks noGrp="1"/>
          </p:cNvSpPr>
          <p:nvPr>
            <p:ph type="title"/>
          </p:nvPr>
        </p:nvSpPr>
        <p:spPr/>
        <p:txBody>
          <a:bodyPr/>
          <a:lstStyle/>
          <a:p>
            <a:endParaRPr lang="fr-FR"/>
          </a:p>
        </p:txBody>
      </p:sp>
      <p:sp>
        <p:nvSpPr>
          <p:cNvPr id="6" name="Google Shape;230;p17">
            <a:extLst>
              <a:ext uri="{FF2B5EF4-FFF2-40B4-BE49-F238E27FC236}">
                <a16:creationId xmlns:a16="http://schemas.microsoft.com/office/drawing/2014/main" id="{F5AAF5BA-A708-9B14-B53B-55FE6AAB2EA9}"/>
              </a:ext>
            </a:extLst>
          </p:cNvPr>
          <p:cNvSpPr/>
          <p:nvPr/>
        </p:nvSpPr>
        <p:spPr>
          <a:xfrm>
            <a:off x="728524" y="58794"/>
            <a:ext cx="7791008" cy="952920"/>
          </a:xfrm>
          <a:custGeom>
            <a:avLst/>
            <a:gdLst/>
            <a:ahLst/>
            <a:cxnLst/>
            <a:rect l="l" t="t" r="r" b="b"/>
            <a:pathLst>
              <a:path w="12451" h="8780" extrusionOk="0">
                <a:moveTo>
                  <a:pt x="0" y="0"/>
                </a:moveTo>
                <a:lnTo>
                  <a:pt x="0" y="8780"/>
                </a:lnTo>
                <a:lnTo>
                  <a:pt x="12101" y="8780"/>
                </a:lnTo>
                <a:cubicBezTo>
                  <a:pt x="12289" y="8780"/>
                  <a:pt x="12451" y="8618"/>
                  <a:pt x="12451" y="8428"/>
                </a:cubicBezTo>
                <a:lnTo>
                  <a:pt x="12451" y="378"/>
                </a:lnTo>
                <a:cubicBezTo>
                  <a:pt x="12451" y="162"/>
                  <a:pt x="12289" y="0"/>
                  <a:pt x="12101" y="0"/>
                </a:cubicBezTo>
                <a:close/>
              </a:path>
            </a:pathLst>
          </a:custGeom>
          <a:solidFill>
            <a:srgbClr val="E89D06"/>
          </a:solidFill>
          <a:ln>
            <a:noFill/>
          </a:ln>
          <a:effectLst>
            <a:outerShdw blurRad="85725" dist="57150" dir="12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7" name="Google Shape;231;p17">
            <a:extLst>
              <a:ext uri="{FF2B5EF4-FFF2-40B4-BE49-F238E27FC236}">
                <a16:creationId xmlns:a16="http://schemas.microsoft.com/office/drawing/2014/main" id="{2D5D78B6-260B-AE4C-11CD-79D675CAF510}"/>
              </a:ext>
            </a:extLst>
          </p:cNvPr>
          <p:cNvSpPr/>
          <p:nvPr/>
        </p:nvSpPr>
        <p:spPr>
          <a:xfrm>
            <a:off x="253089" y="58794"/>
            <a:ext cx="530346" cy="952920"/>
          </a:xfrm>
          <a:custGeom>
            <a:avLst/>
            <a:gdLst/>
            <a:ahLst/>
            <a:cxnLst/>
            <a:rect l="l" t="t" r="r" b="b"/>
            <a:pathLst>
              <a:path w="3325" h="6646" extrusionOk="0">
                <a:moveTo>
                  <a:pt x="3324" y="1"/>
                </a:moveTo>
                <a:cubicBezTo>
                  <a:pt x="1488" y="1"/>
                  <a:pt x="1" y="1487"/>
                  <a:pt x="1" y="3324"/>
                </a:cubicBezTo>
                <a:cubicBezTo>
                  <a:pt x="1" y="5161"/>
                  <a:pt x="1488" y="6645"/>
                  <a:pt x="3324" y="6645"/>
                </a:cubicBezTo>
                <a:lnTo>
                  <a:pt x="3324" y="1"/>
                </a:lnTo>
                <a:close/>
              </a:path>
            </a:pathLst>
          </a:custGeom>
          <a:solidFill>
            <a:srgbClr val="E89D06"/>
          </a:solidFill>
          <a:ln>
            <a:noFill/>
          </a:ln>
          <a:effectLst>
            <a:outerShdw blurRad="71438" dist="57150" dir="1140000" algn="bl" rotWithShape="0">
              <a:schemeClr val="dk1">
                <a:alpha val="2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8" name="Google Shape;232;p17">
            <a:extLst>
              <a:ext uri="{FF2B5EF4-FFF2-40B4-BE49-F238E27FC236}">
                <a16:creationId xmlns:a16="http://schemas.microsoft.com/office/drawing/2014/main" id="{F1492428-4731-170B-D166-B6F07407F3B2}"/>
              </a:ext>
            </a:extLst>
          </p:cNvPr>
          <p:cNvSpPr txBox="1"/>
          <p:nvPr/>
        </p:nvSpPr>
        <p:spPr>
          <a:xfrm>
            <a:off x="398524" y="346314"/>
            <a:ext cx="330000" cy="387300"/>
          </a:xfrm>
          <a:prstGeom prst="rect">
            <a:avLst/>
          </a:prstGeom>
          <a:solidFill>
            <a:srgbClr val="E89D06"/>
          </a:solid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2000" b="1">
                <a:solidFill>
                  <a:schemeClr val="lt1"/>
                </a:solidFill>
                <a:latin typeface="+mj-lt"/>
                <a:ea typeface="Roboto"/>
                <a:cs typeface="Roboto"/>
                <a:sym typeface="Roboto"/>
              </a:rPr>
              <a:t>+</a:t>
            </a:r>
            <a:endParaRPr sz="2000" b="1">
              <a:solidFill>
                <a:schemeClr val="lt1"/>
              </a:solidFill>
              <a:latin typeface="+mj-lt"/>
              <a:ea typeface="Roboto"/>
              <a:cs typeface="Roboto"/>
              <a:sym typeface="Roboto"/>
            </a:endParaRPr>
          </a:p>
        </p:txBody>
      </p:sp>
      <p:sp>
        <p:nvSpPr>
          <p:cNvPr id="9" name="ZoneTexte 8">
            <a:extLst>
              <a:ext uri="{FF2B5EF4-FFF2-40B4-BE49-F238E27FC236}">
                <a16:creationId xmlns:a16="http://schemas.microsoft.com/office/drawing/2014/main" id="{9ADE7C1A-3A03-AF2E-009B-2464F9E8B983}"/>
              </a:ext>
            </a:extLst>
          </p:cNvPr>
          <p:cNvSpPr txBox="1"/>
          <p:nvPr/>
        </p:nvSpPr>
        <p:spPr>
          <a:xfrm>
            <a:off x="824975" y="311564"/>
            <a:ext cx="7581775" cy="453970"/>
          </a:xfrm>
          <a:prstGeom prst="rect">
            <a:avLst/>
          </a:prstGeom>
          <a:noFill/>
        </p:spPr>
        <p:txBody>
          <a:bodyPr wrap="square" lIns="68580" tIns="34290" rIns="68580" bIns="34290" rtlCol="0" anchor="t">
            <a:spAutoFit/>
          </a:bodyPr>
          <a:lstStyle/>
          <a:p>
            <a:r>
              <a:rPr lang="fr-FR" sz="2500" b="1" dirty="0">
                <a:solidFill>
                  <a:schemeClr val="bg1"/>
                </a:solidFill>
                <a:latin typeface="+mj-lt"/>
              </a:rPr>
              <a:t>TP : chargement des données</a:t>
            </a:r>
          </a:p>
        </p:txBody>
      </p:sp>
    </p:spTree>
    <p:extLst>
      <p:ext uri="{BB962C8B-B14F-4D97-AF65-F5344CB8AC3E}">
        <p14:creationId xmlns:p14="http://schemas.microsoft.com/office/powerpoint/2010/main" val="36701075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C4B053-F0AD-B745-48FB-CFE058BC3E1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E68E8D9-E891-ED7F-5C96-19F3B5578184}"/>
              </a:ext>
            </a:extLst>
          </p:cNvPr>
          <p:cNvSpPr>
            <a:spLocks noGrp="1"/>
          </p:cNvSpPr>
          <p:nvPr>
            <p:ph idx="1"/>
          </p:nvPr>
        </p:nvSpPr>
        <p:spPr>
          <a:xfrm>
            <a:off x="518262" y="1139488"/>
            <a:ext cx="7865109" cy="1447800"/>
          </a:xfrm>
        </p:spPr>
        <p:txBody>
          <a:bodyPr>
            <a:normAutofit/>
          </a:bodyPr>
          <a:lstStyle/>
          <a:p>
            <a:r>
              <a:rPr lang="fr-FR" dirty="0"/>
              <a:t>Résultat</a:t>
            </a:r>
          </a:p>
        </p:txBody>
      </p:sp>
      <p:pic>
        <p:nvPicPr>
          <p:cNvPr id="6" name="Image 5">
            <a:extLst>
              <a:ext uri="{FF2B5EF4-FFF2-40B4-BE49-F238E27FC236}">
                <a16:creationId xmlns:a16="http://schemas.microsoft.com/office/drawing/2014/main" id="{EAEC2211-F2A7-8DFA-4C98-E698D0C78303}"/>
              </a:ext>
            </a:extLst>
          </p:cNvPr>
          <p:cNvPicPr>
            <a:picLocks noChangeAspect="1"/>
          </p:cNvPicPr>
          <p:nvPr/>
        </p:nvPicPr>
        <p:blipFill>
          <a:blip r:embed="rId3"/>
          <a:stretch>
            <a:fillRect/>
          </a:stretch>
        </p:blipFill>
        <p:spPr>
          <a:xfrm>
            <a:off x="487552" y="1529709"/>
            <a:ext cx="8168894" cy="3142324"/>
          </a:xfrm>
          <a:prstGeom prst="rect">
            <a:avLst/>
          </a:prstGeom>
        </p:spPr>
      </p:pic>
      <p:sp>
        <p:nvSpPr>
          <p:cNvPr id="5" name="Titre 4">
            <a:extLst>
              <a:ext uri="{FF2B5EF4-FFF2-40B4-BE49-F238E27FC236}">
                <a16:creationId xmlns:a16="http://schemas.microsoft.com/office/drawing/2014/main" id="{F8CB3C93-C322-F353-4DF3-361A491A87FA}"/>
              </a:ext>
            </a:extLst>
          </p:cNvPr>
          <p:cNvSpPr>
            <a:spLocks noGrp="1"/>
          </p:cNvSpPr>
          <p:nvPr>
            <p:ph type="title"/>
          </p:nvPr>
        </p:nvSpPr>
        <p:spPr/>
        <p:txBody>
          <a:bodyPr/>
          <a:lstStyle/>
          <a:p>
            <a:endParaRPr lang="fr-FR"/>
          </a:p>
        </p:txBody>
      </p:sp>
      <p:sp>
        <p:nvSpPr>
          <p:cNvPr id="7" name="Google Shape;230;p17">
            <a:extLst>
              <a:ext uri="{FF2B5EF4-FFF2-40B4-BE49-F238E27FC236}">
                <a16:creationId xmlns:a16="http://schemas.microsoft.com/office/drawing/2014/main" id="{9E261C52-A555-FF70-BCF2-85B16B5D0843}"/>
              </a:ext>
            </a:extLst>
          </p:cNvPr>
          <p:cNvSpPr/>
          <p:nvPr/>
        </p:nvSpPr>
        <p:spPr>
          <a:xfrm>
            <a:off x="728524" y="58794"/>
            <a:ext cx="7791008" cy="952920"/>
          </a:xfrm>
          <a:custGeom>
            <a:avLst/>
            <a:gdLst/>
            <a:ahLst/>
            <a:cxnLst/>
            <a:rect l="l" t="t" r="r" b="b"/>
            <a:pathLst>
              <a:path w="12451" h="8780" extrusionOk="0">
                <a:moveTo>
                  <a:pt x="0" y="0"/>
                </a:moveTo>
                <a:lnTo>
                  <a:pt x="0" y="8780"/>
                </a:lnTo>
                <a:lnTo>
                  <a:pt x="12101" y="8780"/>
                </a:lnTo>
                <a:cubicBezTo>
                  <a:pt x="12289" y="8780"/>
                  <a:pt x="12451" y="8618"/>
                  <a:pt x="12451" y="8428"/>
                </a:cubicBezTo>
                <a:lnTo>
                  <a:pt x="12451" y="378"/>
                </a:lnTo>
                <a:cubicBezTo>
                  <a:pt x="12451" y="162"/>
                  <a:pt x="12289" y="0"/>
                  <a:pt x="12101" y="0"/>
                </a:cubicBezTo>
                <a:close/>
              </a:path>
            </a:pathLst>
          </a:custGeom>
          <a:solidFill>
            <a:srgbClr val="E89D06"/>
          </a:solidFill>
          <a:ln>
            <a:noFill/>
          </a:ln>
          <a:effectLst>
            <a:outerShdw blurRad="85725" dist="57150" dir="12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8" name="Google Shape;231;p17">
            <a:extLst>
              <a:ext uri="{FF2B5EF4-FFF2-40B4-BE49-F238E27FC236}">
                <a16:creationId xmlns:a16="http://schemas.microsoft.com/office/drawing/2014/main" id="{C612B61A-0E87-5EC4-2F9A-13355D246E3F}"/>
              </a:ext>
            </a:extLst>
          </p:cNvPr>
          <p:cNvSpPr/>
          <p:nvPr/>
        </p:nvSpPr>
        <p:spPr>
          <a:xfrm>
            <a:off x="253089" y="58794"/>
            <a:ext cx="530346" cy="952920"/>
          </a:xfrm>
          <a:custGeom>
            <a:avLst/>
            <a:gdLst/>
            <a:ahLst/>
            <a:cxnLst/>
            <a:rect l="l" t="t" r="r" b="b"/>
            <a:pathLst>
              <a:path w="3325" h="6646" extrusionOk="0">
                <a:moveTo>
                  <a:pt x="3324" y="1"/>
                </a:moveTo>
                <a:cubicBezTo>
                  <a:pt x="1488" y="1"/>
                  <a:pt x="1" y="1487"/>
                  <a:pt x="1" y="3324"/>
                </a:cubicBezTo>
                <a:cubicBezTo>
                  <a:pt x="1" y="5161"/>
                  <a:pt x="1488" y="6645"/>
                  <a:pt x="3324" y="6645"/>
                </a:cubicBezTo>
                <a:lnTo>
                  <a:pt x="3324" y="1"/>
                </a:lnTo>
                <a:close/>
              </a:path>
            </a:pathLst>
          </a:custGeom>
          <a:solidFill>
            <a:srgbClr val="E89D06"/>
          </a:solidFill>
          <a:ln>
            <a:noFill/>
          </a:ln>
          <a:effectLst>
            <a:outerShdw blurRad="71438" dist="57150" dir="1140000" algn="bl" rotWithShape="0">
              <a:schemeClr val="dk1">
                <a:alpha val="2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9" name="Google Shape;232;p17">
            <a:extLst>
              <a:ext uri="{FF2B5EF4-FFF2-40B4-BE49-F238E27FC236}">
                <a16:creationId xmlns:a16="http://schemas.microsoft.com/office/drawing/2014/main" id="{D3CE0A34-6140-D4F1-A9D3-3D4BCAF8E8D0}"/>
              </a:ext>
            </a:extLst>
          </p:cNvPr>
          <p:cNvSpPr txBox="1"/>
          <p:nvPr/>
        </p:nvSpPr>
        <p:spPr>
          <a:xfrm>
            <a:off x="398524" y="346314"/>
            <a:ext cx="330000" cy="387300"/>
          </a:xfrm>
          <a:prstGeom prst="rect">
            <a:avLst/>
          </a:prstGeom>
          <a:solidFill>
            <a:srgbClr val="E89D06"/>
          </a:solid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2000" b="1">
                <a:solidFill>
                  <a:schemeClr val="lt1"/>
                </a:solidFill>
                <a:latin typeface="+mj-lt"/>
                <a:ea typeface="Roboto"/>
                <a:cs typeface="Roboto"/>
                <a:sym typeface="Roboto"/>
              </a:rPr>
              <a:t>+</a:t>
            </a:r>
            <a:endParaRPr sz="2000" b="1">
              <a:solidFill>
                <a:schemeClr val="lt1"/>
              </a:solidFill>
              <a:latin typeface="+mj-lt"/>
              <a:ea typeface="Roboto"/>
              <a:cs typeface="Roboto"/>
              <a:sym typeface="Roboto"/>
            </a:endParaRPr>
          </a:p>
        </p:txBody>
      </p:sp>
      <p:sp>
        <p:nvSpPr>
          <p:cNvPr id="10" name="ZoneTexte 9">
            <a:extLst>
              <a:ext uri="{FF2B5EF4-FFF2-40B4-BE49-F238E27FC236}">
                <a16:creationId xmlns:a16="http://schemas.microsoft.com/office/drawing/2014/main" id="{8E3E4836-2F14-EC14-404F-061676836E53}"/>
              </a:ext>
            </a:extLst>
          </p:cNvPr>
          <p:cNvSpPr txBox="1"/>
          <p:nvPr/>
        </p:nvSpPr>
        <p:spPr>
          <a:xfrm>
            <a:off x="824975" y="311564"/>
            <a:ext cx="7581775" cy="453970"/>
          </a:xfrm>
          <a:prstGeom prst="rect">
            <a:avLst/>
          </a:prstGeom>
          <a:noFill/>
        </p:spPr>
        <p:txBody>
          <a:bodyPr wrap="square" lIns="68580" tIns="34290" rIns="68580" bIns="34290" rtlCol="0" anchor="t">
            <a:spAutoFit/>
          </a:bodyPr>
          <a:lstStyle/>
          <a:p>
            <a:r>
              <a:rPr lang="fr-FR" sz="2500" b="1" dirty="0">
                <a:solidFill>
                  <a:schemeClr val="bg1"/>
                </a:solidFill>
                <a:latin typeface="+mj-lt"/>
              </a:rPr>
              <a:t>TP : chargement des données</a:t>
            </a:r>
          </a:p>
        </p:txBody>
      </p:sp>
    </p:spTree>
    <p:extLst>
      <p:ext uri="{BB962C8B-B14F-4D97-AF65-F5344CB8AC3E}">
        <p14:creationId xmlns:p14="http://schemas.microsoft.com/office/powerpoint/2010/main" val="22716826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954149-395A-967D-AD75-C4B3B89209E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633F47B-1367-6DA0-3972-BC1ED95775A9}"/>
              </a:ext>
            </a:extLst>
          </p:cNvPr>
          <p:cNvSpPr>
            <a:spLocks noGrp="1"/>
          </p:cNvSpPr>
          <p:nvPr>
            <p:ph idx="1"/>
          </p:nvPr>
        </p:nvSpPr>
        <p:spPr>
          <a:xfrm>
            <a:off x="452431" y="1223683"/>
            <a:ext cx="7865109" cy="830997"/>
          </a:xfrm>
        </p:spPr>
        <p:txBody>
          <a:bodyPr wrap="square" lIns="0" tIns="0" rIns="0" bIns="0">
            <a:spAutoFit/>
          </a:bodyPr>
          <a:lstStyle/>
          <a:p>
            <a:r>
              <a:rPr lang="fr-FR" dirty="0"/>
              <a:t>Rappeler </a:t>
            </a:r>
            <a:r>
              <a:rPr lang="fr-FR" dirty="0" err="1"/>
              <a:t>spark.read</a:t>
            </a:r>
            <a:r>
              <a:rPr lang="fr-FR" dirty="0"/>
              <a:t> pour relire les données avec le schéma</a:t>
            </a:r>
          </a:p>
          <a:p>
            <a:r>
              <a:rPr lang="fr-FR" dirty="0"/>
              <a:t>Appelez "</a:t>
            </a:r>
            <a:r>
              <a:rPr lang="fr-FR" dirty="0" err="1"/>
              <a:t>printSchema</a:t>
            </a:r>
            <a:r>
              <a:rPr lang="fr-FR" dirty="0"/>
              <a:t>" pour valider les modifications.</a:t>
            </a:r>
          </a:p>
          <a:p>
            <a:r>
              <a:rPr lang="fr-FR" dirty="0"/>
              <a:t>Appelez "</a:t>
            </a:r>
            <a:r>
              <a:rPr lang="fr-FR" dirty="0" err="1"/>
              <a:t>describe</a:t>
            </a:r>
            <a:r>
              <a:rPr lang="fr-FR" dirty="0"/>
              <a:t>" pour constater les changements. Que constatez-vous ?</a:t>
            </a:r>
          </a:p>
        </p:txBody>
      </p:sp>
      <p:sp>
        <p:nvSpPr>
          <p:cNvPr id="5" name="Titre 4">
            <a:extLst>
              <a:ext uri="{FF2B5EF4-FFF2-40B4-BE49-F238E27FC236}">
                <a16:creationId xmlns:a16="http://schemas.microsoft.com/office/drawing/2014/main" id="{9EA7CFF5-8EF1-A595-7728-739CDDACAE3B}"/>
              </a:ext>
            </a:extLst>
          </p:cNvPr>
          <p:cNvSpPr>
            <a:spLocks noGrp="1"/>
          </p:cNvSpPr>
          <p:nvPr>
            <p:ph type="title"/>
          </p:nvPr>
        </p:nvSpPr>
        <p:spPr/>
        <p:txBody>
          <a:bodyPr/>
          <a:lstStyle/>
          <a:p>
            <a:endParaRPr lang="fr-FR"/>
          </a:p>
        </p:txBody>
      </p:sp>
      <p:sp>
        <p:nvSpPr>
          <p:cNvPr id="7" name="Google Shape;230;p17">
            <a:extLst>
              <a:ext uri="{FF2B5EF4-FFF2-40B4-BE49-F238E27FC236}">
                <a16:creationId xmlns:a16="http://schemas.microsoft.com/office/drawing/2014/main" id="{652E431E-627F-E60E-A326-62036DABAA5A}"/>
              </a:ext>
            </a:extLst>
          </p:cNvPr>
          <p:cNvSpPr/>
          <p:nvPr/>
        </p:nvSpPr>
        <p:spPr>
          <a:xfrm>
            <a:off x="728524" y="58794"/>
            <a:ext cx="7791008" cy="952920"/>
          </a:xfrm>
          <a:custGeom>
            <a:avLst/>
            <a:gdLst/>
            <a:ahLst/>
            <a:cxnLst/>
            <a:rect l="l" t="t" r="r" b="b"/>
            <a:pathLst>
              <a:path w="12451" h="8780" extrusionOk="0">
                <a:moveTo>
                  <a:pt x="0" y="0"/>
                </a:moveTo>
                <a:lnTo>
                  <a:pt x="0" y="8780"/>
                </a:lnTo>
                <a:lnTo>
                  <a:pt x="12101" y="8780"/>
                </a:lnTo>
                <a:cubicBezTo>
                  <a:pt x="12289" y="8780"/>
                  <a:pt x="12451" y="8618"/>
                  <a:pt x="12451" y="8428"/>
                </a:cubicBezTo>
                <a:lnTo>
                  <a:pt x="12451" y="378"/>
                </a:lnTo>
                <a:cubicBezTo>
                  <a:pt x="12451" y="162"/>
                  <a:pt x="12289" y="0"/>
                  <a:pt x="12101" y="0"/>
                </a:cubicBezTo>
                <a:close/>
              </a:path>
            </a:pathLst>
          </a:custGeom>
          <a:solidFill>
            <a:srgbClr val="E89D06"/>
          </a:solidFill>
          <a:ln>
            <a:noFill/>
          </a:ln>
          <a:effectLst>
            <a:outerShdw blurRad="85725" dist="57150" dir="12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8" name="Google Shape;231;p17">
            <a:extLst>
              <a:ext uri="{FF2B5EF4-FFF2-40B4-BE49-F238E27FC236}">
                <a16:creationId xmlns:a16="http://schemas.microsoft.com/office/drawing/2014/main" id="{FD97865B-D672-33E2-B65E-D0801D5C6830}"/>
              </a:ext>
            </a:extLst>
          </p:cNvPr>
          <p:cNvSpPr/>
          <p:nvPr/>
        </p:nvSpPr>
        <p:spPr>
          <a:xfrm>
            <a:off x="253089" y="58794"/>
            <a:ext cx="530346" cy="952920"/>
          </a:xfrm>
          <a:custGeom>
            <a:avLst/>
            <a:gdLst/>
            <a:ahLst/>
            <a:cxnLst/>
            <a:rect l="l" t="t" r="r" b="b"/>
            <a:pathLst>
              <a:path w="3325" h="6646" extrusionOk="0">
                <a:moveTo>
                  <a:pt x="3324" y="1"/>
                </a:moveTo>
                <a:cubicBezTo>
                  <a:pt x="1488" y="1"/>
                  <a:pt x="1" y="1487"/>
                  <a:pt x="1" y="3324"/>
                </a:cubicBezTo>
                <a:cubicBezTo>
                  <a:pt x="1" y="5161"/>
                  <a:pt x="1488" y="6645"/>
                  <a:pt x="3324" y="6645"/>
                </a:cubicBezTo>
                <a:lnTo>
                  <a:pt x="3324" y="1"/>
                </a:lnTo>
                <a:close/>
              </a:path>
            </a:pathLst>
          </a:custGeom>
          <a:solidFill>
            <a:srgbClr val="E89D06"/>
          </a:solidFill>
          <a:ln>
            <a:noFill/>
          </a:ln>
          <a:effectLst>
            <a:outerShdw blurRad="71438" dist="57150" dir="1140000" algn="bl" rotWithShape="0">
              <a:schemeClr val="dk1">
                <a:alpha val="2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9" name="Google Shape;232;p17">
            <a:extLst>
              <a:ext uri="{FF2B5EF4-FFF2-40B4-BE49-F238E27FC236}">
                <a16:creationId xmlns:a16="http://schemas.microsoft.com/office/drawing/2014/main" id="{13A79645-6A7D-510F-9BDB-17C9A92BB419}"/>
              </a:ext>
            </a:extLst>
          </p:cNvPr>
          <p:cNvSpPr txBox="1"/>
          <p:nvPr/>
        </p:nvSpPr>
        <p:spPr>
          <a:xfrm>
            <a:off x="398524" y="346314"/>
            <a:ext cx="330000" cy="387300"/>
          </a:xfrm>
          <a:prstGeom prst="rect">
            <a:avLst/>
          </a:prstGeom>
          <a:solidFill>
            <a:srgbClr val="E89D06"/>
          </a:solid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2000" b="1">
                <a:solidFill>
                  <a:schemeClr val="lt1"/>
                </a:solidFill>
                <a:latin typeface="+mj-lt"/>
                <a:ea typeface="Roboto"/>
                <a:cs typeface="Roboto"/>
                <a:sym typeface="Roboto"/>
              </a:rPr>
              <a:t>+</a:t>
            </a:r>
            <a:endParaRPr sz="2000" b="1">
              <a:solidFill>
                <a:schemeClr val="lt1"/>
              </a:solidFill>
              <a:latin typeface="+mj-lt"/>
              <a:ea typeface="Roboto"/>
              <a:cs typeface="Roboto"/>
              <a:sym typeface="Roboto"/>
            </a:endParaRPr>
          </a:p>
        </p:txBody>
      </p:sp>
      <p:sp>
        <p:nvSpPr>
          <p:cNvPr id="10" name="ZoneTexte 9">
            <a:extLst>
              <a:ext uri="{FF2B5EF4-FFF2-40B4-BE49-F238E27FC236}">
                <a16:creationId xmlns:a16="http://schemas.microsoft.com/office/drawing/2014/main" id="{7A24DC26-68E5-6CB2-AA6D-914AEE4085F6}"/>
              </a:ext>
            </a:extLst>
          </p:cNvPr>
          <p:cNvSpPr txBox="1"/>
          <p:nvPr/>
        </p:nvSpPr>
        <p:spPr>
          <a:xfrm>
            <a:off x="824975" y="311564"/>
            <a:ext cx="7581775" cy="453970"/>
          </a:xfrm>
          <a:prstGeom prst="rect">
            <a:avLst/>
          </a:prstGeom>
          <a:noFill/>
        </p:spPr>
        <p:txBody>
          <a:bodyPr wrap="square" lIns="68580" tIns="34290" rIns="68580" bIns="34290" rtlCol="0" anchor="t">
            <a:spAutoFit/>
          </a:bodyPr>
          <a:lstStyle/>
          <a:p>
            <a:r>
              <a:rPr lang="fr-FR" sz="2500" b="1" dirty="0">
                <a:solidFill>
                  <a:schemeClr val="bg1"/>
                </a:solidFill>
                <a:latin typeface="+mj-lt"/>
              </a:rPr>
              <a:t>TP : chargement des données</a:t>
            </a:r>
          </a:p>
        </p:txBody>
      </p:sp>
    </p:spTree>
    <p:extLst>
      <p:ext uri="{BB962C8B-B14F-4D97-AF65-F5344CB8AC3E}">
        <p14:creationId xmlns:p14="http://schemas.microsoft.com/office/powerpoint/2010/main" val="32747583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884F7E-1ACF-4B27-2741-82BF62EBA7E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273B2DA-E11B-C88C-1233-B370E5EE5A08}"/>
              </a:ext>
            </a:extLst>
          </p:cNvPr>
          <p:cNvSpPr>
            <a:spLocks noGrp="1"/>
          </p:cNvSpPr>
          <p:nvPr>
            <p:ph idx="1"/>
          </p:nvPr>
        </p:nvSpPr>
        <p:spPr>
          <a:xfrm>
            <a:off x="415261" y="1384909"/>
            <a:ext cx="7865109" cy="3877985"/>
          </a:xfrm>
        </p:spPr>
        <p:txBody>
          <a:bodyPr wrap="square" lIns="0" tIns="0" rIns="0" bIns="0">
            <a:spAutoFit/>
          </a:bodyPr>
          <a:lstStyle/>
          <a:p>
            <a:r>
              <a:rPr lang="en-US" dirty="0"/>
              <a:t>Script de </a:t>
            </a:r>
            <a:r>
              <a:rPr lang="en-US" dirty="0" err="1"/>
              <a:t>relecture</a:t>
            </a:r>
            <a:r>
              <a:rPr lang="en-US" dirty="0"/>
              <a:t> des données</a:t>
            </a:r>
          </a:p>
          <a:p>
            <a:pPr lvl="1"/>
            <a:r>
              <a:rPr lang="fr-FR" dirty="0" err="1"/>
              <a:t>path</a:t>
            </a:r>
            <a:r>
              <a:rPr lang="fr-FR" dirty="0"/>
              <a:t> = "/data/data_prime_auto.csv"  # le chemin accessible au cluster</a:t>
            </a:r>
            <a:br>
              <a:rPr lang="fr-FR" dirty="0"/>
            </a:br>
            <a:endParaRPr lang="fr-FR" dirty="0"/>
          </a:p>
          <a:p>
            <a:pPr lvl="1"/>
            <a:r>
              <a:rPr lang="fr-FR" dirty="0"/>
              <a:t>data = </a:t>
            </a:r>
            <a:r>
              <a:rPr lang="fr-FR" dirty="0" err="1"/>
              <a:t>spark.read</a:t>
            </a:r>
            <a:r>
              <a:rPr lang="fr-FR" dirty="0"/>
              <a:t>\</a:t>
            </a:r>
            <a:br>
              <a:rPr lang="fr-FR" dirty="0"/>
            </a:br>
            <a:r>
              <a:rPr lang="fr-FR" dirty="0"/>
              <a:t>            .option("header",</a:t>
            </a:r>
            <a:r>
              <a:rPr lang="fr-FR" dirty="0" err="1"/>
              <a:t>True</a:t>
            </a:r>
            <a:r>
              <a:rPr lang="fr-FR" dirty="0"/>
              <a:t>)\</a:t>
            </a:r>
            <a:br>
              <a:rPr lang="fr-FR" dirty="0"/>
            </a:br>
            <a:r>
              <a:rPr lang="fr-FR" dirty="0"/>
              <a:t>            .</a:t>
            </a:r>
            <a:r>
              <a:rPr lang="fr-FR" dirty="0" err="1"/>
              <a:t>schema</a:t>
            </a:r>
            <a:r>
              <a:rPr lang="fr-FR" dirty="0"/>
              <a:t>(</a:t>
            </a:r>
            <a:r>
              <a:rPr lang="fr-FR" dirty="0" err="1"/>
              <a:t>prime_auto_schema</a:t>
            </a:r>
            <a:r>
              <a:rPr lang="fr-FR" dirty="0"/>
              <a:t>) \</a:t>
            </a:r>
            <a:br>
              <a:rPr lang="fr-FR" dirty="0"/>
            </a:br>
            <a:r>
              <a:rPr lang="fr-FR" dirty="0"/>
              <a:t>            .csv(</a:t>
            </a:r>
            <a:r>
              <a:rPr lang="fr-FR" dirty="0" err="1"/>
              <a:t>path</a:t>
            </a:r>
            <a:r>
              <a:rPr lang="fr-FR" dirty="0"/>
              <a:t>)</a:t>
            </a:r>
          </a:p>
          <a:p>
            <a:pPr lvl="1"/>
            <a:endParaRPr lang="en-US" dirty="0"/>
          </a:p>
          <a:p>
            <a:r>
              <a:rPr lang="en-US" dirty="0"/>
              <a:t>Script </a:t>
            </a:r>
            <a:r>
              <a:rPr lang="fr-FR" dirty="0"/>
              <a:t>statistiques des colonnes</a:t>
            </a:r>
            <a:endParaRPr lang="en-US" dirty="0"/>
          </a:p>
          <a:p>
            <a:pPr lvl="1"/>
            <a:r>
              <a:rPr lang="fr-FR" dirty="0" err="1"/>
              <a:t>data.describe</a:t>
            </a:r>
            <a:r>
              <a:rPr lang="fr-FR" dirty="0"/>
              <a:t>().show(10,20)</a:t>
            </a:r>
          </a:p>
          <a:p>
            <a:pPr lvl="1"/>
            <a:endParaRPr lang="fr-FR" dirty="0"/>
          </a:p>
          <a:p>
            <a:r>
              <a:rPr lang="fr-FR" dirty="0"/>
              <a:t>Script Appel de </a:t>
            </a:r>
            <a:r>
              <a:rPr lang="fr-FR" dirty="0" err="1"/>
              <a:t>printSchema</a:t>
            </a:r>
            <a:endParaRPr lang="fr-FR" dirty="0"/>
          </a:p>
          <a:p>
            <a:pPr lvl="1"/>
            <a:r>
              <a:rPr lang="fr-FR" dirty="0" err="1"/>
              <a:t>data.printSchema</a:t>
            </a:r>
            <a:r>
              <a:rPr lang="fr-FR" dirty="0"/>
              <a:t>()</a:t>
            </a:r>
            <a:endParaRPr lang="en-US" dirty="0"/>
          </a:p>
          <a:p>
            <a:pPr lvl="1"/>
            <a:endParaRPr lang="en-US" dirty="0"/>
          </a:p>
        </p:txBody>
      </p:sp>
      <p:sp>
        <p:nvSpPr>
          <p:cNvPr id="5" name="Titre 4">
            <a:extLst>
              <a:ext uri="{FF2B5EF4-FFF2-40B4-BE49-F238E27FC236}">
                <a16:creationId xmlns:a16="http://schemas.microsoft.com/office/drawing/2014/main" id="{C914C91B-1C10-EBC4-38F0-0B5BCE575631}"/>
              </a:ext>
            </a:extLst>
          </p:cNvPr>
          <p:cNvSpPr>
            <a:spLocks noGrp="1"/>
          </p:cNvSpPr>
          <p:nvPr>
            <p:ph type="title"/>
          </p:nvPr>
        </p:nvSpPr>
        <p:spPr/>
        <p:txBody>
          <a:bodyPr/>
          <a:lstStyle/>
          <a:p>
            <a:endParaRPr lang="fr-FR"/>
          </a:p>
        </p:txBody>
      </p:sp>
      <p:sp>
        <p:nvSpPr>
          <p:cNvPr id="6" name="Google Shape;230;p17">
            <a:extLst>
              <a:ext uri="{FF2B5EF4-FFF2-40B4-BE49-F238E27FC236}">
                <a16:creationId xmlns:a16="http://schemas.microsoft.com/office/drawing/2014/main" id="{E7C73DFC-E8D4-5CA1-C0F3-44B06CAA0841}"/>
              </a:ext>
            </a:extLst>
          </p:cNvPr>
          <p:cNvSpPr/>
          <p:nvPr/>
        </p:nvSpPr>
        <p:spPr>
          <a:xfrm>
            <a:off x="728524" y="58794"/>
            <a:ext cx="7791008" cy="952920"/>
          </a:xfrm>
          <a:custGeom>
            <a:avLst/>
            <a:gdLst/>
            <a:ahLst/>
            <a:cxnLst/>
            <a:rect l="l" t="t" r="r" b="b"/>
            <a:pathLst>
              <a:path w="12451" h="8780" extrusionOk="0">
                <a:moveTo>
                  <a:pt x="0" y="0"/>
                </a:moveTo>
                <a:lnTo>
                  <a:pt x="0" y="8780"/>
                </a:lnTo>
                <a:lnTo>
                  <a:pt x="12101" y="8780"/>
                </a:lnTo>
                <a:cubicBezTo>
                  <a:pt x="12289" y="8780"/>
                  <a:pt x="12451" y="8618"/>
                  <a:pt x="12451" y="8428"/>
                </a:cubicBezTo>
                <a:lnTo>
                  <a:pt x="12451" y="378"/>
                </a:lnTo>
                <a:cubicBezTo>
                  <a:pt x="12451" y="162"/>
                  <a:pt x="12289" y="0"/>
                  <a:pt x="12101" y="0"/>
                </a:cubicBezTo>
                <a:close/>
              </a:path>
            </a:pathLst>
          </a:custGeom>
          <a:solidFill>
            <a:srgbClr val="E89D06"/>
          </a:solidFill>
          <a:ln>
            <a:noFill/>
          </a:ln>
          <a:effectLst>
            <a:outerShdw blurRad="85725" dist="57150" dir="12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7" name="Google Shape;231;p17">
            <a:extLst>
              <a:ext uri="{FF2B5EF4-FFF2-40B4-BE49-F238E27FC236}">
                <a16:creationId xmlns:a16="http://schemas.microsoft.com/office/drawing/2014/main" id="{E1AFC89E-FD7B-5924-1259-AC61099DFFB4}"/>
              </a:ext>
            </a:extLst>
          </p:cNvPr>
          <p:cNvSpPr/>
          <p:nvPr/>
        </p:nvSpPr>
        <p:spPr>
          <a:xfrm>
            <a:off x="253089" y="58794"/>
            <a:ext cx="530346" cy="952920"/>
          </a:xfrm>
          <a:custGeom>
            <a:avLst/>
            <a:gdLst/>
            <a:ahLst/>
            <a:cxnLst/>
            <a:rect l="l" t="t" r="r" b="b"/>
            <a:pathLst>
              <a:path w="3325" h="6646" extrusionOk="0">
                <a:moveTo>
                  <a:pt x="3324" y="1"/>
                </a:moveTo>
                <a:cubicBezTo>
                  <a:pt x="1488" y="1"/>
                  <a:pt x="1" y="1487"/>
                  <a:pt x="1" y="3324"/>
                </a:cubicBezTo>
                <a:cubicBezTo>
                  <a:pt x="1" y="5161"/>
                  <a:pt x="1488" y="6645"/>
                  <a:pt x="3324" y="6645"/>
                </a:cubicBezTo>
                <a:lnTo>
                  <a:pt x="3324" y="1"/>
                </a:lnTo>
                <a:close/>
              </a:path>
            </a:pathLst>
          </a:custGeom>
          <a:solidFill>
            <a:srgbClr val="E89D06"/>
          </a:solidFill>
          <a:ln>
            <a:noFill/>
          </a:ln>
          <a:effectLst>
            <a:outerShdw blurRad="71438" dist="57150" dir="1140000" algn="bl" rotWithShape="0">
              <a:schemeClr val="dk1">
                <a:alpha val="2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8" name="Google Shape;232;p17">
            <a:extLst>
              <a:ext uri="{FF2B5EF4-FFF2-40B4-BE49-F238E27FC236}">
                <a16:creationId xmlns:a16="http://schemas.microsoft.com/office/drawing/2014/main" id="{518D3D5C-C7A9-A871-BD9A-0FD6B8109410}"/>
              </a:ext>
            </a:extLst>
          </p:cNvPr>
          <p:cNvSpPr txBox="1"/>
          <p:nvPr/>
        </p:nvSpPr>
        <p:spPr>
          <a:xfrm>
            <a:off x="398524" y="346314"/>
            <a:ext cx="330000" cy="387300"/>
          </a:xfrm>
          <a:prstGeom prst="rect">
            <a:avLst/>
          </a:prstGeom>
          <a:solidFill>
            <a:srgbClr val="E89D06"/>
          </a:solid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2000" b="1">
                <a:solidFill>
                  <a:schemeClr val="lt1"/>
                </a:solidFill>
                <a:latin typeface="+mj-lt"/>
                <a:ea typeface="Roboto"/>
                <a:cs typeface="Roboto"/>
                <a:sym typeface="Roboto"/>
              </a:rPr>
              <a:t>+</a:t>
            </a:r>
            <a:endParaRPr sz="2000" b="1">
              <a:solidFill>
                <a:schemeClr val="lt1"/>
              </a:solidFill>
              <a:latin typeface="+mj-lt"/>
              <a:ea typeface="Roboto"/>
              <a:cs typeface="Roboto"/>
              <a:sym typeface="Roboto"/>
            </a:endParaRPr>
          </a:p>
        </p:txBody>
      </p:sp>
      <p:sp>
        <p:nvSpPr>
          <p:cNvPr id="9" name="ZoneTexte 8">
            <a:extLst>
              <a:ext uri="{FF2B5EF4-FFF2-40B4-BE49-F238E27FC236}">
                <a16:creationId xmlns:a16="http://schemas.microsoft.com/office/drawing/2014/main" id="{4CA1F90C-5BEC-4B29-8DF7-59AA199DC0AE}"/>
              </a:ext>
            </a:extLst>
          </p:cNvPr>
          <p:cNvSpPr txBox="1"/>
          <p:nvPr/>
        </p:nvSpPr>
        <p:spPr>
          <a:xfrm>
            <a:off x="824975" y="311564"/>
            <a:ext cx="7581775" cy="453970"/>
          </a:xfrm>
          <a:prstGeom prst="rect">
            <a:avLst/>
          </a:prstGeom>
          <a:noFill/>
        </p:spPr>
        <p:txBody>
          <a:bodyPr wrap="square" lIns="68580" tIns="34290" rIns="68580" bIns="34290" rtlCol="0" anchor="t">
            <a:spAutoFit/>
          </a:bodyPr>
          <a:lstStyle/>
          <a:p>
            <a:r>
              <a:rPr lang="fr-FR" sz="2500" b="1" dirty="0">
                <a:solidFill>
                  <a:schemeClr val="bg1"/>
                </a:solidFill>
                <a:latin typeface="+mj-lt"/>
              </a:rPr>
              <a:t>TP : chargement des données</a:t>
            </a:r>
          </a:p>
        </p:txBody>
      </p:sp>
    </p:spTree>
    <p:extLst>
      <p:ext uri="{BB962C8B-B14F-4D97-AF65-F5344CB8AC3E}">
        <p14:creationId xmlns:p14="http://schemas.microsoft.com/office/powerpoint/2010/main" val="31382006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825470-FDAC-7344-A634-B2636976748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4C2628A-CBB2-7C13-EAB3-52912936D950}"/>
              </a:ext>
            </a:extLst>
          </p:cNvPr>
          <p:cNvSpPr>
            <a:spLocks noGrp="1"/>
          </p:cNvSpPr>
          <p:nvPr>
            <p:ph idx="1"/>
          </p:nvPr>
        </p:nvSpPr>
        <p:spPr>
          <a:xfrm>
            <a:off x="578392" y="1052515"/>
            <a:ext cx="7865109" cy="1447800"/>
          </a:xfrm>
        </p:spPr>
        <p:txBody>
          <a:bodyPr>
            <a:normAutofit/>
          </a:bodyPr>
          <a:lstStyle/>
          <a:p>
            <a:r>
              <a:rPr lang="fr-FR" dirty="0"/>
              <a:t>Résultat</a:t>
            </a:r>
          </a:p>
        </p:txBody>
      </p:sp>
      <p:pic>
        <p:nvPicPr>
          <p:cNvPr id="8" name="Image 7">
            <a:extLst>
              <a:ext uri="{FF2B5EF4-FFF2-40B4-BE49-F238E27FC236}">
                <a16:creationId xmlns:a16="http://schemas.microsoft.com/office/drawing/2014/main" id="{0B7898D9-89E3-F6BE-D292-2472C73E7CD3}"/>
              </a:ext>
            </a:extLst>
          </p:cNvPr>
          <p:cNvPicPr>
            <a:picLocks noChangeAspect="1"/>
          </p:cNvPicPr>
          <p:nvPr/>
        </p:nvPicPr>
        <p:blipFill>
          <a:blip r:embed="rId3"/>
          <a:stretch>
            <a:fillRect/>
          </a:stretch>
        </p:blipFill>
        <p:spPr>
          <a:xfrm>
            <a:off x="1698589" y="1223683"/>
            <a:ext cx="6708161" cy="3840480"/>
          </a:xfrm>
          <a:prstGeom prst="rect">
            <a:avLst/>
          </a:prstGeom>
        </p:spPr>
      </p:pic>
      <p:sp>
        <p:nvSpPr>
          <p:cNvPr id="5" name="Titre 4">
            <a:extLst>
              <a:ext uri="{FF2B5EF4-FFF2-40B4-BE49-F238E27FC236}">
                <a16:creationId xmlns:a16="http://schemas.microsoft.com/office/drawing/2014/main" id="{51FF035C-819E-A11C-34AA-5CD838D636E2}"/>
              </a:ext>
            </a:extLst>
          </p:cNvPr>
          <p:cNvSpPr>
            <a:spLocks noGrp="1"/>
          </p:cNvSpPr>
          <p:nvPr>
            <p:ph type="title"/>
          </p:nvPr>
        </p:nvSpPr>
        <p:spPr/>
        <p:txBody>
          <a:bodyPr/>
          <a:lstStyle/>
          <a:p>
            <a:endParaRPr lang="fr-FR"/>
          </a:p>
        </p:txBody>
      </p:sp>
      <p:sp>
        <p:nvSpPr>
          <p:cNvPr id="6" name="Google Shape;230;p17">
            <a:extLst>
              <a:ext uri="{FF2B5EF4-FFF2-40B4-BE49-F238E27FC236}">
                <a16:creationId xmlns:a16="http://schemas.microsoft.com/office/drawing/2014/main" id="{418D493D-B16C-8EF5-4811-04F4B4CCD334}"/>
              </a:ext>
            </a:extLst>
          </p:cNvPr>
          <p:cNvSpPr/>
          <p:nvPr/>
        </p:nvSpPr>
        <p:spPr>
          <a:xfrm>
            <a:off x="728524" y="58794"/>
            <a:ext cx="7791008" cy="952920"/>
          </a:xfrm>
          <a:custGeom>
            <a:avLst/>
            <a:gdLst/>
            <a:ahLst/>
            <a:cxnLst/>
            <a:rect l="l" t="t" r="r" b="b"/>
            <a:pathLst>
              <a:path w="12451" h="8780" extrusionOk="0">
                <a:moveTo>
                  <a:pt x="0" y="0"/>
                </a:moveTo>
                <a:lnTo>
                  <a:pt x="0" y="8780"/>
                </a:lnTo>
                <a:lnTo>
                  <a:pt x="12101" y="8780"/>
                </a:lnTo>
                <a:cubicBezTo>
                  <a:pt x="12289" y="8780"/>
                  <a:pt x="12451" y="8618"/>
                  <a:pt x="12451" y="8428"/>
                </a:cubicBezTo>
                <a:lnTo>
                  <a:pt x="12451" y="378"/>
                </a:lnTo>
                <a:cubicBezTo>
                  <a:pt x="12451" y="162"/>
                  <a:pt x="12289" y="0"/>
                  <a:pt x="12101" y="0"/>
                </a:cubicBezTo>
                <a:close/>
              </a:path>
            </a:pathLst>
          </a:custGeom>
          <a:solidFill>
            <a:srgbClr val="E89D06"/>
          </a:solidFill>
          <a:ln>
            <a:noFill/>
          </a:ln>
          <a:effectLst>
            <a:outerShdw blurRad="85725" dist="57150" dir="12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7" name="Google Shape;231;p17">
            <a:extLst>
              <a:ext uri="{FF2B5EF4-FFF2-40B4-BE49-F238E27FC236}">
                <a16:creationId xmlns:a16="http://schemas.microsoft.com/office/drawing/2014/main" id="{460852ED-486B-C21A-ABC4-B5C9BE196462}"/>
              </a:ext>
            </a:extLst>
          </p:cNvPr>
          <p:cNvSpPr/>
          <p:nvPr/>
        </p:nvSpPr>
        <p:spPr>
          <a:xfrm>
            <a:off x="253089" y="58794"/>
            <a:ext cx="530346" cy="952920"/>
          </a:xfrm>
          <a:custGeom>
            <a:avLst/>
            <a:gdLst/>
            <a:ahLst/>
            <a:cxnLst/>
            <a:rect l="l" t="t" r="r" b="b"/>
            <a:pathLst>
              <a:path w="3325" h="6646" extrusionOk="0">
                <a:moveTo>
                  <a:pt x="3324" y="1"/>
                </a:moveTo>
                <a:cubicBezTo>
                  <a:pt x="1488" y="1"/>
                  <a:pt x="1" y="1487"/>
                  <a:pt x="1" y="3324"/>
                </a:cubicBezTo>
                <a:cubicBezTo>
                  <a:pt x="1" y="5161"/>
                  <a:pt x="1488" y="6645"/>
                  <a:pt x="3324" y="6645"/>
                </a:cubicBezTo>
                <a:lnTo>
                  <a:pt x="3324" y="1"/>
                </a:lnTo>
                <a:close/>
              </a:path>
            </a:pathLst>
          </a:custGeom>
          <a:solidFill>
            <a:srgbClr val="E89D06"/>
          </a:solidFill>
          <a:ln>
            <a:noFill/>
          </a:ln>
          <a:effectLst>
            <a:outerShdw blurRad="71438" dist="57150" dir="1140000" algn="bl" rotWithShape="0">
              <a:schemeClr val="dk1">
                <a:alpha val="20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latin typeface="+mj-lt"/>
            </a:endParaRPr>
          </a:p>
        </p:txBody>
      </p:sp>
      <p:sp>
        <p:nvSpPr>
          <p:cNvPr id="9" name="Google Shape;232;p17">
            <a:extLst>
              <a:ext uri="{FF2B5EF4-FFF2-40B4-BE49-F238E27FC236}">
                <a16:creationId xmlns:a16="http://schemas.microsoft.com/office/drawing/2014/main" id="{89A9F7CD-ED24-2053-13AB-A617A2A79DE9}"/>
              </a:ext>
            </a:extLst>
          </p:cNvPr>
          <p:cNvSpPr txBox="1"/>
          <p:nvPr/>
        </p:nvSpPr>
        <p:spPr>
          <a:xfrm>
            <a:off x="398524" y="346314"/>
            <a:ext cx="330000" cy="387300"/>
          </a:xfrm>
          <a:prstGeom prst="rect">
            <a:avLst/>
          </a:prstGeom>
          <a:solidFill>
            <a:srgbClr val="E89D06"/>
          </a:solid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2000" b="1">
                <a:solidFill>
                  <a:schemeClr val="lt1"/>
                </a:solidFill>
                <a:latin typeface="+mj-lt"/>
                <a:ea typeface="Roboto"/>
                <a:cs typeface="Roboto"/>
                <a:sym typeface="Roboto"/>
              </a:rPr>
              <a:t>+</a:t>
            </a:r>
            <a:endParaRPr sz="2000" b="1">
              <a:solidFill>
                <a:schemeClr val="lt1"/>
              </a:solidFill>
              <a:latin typeface="+mj-lt"/>
              <a:ea typeface="Roboto"/>
              <a:cs typeface="Roboto"/>
              <a:sym typeface="Roboto"/>
            </a:endParaRPr>
          </a:p>
        </p:txBody>
      </p:sp>
      <p:sp>
        <p:nvSpPr>
          <p:cNvPr id="10" name="ZoneTexte 9">
            <a:extLst>
              <a:ext uri="{FF2B5EF4-FFF2-40B4-BE49-F238E27FC236}">
                <a16:creationId xmlns:a16="http://schemas.microsoft.com/office/drawing/2014/main" id="{E4CEF3DB-7F70-763C-8A2A-27317FF94C99}"/>
              </a:ext>
            </a:extLst>
          </p:cNvPr>
          <p:cNvSpPr txBox="1"/>
          <p:nvPr/>
        </p:nvSpPr>
        <p:spPr>
          <a:xfrm>
            <a:off x="824975" y="311564"/>
            <a:ext cx="7581775" cy="453970"/>
          </a:xfrm>
          <a:prstGeom prst="rect">
            <a:avLst/>
          </a:prstGeom>
          <a:noFill/>
        </p:spPr>
        <p:txBody>
          <a:bodyPr wrap="square" lIns="68580" tIns="34290" rIns="68580" bIns="34290" rtlCol="0" anchor="t">
            <a:spAutoFit/>
          </a:bodyPr>
          <a:lstStyle/>
          <a:p>
            <a:r>
              <a:rPr lang="fr-FR" sz="2500" b="1" dirty="0">
                <a:solidFill>
                  <a:schemeClr val="bg1"/>
                </a:solidFill>
                <a:latin typeface="+mj-lt"/>
              </a:rPr>
              <a:t>TP : chargement des données</a:t>
            </a:r>
          </a:p>
        </p:txBody>
      </p:sp>
    </p:spTree>
    <p:extLst>
      <p:ext uri="{BB962C8B-B14F-4D97-AF65-F5344CB8AC3E}">
        <p14:creationId xmlns:p14="http://schemas.microsoft.com/office/powerpoint/2010/main" val="20221633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p:cNvPicPr>
            <a:picLocks noChangeAspect="1"/>
          </p:cNvPicPr>
          <p:nvPr/>
        </p:nvPicPr>
        <p:blipFill rotWithShape="1">
          <a:blip r:embed="rId3" cstate="print">
            <a:extLst>
              <a:ext uri="{28A0092B-C50C-407E-A947-70E740481C1C}">
                <a14:useLocalDpi xmlns:a14="http://schemas.microsoft.com/office/drawing/2010/main" val="0"/>
              </a:ext>
            </a:extLst>
          </a:blip>
          <a:srcRect l="27535" t="869" r="11671"/>
          <a:stretch/>
        </p:blipFill>
        <p:spPr>
          <a:xfrm>
            <a:off x="4431282" y="-7974"/>
            <a:ext cx="4718608" cy="5135525"/>
          </a:xfrm>
          <a:prstGeom prst="rect">
            <a:avLst/>
          </a:prstGeom>
        </p:spPr>
      </p:pic>
      <p:sp>
        <p:nvSpPr>
          <p:cNvPr id="5" name="Rectangle 4"/>
          <p:cNvSpPr/>
          <p:nvPr/>
        </p:nvSpPr>
        <p:spPr>
          <a:xfrm>
            <a:off x="1011625" y="932"/>
            <a:ext cx="8138265" cy="5143500"/>
          </a:xfrm>
          <a:prstGeom prst="rect">
            <a:avLst/>
          </a:prstGeom>
          <a:solidFill>
            <a:srgbClr val="676D72">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solidFill>
                <a:schemeClr val="bg1"/>
              </a:solidFill>
            </a:endParaRPr>
          </a:p>
        </p:txBody>
      </p:sp>
      <p:sp>
        <p:nvSpPr>
          <p:cNvPr id="7" name="Parallélogramme 6"/>
          <p:cNvSpPr/>
          <p:nvPr/>
        </p:nvSpPr>
        <p:spPr>
          <a:xfrm>
            <a:off x="-1634180" y="-5770"/>
            <a:ext cx="7690701" cy="5135525"/>
          </a:xfrm>
          <a:prstGeom prst="parallelogram">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a:p>
        </p:txBody>
      </p:sp>
      <p:pic>
        <p:nvPicPr>
          <p:cNvPr id="11" name="Image 10"/>
          <p:cNvPicPr>
            <a:picLocks noChangeAspect="1"/>
          </p:cNvPicPr>
          <p:nvPr/>
        </p:nvPicPr>
        <p:blipFill>
          <a:blip r:embed="rId4"/>
          <a:stretch>
            <a:fillRect/>
          </a:stretch>
        </p:blipFill>
        <p:spPr>
          <a:xfrm>
            <a:off x="5529124" y="2162390"/>
            <a:ext cx="3304125" cy="2579399"/>
          </a:xfrm>
          <a:prstGeom prst="rect">
            <a:avLst/>
          </a:prstGeom>
        </p:spPr>
      </p:pic>
      <p:sp>
        <p:nvSpPr>
          <p:cNvPr id="12" name="Titre 1"/>
          <p:cNvSpPr>
            <a:spLocks noGrp="1"/>
          </p:cNvSpPr>
          <p:nvPr>
            <p:ph type="ctrTitle" idx="4294967295"/>
          </p:nvPr>
        </p:nvSpPr>
        <p:spPr>
          <a:xfrm>
            <a:off x="5971273" y="2636568"/>
            <a:ext cx="2393946" cy="1751965"/>
          </a:xfrm>
        </p:spPr>
        <p:txBody>
          <a:bodyPr>
            <a:normAutofit fontScale="90000"/>
          </a:bodyPr>
          <a:lstStyle/>
          <a:p>
            <a:pPr algn="ctr"/>
            <a:r>
              <a:rPr lang="fr-FR" sz="2700">
                <a:solidFill>
                  <a:schemeClr val="bg1"/>
                </a:solidFill>
                <a:latin typeface="Agency FB" panose="020B0503020202020204" pitchFamily="34" charset="0"/>
                <a:ea typeface="+mn-ea"/>
                <a:cs typeface="+mn-cs"/>
              </a:rPr>
              <a:t>Suivez-Nous</a:t>
            </a:r>
            <a:br>
              <a:rPr lang="fr-FR">
                <a:solidFill>
                  <a:schemeClr val="bg1"/>
                </a:solidFill>
              </a:rPr>
            </a:br>
            <a:br>
              <a:rPr lang="fr-FR">
                <a:solidFill>
                  <a:schemeClr val="bg1"/>
                </a:solidFill>
              </a:rPr>
            </a:br>
            <a:br>
              <a:rPr lang="fr-FR" sz="1500">
                <a:solidFill>
                  <a:schemeClr val="bg1"/>
                </a:solidFill>
              </a:rPr>
            </a:br>
            <a:r>
              <a:rPr lang="fr-FR" sz="1500">
                <a:solidFill>
                  <a:schemeClr val="bg1"/>
                </a:solidFill>
                <a:hlinkClick r:id="rId5"/>
              </a:rPr>
              <a:t>www.mgt-conseils.com</a:t>
            </a:r>
            <a:br>
              <a:rPr lang="fr-FR" sz="1500">
                <a:solidFill>
                  <a:schemeClr val="bg1"/>
                </a:solidFill>
              </a:rPr>
            </a:br>
            <a:r>
              <a:rPr lang="fr-FR" sz="1500">
                <a:solidFill>
                  <a:schemeClr val="bg1"/>
                </a:solidFill>
              </a:rPr>
              <a:t>contact@mgt-conseils.com</a:t>
            </a:r>
          </a:p>
        </p:txBody>
      </p:sp>
      <p:sp>
        <p:nvSpPr>
          <p:cNvPr id="21" name="Rectangle 20"/>
          <p:cNvSpPr/>
          <p:nvPr/>
        </p:nvSpPr>
        <p:spPr>
          <a:xfrm>
            <a:off x="258619" y="496808"/>
            <a:ext cx="3489311" cy="300082"/>
          </a:xfrm>
          <a:prstGeom prst="rect">
            <a:avLst/>
          </a:prstGeom>
        </p:spPr>
        <p:txBody>
          <a:bodyPr wrap="square" lIns="68580" tIns="34290" rIns="68580" bIns="34290" anchor="t">
            <a:spAutoFit/>
          </a:bodyPr>
          <a:lstStyle/>
          <a:p>
            <a:r>
              <a:rPr lang="fr-FR" sz="1500" b="1">
                <a:solidFill>
                  <a:srgbClr val="0070C0"/>
                </a:solidFill>
                <a:latin typeface="Agency FB"/>
              </a:rPr>
              <a:t> </a:t>
            </a:r>
            <a:r>
              <a:rPr lang="fr-FR" sz="1500" b="1">
                <a:solidFill>
                  <a:srgbClr val="F89A33"/>
                </a:solidFill>
                <a:latin typeface="Agency FB"/>
              </a:rPr>
              <a:t>| Direction Commerciale</a:t>
            </a:r>
            <a:endParaRPr lang="fr-FR" sz="1500">
              <a:latin typeface="Agency FB"/>
            </a:endParaRPr>
          </a:p>
        </p:txBody>
      </p:sp>
      <p:sp>
        <p:nvSpPr>
          <p:cNvPr id="22" name="ZoneTexte 21"/>
          <p:cNvSpPr txBox="1"/>
          <p:nvPr/>
        </p:nvSpPr>
        <p:spPr>
          <a:xfrm>
            <a:off x="450011" y="794581"/>
            <a:ext cx="2639741" cy="300082"/>
          </a:xfrm>
          <a:prstGeom prst="rect">
            <a:avLst/>
          </a:prstGeom>
          <a:noFill/>
        </p:spPr>
        <p:txBody>
          <a:bodyPr wrap="square" lIns="68580" tIns="34290" rIns="68580" bIns="34290" rtlCol="0" anchor="t">
            <a:spAutoFit/>
          </a:bodyPr>
          <a:lstStyle/>
          <a:p>
            <a:r>
              <a:rPr lang="fr-FR" sz="1500">
                <a:solidFill>
                  <a:srgbClr val="676D72"/>
                </a:solidFill>
                <a:latin typeface="Agency FB"/>
              </a:rPr>
              <a:t>business@mgt-conseils.com </a:t>
            </a:r>
            <a:endParaRPr lang="fr-FR" sz="1500">
              <a:solidFill>
                <a:srgbClr val="676D72"/>
              </a:solidFill>
              <a:latin typeface="Agency FB" panose="020B0503020202020204" pitchFamily="34" charset="0"/>
            </a:endParaRPr>
          </a:p>
        </p:txBody>
      </p:sp>
      <p:sp>
        <p:nvSpPr>
          <p:cNvPr id="25" name="Titre 1"/>
          <p:cNvSpPr txBox="1">
            <a:spLocks/>
          </p:cNvSpPr>
          <p:nvPr/>
        </p:nvSpPr>
        <p:spPr>
          <a:xfrm>
            <a:off x="4667449" y="4706090"/>
            <a:ext cx="5001596" cy="549984"/>
          </a:xfrm>
          <a:prstGeom prst="rect">
            <a:avLst/>
          </a:prstGeom>
        </p:spPr>
        <p:txBody>
          <a:bodyPr vert="horz" lIns="68580" tIns="34290" rIns="68580" bIns="3429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sz="825">
                <a:solidFill>
                  <a:schemeClr val="bg1"/>
                </a:solidFill>
              </a:rPr>
              <a:t>SARL au capital de 50 300 € - SIRET 479 638 462 00032 </a:t>
            </a:r>
          </a:p>
        </p:txBody>
      </p:sp>
      <p:pic>
        <p:nvPicPr>
          <p:cNvPr id="26" name="Image 25"/>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21624" y="871474"/>
            <a:ext cx="146399" cy="146399"/>
          </a:xfrm>
          <a:prstGeom prst="rect">
            <a:avLst/>
          </a:prstGeom>
        </p:spPr>
      </p:pic>
      <p:sp>
        <p:nvSpPr>
          <p:cNvPr id="20" name="Rectangle 19"/>
          <p:cNvSpPr/>
          <p:nvPr/>
        </p:nvSpPr>
        <p:spPr>
          <a:xfrm>
            <a:off x="259972" y="1314543"/>
            <a:ext cx="3228703" cy="323165"/>
          </a:xfrm>
          <a:prstGeom prst="rect">
            <a:avLst/>
          </a:prstGeom>
        </p:spPr>
        <p:txBody>
          <a:bodyPr wrap="square">
            <a:spAutoFit/>
          </a:bodyPr>
          <a:lstStyle/>
          <a:p>
            <a:r>
              <a:rPr lang="fr-FR" sz="1500" b="1">
                <a:solidFill>
                  <a:srgbClr val="F89A33"/>
                </a:solidFill>
                <a:latin typeface="Agency FB" panose="020B0503020202020204" pitchFamily="34" charset="0"/>
              </a:rPr>
              <a:t>| Paris</a:t>
            </a:r>
            <a:endParaRPr lang="fr-FR" sz="1500">
              <a:latin typeface="Agency FB" panose="020B0503020202020204" pitchFamily="34" charset="0"/>
            </a:endParaRPr>
          </a:p>
        </p:txBody>
      </p:sp>
      <p:sp>
        <p:nvSpPr>
          <p:cNvPr id="32" name="ZoneTexte 31"/>
          <p:cNvSpPr txBox="1"/>
          <p:nvPr/>
        </p:nvSpPr>
        <p:spPr>
          <a:xfrm>
            <a:off x="451364" y="1626848"/>
            <a:ext cx="2639741" cy="1015663"/>
          </a:xfrm>
          <a:prstGeom prst="rect">
            <a:avLst/>
          </a:prstGeom>
          <a:noFill/>
        </p:spPr>
        <p:txBody>
          <a:bodyPr wrap="square" rtlCol="0">
            <a:spAutoFit/>
          </a:bodyPr>
          <a:lstStyle/>
          <a:p>
            <a:r>
              <a:rPr lang="fr-FR" sz="1500">
                <a:solidFill>
                  <a:srgbClr val="676D72"/>
                </a:solidFill>
                <a:latin typeface="Agency FB" panose="020B0503020202020204" pitchFamily="34" charset="0"/>
              </a:rPr>
              <a:t>+331 47 20 67 63</a:t>
            </a:r>
          </a:p>
          <a:p>
            <a:r>
              <a:rPr lang="fr-FR" sz="1500">
                <a:solidFill>
                  <a:srgbClr val="676D72"/>
                </a:solidFill>
                <a:latin typeface="Agency FB" panose="020B0503020202020204" pitchFamily="34" charset="0"/>
              </a:rPr>
              <a:t>Les Champs Elysées</a:t>
            </a:r>
          </a:p>
          <a:p>
            <a:r>
              <a:rPr lang="fr-FR" sz="1500">
                <a:solidFill>
                  <a:srgbClr val="676D72"/>
                </a:solidFill>
                <a:latin typeface="Agency FB" panose="020B0503020202020204" pitchFamily="34" charset="0"/>
              </a:rPr>
              <a:t>104 Rue du Faubourg Saint - Honoré, 75008 Paris</a:t>
            </a:r>
          </a:p>
        </p:txBody>
      </p:sp>
      <p:pic>
        <p:nvPicPr>
          <p:cNvPr id="34" name="Image 33"/>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38879" y="1699834"/>
            <a:ext cx="146399" cy="146399"/>
          </a:xfrm>
          <a:prstGeom prst="rect">
            <a:avLst/>
          </a:prstGeom>
        </p:spPr>
      </p:pic>
      <p:sp>
        <p:nvSpPr>
          <p:cNvPr id="39" name="Rectangle 38"/>
          <p:cNvSpPr/>
          <p:nvPr/>
        </p:nvSpPr>
        <p:spPr>
          <a:xfrm>
            <a:off x="245868" y="2674542"/>
            <a:ext cx="3228703" cy="323165"/>
          </a:xfrm>
          <a:prstGeom prst="rect">
            <a:avLst/>
          </a:prstGeom>
        </p:spPr>
        <p:txBody>
          <a:bodyPr wrap="square">
            <a:spAutoFit/>
          </a:bodyPr>
          <a:lstStyle/>
          <a:p>
            <a:r>
              <a:rPr lang="fr-FR" sz="1500" b="1">
                <a:solidFill>
                  <a:srgbClr val="F89A33"/>
                </a:solidFill>
                <a:latin typeface="Agency FB" panose="020B0503020202020204" pitchFamily="34" charset="0"/>
              </a:rPr>
              <a:t>| Abidjan</a:t>
            </a:r>
            <a:endParaRPr lang="fr-FR" sz="1500">
              <a:latin typeface="Agency FB" panose="020B0503020202020204" pitchFamily="34" charset="0"/>
            </a:endParaRPr>
          </a:p>
        </p:txBody>
      </p:sp>
      <p:sp>
        <p:nvSpPr>
          <p:cNvPr id="40" name="ZoneTexte 39"/>
          <p:cNvSpPr txBox="1"/>
          <p:nvPr/>
        </p:nvSpPr>
        <p:spPr>
          <a:xfrm>
            <a:off x="437260" y="2986846"/>
            <a:ext cx="2806872" cy="784830"/>
          </a:xfrm>
          <a:prstGeom prst="rect">
            <a:avLst/>
          </a:prstGeom>
          <a:noFill/>
        </p:spPr>
        <p:txBody>
          <a:bodyPr wrap="square" rtlCol="0">
            <a:spAutoFit/>
          </a:bodyPr>
          <a:lstStyle/>
          <a:p>
            <a:r>
              <a:rPr lang="fr-FR" sz="1500">
                <a:solidFill>
                  <a:srgbClr val="676D72"/>
                </a:solidFill>
                <a:latin typeface="Agency FB" panose="020B0503020202020204" pitchFamily="34" charset="0"/>
              </a:rPr>
              <a:t>+225 05 06 75 01 01</a:t>
            </a:r>
          </a:p>
          <a:p>
            <a:r>
              <a:rPr lang="fr-FR" sz="1500">
                <a:solidFill>
                  <a:srgbClr val="676D72"/>
                </a:solidFill>
                <a:latin typeface="Agency FB" panose="020B0503020202020204" pitchFamily="34" charset="0"/>
              </a:rPr>
              <a:t>Résidence </a:t>
            </a:r>
            <a:r>
              <a:rPr lang="fr-FR" sz="1500" err="1">
                <a:solidFill>
                  <a:srgbClr val="676D72"/>
                </a:solidFill>
                <a:latin typeface="Agency FB" panose="020B0503020202020204" pitchFamily="34" charset="0"/>
              </a:rPr>
              <a:t>Palazzo</a:t>
            </a:r>
            <a:r>
              <a:rPr lang="fr-FR" sz="1500">
                <a:solidFill>
                  <a:srgbClr val="676D72"/>
                </a:solidFill>
                <a:latin typeface="Agency FB" panose="020B0503020202020204" pitchFamily="34" charset="0"/>
              </a:rPr>
              <a:t> </a:t>
            </a:r>
            <a:r>
              <a:rPr lang="fr-FR" sz="1500" err="1">
                <a:solidFill>
                  <a:srgbClr val="676D72"/>
                </a:solidFill>
                <a:latin typeface="Agency FB" panose="020B0503020202020204" pitchFamily="34" charset="0"/>
              </a:rPr>
              <a:t>Posillipo</a:t>
            </a:r>
            <a:r>
              <a:rPr lang="fr-FR" sz="1500">
                <a:solidFill>
                  <a:srgbClr val="676D72"/>
                </a:solidFill>
                <a:latin typeface="Agency FB" panose="020B0503020202020204" pitchFamily="34" charset="0"/>
              </a:rPr>
              <a:t> Cocody - Danga, </a:t>
            </a:r>
          </a:p>
          <a:p>
            <a:r>
              <a:rPr lang="fr-FR" sz="1500">
                <a:solidFill>
                  <a:srgbClr val="676D72"/>
                </a:solidFill>
                <a:latin typeface="Agency FB" panose="020B0503020202020204" pitchFamily="34" charset="0"/>
              </a:rPr>
              <a:t>BP 10 367, Abidjan 01</a:t>
            </a:r>
          </a:p>
        </p:txBody>
      </p:sp>
      <p:pic>
        <p:nvPicPr>
          <p:cNvPr id="41" name="Image 40"/>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24775" y="3059832"/>
            <a:ext cx="146399" cy="146399"/>
          </a:xfrm>
          <a:prstGeom prst="rect">
            <a:avLst/>
          </a:prstGeom>
        </p:spPr>
      </p:pic>
      <p:sp>
        <p:nvSpPr>
          <p:cNvPr id="42" name="Rectangle 41"/>
          <p:cNvSpPr/>
          <p:nvPr/>
        </p:nvSpPr>
        <p:spPr>
          <a:xfrm>
            <a:off x="242717" y="3838560"/>
            <a:ext cx="3228703" cy="323165"/>
          </a:xfrm>
          <a:prstGeom prst="rect">
            <a:avLst/>
          </a:prstGeom>
        </p:spPr>
        <p:txBody>
          <a:bodyPr wrap="square">
            <a:spAutoFit/>
          </a:bodyPr>
          <a:lstStyle/>
          <a:p>
            <a:r>
              <a:rPr lang="fr-FR" sz="1500" b="1">
                <a:solidFill>
                  <a:srgbClr val="F89A33"/>
                </a:solidFill>
                <a:latin typeface="Agency FB" panose="020B0503020202020204" pitchFamily="34" charset="0"/>
              </a:rPr>
              <a:t>| Bénin</a:t>
            </a:r>
            <a:endParaRPr lang="fr-FR" sz="1500">
              <a:latin typeface="Agency FB" panose="020B0503020202020204" pitchFamily="34" charset="0"/>
            </a:endParaRPr>
          </a:p>
        </p:txBody>
      </p:sp>
      <p:sp>
        <p:nvSpPr>
          <p:cNvPr id="43" name="ZoneTexte 42"/>
          <p:cNvSpPr txBox="1"/>
          <p:nvPr/>
        </p:nvSpPr>
        <p:spPr>
          <a:xfrm>
            <a:off x="434109" y="4150864"/>
            <a:ext cx="3054566" cy="784830"/>
          </a:xfrm>
          <a:prstGeom prst="rect">
            <a:avLst/>
          </a:prstGeom>
          <a:noFill/>
        </p:spPr>
        <p:txBody>
          <a:bodyPr wrap="square" rtlCol="0">
            <a:spAutoFit/>
          </a:bodyPr>
          <a:lstStyle/>
          <a:p>
            <a:r>
              <a:rPr lang="fr-FR" sz="1500">
                <a:solidFill>
                  <a:srgbClr val="676D72"/>
                </a:solidFill>
                <a:latin typeface="Agency FB" panose="020B0503020202020204" pitchFamily="34" charset="0"/>
              </a:rPr>
              <a:t>+229 90 55 10 55</a:t>
            </a:r>
          </a:p>
          <a:p>
            <a:r>
              <a:rPr lang="fr-FR" sz="1500">
                <a:solidFill>
                  <a:srgbClr val="676D72"/>
                </a:solidFill>
                <a:latin typeface="Agency FB" panose="020B0503020202020204" pitchFamily="34" charset="0"/>
              </a:rPr>
              <a:t>Akpakpa </a:t>
            </a:r>
            <a:r>
              <a:rPr lang="fr-FR" sz="1500" err="1">
                <a:solidFill>
                  <a:srgbClr val="676D72"/>
                </a:solidFill>
                <a:latin typeface="Agency FB" panose="020B0503020202020204" pitchFamily="34" charset="0"/>
              </a:rPr>
              <a:t>Rés</a:t>
            </a:r>
            <a:r>
              <a:rPr lang="fr-FR" sz="1500">
                <a:solidFill>
                  <a:srgbClr val="676D72"/>
                </a:solidFill>
                <a:latin typeface="Agency FB" panose="020B0503020202020204" pitchFamily="34" charset="0"/>
              </a:rPr>
              <a:t>. JR d’Adèle, </a:t>
            </a:r>
          </a:p>
          <a:p>
            <a:r>
              <a:rPr lang="fr-FR" sz="1500">
                <a:solidFill>
                  <a:srgbClr val="676D72"/>
                </a:solidFill>
                <a:latin typeface="Agency FB" panose="020B0503020202020204" pitchFamily="34" charset="0"/>
              </a:rPr>
              <a:t>Cotonou</a:t>
            </a:r>
          </a:p>
        </p:txBody>
      </p:sp>
      <p:pic>
        <p:nvPicPr>
          <p:cNvPr id="44" name="Image 43"/>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21624" y="4223850"/>
            <a:ext cx="146399" cy="146399"/>
          </a:xfrm>
          <a:prstGeom prst="rect">
            <a:avLst/>
          </a:prstGeom>
        </p:spPr>
      </p:pic>
      <p:pic>
        <p:nvPicPr>
          <p:cNvPr id="2" name="Image 1"/>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45932" y="1946622"/>
            <a:ext cx="141499" cy="141499"/>
          </a:xfrm>
          <a:prstGeom prst="rect">
            <a:avLst/>
          </a:prstGeom>
        </p:spPr>
      </p:pic>
      <p:pic>
        <p:nvPicPr>
          <p:cNvPr id="45" name="Image 44"/>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26371" y="4460988"/>
            <a:ext cx="141499" cy="141499"/>
          </a:xfrm>
          <a:prstGeom prst="rect">
            <a:avLst/>
          </a:prstGeom>
        </p:spPr>
      </p:pic>
      <p:pic>
        <p:nvPicPr>
          <p:cNvPr id="46" name="Image 45"/>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26371" y="3343186"/>
            <a:ext cx="141499" cy="141499"/>
          </a:xfrm>
          <a:prstGeom prst="rect">
            <a:avLst/>
          </a:prstGeom>
        </p:spPr>
      </p:pic>
      <p:grpSp>
        <p:nvGrpSpPr>
          <p:cNvPr id="16" name="Groupe 15"/>
          <p:cNvGrpSpPr/>
          <p:nvPr/>
        </p:nvGrpSpPr>
        <p:grpSpPr>
          <a:xfrm>
            <a:off x="5935935" y="3045995"/>
            <a:ext cx="2471907" cy="660017"/>
            <a:chOff x="7953078" y="4393803"/>
            <a:chExt cx="3295876" cy="880023"/>
          </a:xfrm>
        </p:grpSpPr>
        <p:grpSp>
          <p:nvGrpSpPr>
            <p:cNvPr id="13" name="Groupe 12"/>
            <p:cNvGrpSpPr/>
            <p:nvPr/>
          </p:nvGrpSpPr>
          <p:grpSpPr>
            <a:xfrm>
              <a:off x="7953078" y="4393803"/>
              <a:ext cx="1235024" cy="880023"/>
              <a:chOff x="7708552" y="4387991"/>
              <a:chExt cx="1235024" cy="880023"/>
            </a:xfrm>
          </p:grpSpPr>
          <p:pic>
            <p:nvPicPr>
              <p:cNvPr id="4" name="Image 3"/>
              <p:cNvPicPr>
                <a:picLocks noChangeAspect="1"/>
              </p:cNvPicPr>
              <p:nvPr/>
            </p:nvPicPr>
            <p:blipFill>
              <a:blip r:embed="rId9" cstate="print">
                <a:biLevel thresh="25000"/>
                <a:extLst>
                  <a:ext uri="{28A0092B-C50C-407E-A947-70E740481C1C}">
                    <a14:useLocalDpi xmlns:a14="http://schemas.microsoft.com/office/drawing/2010/main" val="0"/>
                  </a:ext>
                </a:extLst>
              </a:blip>
              <a:stretch>
                <a:fillRect/>
              </a:stretch>
            </p:blipFill>
            <p:spPr>
              <a:xfrm>
                <a:off x="8153043" y="4387991"/>
                <a:ext cx="346041" cy="346041"/>
              </a:xfrm>
              <a:prstGeom prst="rect">
                <a:avLst/>
              </a:prstGeom>
            </p:spPr>
          </p:pic>
          <p:sp>
            <p:nvSpPr>
              <p:cNvPr id="47" name="Titre 1"/>
              <p:cNvSpPr txBox="1">
                <a:spLocks/>
              </p:cNvSpPr>
              <p:nvPr/>
            </p:nvSpPr>
            <p:spPr>
              <a:xfrm>
                <a:off x="7708552" y="4534702"/>
                <a:ext cx="1235024" cy="733312"/>
              </a:xfrm>
              <a:prstGeom prst="rect">
                <a:avLst/>
              </a:prstGeom>
            </p:spPr>
            <p:txBody>
              <a:bodyPr vert="horz" lIns="68580" tIns="34290" rIns="68580" bIns="3429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sz="825">
                    <a:solidFill>
                      <a:schemeClr val="bg1"/>
                    </a:solidFill>
                  </a:rPr>
                  <a:t>/</a:t>
                </a:r>
                <a:r>
                  <a:rPr lang="fr-FR" sz="825" err="1">
                    <a:solidFill>
                      <a:schemeClr val="bg1"/>
                    </a:solidFill>
                  </a:rPr>
                  <a:t>MGT.Conseils</a:t>
                </a:r>
                <a:endParaRPr lang="fr-FR" sz="825">
                  <a:solidFill>
                    <a:schemeClr val="bg1"/>
                  </a:solidFill>
                </a:endParaRPr>
              </a:p>
            </p:txBody>
          </p:sp>
        </p:grpSp>
        <p:grpSp>
          <p:nvGrpSpPr>
            <p:cNvPr id="14" name="Groupe 13"/>
            <p:cNvGrpSpPr/>
            <p:nvPr/>
          </p:nvGrpSpPr>
          <p:grpSpPr>
            <a:xfrm>
              <a:off x="8943789" y="4426916"/>
              <a:ext cx="1235024" cy="840134"/>
              <a:chOff x="8704148" y="4427880"/>
              <a:chExt cx="1235024" cy="840134"/>
            </a:xfrm>
          </p:grpSpPr>
          <p:pic>
            <p:nvPicPr>
              <p:cNvPr id="6" name="Image 5"/>
              <p:cNvPicPr>
                <a:picLocks noChangeAspect="1"/>
              </p:cNvPicPr>
              <p:nvPr/>
            </p:nvPicPr>
            <p:blipFill>
              <a:blip r:embed="rId10" cstate="print">
                <a:biLevel thresh="25000"/>
                <a:extLst>
                  <a:ext uri="{28A0092B-C50C-407E-A947-70E740481C1C}">
                    <a14:useLocalDpi xmlns:a14="http://schemas.microsoft.com/office/drawing/2010/main" val="0"/>
                  </a:ext>
                </a:extLst>
              </a:blip>
              <a:stretch>
                <a:fillRect/>
              </a:stretch>
            </p:blipFill>
            <p:spPr>
              <a:xfrm>
                <a:off x="9143910" y="4427880"/>
                <a:ext cx="349810" cy="349810"/>
              </a:xfrm>
              <a:prstGeom prst="rect">
                <a:avLst/>
              </a:prstGeom>
            </p:spPr>
          </p:pic>
          <p:sp>
            <p:nvSpPr>
              <p:cNvPr id="49" name="Titre 1"/>
              <p:cNvSpPr txBox="1">
                <a:spLocks/>
              </p:cNvSpPr>
              <p:nvPr/>
            </p:nvSpPr>
            <p:spPr>
              <a:xfrm>
                <a:off x="8704148" y="4534702"/>
                <a:ext cx="1235024" cy="733312"/>
              </a:xfrm>
              <a:prstGeom prst="rect">
                <a:avLst/>
              </a:prstGeom>
            </p:spPr>
            <p:txBody>
              <a:bodyPr vert="horz" lIns="68580" tIns="34290" rIns="68580" bIns="3429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sz="825">
                    <a:solidFill>
                      <a:schemeClr val="bg1"/>
                    </a:solidFill>
                  </a:rPr>
                  <a:t>/</a:t>
                </a:r>
                <a:r>
                  <a:rPr lang="fr-FR" sz="825" err="1">
                    <a:solidFill>
                      <a:schemeClr val="bg1"/>
                    </a:solidFill>
                  </a:rPr>
                  <a:t>mgt</a:t>
                </a:r>
                <a:r>
                  <a:rPr lang="fr-FR" sz="825">
                    <a:solidFill>
                      <a:schemeClr val="bg1"/>
                    </a:solidFill>
                  </a:rPr>
                  <a:t>-conseils</a:t>
                </a:r>
              </a:p>
            </p:txBody>
          </p:sp>
        </p:grpSp>
        <p:grpSp>
          <p:nvGrpSpPr>
            <p:cNvPr id="15" name="Groupe 14"/>
            <p:cNvGrpSpPr/>
            <p:nvPr/>
          </p:nvGrpSpPr>
          <p:grpSpPr>
            <a:xfrm>
              <a:off x="10013930" y="4426197"/>
              <a:ext cx="1235024" cy="840853"/>
              <a:chOff x="9613248" y="4415593"/>
              <a:chExt cx="1235024" cy="840853"/>
            </a:xfrm>
          </p:grpSpPr>
          <p:pic>
            <p:nvPicPr>
              <p:cNvPr id="9" name="Image 8"/>
              <p:cNvPicPr>
                <a:picLocks noChangeAspect="1"/>
              </p:cNvPicPr>
              <p:nvPr/>
            </p:nvPicPr>
            <p:blipFill>
              <a:blip r:embed="rId11" cstate="print">
                <a:biLevel thresh="25000"/>
                <a:extLst>
                  <a:ext uri="{28A0092B-C50C-407E-A947-70E740481C1C}">
                    <a14:useLocalDpi xmlns:a14="http://schemas.microsoft.com/office/drawing/2010/main" val="0"/>
                  </a:ext>
                </a:extLst>
              </a:blip>
              <a:stretch>
                <a:fillRect/>
              </a:stretch>
            </p:blipFill>
            <p:spPr>
              <a:xfrm>
                <a:off x="10057153" y="4415593"/>
                <a:ext cx="347214" cy="347214"/>
              </a:xfrm>
              <a:prstGeom prst="rect">
                <a:avLst/>
              </a:prstGeom>
            </p:spPr>
          </p:pic>
          <p:sp>
            <p:nvSpPr>
              <p:cNvPr id="51" name="Titre 1"/>
              <p:cNvSpPr txBox="1">
                <a:spLocks/>
              </p:cNvSpPr>
              <p:nvPr/>
            </p:nvSpPr>
            <p:spPr>
              <a:xfrm>
                <a:off x="9613248" y="4523134"/>
                <a:ext cx="1235024" cy="733312"/>
              </a:xfrm>
              <a:prstGeom prst="rect">
                <a:avLst/>
              </a:prstGeom>
            </p:spPr>
            <p:txBody>
              <a:bodyPr vert="horz" lIns="68580" tIns="34290" rIns="68580" bIns="3429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sz="825">
                    <a:solidFill>
                      <a:schemeClr val="bg1"/>
                    </a:solidFill>
                  </a:rPr>
                  <a:t>@</a:t>
                </a:r>
                <a:r>
                  <a:rPr lang="fr-FR" sz="825" err="1">
                    <a:solidFill>
                      <a:schemeClr val="bg1"/>
                    </a:solidFill>
                  </a:rPr>
                  <a:t>MGTConseils</a:t>
                </a:r>
                <a:endParaRPr lang="fr-FR" sz="825">
                  <a:solidFill>
                    <a:schemeClr val="bg1"/>
                  </a:solidFill>
                </a:endParaRPr>
              </a:p>
            </p:txBody>
          </p:sp>
        </p:grpSp>
      </p:grpSp>
      <p:sp>
        <p:nvSpPr>
          <p:cNvPr id="35" name="ZoneTexte 34">
            <a:extLst>
              <a:ext uri="{FF2B5EF4-FFF2-40B4-BE49-F238E27FC236}">
                <a16:creationId xmlns:a16="http://schemas.microsoft.com/office/drawing/2014/main" id="{10192631-2D34-469C-A952-3B55768F581D}"/>
              </a:ext>
            </a:extLst>
          </p:cNvPr>
          <p:cNvSpPr txBox="1"/>
          <p:nvPr/>
        </p:nvSpPr>
        <p:spPr>
          <a:xfrm>
            <a:off x="6020136" y="501821"/>
            <a:ext cx="2784985" cy="1569660"/>
          </a:xfrm>
          <a:prstGeom prst="rect">
            <a:avLst/>
          </a:prstGeom>
          <a:noFill/>
        </p:spPr>
        <p:txBody>
          <a:bodyPr vert="horz" wrap="square" rtlCol="0" anchor="ctr" anchorCtr="0">
            <a:spAutoFit/>
          </a:bodyPr>
          <a:lstStyle/>
          <a:p>
            <a:pPr algn="ctr"/>
            <a:r>
              <a:rPr lang="fr-FR" sz="3200" b="1">
                <a:solidFill>
                  <a:schemeClr val="bg1"/>
                </a:solidFill>
                <a:latin typeface="FUTURA MEDIUM" panose="020B0602020204020303" pitchFamily="34" charset="-79"/>
                <a:cs typeface="FUTURA MEDIUM" panose="020B0602020204020303" pitchFamily="34" charset="-79"/>
              </a:rPr>
              <a:t>Merci pour votre attention </a:t>
            </a:r>
          </a:p>
        </p:txBody>
      </p:sp>
    </p:spTree>
    <p:extLst>
      <p:ext uri="{BB962C8B-B14F-4D97-AF65-F5344CB8AC3E}">
        <p14:creationId xmlns:p14="http://schemas.microsoft.com/office/powerpoint/2010/main" val="7825141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FFFF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73eca01c-4ea5-40c8-83fd-b296bd340025">
      <UserInfo>
        <DisplayName>Abir GUENICH - Ingénieure d’affaire</DisplayName>
        <AccountId>246</AccountId>
        <AccountType/>
      </UserInfo>
    </SharedWithUsers>
    <_activity xmlns="6f1b3788-58c0-46a5-9604-64d97c7fc47c"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58419B1710D3DF4A9DAA9ADF73C802B5" ma:contentTypeVersion="14" ma:contentTypeDescription="Crée un document." ma:contentTypeScope="" ma:versionID="d45f398bd182fafaec1e6b20d8a38b6f">
  <xsd:schema xmlns:xsd="http://www.w3.org/2001/XMLSchema" xmlns:xs="http://www.w3.org/2001/XMLSchema" xmlns:p="http://schemas.microsoft.com/office/2006/metadata/properties" xmlns:ns3="6f1b3788-58c0-46a5-9604-64d97c7fc47c" xmlns:ns4="73eca01c-4ea5-40c8-83fd-b296bd340025" targetNamespace="http://schemas.microsoft.com/office/2006/metadata/properties" ma:root="true" ma:fieldsID="de746a5257d740f042749d495693305b" ns3:_="" ns4:_="">
    <xsd:import namespace="6f1b3788-58c0-46a5-9604-64d97c7fc47c"/>
    <xsd:import namespace="73eca01c-4ea5-40c8-83fd-b296bd34002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_activity" minOccurs="0"/>
                <xsd:element ref="ns3:MediaServiceDateTaken" minOccurs="0"/>
                <xsd:element ref="ns3:MediaServiceAutoTags" minOccurs="0"/>
                <xsd:element ref="ns3:MediaLengthInSeconds" minOccurs="0"/>
                <xsd:element ref="ns3:MediaServiceObjectDetectorVersions" minOccurs="0"/>
                <xsd:element ref="ns3:MediaServiceSystemTags" minOccurs="0"/>
                <xsd:element ref="ns3:MediaServiceGenerationTime" minOccurs="0"/>
                <xsd:element ref="ns3:MediaServiceEventHashCode"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f1b3788-58c0-46a5-9604-64d97c7fc47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_activity" ma:index="13" nillable="true" ma:displayName="_activity" ma:hidden="true" ma:internalName="_activity">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MediaServiceSystemTags" ma:index="18" nillable="true" ma:displayName="MediaServiceSystemTags" ma:hidden="true" ma:internalName="MediaServiceSystemTags" ma:readOnly="true">
      <xsd:simpleType>
        <xsd:restriction base="dms:Note"/>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3eca01c-4ea5-40c8-83fd-b296bd340025" elementFormDefault="qualified">
    <xsd:import namespace="http://schemas.microsoft.com/office/2006/documentManagement/types"/>
    <xsd:import namespace="http://schemas.microsoft.com/office/infopath/2007/PartnerControls"/>
    <xsd:element name="SharedWithUsers" ma:index="10"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Partagé avec détails" ma:internalName="SharedWithDetails" ma:readOnly="true">
      <xsd:simpleType>
        <xsd:restriction base="dms:Note">
          <xsd:maxLength value="255"/>
        </xsd:restriction>
      </xsd:simpleType>
    </xsd:element>
    <xsd:element name="SharingHintHash" ma:index="12" nillable="true" ma:displayName="Partage du hachage d’indicateur"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0C00205-F11F-4D61-9572-D162BE7CE022}">
  <ds:schemaRefs>
    <ds:schemaRef ds:uri="http://schemas.microsoft.com/office/infopath/2007/PartnerControls"/>
    <ds:schemaRef ds:uri="http://purl.org/dc/terms/"/>
    <ds:schemaRef ds:uri="http://purl.org/dc/elements/1.1/"/>
    <ds:schemaRef ds:uri="6f1b3788-58c0-46a5-9604-64d97c7fc47c"/>
    <ds:schemaRef ds:uri="73eca01c-4ea5-40c8-83fd-b296bd340025"/>
    <ds:schemaRef ds:uri="http://purl.org/dc/dcmitype/"/>
    <ds:schemaRef ds:uri="http://schemas.openxmlformats.org/package/2006/metadata/core-properties"/>
    <ds:schemaRef ds:uri="http://schemas.microsoft.com/office/2006/documentManagement/types"/>
    <ds:schemaRef ds:uri="http://www.w3.org/XML/1998/namespace"/>
    <ds:schemaRef ds:uri="http://schemas.microsoft.com/office/2006/metadata/properties"/>
  </ds:schemaRefs>
</ds:datastoreItem>
</file>

<file path=customXml/itemProps2.xml><?xml version="1.0" encoding="utf-8"?>
<ds:datastoreItem xmlns:ds="http://schemas.openxmlformats.org/officeDocument/2006/customXml" ds:itemID="{13D40C7A-64C6-4B3B-A1B6-9CB64BC7566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f1b3788-58c0-46a5-9604-64d97c7fc47c"/>
    <ds:schemaRef ds:uri="73eca01c-4ea5-40c8-83fd-b296bd34002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BAA46D8-DF31-4768-AD82-8F485C82E64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3439</TotalTime>
  <Words>1438</Words>
  <Application>Microsoft Office PowerPoint</Application>
  <PresentationFormat>Affichage à l'écran (16:9)</PresentationFormat>
  <Paragraphs>229</Paragraphs>
  <Slides>20</Slides>
  <Notes>19</Notes>
  <HiddenSlides>0</HiddenSlides>
  <MMClips>0</MMClips>
  <ScaleCrop>false</ScaleCrop>
  <HeadingPairs>
    <vt:vector size="6" baseType="variant">
      <vt:variant>
        <vt:lpstr>Polices utilisées</vt:lpstr>
      </vt:variant>
      <vt:variant>
        <vt:i4>14</vt:i4>
      </vt:variant>
      <vt:variant>
        <vt:lpstr>Thème</vt:lpstr>
      </vt:variant>
      <vt:variant>
        <vt:i4>1</vt:i4>
      </vt:variant>
      <vt:variant>
        <vt:lpstr>Titres des diapositives</vt:lpstr>
      </vt:variant>
      <vt:variant>
        <vt:i4>20</vt:i4>
      </vt:variant>
    </vt:vector>
  </HeadingPairs>
  <TitlesOfParts>
    <vt:vector size="35" baseType="lpstr">
      <vt:lpstr>Abadi Extra Light</vt:lpstr>
      <vt:lpstr>Arial UNICODE MS</vt:lpstr>
      <vt:lpstr>Arial UNICODE MS</vt:lpstr>
      <vt:lpstr>FUTURA MEDIUM</vt:lpstr>
      <vt:lpstr>Agency FB</vt:lpstr>
      <vt:lpstr>Aptos Narrow</vt:lpstr>
      <vt:lpstr>Arial</vt:lpstr>
      <vt:lpstr>Calibri</vt:lpstr>
      <vt:lpstr>Calibri Light</vt:lpstr>
      <vt:lpstr>Ebrima</vt:lpstr>
      <vt:lpstr>Roboto</vt:lpstr>
      <vt:lpstr>Trebuchet MS</vt:lpstr>
      <vt:lpstr>Verdana</vt:lpstr>
      <vt:lpstr>Wingdings</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Suivez-Nous   www.mgt-conseils.com contact@mgt-conseils.com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Groupe  DataValue Consulting</dc:title>
  <dc:creator>Conrad GBAGUIDI</dc:creator>
  <cp:lastModifiedBy>Denis ARGOUARCH</cp:lastModifiedBy>
  <cp:revision>176</cp:revision>
  <dcterms:created xsi:type="dcterms:W3CDTF">2021-01-18T11:01:50Z</dcterms:created>
  <dcterms:modified xsi:type="dcterms:W3CDTF">2025-12-14T16:11:02Z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2020-03-16T00:00:00Z</vt:filetime>
  </property>
  <property fmtid="{D5CDD505-2E9C-101B-9397-08002B2CF9AE}" pid="3" name="LastSaved">
    <vt:filetime>2021-01-18T00:00:00Z</vt:filetime>
  </property>
  <property fmtid="{D5CDD505-2E9C-101B-9397-08002B2CF9AE}" pid="4" name="ContentTypeId">
    <vt:lpwstr>0x01010058419B1710D3DF4A9DAA9ADF73C802B5</vt:lpwstr>
  </property>
  <property fmtid="{D5CDD505-2E9C-101B-9397-08002B2CF9AE}" pid="5" name="MediaServiceImageTags">
    <vt:lpwstr/>
  </property>
</Properties>
</file>