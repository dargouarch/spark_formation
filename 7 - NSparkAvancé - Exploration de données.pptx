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53"/>
  </p:notesMasterIdLst>
  <p:sldIdLst>
    <p:sldId id="263" r:id="rId5"/>
    <p:sldId id="2134807190" r:id="rId6"/>
    <p:sldId id="357" r:id="rId7"/>
    <p:sldId id="361" r:id="rId8"/>
    <p:sldId id="360" r:id="rId9"/>
    <p:sldId id="362" r:id="rId10"/>
    <p:sldId id="363" r:id="rId11"/>
    <p:sldId id="364" r:id="rId12"/>
    <p:sldId id="365" r:id="rId13"/>
    <p:sldId id="366" r:id="rId14"/>
    <p:sldId id="367" r:id="rId15"/>
    <p:sldId id="368" r:id="rId16"/>
    <p:sldId id="369" r:id="rId17"/>
    <p:sldId id="370" r:id="rId18"/>
    <p:sldId id="371" r:id="rId19"/>
    <p:sldId id="373" r:id="rId20"/>
    <p:sldId id="372" r:id="rId21"/>
    <p:sldId id="374" r:id="rId22"/>
    <p:sldId id="375" r:id="rId23"/>
    <p:sldId id="379" r:id="rId24"/>
    <p:sldId id="377" r:id="rId25"/>
    <p:sldId id="378" r:id="rId26"/>
    <p:sldId id="376" r:id="rId27"/>
    <p:sldId id="381" r:id="rId28"/>
    <p:sldId id="382" r:id="rId29"/>
    <p:sldId id="386" r:id="rId30"/>
    <p:sldId id="383" r:id="rId31"/>
    <p:sldId id="384" r:id="rId32"/>
    <p:sldId id="380" r:id="rId33"/>
    <p:sldId id="385" r:id="rId34"/>
    <p:sldId id="387" r:id="rId35"/>
    <p:sldId id="388" r:id="rId36"/>
    <p:sldId id="389" r:id="rId37"/>
    <p:sldId id="390" r:id="rId38"/>
    <p:sldId id="391" r:id="rId39"/>
    <p:sldId id="392" r:id="rId40"/>
    <p:sldId id="393" r:id="rId41"/>
    <p:sldId id="394" r:id="rId42"/>
    <p:sldId id="397" r:id="rId43"/>
    <p:sldId id="398" r:id="rId44"/>
    <p:sldId id="395" r:id="rId45"/>
    <p:sldId id="396" r:id="rId46"/>
    <p:sldId id="2134807191" r:id="rId47"/>
    <p:sldId id="401" r:id="rId48"/>
    <p:sldId id="402" r:id="rId49"/>
    <p:sldId id="400" r:id="rId50"/>
    <p:sldId id="403" r:id="rId51"/>
    <p:sldId id="269" r:id="rId52"/>
  </p:sldIdLst>
  <p:sldSz cx="9144000" cy="5143500" type="screen16x9"/>
  <p:notesSz cx="9144000" cy="51435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8200"/>
    <a:srgbClr val="E89D06"/>
    <a:srgbClr val="606A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37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EFCF4C-C656-4173-9B19-E1AF5C686E36}" type="datetimeFigureOut">
              <a:rPr lang="fr-FR" smtClean="0"/>
              <a:t>20/12/2025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481D4-7198-485D-BC3A-9DB0AF6D6A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9205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481D4-7198-485D-BC3A-9DB0AF6D6A6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4745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9A8AC-A388-7912-938C-53E2AC68B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9AFCDA-C13D-2C30-B8EE-C09E8654A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D443EB-438B-40E3-E39A-77718E634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0D247-E885-3F62-D870-24A00BEF61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1370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17AD1-5338-4A2C-7216-DD67C2A5D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2E0E1E-9A82-5C7A-3B51-4D3DB820DA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685B24-E54F-2E89-AE4D-99E49379A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B847B-BA31-27CC-7496-41005F7C0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0323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80BAB-A70E-FAD0-2601-00A877DB0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F2234F-C0FE-DFDA-D1B6-109C82ED7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7E0E97-BB7D-4202-B832-ABA3EBF5FB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6307A-8B3A-3C97-F170-29E40D76D1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3654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2AA7D-B6C2-646C-E3F3-CFC3D439F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1C45E-E272-D8F6-6D04-132CA10DD1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A570A1-6658-770B-4702-B81A9DEF5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0CC9F-4430-C06F-B2AF-FB891B750C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158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BA1F8-208E-3BFA-22F1-8C392A9BB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CC7F0-F3C1-C213-CEB4-5AB2B0C96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6FFB7F-87F7-6EE0-F311-3B0B32975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0D174-FF47-DFC9-F113-C45A561C0F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9516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3C01B-A88B-499C-C1B0-B7C4C2AC7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E912F8-1840-85C8-A9FA-6300071D6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FB1D46-B4E3-1985-B1CE-2551EC7DA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F1C82-4335-7B73-8258-735FA30DBF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3456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1F540-35DC-73E0-AB37-FCE33BF1A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EFBD7-0018-9B45-2DA0-5BBC88885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5E2C2A-8A3E-5416-B0F1-343787A95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B58A1-1E6C-88C4-EF44-9EEC988557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88945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6E9AF-6CBE-EDAC-5437-98CC1C521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24FF1-D821-0353-D723-A0314F0EAD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752FE1-AF2A-C580-39AA-9AEA02AE5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DDAE5-4324-4D4F-BFAD-1D1FB8194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84653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8382E-58EE-8855-A133-F65B94936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F8644-9A3B-EDEA-3336-871DA73A71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652CE7-E51F-135D-3792-258BE8DB31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603C2-78BA-D91E-5112-3298C26592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74344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58A7E-476E-D901-8025-9BF6FA959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A09E18-699A-E06A-F8DE-BAC299AF55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549B8F-F012-F29D-A81C-FC54DCA68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97625-37CF-5D7E-862A-FCE9FC736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31291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DB41F-4ECA-EC13-FD26-1B46826C6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03C7D4-07F4-8CD0-A369-5D7069605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0DACF-CBB7-9CE0-0F55-D009CF225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C376D-F0A2-D793-7136-8EA756B97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37890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7942C-52A0-AED0-08CC-50CF812F2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7D0D20-7857-8087-BBAA-E7317ED13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EDD17C-3F81-18C4-6ADF-53A911B7ED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C8ED9-B951-A1F9-C7B2-4AA5163F6D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95152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E0C69-3A49-E479-51A6-BFA57FEE1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1EB149-4AB3-0A4B-0502-EB4031CEB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6731E8-1EEA-0368-E4C7-443E724A5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82089-AFA4-89AD-D06C-94FF2F7CC1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47154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6FD3A-DC62-9E4F-E7C7-168ECA7FF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0F2642-30D0-39CE-7684-663EA2029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F6A26-5EFB-830F-4F3F-DC0190124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0975C-9A69-EDBC-86CA-EC7414C40C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85548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E8580-85A4-B7F0-6461-D4F255444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CFB64-FCE3-51AA-8AB0-A4E8CCE37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F59D6F-9ABE-E956-0AC9-CBFF69961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06278F-43AF-ECF9-53C0-1A95B73D7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47880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686CA-F460-5B14-D816-30D70D2A5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FA3E66-5E68-4A8E-EF3E-F93BC27C90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01FC2-D9CB-E552-FFCA-7514C7E62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68E57-2591-1943-67B9-E54896514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9364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FAAFD-FDB9-776C-46D4-9F3C33AD1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6DBC60-3095-7FDE-AB8F-653B6C62E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4C6154-F74E-1DE8-317F-7FC707437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B12C5-C747-1A4A-1115-DDE4192FBC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123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1C4EA-9826-061A-A7AE-B30B5F6DD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471B0-3B70-861E-AFC4-1511820EDF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3C969-E74A-B763-D9C5-544AEDD2A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93229-C28D-4CD0-884E-0B38F2996D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47889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27E15-3C0B-EA09-ABCC-9300AF770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34A6EC-ED60-ACB2-8987-6C614C659E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E4E984-95F4-0388-901A-8793263EA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BD4E2-5157-C12E-E1CA-AD1288A4AD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38504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E2F4E-81E6-EC05-A9BD-FCCE865AB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FDC4FC-2EF2-78CC-EA4B-50289E4C57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6C48C9-0168-EE79-CB83-26C02EF06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5A644-9745-928F-B44B-1F4541007D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1011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245A-DCB6-03F1-F946-21092CC42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172059-25FA-38C7-F110-8C102E46D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381832-1CE4-1BFD-3ED8-C28505DA7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18A80-AAC6-4A03-D2CF-C6AE72DD7A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34120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4132C-3E58-5A48-F6BD-83730CDC6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EE118F-D54B-49DC-9507-837A8F435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23FA0C-0F0E-CF3A-B8B1-09E552A0B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A34C0-30CF-B87E-5739-B4CE1529A0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65555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575CC-A31F-6B6A-B898-B3A28122B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B6B4B9-1ACF-609F-F0B2-D19286AC2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917A03-7196-E93E-D9A5-3B4259029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3FFAF-38B6-429A-3870-060E0B2F9A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43948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EAD66-305D-F52C-171A-AB046EC67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143F4B-7554-1BD3-E041-9D04850DB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FB1EEF-91C3-EE2F-C957-97DEFC3BA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AB920-A287-E103-1CF5-9D9753BFA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30378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D8FEB-A431-7701-5383-219857D4F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F348E-0DF5-09DC-2CCF-15C9689C7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443D76-57B9-B4F3-B81E-14CDBFC15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7287F-9EE6-D452-4C56-562B3017D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00024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76815-355B-8544-19D7-0A2272DC5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A6D882-C459-E4BD-CDCD-F8D0B01044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3B586E-C43F-628B-5936-A3DD14173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6BFE7-3CE3-BAAE-2117-91036EFD79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58677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FFDF9-BC10-6799-EDDA-92BF864F6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6E40B6-01A0-CC2D-60FF-6DEF918E9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2179C-C198-C346-E953-8873AAC81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67041-BF6F-45D6-FE4E-096C0275F1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83693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CA330-E2EF-4458-F05A-BED3038A3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EC5610-A4BC-1D44-059F-BC54C36FC8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7FE96D-A763-F2F8-761E-9B1F53D93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EFEC4-D323-68B3-9E7C-696AC82991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45703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20714-0098-8EB4-203C-57C797C81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35DF4F-02CF-96C8-58CC-22FE9E5AF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053032-E501-4ECC-C132-DDBE4D381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E4A33-47BE-AC67-ED0C-BE22E2DB26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96814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7A029-5497-769A-0F35-33E934BD0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FCC64-364F-D41F-EF5E-E98DDD3E8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364243-5BF9-BEE5-4D83-E27D522C2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D5C20-E8DB-385F-2BE8-A43885199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74552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D82D7-B267-59F2-7BD9-FCE0738F1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F60359-BF11-E76D-976C-B29A32997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8A8B4C-C1D3-548A-3641-B812846EA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9D7F8-3067-0297-D9C2-C528AF7B6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79784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B355D-97FE-7DAD-ADA0-D94B78603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D06E0-F8B1-F071-1545-0B8CC9BEC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F14E4B-DC9C-35C9-323E-FC0576CED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56230-077E-7459-CFDC-C958750B01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11881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BAFC8-C841-5ABF-BBF7-799C624B8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08E86B-0787-6840-F684-25EB17713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3CD09F-B07C-A3BF-3E27-88C4E981E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C6D6C-44ED-548B-808F-A3CEA2B96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81861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15570-3C3C-71F8-AA7A-9FFFB6F6B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F60A7-5BD0-3A21-CEC4-7B490D857E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84A110-AE31-4511-BE72-57C4BAD10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0C2A3-2642-30FF-74EB-6980B893FF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36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828643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1AAAE-EAD1-2356-92D2-BF6D6C3F2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A685A-494F-CB5D-DFB2-DA6A795A0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B1E05-A2B1-56BA-DBD2-0AB96F9BA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DEB47-CB8E-8BF7-97A9-0303A6981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556207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B65E8-F870-A38E-5837-2D8666A6C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38702C-6CB4-10C8-033C-066ED98BF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68C025-101F-1DE8-E940-DEE8A5801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F64D5-84D8-01D6-DF53-5F0D1172E1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73843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65F15-8B38-BB79-077A-8006452E7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96214F-AFC4-BEA1-9526-4A26312AE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2A01B-B3FC-B8FA-A79B-8F28D2D3F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62443-B029-FF77-4ABD-FDD11CB3F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70083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5BEF3-D597-09CC-C4C4-FF40A3006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DE05E2-9026-17CC-A7D8-D8E13FDDC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52CEEA-9084-856A-6AFE-E66345281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8191E-1FD2-0455-C3D8-EF55E9DF6D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999383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60815-6180-F8DF-F6EF-0FE656685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FEEAB8-D23A-01AC-3339-E72A844A3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FD6B30-F195-45DB-8101-5B13B26FF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3A476-CFBB-96A7-ECF9-5089B2516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690841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D023E-22B2-6ABC-3518-82D4D3516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B81CB-66DB-B840-4804-41D1160B0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DCC801-DB57-D718-2B3B-7C57D0D2F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3CA07-D827-AA30-1CA5-C0AF2E197F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098512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E696C-A798-EEF1-91CE-4442E5554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A257D4-8031-94CC-2D4D-84BE0AE3A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D74C54-508E-FD04-A1EB-04710717E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25AA4-1B92-5B89-7C49-B08259DEB3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610029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E16B4-41B1-8ABC-6552-C4CEA176E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8603DA-F692-0417-9C4B-16C0600D4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4DF99E-E488-ADB4-1DF6-EF61D3EF0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DA247-5117-EF18-AAEA-A43933797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59152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0FF9C-3BCA-8C9B-3D98-B3B9385E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4B171-A6E6-FD30-80F9-DAF088145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755844-72C0-07A5-D104-629BA0C03E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E79AC-7E99-DBCF-1716-5194B9B626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713643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02164-A9E7-7963-14A3-1B9055603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9FEE67-17C6-1944-D23C-5B33660094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9CACE6-DE25-EBEB-CB69-1DDAC98BC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1E35C-57A0-8F8F-1202-8539419A72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579393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077CE-0607-28E1-53CE-85815433D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8952E8-BB9A-B8D5-8046-B0F8788A4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764B56-63F8-10B1-D294-9ECC64B92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E7FA4-1043-D221-BD62-A235DB3F28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465690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8B0EE-DB74-4337-9E39-4F4401AC088C}" type="slidenum">
              <a:rPr lang="fr-FR" smtClean="0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9741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597370" y="4578722"/>
            <a:ext cx="429860" cy="2832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457200" y="4783455"/>
            <a:ext cx="2103120" cy="276999"/>
          </a:xfrm>
        </p:spPr>
        <p:txBody>
          <a:bodyPr/>
          <a:lstStyle/>
          <a:p>
            <a:fld id="{FE69C2FC-FDFD-4827-B361-612217FFD460}" type="datetimeFigureOut">
              <a:rPr lang="fr-FR" smtClean="0"/>
              <a:t>20/12/2025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108960" y="4783455"/>
            <a:ext cx="2926080" cy="276999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874741" y="4894851"/>
            <a:ext cx="215900" cy="307777"/>
          </a:xfrm>
        </p:spPr>
        <p:txBody>
          <a:bodyPr/>
          <a:lstStyle/>
          <a:p>
            <a:fld id="{145EDAB0-9B87-4A61-82A7-24EB9E95EB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946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876384" y="2592654"/>
            <a:ext cx="4569441" cy="138499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965951" y="3982528"/>
            <a:ext cx="4390307" cy="27699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6830C2E-4564-4B17-8002-21FAB13655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999" r="11596"/>
          <a:stretch/>
        </p:blipFill>
        <p:spPr>
          <a:xfrm>
            <a:off x="-2024" y="0"/>
            <a:ext cx="7077950" cy="51753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C26AB9D-2720-48E7-9F02-9FF73EC7320C}"/>
              </a:ext>
            </a:extLst>
          </p:cNvPr>
          <p:cNvSpPr/>
          <p:nvPr userDrawn="1"/>
        </p:nvSpPr>
        <p:spPr>
          <a:xfrm>
            <a:off x="5272" y="1"/>
            <a:ext cx="8138265" cy="5159408"/>
          </a:xfrm>
          <a:prstGeom prst="rect">
            <a:avLst/>
          </a:prstGeom>
          <a:solidFill>
            <a:srgbClr val="676D7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bg1"/>
              </a:solidFill>
            </a:endParaRPr>
          </a:p>
        </p:txBody>
      </p:sp>
      <p:sp>
        <p:nvSpPr>
          <p:cNvPr id="11" name="Parallélogramme 10">
            <a:extLst>
              <a:ext uri="{FF2B5EF4-FFF2-40B4-BE49-F238E27FC236}">
                <a16:creationId xmlns:a16="http://schemas.microsoft.com/office/drawing/2014/main" id="{89BE8FA3-37AB-4349-895E-C9147FFA4740}"/>
              </a:ext>
            </a:extLst>
          </p:cNvPr>
          <p:cNvSpPr/>
          <p:nvPr userDrawn="1"/>
        </p:nvSpPr>
        <p:spPr>
          <a:xfrm>
            <a:off x="4348264" y="-15909"/>
            <a:ext cx="5287890" cy="517531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1869992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158" y="790177"/>
            <a:ext cx="7865109" cy="144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74741" y="4894851"/>
            <a:ext cx="215900" cy="18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jpe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hyperlink" Target="http://www.mgt-conseils.com/" TargetMode="External"/><Relationship Id="rId10" Type="http://schemas.openxmlformats.org/officeDocument/2006/relationships/image" Target="../media/image33.png"/><Relationship Id="rId4" Type="http://schemas.openxmlformats.org/officeDocument/2006/relationships/image" Target="../media/image28.emf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>
            <a:extLst>
              <a:ext uri="{FF2B5EF4-FFF2-40B4-BE49-F238E27FC236}">
                <a16:creationId xmlns:a16="http://schemas.microsoft.com/office/drawing/2014/main" id="{6645293F-0238-41E2-AE61-25FF444A98FA}"/>
              </a:ext>
            </a:extLst>
          </p:cNvPr>
          <p:cNvSpPr txBox="1"/>
          <p:nvPr/>
        </p:nvSpPr>
        <p:spPr>
          <a:xfrm>
            <a:off x="5241241" y="2668269"/>
            <a:ext cx="33179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>
                <a:solidFill>
                  <a:srgbClr val="EE8200"/>
                </a:solidFill>
                <a:latin typeface="Arial UNICODE MS"/>
              </a:rPr>
              <a:t>L’accélérateur </a:t>
            </a:r>
            <a:br>
              <a:rPr lang="fr-FR" sz="2000" b="1">
                <a:solidFill>
                  <a:srgbClr val="EE8200"/>
                </a:solidFill>
                <a:latin typeface="Arial UNICODE MS"/>
              </a:rPr>
            </a:br>
            <a:r>
              <a:rPr lang="fr-FR" sz="2000" b="1">
                <a:solidFill>
                  <a:srgbClr val="EE8200"/>
                </a:solidFill>
                <a:latin typeface="Arial UNICODE MS"/>
              </a:rPr>
              <a:t>de vos Performances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27EBDE4-AF21-46CC-A637-A8E445A354FC}"/>
              </a:ext>
            </a:extLst>
          </p:cNvPr>
          <p:cNvSpPr txBox="1"/>
          <p:nvPr/>
        </p:nvSpPr>
        <p:spPr>
          <a:xfrm>
            <a:off x="5425360" y="3454631"/>
            <a:ext cx="30479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204020104020204" pitchFamily="34" charset="0"/>
              </a:rPr>
              <a:t>Cabinet de Conseil et Formation spécialisé dans l’Amélioration des Performances des Entreprises</a:t>
            </a:r>
          </a:p>
        </p:txBody>
      </p:sp>
      <p:grpSp>
        <p:nvGrpSpPr>
          <p:cNvPr id="4" name="Google Shape;1211;p42">
            <a:extLst>
              <a:ext uri="{FF2B5EF4-FFF2-40B4-BE49-F238E27FC236}">
                <a16:creationId xmlns:a16="http://schemas.microsoft.com/office/drawing/2014/main" id="{0805AA11-DDF0-28CE-7329-E9ABB8802C46}"/>
              </a:ext>
            </a:extLst>
          </p:cNvPr>
          <p:cNvGrpSpPr/>
          <p:nvPr/>
        </p:nvGrpSpPr>
        <p:grpSpPr>
          <a:xfrm>
            <a:off x="866124" y="1529312"/>
            <a:ext cx="2906404" cy="2211684"/>
            <a:chOff x="4743450" y="1116900"/>
            <a:chExt cx="2486100" cy="1690800"/>
          </a:xfrm>
        </p:grpSpPr>
        <p:sp>
          <p:nvSpPr>
            <p:cNvPr id="5" name="Google Shape;1212;p42">
              <a:extLst>
                <a:ext uri="{FF2B5EF4-FFF2-40B4-BE49-F238E27FC236}">
                  <a16:creationId xmlns:a16="http://schemas.microsoft.com/office/drawing/2014/main" id="{19E28FA2-BA25-9760-C0E3-7AB39B1EEB5E}"/>
                </a:ext>
              </a:extLst>
            </p:cNvPr>
            <p:cNvSpPr/>
            <p:nvPr/>
          </p:nvSpPr>
          <p:spPr>
            <a:xfrm>
              <a:off x="4743450" y="1116900"/>
              <a:ext cx="2486100" cy="16908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13;p42">
              <a:extLst>
                <a:ext uri="{FF2B5EF4-FFF2-40B4-BE49-F238E27FC236}">
                  <a16:creationId xmlns:a16="http://schemas.microsoft.com/office/drawing/2014/main" id="{F4C6AACD-E2C4-85E5-CF68-119723003E9E}"/>
                </a:ext>
              </a:extLst>
            </p:cNvPr>
            <p:cNvSpPr/>
            <p:nvPr/>
          </p:nvSpPr>
          <p:spPr>
            <a:xfrm>
              <a:off x="4743450" y="1708870"/>
              <a:ext cx="2486100" cy="729400"/>
            </a:xfrm>
            <a:prstGeom prst="rect">
              <a:avLst/>
            </a:prstGeom>
            <a:gradFill>
              <a:gsLst>
                <a:gs pos="83000">
                  <a:srgbClr val="E89D06"/>
                </a:gs>
                <a:gs pos="38000">
                  <a:srgbClr val="E89D06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/>
              <a:endParaRPr lang="fr-FR" sz="2400" b="1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endParaRPr>
            </a:p>
          </p:txBody>
        </p:sp>
        <p:sp>
          <p:nvSpPr>
            <p:cNvPr id="7" name="Google Shape;1214;p42">
              <a:extLst>
                <a:ext uri="{FF2B5EF4-FFF2-40B4-BE49-F238E27FC236}">
                  <a16:creationId xmlns:a16="http://schemas.microsoft.com/office/drawing/2014/main" id="{10DB14C9-1189-F962-9C46-48F2025E5D4E}"/>
                </a:ext>
              </a:extLst>
            </p:cNvPr>
            <p:cNvSpPr txBox="1"/>
            <p:nvPr/>
          </p:nvSpPr>
          <p:spPr>
            <a:xfrm>
              <a:off x="4754902" y="2510233"/>
              <a:ext cx="2283900" cy="262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18/11/2025</a:t>
              </a:r>
            </a:p>
          </p:txBody>
        </p:sp>
        <p:grpSp>
          <p:nvGrpSpPr>
            <p:cNvPr id="8" name="Google Shape;1215;p42">
              <a:extLst>
                <a:ext uri="{FF2B5EF4-FFF2-40B4-BE49-F238E27FC236}">
                  <a16:creationId xmlns:a16="http://schemas.microsoft.com/office/drawing/2014/main" id="{6C607AC6-5841-D5C0-CDC0-064B9E45A8F0}"/>
                </a:ext>
              </a:extLst>
            </p:cNvPr>
            <p:cNvGrpSpPr/>
            <p:nvPr/>
          </p:nvGrpSpPr>
          <p:grpSpPr>
            <a:xfrm>
              <a:off x="5790959" y="1236253"/>
              <a:ext cx="394134" cy="394090"/>
              <a:chOff x="-64764500" y="2280550"/>
              <a:chExt cx="316650" cy="319800"/>
            </a:xfrm>
          </p:grpSpPr>
          <p:sp>
            <p:nvSpPr>
              <p:cNvPr id="9" name="Google Shape;1216;p42">
                <a:extLst>
                  <a:ext uri="{FF2B5EF4-FFF2-40B4-BE49-F238E27FC236}">
                    <a16:creationId xmlns:a16="http://schemas.microsoft.com/office/drawing/2014/main" id="{185FED04-2E27-BE7C-9209-400D4E0C0465}"/>
                  </a:ext>
                </a:extLst>
              </p:cNvPr>
              <p:cNvSpPr/>
              <p:nvPr/>
            </p:nvSpPr>
            <p:spPr>
              <a:xfrm>
                <a:off x="-64764500" y="2280550"/>
                <a:ext cx="316650" cy="319800"/>
              </a:xfrm>
              <a:custGeom>
                <a:avLst/>
                <a:gdLst/>
                <a:ahLst/>
                <a:cxnLst/>
                <a:rect l="l" t="t" r="r" b="b"/>
                <a:pathLst>
                  <a:path w="12666" h="12792" extrusionOk="0">
                    <a:moveTo>
                      <a:pt x="11405" y="820"/>
                    </a:moveTo>
                    <a:cubicBezTo>
                      <a:pt x="11657" y="820"/>
                      <a:pt x="11815" y="1009"/>
                      <a:pt x="11815" y="1261"/>
                    </a:cubicBezTo>
                    <a:cubicBezTo>
                      <a:pt x="11815" y="1481"/>
                      <a:pt x="11657" y="1670"/>
                      <a:pt x="11405" y="1670"/>
                    </a:cubicBezTo>
                    <a:lnTo>
                      <a:pt x="1229" y="1670"/>
                    </a:lnTo>
                    <a:cubicBezTo>
                      <a:pt x="977" y="1670"/>
                      <a:pt x="788" y="1481"/>
                      <a:pt x="788" y="1261"/>
                    </a:cubicBezTo>
                    <a:cubicBezTo>
                      <a:pt x="788" y="1009"/>
                      <a:pt x="977" y="820"/>
                      <a:pt x="1229" y="820"/>
                    </a:cubicBezTo>
                    <a:close/>
                    <a:moveTo>
                      <a:pt x="10996" y="2521"/>
                    </a:moveTo>
                    <a:lnTo>
                      <a:pt x="10996" y="8286"/>
                    </a:lnTo>
                    <a:lnTo>
                      <a:pt x="1607" y="8286"/>
                    </a:lnTo>
                    <a:lnTo>
                      <a:pt x="1607" y="2521"/>
                    </a:lnTo>
                    <a:close/>
                    <a:moveTo>
                      <a:pt x="6302" y="11027"/>
                    </a:moveTo>
                    <a:cubicBezTo>
                      <a:pt x="6554" y="11027"/>
                      <a:pt x="6743" y="11216"/>
                      <a:pt x="6743" y="11437"/>
                    </a:cubicBezTo>
                    <a:cubicBezTo>
                      <a:pt x="6743" y="11689"/>
                      <a:pt x="6522" y="11878"/>
                      <a:pt x="6302" y="11878"/>
                    </a:cubicBezTo>
                    <a:cubicBezTo>
                      <a:pt x="6050" y="11878"/>
                      <a:pt x="5892" y="11689"/>
                      <a:pt x="5892" y="11437"/>
                    </a:cubicBezTo>
                    <a:cubicBezTo>
                      <a:pt x="5892" y="11216"/>
                      <a:pt x="6113" y="11027"/>
                      <a:pt x="6302" y="11027"/>
                    </a:cubicBezTo>
                    <a:close/>
                    <a:moveTo>
                      <a:pt x="1229" y="1"/>
                    </a:moveTo>
                    <a:cubicBezTo>
                      <a:pt x="536" y="1"/>
                      <a:pt x="1" y="536"/>
                      <a:pt x="1" y="1261"/>
                    </a:cubicBezTo>
                    <a:cubicBezTo>
                      <a:pt x="1" y="1797"/>
                      <a:pt x="347" y="2238"/>
                      <a:pt x="820" y="2427"/>
                    </a:cubicBezTo>
                    <a:lnTo>
                      <a:pt x="820" y="8286"/>
                    </a:lnTo>
                    <a:lnTo>
                      <a:pt x="442" y="8286"/>
                    </a:lnTo>
                    <a:cubicBezTo>
                      <a:pt x="190" y="8286"/>
                      <a:pt x="32" y="8507"/>
                      <a:pt x="32" y="8728"/>
                    </a:cubicBezTo>
                    <a:cubicBezTo>
                      <a:pt x="32" y="8980"/>
                      <a:pt x="221" y="9169"/>
                      <a:pt x="442" y="9169"/>
                    </a:cubicBezTo>
                    <a:lnTo>
                      <a:pt x="5955" y="9169"/>
                    </a:lnTo>
                    <a:lnTo>
                      <a:pt x="5955" y="10334"/>
                    </a:lnTo>
                    <a:cubicBezTo>
                      <a:pt x="5483" y="10492"/>
                      <a:pt x="5104" y="10964"/>
                      <a:pt x="5104" y="11531"/>
                    </a:cubicBezTo>
                    <a:cubicBezTo>
                      <a:pt x="5104" y="12193"/>
                      <a:pt x="5672" y="12792"/>
                      <a:pt x="6333" y="12792"/>
                    </a:cubicBezTo>
                    <a:cubicBezTo>
                      <a:pt x="6995" y="12792"/>
                      <a:pt x="7593" y="12225"/>
                      <a:pt x="7593" y="11531"/>
                    </a:cubicBezTo>
                    <a:cubicBezTo>
                      <a:pt x="7593" y="10964"/>
                      <a:pt x="7247" y="10555"/>
                      <a:pt x="6774" y="10334"/>
                    </a:cubicBezTo>
                    <a:lnTo>
                      <a:pt x="6774" y="9169"/>
                    </a:lnTo>
                    <a:lnTo>
                      <a:pt x="12288" y="9169"/>
                    </a:lnTo>
                    <a:cubicBezTo>
                      <a:pt x="12508" y="9169"/>
                      <a:pt x="12666" y="8980"/>
                      <a:pt x="12666" y="8728"/>
                    </a:cubicBezTo>
                    <a:cubicBezTo>
                      <a:pt x="12666" y="8507"/>
                      <a:pt x="12477" y="8286"/>
                      <a:pt x="12288" y="8286"/>
                    </a:cubicBezTo>
                    <a:lnTo>
                      <a:pt x="11847" y="8286"/>
                    </a:lnTo>
                    <a:lnTo>
                      <a:pt x="11847" y="2427"/>
                    </a:lnTo>
                    <a:cubicBezTo>
                      <a:pt x="12319" y="2238"/>
                      <a:pt x="12634" y="1797"/>
                      <a:pt x="12634" y="1261"/>
                    </a:cubicBezTo>
                    <a:cubicBezTo>
                      <a:pt x="12634" y="568"/>
                      <a:pt x="12099" y="1"/>
                      <a:pt x="11405" y="1"/>
                    </a:cubicBezTo>
                    <a:close/>
                  </a:path>
                </a:pathLst>
              </a:custGeom>
              <a:solidFill>
                <a:srgbClr val="EE82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217;p42">
                <a:extLst>
                  <a:ext uri="{FF2B5EF4-FFF2-40B4-BE49-F238E27FC236}">
                    <a16:creationId xmlns:a16="http://schemas.microsoft.com/office/drawing/2014/main" id="{3604447A-576F-6388-A6B4-EAB22FCF3F94}"/>
                  </a:ext>
                </a:extLst>
              </p:cNvPr>
              <p:cNvSpPr/>
              <p:nvPr/>
            </p:nvSpPr>
            <p:spPr>
              <a:xfrm>
                <a:off x="-64679425" y="2364825"/>
                <a:ext cx="146500" cy="102450"/>
              </a:xfrm>
              <a:custGeom>
                <a:avLst/>
                <a:gdLst/>
                <a:ahLst/>
                <a:cxnLst/>
                <a:rect l="l" t="t" r="r" b="b"/>
                <a:pathLst>
                  <a:path w="5860" h="4098" extrusionOk="0">
                    <a:moveTo>
                      <a:pt x="3749" y="1"/>
                    </a:moveTo>
                    <a:cubicBezTo>
                      <a:pt x="3529" y="1"/>
                      <a:pt x="3371" y="190"/>
                      <a:pt x="3371" y="442"/>
                    </a:cubicBezTo>
                    <a:cubicBezTo>
                      <a:pt x="3371" y="662"/>
                      <a:pt x="3560" y="820"/>
                      <a:pt x="3749" y="820"/>
                    </a:cubicBezTo>
                    <a:lnTo>
                      <a:pt x="4442" y="820"/>
                    </a:lnTo>
                    <a:lnTo>
                      <a:pt x="2930" y="2332"/>
                    </a:lnTo>
                    <a:lnTo>
                      <a:pt x="2395" y="1765"/>
                    </a:lnTo>
                    <a:cubicBezTo>
                      <a:pt x="2316" y="1686"/>
                      <a:pt x="2206" y="1647"/>
                      <a:pt x="2095" y="1647"/>
                    </a:cubicBezTo>
                    <a:cubicBezTo>
                      <a:pt x="1985" y="1647"/>
                      <a:pt x="1875" y="1686"/>
                      <a:pt x="1796" y="1765"/>
                    </a:cubicBezTo>
                    <a:lnTo>
                      <a:pt x="126" y="3435"/>
                    </a:lnTo>
                    <a:cubicBezTo>
                      <a:pt x="0" y="3592"/>
                      <a:pt x="0" y="3844"/>
                      <a:pt x="126" y="4033"/>
                    </a:cubicBezTo>
                    <a:cubicBezTo>
                      <a:pt x="195" y="4075"/>
                      <a:pt x="288" y="4098"/>
                      <a:pt x="384" y="4098"/>
                    </a:cubicBezTo>
                    <a:cubicBezTo>
                      <a:pt x="507" y="4098"/>
                      <a:pt x="636" y="4059"/>
                      <a:pt x="725" y="3970"/>
                    </a:cubicBezTo>
                    <a:lnTo>
                      <a:pt x="2111" y="2616"/>
                    </a:lnTo>
                    <a:lnTo>
                      <a:pt x="2647" y="3151"/>
                    </a:lnTo>
                    <a:cubicBezTo>
                      <a:pt x="2725" y="3230"/>
                      <a:pt x="2836" y="3269"/>
                      <a:pt x="2946" y="3269"/>
                    </a:cubicBezTo>
                    <a:cubicBezTo>
                      <a:pt x="3056" y="3269"/>
                      <a:pt x="3166" y="3230"/>
                      <a:pt x="3245" y="3151"/>
                    </a:cubicBezTo>
                    <a:lnTo>
                      <a:pt x="5009" y="1387"/>
                    </a:lnTo>
                    <a:lnTo>
                      <a:pt x="5009" y="2049"/>
                    </a:lnTo>
                    <a:cubicBezTo>
                      <a:pt x="5009" y="2269"/>
                      <a:pt x="5230" y="2490"/>
                      <a:pt x="5451" y="2490"/>
                    </a:cubicBezTo>
                    <a:cubicBezTo>
                      <a:pt x="5703" y="2490"/>
                      <a:pt x="5860" y="2269"/>
                      <a:pt x="5860" y="2049"/>
                    </a:cubicBezTo>
                    <a:lnTo>
                      <a:pt x="5860" y="410"/>
                    </a:lnTo>
                    <a:cubicBezTo>
                      <a:pt x="5860" y="158"/>
                      <a:pt x="5640" y="1"/>
                      <a:pt x="5419" y="1"/>
                    </a:cubicBezTo>
                    <a:close/>
                  </a:path>
                </a:pathLst>
              </a:custGeom>
              <a:solidFill>
                <a:srgbClr val="E89D0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ED8FED94-221E-D61F-429C-874B96C41C0C}"/>
              </a:ext>
            </a:extLst>
          </p:cNvPr>
          <p:cNvSpPr txBox="1"/>
          <p:nvPr/>
        </p:nvSpPr>
        <p:spPr>
          <a:xfrm>
            <a:off x="866123" y="2426759"/>
            <a:ext cx="29064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solidFill>
                  <a:srgbClr val="17375E"/>
                </a:solidFill>
                <a:effectLst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Spark Avancé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17375E"/>
                </a:solidFill>
                <a:uLnTx/>
                <a:uFillTx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Intégration </a:t>
            </a:r>
            <a:r>
              <a:rPr kumimoji="0" lang="fr-FR" b="1" i="0" u="none" strike="noStrike" kern="1200" cap="none" spc="0" normalizeH="0" baseline="0" noProof="0" dirty="0" err="1">
                <a:ln>
                  <a:noFill/>
                </a:ln>
                <a:solidFill>
                  <a:srgbClr val="17375E"/>
                </a:solidFill>
                <a:uLnTx/>
                <a:uFillTx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Kaf</a:t>
            </a:r>
            <a:r>
              <a:rPr lang="fr-FR" b="1" dirty="0">
                <a:solidFill>
                  <a:srgbClr val="17375E"/>
                </a:solidFill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ka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pic>
        <p:nvPicPr>
          <p:cNvPr id="12" name="Image 11" descr="Une image contenant Police, logo, Graphique, symbole&#10;&#10;Description générée automatiquement">
            <a:extLst>
              <a:ext uri="{FF2B5EF4-FFF2-40B4-BE49-F238E27FC236}">
                <a16:creationId xmlns:a16="http://schemas.microsoft.com/office/drawing/2014/main" id="{2E6698BC-47B7-0035-A30B-07E4D74BE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696" y="1422768"/>
            <a:ext cx="1833563" cy="1033463"/>
          </a:xfrm>
          <a:prstGeom prst="rect">
            <a:avLst/>
          </a:prstGeom>
        </p:spPr>
      </p:pic>
      <p:pic>
        <p:nvPicPr>
          <p:cNvPr id="2" name="Picture 3">
            <a:extLst>
              <a:ext uri="{FF2B5EF4-FFF2-40B4-BE49-F238E27FC236}">
                <a16:creationId xmlns:a16="http://schemas.microsoft.com/office/drawing/2014/main" id="{9971AD4C-61B2-E54F-348A-AD68E0D81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642" y="208193"/>
            <a:ext cx="1679880" cy="87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99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510A95A0-53DE-E2CE-4E14-43866D0C249D}"/>
              </a:ext>
            </a:extLst>
          </p:cNvPr>
          <p:cNvSpPr txBox="1"/>
          <p:nvPr/>
        </p:nvSpPr>
        <p:spPr>
          <a:xfrm>
            <a:off x="702127" y="1048864"/>
            <a:ext cx="7943850" cy="248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Tout le support d’exercice est constitué de la même manière: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Les objectifs de l’exercice: quel est l’intérêt de l’exercice ?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Un descriptif global des étapes à réaliser qui doit permettre de faire l’exercice en connaissant les notions abordées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Le résultat de l’exercice sous forme de copies d’’écran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La correction de l’exercice étape par étape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grpSp>
        <p:nvGrpSpPr>
          <p:cNvPr id="43" name="Google Shape;229;p17">
            <a:extLst>
              <a:ext uri="{FF2B5EF4-FFF2-40B4-BE49-F238E27FC236}">
                <a16:creationId xmlns:a16="http://schemas.microsoft.com/office/drawing/2014/main" id="{8050A46D-E5DF-230C-1D3D-C45C7E91D88C}"/>
              </a:ext>
            </a:extLst>
          </p:cNvPr>
          <p:cNvGrpSpPr/>
          <p:nvPr/>
        </p:nvGrpSpPr>
        <p:grpSpPr>
          <a:xfrm>
            <a:off x="253089" y="58794"/>
            <a:ext cx="3073828" cy="952920"/>
            <a:chOff x="457200" y="3624815"/>
            <a:chExt cx="3073828" cy="952920"/>
          </a:xfrm>
          <a:solidFill>
            <a:srgbClr val="E89D06"/>
          </a:solidFill>
        </p:grpSpPr>
        <p:sp>
          <p:nvSpPr>
            <p:cNvPr id="46" name="Google Shape;230;p17">
              <a:extLst>
                <a:ext uri="{FF2B5EF4-FFF2-40B4-BE49-F238E27FC236}">
                  <a16:creationId xmlns:a16="http://schemas.microsoft.com/office/drawing/2014/main" id="{15404E31-4A3C-09C1-2702-844D6EC923CB}"/>
                </a:ext>
              </a:extLst>
            </p:cNvPr>
            <p:cNvSpPr/>
            <p:nvPr/>
          </p:nvSpPr>
          <p:spPr>
            <a:xfrm>
              <a:off x="932635" y="3624815"/>
              <a:ext cx="2598393" cy="952920"/>
            </a:xfrm>
            <a:custGeom>
              <a:avLst/>
              <a:gdLst/>
              <a:ahLst/>
              <a:cxnLst/>
              <a:rect l="l" t="t" r="r" b="b"/>
              <a:pathLst>
                <a:path w="12451" h="8780" extrusionOk="0">
                  <a:moveTo>
                    <a:pt x="0" y="0"/>
                  </a:moveTo>
                  <a:lnTo>
                    <a:pt x="0" y="8780"/>
                  </a:lnTo>
                  <a:lnTo>
                    <a:pt x="12101" y="8780"/>
                  </a:lnTo>
                  <a:cubicBezTo>
                    <a:pt x="12289" y="8780"/>
                    <a:pt x="12451" y="8618"/>
                    <a:pt x="12451" y="8428"/>
                  </a:cubicBezTo>
                  <a:lnTo>
                    <a:pt x="12451" y="378"/>
                  </a:lnTo>
                  <a:cubicBezTo>
                    <a:pt x="12451" y="162"/>
                    <a:pt x="12289" y="0"/>
                    <a:pt x="12101" y="0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85725" dist="57150" dir="12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31;p17">
              <a:extLst>
                <a:ext uri="{FF2B5EF4-FFF2-40B4-BE49-F238E27FC236}">
                  <a16:creationId xmlns:a16="http://schemas.microsoft.com/office/drawing/2014/main" id="{9721E7DF-0628-6CA8-3F7B-6A37732AFEBB}"/>
                </a:ext>
              </a:extLst>
            </p:cNvPr>
            <p:cNvSpPr/>
            <p:nvPr/>
          </p:nvSpPr>
          <p:spPr>
            <a:xfrm>
              <a:off x="457200" y="3624815"/>
              <a:ext cx="530346" cy="952920"/>
            </a:xfrm>
            <a:custGeom>
              <a:avLst/>
              <a:gdLst/>
              <a:ahLst/>
              <a:cxnLst/>
              <a:rect l="l" t="t" r="r" b="b"/>
              <a:pathLst>
                <a:path w="3325" h="6646" extrusionOk="0">
                  <a:moveTo>
                    <a:pt x="3324" y="1"/>
                  </a:moveTo>
                  <a:cubicBezTo>
                    <a:pt x="1488" y="1"/>
                    <a:pt x="1" y="1487"/>
                    <a:pt x="1" y="3324"/>
                  </a:cubicBezTo>
                  <a:cubicBezTo>
                    <a:pt x="1" y="5161"/>
                    <a:pt x="1488" y="6645"/>
                    <a:pt x="3324" y="6645"/>
                  </a:cubicBezTo>
                  <a:lnTo>
                    <a:pt x="3324" y="1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71438" dist="57150" dir="114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32;p17">
              <a:extLst>
                <a:ext uri="{FF2B5EF4-FFF2-40B4-BE49-F238E27FC236}">
                  <a16:creationId xmlns:a16="http://schemas.microsoft.com/office/drawing/2014/main" id="{64BC68AD-6A69-B568-F712-AF19EEB78275}"/>
                </a:ext>
              </a:extLst>
            </p:cNvPr>
            <p:cNvSpPr txBox="1"/>
            <p:nvPr/>
          </p:nvSpPr>
          <p:spPr>
            <a:xfrm>
              <a:off x="602635" y="3912335"/>
              <a:ext cx="330000" cy="387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+</a:t>
              </a:r>
              <a:endParaRPr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0EC7B5A5-E640-1B4A-17B0-914F60AD1A58}"/>
              </a:ext>
            </a:extLst>
          </p:cNvPr>
          <p:cNvSpPr txBox="1"/>
          <p:nvPr/>
        </p:nvSpPr>
        <p:spPr>
          <a:xfrm>
            <a:off x="824976" y="311564"/>
            <a:ext cx="2977376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Organisation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4C3097B-0D2C-CB46-8829-E0A26E71B7D5}"/>
              </a:ext>
            </a:extLst>
          </p:cNvPr>
          <p:cNvSpPr txBox="1"/>
          <p:nvPr/>
        </p:nvSpPr>
        <p:spPr>
          <a:xfrm>
            <a:off x="3363493" y="335199"/>
            <a:ext cx="560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900"/>
              </a:spcBef>
            </a:pPr>
            <a:r>
              <a:rPr lang="fr-FR" sz="2000" b="1" dirty="0">
                <a:solidFill>
                  <a:srgbClr val="ED7D31"/>
                </a:solidFill>
                <a:latin typeface="Arial Unicode MS"/>
              </a:rPr>
              <a:t>Organisation des exercices</a:t>
            </a:r>
          </a:p>
        </p:txBody>
      </p:sp>
    </p:spTree>
    <p:extLst>
      <p:ext uri="{BB962C8B-B14F-4D97-AF65-F5344CB8AC3E}">
        <p14:creationId xmlns:p14="http://schemas.microsoft.com/office/powerpoint/2010/main" val="1764122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49C87-754C-BA68-6C30-A743D9F26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59F67-5460-4E0A-DAF6-73EA8D2B7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641" y="1299234"/>
            <a:ext cx="7865109" cy="1447800"/>
          </a:xfrm>
        </p:spPr>
        <p:txBody>
          <a:bodyPr>
            <a:normAutofit/>
          </a:bodyPr>
          <a:lstStyle/>
          <a:p>
            <a:r>
              <a:rPr lang="fr-FR" dirty="0"/>
              <a:t>Préconisez une méthode pour identifier les anomalies pour chaque colonne.</a:t>
            </a:r>
          </a:p>
          <a:p>
            <a:r>
              <a:rPr lang="fr-FR" dirty="0"/>
              <a:t>Vérifiez que toutes les valeurs de la colonne ID sont uniques. S'agit-il de lignes dupliquées ?</a:t>
            </a:r>
          </a:p>
          <a:p>
            <a:r>
              <a:rPr lang="fr-FR" dirty="0"/>
              <a:t>Supprimez les lignes dupliquées (garder une copie)</a:t>
            </a:r>
          </a:p>
          <a:p>
            <a:r>
              <a:rPr lang="fr-FR" dirty="0"/>
              <a:t>Comptez, puis supprimez les lignes vides si vous en trouvez (attention au piège)</a:t>
            </a: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54FE3262-AE11-2F19-E671-3DC6A572F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Google Shape;230;p17">
            <a:extLst>
              <a:ext uri="{FF2B5EF4-FFF2-40B4-BE49-F238E27FC236}">
                <a16:creationId xmlns:a16="http://schemas.microsoft.com/office/drawing/2014/main" id="{3FA1F6BE-C1C1-67BB-0432-15A6718695BF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8" name="Google Shape;231;p17">
            <a:extLst>
              <a:ext uri="{FF2B5EF4-FFF2-40B4-BE49-F238E27FC236}">
                <a16:creationId xmlns:a16="http://schemas.microsoft.com/office/drawing/2014/main" id="{54CB7FC4-CC7B-8A66-878C-09BA6899AF05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2;p17">
            <a:extLst>
              <a:ext uri="{FF2B5EF4-FFF2-40B4-BE49-F238E27FC236}">
                <a16:creationId xmlns:a16="http://schemas.microsoft.com/office/drawing/2014/main" id="{704514A5-9554-E759-888A-CF51E1D2402B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4C19AAB-F29C-371E-73DB-9CA8384AFC71}"/>
              </a:ext>
            </a:extLst>
          </p:cNvPr>
          <p:cNvSpPr txBox="1"/>
          <p:nvPr/>
        </p:nvSpPr>
        <p:spPr>
          <a:xfrm>
            <a:off x="824975" y="311564"/>
            <a:ext cx="7581775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</p:txBody>
      </p:sp>
    </p:spTree>
    <p:extLst>
      <p:ext uri="{BB962C8B-B14F-4D97-AF65-F5344CB8AC3E}">
        <p14:creationId xmlns:p14="http://schemas.microsoft.com/office/powerpoint/2010/main" val="3915367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79300-05C0-6E18-450D-DA5046F33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2087C-A71E-784E-B1EF-8B203318C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524" y="1011714"/>
            <a:ext cx="7886700" cy="3263504"/>
          </a:xfrm>
        </p:spPr>
        <p:txBody>
          <a:bodyPr>
            <a:normAutofit/>
          </a:bodyPr>
          <a:lstStyle/>
          <a:p>
            <a:r>
              <a:rPr lang="fr-FR" dirty="0"/>
              <a:t>Préconisations</a:t>
            </a: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362FB9B-CCF6-5042-F8A6-8722E9FF7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13" y="1349045"/>
            <a:ext cx="7783313" cy="3688543"/>
          </a:xfrm>
          <a:prstGeom prst="rect">
            <a:avLst/>
          </a:prstGeom>
        </p:spPr>
      </p:pic>
      <p:sp>
        <p:nvSpPr>
          <p:cNvPr id="6" name="Titre 5">
            <a:extLst>
              <a:ext uri="{FF2B5EF4-FFF2-40B4-BE49-F238E27FC236}">
                <a16:creationId xmlns:a16="http://schemas.microsoft.com/office/drawing/2014/main" id="{B970895D-F089-0589-7CF3-F6222F9B2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Google Shape;230;p17">
            <a:extLst>
              <a:ext uri="{FF2B5EF4-FFF2-40B4-BE49-F238E27FC236}">
                <a16:creationId xmlns:a16="http://schemas.microsoft.com/office/drawing/2014/main" id="{339CF938-AF4D-5871-C89C-B3858AD6C74D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8" name="Google Shape;231;p17">
            <a:extLst>
              <a:ext uri="{FF2B5EF4-FFF2-40B4-BE49-F238E27FC236}">
                <a16:creationId xmlns:a16="http://schemas.microsoft.com/office/drawing/2014/main" id="{257A08DD-18A3-556D-3165-A16D97AE66A8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2;p17">
            <a:extLst>
              <a:ext uri="{FF2B5EF4-FFF2-40B4-BE49-F238E27FC236}">
                <a16:creationId xmlns:a16="http://schemas.microsoft.com/office/drawing/2014/main" id="{501BABCB-0F50-EDBC-5FE6-CDB4B8B3449A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C1966A4-3A2A-B378-E4CB-9FFF5CA3E26E}"/>
              </a:ext>
            </a:extLst>
          </p:cNvPr>
          <p:cNvSpPr txBox="1"/>
          <p:nvPr/>
        </p:nvSpPr>
        <p:spPr>
          <a:xfrm>
            <a:off x="824975" y="311564"/>
            <a:ext cx="7581775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</p:txBody>
      </p:sp>
    </p:spTree>
    <p:extLst>
      <p:ext uri="{BB962C8B-B14F-4D97-AF65-F5344CB8AC3E}">
        <p14:creationId xmlns:p14="http://schemas.microsoft.com/office/powerpoint/2010/main" val="680687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58BC6-2E65-2C52-BFBD-5319E511A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44E67-CDE3-43D8-B394-8965D6AC9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282" y="1105298"/>
            <a:ext cx="8382615" cy="3767180"/>
          </a:xfrm>
        </p:spPr>
        <p:txBody>
          <a:bodyPr wrap="square" lIns="0" tIns="0" rIns="0" bIns="0">
            <a:normAutofit lnSpcReduction="10000"/>
          </a:bodyPr>
          <a:lstStyle/>
          <a:p>
            <a:r>
              <a:rPr lang="fr-FR" dirty="0"/>
              <a:t>Vérifiez que toutes les valeurs de la colonne ID sont uniques</a:t>
            </a:r>
          </a:p>
          <a:p>
            <a:pPr lvl="1"/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n_rows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data.count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()</a:t>
            </a:r>
          </a:p>
          <a:p>
            <a:pPr lvl="1"/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non_unique_id_count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n_rows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 -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data.select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(["id"]).distinct().count()</a:t>
            </a:r>
          </a:p>
          <a:p>
            <a:pPr lvl="1"/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print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("le nombre de lignes avec des id dupliqués sont ",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non_unique_id_count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)</a:t>
            </a:r>
          </a:p>
          <a:p>
            <a:pPr lvl="1"/>
            <a:endParaRPr lang="fr-FR" sz="14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fr-FR" dirty="0"/>
              <a:t>Supprimez les lignes dupliquées (garder une copie)</a:t>
            </a:r>
          </a:p>
          <a:p>
            <a:pPr lvl="1"/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n_rows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data.count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()</a:t>
            </a:r>
          </a:p>
          <a:p>
            <a:pPr lvl="1"/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data =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data.drop_duplicates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()</a:t>
            </a:r>
          </a:p>
          <a:p>
            <a:pPr lvl="1"/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#Vérification</a:t>
            </a:r>
          </a:p>
          <a:p>
            <a:pPr lvl="1"/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print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("le nombre de lignes dupliquées sont ",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n_rows-data.distinct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().count())</a:t>
            </a:r>
          </a:p>
          <a:p>
            <a:pPr lvl="1"/>
            <a:endParaRPr lang="fr-FR" sz="14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fr-FR" dirty="0"/>
              <a:t>Comptez, puis supprimez les lignes vides si vous en trouvez (attention au piège: il faut </a:t>
            </a:r>
            <a:r>
              <a:rPr lang="fr-FR" dirty="0" err="1"/>
              <a:t>faut</a:t>
            </a:r>
            <a:r>
              <a:rPr lang="fr-FR" dirty="0"/>
              <a:t> faire un slice de la première colonne)</a:t>
            </a:r>
          </a:p>
          <a:p>
            <a:pPr lvl="1"/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n_rows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data.count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()</a:t>
            </a:r>
          </a:p>
          <a:p>
            <a:pPr lvl="1"/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data=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data.dropna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(how="all",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subset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=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data.columns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[1:])</a:t>
            </a:r>
          </a:p>
          <a:p>
            <a:pPr lvl="1"/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n_rows_tmp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data.count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()</a:t>
            </a:r>
          </a:p>
          <a:p>
            <a:pPr lvl="1"/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print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("le nombre de lignes nulles est",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n_rows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 -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n_rows_tmp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)</a:t>
            </a:r>
          </a:p>
          <a:p>
            <a:pPr lvl="1"/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n_rows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n_rows_tmp</a:t>
            </a:r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7246EEF6-A48D-8F81-85B1-054C781DC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Google Shape;230;p17">
            <a:extLst>
              <a:ext uri="{FF2B5EF4-FFF2-40B4-BE49-F238E27FC236}">
                <a16:creationId xmlns:a16="http://schemas.microsoft.com/office/drawing/2014/main" id="{A1DD03D5-5950-9C33-53C2-F30C37C8084D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7" name="Google Shape;231;p17">
            <a:extLst>
              <a:ext uri="{FF2B5EF4-FFF2-40B4-BE49-F238E27FC236}">
                <a16:creationId xmlns:a16="http://schemas.microsoft.com/office/drawing/2014/main" id="{54D8DCFF-3503-ED80-BDA3-FAE7F7B7102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8" name="Google Shape;232;p17">
            <a:extLst>
              <a:ext uri="{FF2B5EF4-FFF2-40B4-BE49-F238E27FC236}">
                <a16:creationId xmlns:a16="http://schemas.microsoft.com/office/drawing/2014/main" id="{6F7547CC-E6F2-7335-F1A8-64D44A9C2983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822CD39-2D73-3250-4F3C-892D43E919EB}"/>
              </a:ext>
            </a:extLst>
          </p:cNvPr>
          <p:cNvSpPr txBox="1"/>
          <p:nvPr/>
        </p:nvSpPr>
        <p:spPr>
          <a:xfrm>
            <a:off x="824975" y="311564"/>
            <a:ext cx="7581775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</p:txBody>
      </p:sp>
    </p:spTree>
    <p:extLst>
      <p:ext uri="{BB962C8B-B14F-4D97-AF65-F5344CB8AC3E}">
        <p14:creationId xmlns:p14="http://schemas.microsoft.com/office/powerpoint/2010/main" val="2787992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4667D-DD0D-3B5D-B940-3433F9CC7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F11DC-5C62-C88D-F03A-32950A8E6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398" y="1148154"/>
            <a:ext cx="7886700" cy="3263504"/>
          </a:xfrm>
        </p:spPr>
        <p:txBody>
          <a:bodyPr>
            <a:normAutofit/>
          </a:bodyPr>
          <a:lstStyle/>
          <a:p>
            <a:r>
              <a:rPr lang="fr-FR" dirty="0"/>
              <a:t>Résultat</a:t>
            </a: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D24CFD9-B860-3447-4DCA-35EC16BF2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13" y="1614818"/>
            <a:ext cx="8026371" cy="3018273"/>
          </a:xfrm>
          <a:prstGeom prst="rect">
            <a:avLst/>
          </a:prstGeom>
        </p:spPr>
      </p:pic>
      <p:sp>
        <p:nvSpPr>
          <p:cNvPr id="5" name="Titre 4">
            <a:extLst>
              <a:ext uri="{FF2B5EF4-FFF2-40B4-BE49-F238E27FC236}">
                <a16:creationId xmlns:a16="http://schemas.microsoft.com/office/drawing/2014/main" id="{AF055F55-CC11-7E58-0274-0CD3B897A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Google Shape;230;p17">
            <a:extLst>
              <a:ext uri="{FF2B5EF4-FFF2-40B4-BE49-F238E27FC236}">
                <a16:creationId xmlns:a16="http://schemas.microsoft.com/office/drawing/2014/main" id="{C7414676-4A10-3997-1F60-595BE0B2C095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8" name="Google Shape;231;p17">
            <a:extLst>
              <a:ext uri="{FF2B5EF4-FFF2-40B4-BE49-F238E27FC236}">
                <a16:creationId xmlns:a16="http://schemas.microsoft.com/office/drawing/2014/main" id="{7D973ED3-18F3-E69A-D018-5F1FE81F0468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2;p17">
            <a:extLst>
              <a:ext uri="{FF2B5EF4-FFF2-40B4-BE49-F238E27FC236}">
                <a16:creationId xmlns:a16="http://schemas.microsoft.com/office/drawing/2014/main" id="{C8BAC7A3-B12A-50C5-2696-25D3CD4D61C5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D14BF98-483C-8261-6995-53AA0FE2A9E7}"/>
              </a:ext>
            </a:extLst>
          </p:cNvPr>
          <p:cNvSpPr txBox="1"/>
          <p:nvPr/>
        </p:nvSpPr>
        <p:spPr>
          <a:xfrm>
            <a:off x="824975" y="311564"/>
            <a:ext cx="7581775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</p:txBody>
      </p:sp>
    </p:spTree>
    <p:extLst>
      <p:ext uri="{BB962C8B-B14F-4D97-AF65-F5344CB8AC3E}">
        <p14:creationId xmlns:p14="http://schemas.microsoft.com/office/powerpoint/2010/main" val="2376020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77076-7D45-14B8-6107-CB57A5594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3192B-B856-C28E-3995-8F7364AEF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68580" tIns="34290" rIns="68580" bIns="34290" rtlCol="0" anchor="ctr">
            <a:normAutofit fontScale="90000"/>
          </a:bodyPr>
          <a:lstStyle/>
          <a:p>
            <a:r>
              <a:rPr lang="fr-FR" kern="1400" spc="-38" dirty="0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 dirty="0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D9C07-B129-6FC3-B3E1-B9A87FC1D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177" y="1451816"/>
            <a:ext cx="7865109" cy="1447800"/>
          </a:xfrm>
        </p:spPr>
        <p:txBody>
          <a:bodyPr wrap="square" lIns="0" tIns="0" rIns="0" bIns="0">
            <a:normAutofit fontScale="92500" lnSpcReduction="10000"/>
          </a:bodyPr>
          <a:lstStyle/>
          <a:p>
            <a:r>
              <a:rPr lang="fr-FR" dirty="0"/>
              <a:t>Le responsable du sondage vous explique qu'un problème informatique a fait perdre certaines informations dans la base, comme les années de naissance et les année de permis. Comptez ces anomalies et affichez quelques lignes correspondantes à ces critères.</a:t>
            </a:r>
            <a:endParaRPr lang="en-US" dirty="0"/>
          </a:p>
          <a:p>
            <a:r>
              <a:rPr lang="fr-FR" dirty="0"/>
              <a:t>Vous décidez de supprimez ces lignes. Est-ce un bon choix ?</a:t>
            </a:r>
          </a:p>
          <a:p>
            <a:r>
              <a:rPr lang="fr-FR" dirty="0"/>
              <a:t>Supprimez les lignes et faites un </a:t>
            </a:r>
            <a:r>
              <a:rPr lang="fr-FR" dirty="0" err="1"/>
              <a:t>describe</a:t>
            </a:r>
            <a:r>
              <a:rPr lang="fr-FR" dirty="0"/>
              <a:t>. Que constatez-vous ?</a:t>
            </a:r>
          </a:p>
          <a:p>
            <a:endParaRPr lang="en-US" dirty="0"/>
          </a:p>
          <a:p>
            <a:pPr lvl="1"/>
            <a:endParaRPr lang="en-US" sz="1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11" name="Google Shape;230;p17">
            <a:extLst>
              <a:ext uri="{FF2B5EF4-FFF2-40B4-BE49-F238E27FC236}">
                <a16:creationId xmlns:a16="http://schemas.microsoft.com/office/drawing/2014/main" id="{8D54F6B2-F2EB-E420-792E-17ABFF57995A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2" name="Google Shape;231;p17">
            <a:extLst>
              <a:ext uri="{FF2B5EF4-FFF2-40B4-BE49-F238E27FC236}">
                <a16:creationId xmlns:a16="http://schemas.microsoft.com/office/drawing/2014/main" id="{DA704175-93F9-03C8-42C9-E39E3F77A3B0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3" name="Google Shape;232;p17">
            <a:extLst>
              <a:ext uri="{FF2B5EF4-FFF2-40B4-BE49-F238E27FC236}">
                <a16:creationId xmlns:a16="http://schemas.microsoft.com/office/drawing/2014/main" id="{B9D035F5-8FFD-5FCE-EBFF-3BE95370B3F4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9A74DF1-8E19-5AD3-A1A8-A27D2A05E952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numériques</a:t>
            </a:r>
          </a:p>
        </p:txBody>
      </p:sp>
    </p:spTree>
    <p:extLst>
      <p:ext uri="{BB962C8B-B14F-4D97-AF65-F5344CB8AC3E}">
        <p14:creationId xmlns:p14="http://schemas.microsoft.com/office/powerpoint/2010/main" val="962556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86FE6-D3D3-643D-91E2-897C564A5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C258B-4DCA-A448-B658-FA2CC5404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56" y="1200992"/>
            <a:ext cx="8382615" cy="2924960"/>
          </a:xfrm>
        </p:spPr>
        <p:txBody>
          <a:bodyPr wrap="square" lIns="0" tIns="0" rIns="0" bIns="0">
            <a:normAutofit fontScale="92500" lnSpcReduction="10000"/>
          </a:bodyPr>
          <a:lstStyle/>
          <a:p>
            <a:r>
              <a:rPr lang="fr-FR" dirty="0"/>
              <a:t>Compte les anomalies</a:t>
            </a:r>
          </a:p>
          <a:p>
            <a:pPr lvl="1">
              <a:lnSpc>
                <a:spcPct val="150000"/>
              </a:lnSpc>
            </a:pP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null_an_ap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data.filter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f.isnull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annee_permis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") &amp;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f.isnull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annee_naissance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")).count()</a:t>
            </a:r>
          </a:p>
          <a:p>
            <a:pPr lvl="1">
              <a:lnSpc>
                <a:spcPct val="150000"/>
              </a:lnSpc>
            </a:pP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print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("le nombre de lignes correspondant à ces critères est",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null_an_ap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data.filter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f.isnull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annee_permis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") &amp;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f.isnull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annee_naissance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")).show(10)</a:t>
            </a:r>
          </a:p>
          <a:p>
            <a:pPr lvl="1"/>
            <a:endParaRPr lang="fr-FR" sz="14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fr-FR" dirty="0"/>
              <a:t>Supprimez les anomalies</a:t>
            </a:r>
          </a:p>
          <a:p>
            <a:pPr lvl="1">
              <a:lnSpc>
                <a:spcPct val="150000"/>
              </a:lnSpc>
            </a:pPr>
            <a:r>
              <a:rPr lang="fr-FR" alt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rows_avant</a:t>
            </a:r>
            <a:r>
              <a:rPr lang="fr-FR" alt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 = </a:t>
            </a:r>
            <a:r>
              <a:rPr lang="fr-FR" alt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data.count</a:t>
            </a:r>
            <a:r>
              <a:rPr lang="fr-FR" alt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()</a:t>
            </a:r>
          </a:p>
          <a:p>
            <a:pPr lvl="1">
              <a:lnSpc>
                <a:spcPct val="150000"/>
              </a:lnSpc>
            </a:pPr>
            <a:r>
              <a:rPr lang="fr-FR" alt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data = </a:t>
            </a:r>
            <a:r>
              <a:rPr lang="fr-FR" alt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data.filter</a:t>
            </a:r>
            <a:r>
              <a:rPr lang="fr-FR" alt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</a:t>
            </a:r>
            <a:r>
              <a:rPr lang="fr-FR" alt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f.isnotnull</a:t>
            </a:r>
            <a:r>
              <a:rPr lang="fr-FR" alt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</a:t>
            </a:r>
            <a:r>
              <a:rPr lang="fr-FR" alt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annee_permis</a:t>
            </a:r>
            <a:r>
              <a:rPr lang="fr-FR" alt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") | </a:t>
            </a:r>
            <a:r>
              <a:rPr lang="fr-FR" alt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f.isnotnull</a:t>
            </a:r>
            <a:r>
              <a:rPr lang="fr-FR" alt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</a:t>
            </a:r>
            <a:r>
              <a:rPr lang="fr-FR" alt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annee_naissance</a:t>
            </a:r>
            <a:r>
              <a:rPr lang="fr-FR" alt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"))</a:t>
            </a:r>
          </a:p>
          <a:p>
            <a:pPr lvl="1">
              <a:lnSpc>
                <a:spcPct val="150000"/>
              </a:lnSpc>
            </a:pPr>
            <a:r>
              <a:rPr lang="fr-FR" alt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n_rows</a:t>
            </a:r>
            <a:r>
              <a:rPr lang="fr-FR" alt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 = </a:t>
            </a:r>
            <a:r>
              <a:rPr lang="fr-FR" alt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data.count</a:t>
            </a:r>
            <a:r>
              <a:rPr lang="fr-FR" alt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()</a:t>
            </a:r>
          </a:p>
          <a:p>
            <a:pPr lvl="1">
              <a:lnSpc>
                <a:spcPct val="150000"/>
              </a:lnSpc>
            </a:pPr>
            <a:r>
              <a:rPr lang="fr-FR" alt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n_rows_supprime</a:t>
            </a:r>
            <a:r>
              <a:rPr lang="fr-FR" alt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 = </a:t>
            </a:r>
            <a:r>
              <a:rPr lang="fr-FR" alt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n_rows</a:t>
            </a:r>
            <a:r>
              <a:rPr lang="fr-FR" alt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 - </a:t>
            </a:r>
            <a:r>
              <a:rPr lang="fr-FR" alt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n_rows_avant</a:t>
            </a:r>
            <a:endParaRPr lang="fr-FR" altLang="fr-FR" sz="14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fr-FR" alt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print</a:t>
            </a:r>
            <a:r>
              <a:rPr lang="fr-FR" alt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("Nombre de lignes </a:t>
            </a:r>
            <a:r>
              <a:rPr lang="fr-FR" alt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suppimées</a:t>
            </a:r>
            <a:r>
              <a:rPr lang="fr-FR" alt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 : ",</a:t>
            </a:r>
            <a:r>
              <a:rPr lang="fr-FR" alt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n_rows_supprime</a:t>
            </a:r>
            <a:r>
              <a:rPr lang="fr-FR" alt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)</a:t>
            </a:r>
          </a:p>
          <a:p>
            <a:pPr lvl="1"/>
            <a:endParaRPr lang="en-US" sz="14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/>
            <a:endParaRPr lang="en-US" sz="14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/>
            <a:endParaRPr lang="en-US" sz="1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991CB952-2B80-C480-D084-049C8F35A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9F570A1-1541-849F-7745-EC956B4CC4BD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Google Shape;230;p17">
            <a:extLst>
              <a:ext uri="{FF2B5EF4-FFF2-40B4-BE49-F238E27FC236}">
                <a16:creationId xmlns:a16="http://schemas.microsoft.com/office/drawing/2014/main" id="{8FFE8F92-D094-E168-BC49-F6173AAAB285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8" name="Google Shape;231;p17">
            <a:extLst>
              <a:ext uri="{FF2B5EF4-FFF2-40B4-BE49-F238E27FC236}">
                <a16:creationId xmlns:a16="http://schemas.microsoft.com/office/drawing/2014/main" id="{2A4E15A1-2ADC-5D46-EB56-8302DFE646EF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2;p17">
            <a:extLst>
              <a:ext uri="{FF2B5EF4-FFF2-40B4-BE49-F238E27FC236}">
                <a16:creationId xmlns:a16="http://schemas.microsoft.com/office/drawing/2014/main" id="{7D9993C2-96BE-E1C1-FF84-F65326BFE3A2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D7D189E-F0E9-DC8C-0498-DD819A067163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numériques</a:t>
            </a:r>
          </a:p>
        </p:txBody>
      </p:sp>
    </p:spTree>
    <p:extLst>
      <p:ext uri="{BB962C8B-B14F-4D97-AF65-F5344CB8AC3E}">
        <p14:creationId xmlns:p14="http://schemas.microsoft.com/office/powerpoint/2010/main" val="420802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60B02-571D-C51F-6422-16656D7B5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9897B-7F97-5809-C589-16C0F8A3E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832" y="1021134"/>
            <a:ext cx="7886700" cy="3263504"/>
          </a:xfrm>
        </p:spPr>
        <p:txBody>
          <a:bodyPr>
            <a:normAutofit/>
          </a:bodyPr>
          <a:lstStyle/>
          <a:p>
            <a:r>
              <a:rPr lang="fr-FR" dirty="0"/>
              <a:t>Résultat</a:t>
            </a: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DA0ACBA-B8D6-3FF3-6BF4-807CE9FCC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230" y="1243362"/>
            <a:ext cx="7036469" cy="3841188"/>
          </a:xfrm>
          <a:prstGeom prst="rect">
            <a:avLst/>
          </a:prstGeom>
        </p:spPr>
      </p:pic>
      <p:sp>
        <p:nvSpPr>
          <p:cNvPr id="6" name="Titre 5">
            <a:extLst>
              <a:ext uri="{FF2B5EF4-FFF2-40B4-BE49-F238E27FC236}">
                <a16:creationId xmlns:a16="http://schemas.microsoft.com/office/drawing/2014/main" id="{3D69411F-EC65-EA9C-7B0D-D2C336C52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94E5EBE-5817-071D-2880-7680E60237A5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Google Shape;230;p17">
            <a:extLst>
              <a:ext uri="{FF2B5EF4-FFF2-40B4-BE49-F238E27FC236}">
                <a16:creationId xmlns:a16="http://schemas.microsoft.com/office/drawing/2014/main" id="{A851B6A1-A51F-6175-41EE-511ED1063AFA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1;p17">
            <a:extLst>
              <a:ext uri="{FF2B5EF4-FFF2-40B4-BE49-F238E27FC236}">
                <a16:creationId xmlns:a16="http://schemas.microsoft.com/office/drawing/2014/main" id="{F1DDCDBF-634D-EFF0-D2A1-7C0A934EF9D4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0" name="Google Shape;232;p17">
            <a:extLst>
              <a:ext uri="{FF2B5EF4-FFF2-40B4-BE49-F238E27FC236}">
                <a16:creationId xmlns:a16="http://schemas.microsoft.com/office/drawing/2014/main" id="{F8B7BABF-ED33-EC30-9BB7-B399541C012A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BD37767-D66B-BD33-4540-A51734080451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numériques</a:t>
            </a:r>
          </a:p>
        </p:txBody>
      </p:sp>
    </p:spTree>
    <p:extLst>
      <p:ext uri="{BB962C8B-B14F-4D97-AF65-F5344CB8AC3E}">
        <p14:creationId xmlns:p14="http://schemas.microsoft.com/office/powerpoint/2010/main" val="713112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B8B0C-A602-70D4-DB43-54A589314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5DACD-1460-2903-6F3F-F4BA65664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83469"/>
            <a:ext cx="7886700" cy="3263504"/>
          </a:xfrm>
        </p:spPr>
        <p:txBody>
          <a:bodyPr wrap="square" lIns="0" tIns="0" rIns="0" bIns="0">
            <a:normAutofit/>
          </a:bodyPr>
          <a:lstStyle/>
          <a:p>
            <a:r>
              <a:rPr lang="fr-FR" dirty="0"/>
              <a:t>Supprimez toutes les lignes qui contiennent au moins une valeur nulle. Vérifiez avec </a:t>
            </a:r>
            <a:r>
              <a:rPr lang="fr-FR" dirty="0" err="1"/>
              <a:t>describe</a:t>
            </a:r>
            <a:r>
              <a:rPr lang="fr-FR" dirty="0"/>
              <a:t>.</a:t>
            </a:r>
          </a:p>
          <a:p>
            <a:pPr lvl="1">
              <a:lnSpc>
                <a:spcPct val="150000"/>
              </a:lnSpc>
            </a:pP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data =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data.dropna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()</a:t>
            </a:r>
            <a:endParaRPr lang="en-US" sz="14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sz="1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E18F0D1-ADA3-602F-426D-0C426C40A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027427"/>
            <a:ext cx="8288662" cy="2822160"/>
          </a:xfrm>
          <a:prstGeom prst="rect">
            <a:avLst/>
          </a:prstGeom>
        </p:spPr>
      </p:pic>
      <p:sp>
        <p:nvSpPr>
          <p:cNvPr id="6" name="Titre 5">
            <a:extLst>
              <a:ext uri="{FF2B5EF4-FFF2-40B4-BE49-F238E27FC236}">
                <a16:creationId xmlns:a16="http://schemas.microsoft.com/office/drawing/2014/main" id="{727894EC-70B9-5587-4384-DB18CF8DF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8788E4D-3628-09C7-003C-EC9EC8577CC4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Google Shape;230;p17">
            <a:extLst>
              <a:ext uri="{FF2B5EF4-FFF2-40B4-BE49-F238E27FC236}">
                <a16:creationId xmlns:a16="http://schemas.microsoft.com/office/drawing/2014/main" id="{835CCE19-FE2C-2BB4-8338-FC608ED88D08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1;p17">
            <a:extLst>
              <a:ext uri="{FF2B5EF4-FFF2-40B4-BE49-F238E27FC236}">
                <a16:creationId xmlns:a16="http://schemas.microsoft.com/office/drawing/2014/main" id="{5E02A126-AD4E-1E35-193B-3B86492E47D4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0" name="Google Shape;232;p17">
            <a:extLst>
              <a:ext uri="{FF2B5EF4-FFF2-40B4-BE49-F238E27FC236}">
                <a16:creationId xmlns:a16="http://schemas.microsoft.com/office/drawing/2014/main" id="{7DB054E6-8343-38B5-5280-938029DB656A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D5818C8-5098-B33D-12C0-5ED36B04D22C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numériques</a:t>
            </a:r>
          </a:p>
        </p:txBody>
      </p:sp>
    </p:spTree>
    <p:extLst>
      <p:ext uri="{BB962C8B-B14F-4D97-AF65-F5344CB8AC3E}">
        <p14:creationId xmlns:p14="http://schemas.microsoft.com/office/powerpoint/2010/main" val="3809450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8F5B8-51AC-A9F7-95EF-BF3358376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95F03-6B5D-86DA-93FE-9B9AA28EA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262" y="1266793"/>
            <a:ext cx="8483747" cy="1698326"/>
          </a:xfrm>
        </p:spPr>
        <p:txBody>
          <a:bodyPr wrap="square" lIns="0" tIns="0" rIns="0" bIns="0">
            <a:normAutofit/>
          </a:bodyPr>
          <a:lstStyle/>
          <a:p>
            <a:r>
              <a:rPr lang="fr-FR" dirty="0"/>
              <a:t>Utilisez la fonction </a:t>
            </a:r>
            <a:r>
              <a:rPr lang="fr-FR" dirty="0" err="1"/>
              <a:t>histplot</a:t>
            </a:r>
            <a:r>
              <a:rPr lang="fr-FR" dirty="0"/>
              <a:t> de du package </a:t>
            </a:r>
            <a:r>
              <a:rPr lang="fr-FR" dirty="0" err="1"/>
              <a:t>seaborn</a:t>
            </a:r>
            <a:r>
              <a:rPr lang="fr-FR" dirty="0"/>
              <a:t> pour afficher les histogrammes de toutes les variables numériques (utilisez </a:t>
            </a:r>
            <a:r>
              <a:rPr lang="fr-FR" dirty="0" err="1"/>
              <a:t>kde</a:t>
            </a:r>
            <a:r>
              <a:rPr lang="fr-FR" dirty="0"/>
              <a:t>=</a:t>
            </a:r>
            <a:r>
              <a:rPr lang="fr-FR" dirty="0" err="1"/>
              <a:t>True</a:t>
            </a:r>
            <a:r>
              <a:rPr lang="fr-FR" dirty="0"/>
              <a:t>)</a:t>
            </a:r>
          </a:p>
          <a:p>
            <a:r>
              <a:rPr lang="fr-FR" dirty="0"/>
              <a:t>Utilisez la fonction </a:t>
            </a:r>
            <a:r>
              <a:rPr lang="fr-FR" dirty="0" err="1"/>
              <a:t>boxplot</a:t>
            </a:r>
            <a:r>
              <a:rPr lang="fr-FR" dirty="0"/>
              <a:t> de </a:t>
            </a:r>
            <a:r>
              <a:rPr lang="fr-FR" dirty="0" err="1"/>
              <a:t>seaborn</a:t>
            </a:r>
            <a:r>
              <a:rPr lang="fr-FR" dirty="0"/>
              <a:t> avec les mêmes données que la question précédente</a:t>
            </a:r>
          </a:p>
          <a:p>
            <a:r>
              <a:rPr lang="fr-FR" dirty="0"/>
              <a:t>Commentez les graphiques.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1C2945CC-8427-05A2-4FCB-7FA80A3A9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40F7039-F021-0C5B-3AEE-1B545B9CB346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Google Shape;230;p17">
            <a:extLst>
              <a:ext uri="{FF2B5EF4-FFF2-40B4-BE49-F238E27FC236}">
                <a16:creationId xmlns:a16="http://schemas.microsoft.com/office/drawing/2014/main" id="{E143E44D-A6ED-C423-03E1-D18CF5AA2F40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8" name="Google Shape;231;p17">
            <a:extLst>
              <a:ext uri="{FF2B5EF4-FFF2-40B4-BE49-F238E27FC236}">
                <a16:creationId xmlns:a16="http://schemas.microsoft.com/office/drawing/2014/main" id="{956395D1-BA37-B698-97F8-0D414965DABF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2;p17">
            <a:extLst>
              <a:ext uri="{FF2B5EF4-FFF2-40B4-BE49-F238E27FC236}">
                <a16:creationId xmlns:a16="http://schemas.microsoft.com/office/drawing/2014/main" id="{B0159CE6-AAA6-91B3-131F-2044DD55C0A4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6A40BEB-0929-6A37-69BA-24D92282B267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numériques</a:t>
            </a:r>
          </a:p>
        </p:txBody>
      </p:sp>
    </p:spTree>
    <p:extLst>
      <p:ext uri="{BB962C8B-B14F-4D97-AF65-F5344CB8AC3E}">
        <p14:creationId xmlns:p14="http://schemas.microsoft.com/office/powerpoint/2010/main" val="2125040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F09A0-7B84-6EB1-88D1-D197ABEEE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D5294-F6C2-0B2C-C8F0-1055AC934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524" y="979273"/>
            <a:ext cx="8492387" cy="4113494"/>
          </a:xfrm>
        </p:spPr>
        <p:txBody>
          <a:bodyPr wrap="square" lIns="0" tIns="0" rIns="0" bIns="0">
            <a:normAutofit fontScale="85000" lnSpcReduction="20000"/>
          </a:bodyPr>
          <a:lstStyle/>
          <a:p>
            <a:r>
              <a:rPr lang="fr-FR" dirty="0"/>
              <a:t>Script.</a:t>
            </a:r>
          </a:p>
          <a:p>
            <a:pPr>
              <a:lnSpc>
                <a:spcPct val="150000"/>
              </a:lnSpc>
            </a:pP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num_vars_cols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 = ['annee_naissance','annee_permis','puis_fiscale','anc_veh','kmage_annuel','crm','var1','prime_tot_ttc']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fig, 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axs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plt.subplots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(2, 4, 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figsize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=(21, 10))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subs = {'annee_naissance':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axs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[0,0],'annee_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permis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':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axs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[0,1],'puis_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fiscale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':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axs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[0,2],'anc_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veh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':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axs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[0,3],'kmage_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annuel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':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axs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[1,0],'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crm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':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axs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[1,1],'var1':axs[1,2],'prime_tot_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ttc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':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axs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[1,3]}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for 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c_name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 in 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num_vars_cols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    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sns.histplot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(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data.select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(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c_name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).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toPandas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(),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kde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=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True,binwidth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=2,ax=subs[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c_name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])</a:t>
            </a:r>
          </a:p>
          <a:p>
            <a:pPr>
              <a:lnSpc>
                <a:spcPct val="150000"/>
              </a:lnSpc>
            </a:pP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plt.show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plt.figure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fig, 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axs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plt.subplots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(2, 4, 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figsize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=(21, 10))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subs = {'annee_naissance':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axs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[0,0],'annee_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permis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':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axs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[0,1],'puis_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fiscale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':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axs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[0,2],'anc_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veh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':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axs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[0,3],'kmage_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annuel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':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axs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[1,0],'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crm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':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axs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[1,1],'var1':axs[1,2],'prime_tot_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ttc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':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axs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[1,3]}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for 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c_name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 in 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num_vars_cols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    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sns.boxplot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(x=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data.select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(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c_name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).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toPandas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()[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c_name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],ax=subs[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c_name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])</a:t>
            </a:r>
          </a:p>
          <a:p>
            <a:pPr>
              <a:lnSpc>
                <a:spcPct val="150000"/>
              </a:lnSpc>
            </a:pP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plt.show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()</a:t>
            </a:r>
          </a:p>
          <a:p>
            <a:pPr lvl="1">
              <a:lnSpc>
                <a:spcPct val="150000"/>
              </a:lnSpc>
            </a:pPr>
            <a:endParaRPr lang="en-US" sz="1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35C05DB8-0129-64C6-D55D-19E85FF48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00A7D26-CCFC-23BF-8DFC-D558A3804BB8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Google Shape;230;p17">
            <a:extLst>
              <a:ext uri="{FF2B5EF4-FFF2-40B4-BE49-F238E27FC236}">
                <a16:creationId xmlns:a16="http://schemas.microsoft.com/office/drawing/2014/main" id="{6E1C75B5-8A36-7EF8-8369-68221369326B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8" name="Google Shape;231;p17">
            <a:extLst>
              <a:ext uri="{FF2B5EF4-FFF2-40B4-BE49-F238E27FC236}">
                <a16:creationId xmlns:a16="http://schemas.microsoft.com/office/drawing/2014/main" id="{86C34D1B-C52B-154B-0876-949DBCD16930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2;p17">
            <a:extLst>
              <a:ext uri="{FF2B5EF4-FFF2-40B4-BE49-F238E27FC236}">
                <a16:creationId xmlns:a16="http://schemas.microsoft.com/office/drawing/2014/main" id="{26CDABFC-CAEB-0A09-05D3-0AC43424BD78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D53084C-B64A-06B7-C6DD-FA7BD15D9FDB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numériques</a:t>
            </a:r>
          </a:p>
        </p:txBody>
      </p:sp>
    </p:spTree>
    <p:extLst>
      <p:ext uri="{BB962C8B-B14F-4D97-AF65-F5344CB8AC3E}">
        <p14:creationId xmlns:p14="http://schemas.microsoft.com/office/powerpoint/2010/main" val="373330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D7C4C-CA6C-FAF4-09EF-6BB9B901B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32053-E695-F7D7-B0E9-02345475B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832" y="1021134"/>
            <a:ext cx="7886700" cy="3263504"/>
          </a:xfrm>
        </p:spPr>
        <p:txBody>
          <a:bodyPr>
            <a:normAutofit/>
          </a:bodyPr>
          <a:lstStyle/>
          <a:p>
            <a:r>
              <a:rPr lang="fr-FR" dirty="0"/>
              <a:t>Résultat: </a:t>
            </a:r>
            <a:r>
              <a:rPr lang="en-US" dirty="0" err="1">
                <a:solidFill>
                  <a:srgbClr val="222222"/>
                </a:solidFill>
                <a:latin typeface="Arial" panose="020B0604020202020204" pitchFamily="34" charset="0"/>
              </a:rPr>
              <a:t>sns.histplot</a:t>
            </a:r>
            <a:endParaRPr lang="fr-FR" dirty="0"/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EDE7300-503C-C73E-467D-8E2FDDE8C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517" y="1320314"/>
            <a:ext cx="7768937" cy="3610914"/>
          </a:xfrm>
          <a:prstGeom prst="rect">
            <a:avLst/>
          </a:prstGeom>
        </p:spPr>
      </p:pic>
      <p:sp>
        <p:nvSpPr>
          <p:cNvPr id="5" name="Titre 4">
            <a:extLst>
              <a:ext uri="{FF2B5EF4-FFF2-40B4-BE49-F238E27FC236}">
                <a16:creationId xmlns:a16="http://schemas.microsoft.com/office/drawing/2014/main" id="{C89A3C24-BA73-9FB7-F55D-E410F09D7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86D310D-D25B-0C74-3FA4-5BA5A848C650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Google Shape;230;p17">
            <a:extLst>
              <a:ext uri="{FF2B5EF4-FFF2-40B4-BE49-F238E27FC236}">
                <a16:creationId xmlns:a16="http://schemas.microsoft.com/office/drawing/2014/main" id="{625E8B8B-A164-9FA4-1D9D-7E6C0CD89C27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1;p17">
            <a:extLst>
              <a:ext uri="{FF2B5EF4-FFF2-40B4-BE49-F238E27FC236}">
                <a16:creationId xmlns:a16="http://schemas.microsoft.com/office/drawing/2014/main" id="{F731BAAC-8F56-53E0-E08C-7B67FF9F6766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0" name="Google Shape;232;p17">
            <a:extLst>
              <a:ext uri="{FF2B5EF4-FFF2-40B4-BE49-F238E27FC236}">
                <a16:creationId xmlns:a16="http://schemas.microsoft.com/office/drawing/2014/main" id="{70BA41FA-033F-F619-EADC-4EBFD1C80841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4D9401F-4D6A-DC12-39FE-D0FEA37BC41A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numériques</a:t>
            </a:r>
          </a:p>
        </p:txBody>
      </p:sp>
    </p:spTree>
    <p:extLst>
      <p:ext uri="{BB962C8B-B14F-4D97-AF65-F5344CB8AC3E}">
        <p14:creationId xmlns:p14="http://schemas.microsoft.com/office/powerpoint/2010/main" val="668264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839D5-5F00-F801-6E31-21651D99C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ADD95-AAB2-C5F4-91AF-EAD193615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021134"/>
            <a:ext cx="7886700" cy="3263504"/>
          </a:xfrm>
        </p:spPr>
        <p:txBody>
          <a:bodyPr>
            <a:normAutofit/>
          </a:bodyPr>
          <a:lstStyle/>
          <a:p>
            <a:r>
              <a:rPr lang="fr-FR" dirty="0"/>
              <a:t>Résultat: </a:t>
            </a:r>
            <a:r>
              <a:rPr lang="en-US" dirty="0" err="1">
                <a:solidFill>
                  <a:srgbClr val="222222"/>
                </a:solidFill>
                <a:latin typeface="Arial" panose="020B0604020202020204" pitchFamily="34" charset="0"/>
              </a:rPr>
              <a:t>sns.boxplot</a:t>
            </a:r>
            <a:endParaRPr lang="fr-FR" dirty="0"/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E09D71E-165F-DF4E-BC74-43EA6B49D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04" y="1356835"/>
            <a:ext cx="7282543" cy="3787745"/>
          </a:xfrm>
          <a:prstGeom prst="rect">
            <a:avLst/>
          </a:prstGeom>
        </p:spPr>
      </p:pic>
      <p:sp>
        <p:nvSpPr>
          <p:cNvPr id="6" name="Titre 5">
            <a:extLst>
              <a:ext uri="{FF2B5EF4-FFF2-40B4-BE49-F238E27FC236}">
                <a16:creationId xmlns:a16="http://schemas.microsoft.com/office/drawing/2014/main" id="{51DB9AA1-0A98-D195-A461-D07E2BEBE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DE176F-0965-6888-2622-3ED2441793EC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Google Shape;230;p17">
            <a:extLst>
              <a:ext uri="{FF2B5EF4-FFF2-40B4-BE49-F238E27FC236}">
                <a16:creationId xmlns:a16="http://schemas.microsoft.com/office/drawing/2014/main" id="{B8DEC6A7-6DD3-24A5-A8FB-E7A77D053DAE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1;p17">
            <a:extLst>
              <a:ext uri="{FF2B5EF4-FFF2-40B4-BE49-F238E27FC236}">
                <a16:creationId xmlns:a16="http://schemas.microsoft.com/office/drawing/2014/main" id="{8C951550-2EBC-A8C0-9828-1F304B4E86E9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0" name="Google Shape;232;p17">
            <a:extLst>
              <a:ext uri="{FF2B5EF4-FFF2-40B4-BE49-F238E27FC236}">
                <a16:creationId xmlns:a16="http://schemas.microsoft.com/office/drawing/2014/main" id="{D6EBE290-26F6-BA80-E58F-F3A259C1B098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580ADDF-252A-5B9C-A411-16E607A382B3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numériques</a:t>
            </a:r>
          </a:p>
        </p:txBody>
      </p:sp>
    </p:spTree>
    <p:extLst>
      <p:ext uri="{BB962C8B-B14F-4D97-AF65-F5344CB8AC3E}">
        <p14:creationId xmlns:p14="http://schemas.microsoft.com/office/powerpoint/2010/main" val="181379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FFDC4-658D-C72C-9F0B-44DBC1C0C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0DDA7-FEDF-1DD6-D0F9-77308699A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141895"/>
            <a:ext cx="7886700" cy="3263504"/>
          </a:xfrm>
        </p:spPr>
        <p:txBody>
          <a:bodyPr>
            <a:normAutofit/>
          </a:bodyPr>
          <a:lstStyle/>
          <a:p>
            <a:r>
              <a:rPr lang="fr-FR" dirty="0"/>
              <a:t>Commentaires</a:t>
            </a: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F033E06-6171-4DE4-3D3A-4DDCB6738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1" y="1536965"/>
            <a:ext cx="8147957" cy="1800485"/>
          </a:xfrm>
          <a:prstGeom prst="rect">
            <a:avLst/>
          </a:prstGeom>
        </p:spPr>
      </p:pic>
      <p:sp>
        <p:nvSpPr>
          <p:cNvPr id="5" name="Titre 4">
            <a:extLst>
              <a:ext uri="{FF2B5EF4-FFF2-40B4-BE49-F238E27FC236}">
                <a16:creationId xmlns:a16="http://schemas.microsoft.com/office/drawing/2014/main" id="{70160039-320E-8234-8DC0-D958C65E7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E9B6006-EEE1-28B0-3DF8-8C8C04211025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Google Shape;230;p17">
            <a:extLst>
              <a:ext uri="{FF2B5EF4-FFF2-40B4-BE49-F238E27FC236}">
                <a16:creationId xmlns:a16="http://schemas.microsoft.com/office/drawing/2014/main" id="{18C9971A-D717-A6DB-CB1C-3FE7C997C348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2" name="Google Shape;231;p17">
            <a:extLst>
              <a:ext uri="{FF2B5EF4-FFF2-40B4-BE49-F238E27FC236}">
                <a16:creationId xmlns:a16="http://schemas.microsoft.com/office/drawing/2014/main" id="{4B0520E4-D039-45BB-57D1-CD451FB0106B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3" name="Google Shape;232;p17">
            <a:extLst>
              <a:ext uri="{FF2B5EF4-FFF2-40B4-BE49-F238E27FC236}">
                <a16:creationId xmlns:a16="http://schemas.microsoft.com/office/drawing/2014/main" id="{A6A43324-A347-D827-018A-25CED7F48027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D83FABA-F4FD-CA05-1E4D-63B47B77A79B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numériques</a:t>
            </a:r>
          </a:p>
        </p:txBody>
      </p:sp>
    </p:spTree>
    <p:extLst>
      <p:ext uri="{BB962C8B-B14F-4D97-AF65-F5344CB8AC3E}">
        <p14:creationId xmlns:p14="http://schemas.microsoft.com/office/powerpoint/2010/main" val="1800226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5EBA6-A0AA-98C4-05AE-9C42A20C4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B8C2E-E07F-4FED-5DEB-B83554D6D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174" y="1160634"/>
            <a:ext cx="8483747" cy="3893059"/>
          </a:xfrm>
        </p:spPr>
        <p:txBody>
          <a:bodyPr wrap="square" lIns="0" tIns="0" rIns="0" bIns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Identifiez les anomalies résiduelles des colonnes </a:t>
            </a:r>
            <a:r>
              <a:rPr lang="fr-FR" dirty="0" err="1"/>
              <a:t>annee_naissance</a:t>
            </a:r>
            <a:r>
              <a:rPr lang="fr-FR" dirty="0"/>
              <a:t> et </a:t>
            </a:r>
            <a:r>
              <a:rPr lang="fr-FR" dirty="0" err="1"/>
              <a:t>annee_permis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Supprimez/corrigez 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Identifiez les anomalies dans la colonne </a:t>
            </a:r>
            <a:r>
              <a:rPr lang="fr-FR" dirty="0" err="1"/>
              <a:t>prime_tot_ttc</a:t>
            </a:r>
            <a:r>
              <a:rPr lang="fr-FR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supprimez-les.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Calculez les corrélations entre les variables numériques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dirty="0"/>
              <a:t>Quelles sont les variables qui ont une forte corrélation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Essayez d'identifier la relation mathématique entre les variables identifiées et var1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Vérifiez votre hypothèse et quelle conclusion tirez-vous ?</a:t>
            </a:r>
          </a:p>
          <a:p>
            <a:endParaRPr lang="fr-FR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A020B2F7-CD09-4F27-F442-43C3D6D62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D2CA6B9-0F0A-BCB6-233A-3388381AF1EC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Google Shape;230;p17">
            <a:extLst>
              <a:ext uri="{FF2B5EF4-FFF2-40B4-BE49-F238E27FC236}">
                <a16:creationId xmlns:a16="http://schemas.microsoft.com/office/drawing/2014/main" id="{652E077F-0F02-5FDB-826E-5DD6FD2C96CF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8" name="Google Shape;231;p17">
            <a:extLst>
              <a:ext uri="{FF2B5EF4-FFF2-40B4-BE49-F238E27FC236}">
                <a16:creationId xmlns:a16="http://schemas.microsoft.com/office/drawing/2014/main" id="{98822FD5-B922-0894-BF90-57B6CC23191F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2;p17">
            <a:extLst>
              <a:ext uri="{FF2B5EF4-FFF2-40B4-BE49-F238E27FC236}">
                <a16:creationId xmlns:a16="http://schemas.microsoft.com/office/drawing/2014/main" id="{E2920409-47FA-88BE-BE8C-AB5D1BE66CD3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4659421-DEE8-31D8-2EE4-DB04CD2C02DE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numériques</a:t>
            </a:r>
          </a:p>
        </p:txBody>
      </p:sp>
    </p:spTree>
    <p:extLst>
      <p:ext uri="{BB962C8B-B14F-4D97-AF65-F5344CB8AC3E}">
        <p14:creationId xmlns:p14="http://schemas.microsoft.com/office/powerpoint/2010/main" val="3166875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61AF3-3CC5-F96D-A4A1-1831348E7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32F50-095B-FA86-550B-D2E2FD705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174" y="1160634"/>
            <a:ext cx="8483747" cy="3712103"/>
          </a:xfrm>
        </p:spPr>
        <p:txBody>
          <a:bodyPr wrap="square" lIns="0" tIns="0" rIns="0" bIns="0">
            <a:normAutofit fontScale="70000" lnSpcReduction="20000"/>
          </a:bodyPr>
          <a:lstStyle/>
          <a:p>
            <a:pPr lvl="1">
              <a:lnSpc>
                <a:spcPct val="150000"/>
              </a:lnSpc>
            </a:pP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Correction lignes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annee_naissance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 et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annee_permis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#Le sondage a été effectué en 2016. Toute date de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annee_permis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 au dessus de cette date est une anomalie</a:t>
            </a:r>
          </a:p>
          <a:p>
            <a:pPr lvl="1">
              <a:lnSpc>
                <a:spcPct val="150000"/>
              </a:lnSpc>
            </a:pP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ap_sup_2018 = (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f.col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annee_permis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") &gt; 2016)</a:t>
            </a:r>
          </a:p>
          <a:p>
            <a:pPr lvl="1">
              <a:lnSpc>
                <a:spcPct val="150000"/>
              </a:lnSpc>
            </a:pP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#Anee de permis ne dois pas être inférieure à annee_naissance+16</a:t>
            </a:r>
          </a:p>
          <a:p>
            <a:pPr lvl="1">
              <a:lnSpc>
                <a:spcPct val="150000"/>
              </a:lnSpc>
            </a:pP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ap_rel_an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 = (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f.col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annee_permis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")&lt;(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f.col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annee_naissance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")+16))</a:t>
            </a:r>
          </a:p>
          <a:p>
            <a:pPr lvl="1">
              <a:lnSpc>
                <a:spcPct val="150000"/>
              </a:lnSpc>
            </a:pP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#annee_naissance ne doit pas être nulle</a:t>
            </a:r>
          </a:p>
          <a:p>
            <a:pPr lvl="1">
              <a:lnSpc>
                <a:spcPct val="150000"/>
              </a:lnSpc>
            </a:pP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an_no_null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f.isnotnull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f.col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annee_naissance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"))</a:t>
            </a:r>
          </a:p>
          <a:p>
            <a:pPr lvl="1">
              <a:lnSpc>
                <a:spcPct val="150000"/>
              </a:lnSpc>
            </a:pP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n_rows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data.count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()</a:t>
            </a:r>
          </a:p>
          <a:p>
            <a:pPr lvl="1">
              <a:lnSpc>
                <a:spcPct val="150000"/>
              </a:lnSpc>
            </a:pP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#filtrer d'abord les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annee_naissance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 à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null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. C'est un peu risqué car on ne sait pas dans quel ordre Spark effectue les opération</a:t>
            </a:r>
          </a:p>
          <a:p>
            <a:pPr lvl="1">
              <a:lnSpc>
                <a:spcPct val="150000"/>
              </a:lnSpc>
            </a:pP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data =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data.filter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an_no_null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data =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data.filter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(~(ap_sup_2018 |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ap_rel_an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))</a:t>
            </a:r>
          </a:p>
          <a:p>
            <a:pPr lvl="1">
              <a:lnSpc>
                <a:spcPct val="150000"/>
              </a:lnSpc>
            </a:pP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""" Ce filtre doit aussi supprimer les fois ou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annee_naissance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 est &gt;</a:t>
            </a:r>
          </a:p>
          <a:p>
            <a:pPr lvl="1">
              <a:lnSpc>
                <a:spcPct val="150000"/>
              </a:lnSpc>
            </a:pP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annee_permis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. Une autre option sera de corriger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annee_naissance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 avant ce</a:t>
            </a:r>
          </a:p>
          <a:p>
            <a:pPr lvl="1">
              <a:lnSpc>
                <a:spcPct val="150000"/>
              </a:lnSpc>
            </a:pP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filtre en supposant que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annee_naissance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annee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 permis-16, ce qui n'est pas tout le</a:t>
            </a:r>
          </a:p>
          <a:p>
            <a:pPr lvl="1">
              <a:lnSpc>
                <a:spcPct val="150000"/>
              </a:lnSpc>
            </a:pP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temps vrai, mais permet de supprimer moins d'observations sans risque de perturber les analyses"""</a:t>
            </a:r>
          </a:p>
          <a:p>
            <a:pPr lvl="1">
              <a:lnSpc>
                <a:spcPct val="150000"/>
              </a:lnSpc>
            </a:pP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n_rows_tmp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data.count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()</a:t>
            </a:r>
          </a:p>
          <a:p>
            <a:pPr lvl="1">
              <a:lnSpc>
                <a:spcPct val="150000"/>
              </a:lnSpc>
            </a:pP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print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("nombre de lignes filtrées = ",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n_rows-n_rows_tmp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n_rows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n_rows_tmp</a:t>
            </a:r>
            <a:endParaRPr lang="en-US" sz="1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D2B65743-5D8D-EB2E-0782-1E455D487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9FF774-2B36-406C-C1D7-BE7F4AB879C6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Google Shape;230;p17">
            <a:extLst>
              <a:ext uri="{FF2B5EF4-FFF2-40B4-BE49-F238E27FC236}">
                <a16:creationId xmlns:a16="http://schemas.microsoft.com/office/drawing/2014/main" id="{161712FE-5473-2A5A-318A-73DD0FCA4953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8" name="Google Shape;231;p17">
            <a:extLst>
              <a:ext uri="{FF2B5EF4-FFF2-40B4-BE49-F238E27FC236}">
                <a16:creationId xmlns:a16="http://schemas.microsoft.com/office/drawing/2014/main" id="{4490E052-8639-60A5-3F52-9ADFAC0FE427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2;p17">
            <a:extLst>
              <a:ext uri="{FF2B5EF4-FFF2-40B4-BE49-F238E27FC236}">
                <a16:creationId xmlns:a16="http://schemas.microsoft.com/office/drawing/2014/main" id="{3ACA4CC1-AE2B-A805-E862-4513807E6CD5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FB23633-3F3A-4E19-098A-F38746B6D19B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numériques</a:t>
            </a:r>
          </a:p>
        </p:txBody>
      </p:sp>
    </p:spTree>
    <p:extLst>
      <p:ext uri="{BB962C8B-B14F-4D97-AF65-F5344CB8AC3E}">
        <p14:creationId xmlns:p14="http://schemas.microsoft.com/office/powerpoint/2010/main" val="881704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B40FC-3B36-48C3-06CC-A206132D2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980A9-8E8E-A09B-47DD-F15438A7E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29750"/>
            <a:ext cx="7886700" cy="3263504"/>
          </a:xfrm>
        </p:spPr>
        <p:txBody>
          <a:bodyPr>
            <a:normAutofit/>
          </a:bodyPr>
          <a:lstStyle/>
          <a:p>
            <a:r>
              <a:rPr lang="fr-FR" dirty="0"/>
              <a:t>Résultat</a:t>
            </a: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6F1A44F-97F6-5B1F-170B-DE4C5BA0B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1" y="1433115"/>
            <a:ext cx="7976507" cy="2510170"/>
          </a:xfrm>
          <a:prstGeom prst="rect">
            <a:avLst/>
          </a:prstGeom>
        </p:spPr>
      </p:pic>
      <p:sp>
        <p:nvSpPr>
          <p:cNvPr id="5" name="Titre 4">
            <a:extLst>
              <a:ext uri="{FF2B5EF4-FFF2-40B4-BE49-F238E27FC236}">
                <a16:creationId xmlns:a16="http://schemas.microsoft.com/office/drawing/2014/main" id="{9F24AE2E-34A9-6BE1-8E22-E7E9BAE9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5032ADC-BD8C-4E06-4824-20405D5928E3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Google Shape;230;p17">
            <a:extLst>
              <a:ext uri="{FF2B5EF4-FFF2-40B4-BE49-F238E27FC236}">
                <a16:creationId xmlns:a16="http://schemas.microsoft.com/office/drawing/2014/main" id="{027F4C5A-5779-AF9B-D5ED-8113357AF26A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1;p17">
            <a:extLst>
              <a:ext uri="{FF2B5EF4-FFF2-40B4-BE49-F238E27FC236}">
                <a16:creationId xmlns:a16="http://schemas.microsoft.com/office/drawing/2014/main" id="{ADDC57C6-66CB-781B-8FDF-E562D27984F1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0" name="Google Shape;232;p17">
            <a:extLst>
              <a:ext uri="{FF2B5EF4-FFF2-40B4-BE49-F238E27FC236}">
                <a16:creationId xmlns:a16="http://schemas.microsoft.com/office/drawing/2014/main" id="{4253BE37-7B52-52CF-94E2-FBE859250F6E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FBAA3C3-88E1-62F7-4A2E-D5A2A36434A2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numériques</a:t>
            </a:r>
          </a:p>
        </p:txBody>
      </p:sp>
    </p:spTree>
    <p:extLst>
      <p:ext uri="{BB962C8B-B14F-4D97-AF65-F5344CB8AC3E}">
        <p14:creationId xmlns:p14="http://schemas.microsoft.com/office/powerpoint/2010/main" val="3286368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E4F1F-654F-E6CD-EFBB-0C0074932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9F03E-B0AB-9A15-D454-372C6DFE1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174" y="1160634"/>
            <a:ext cx="8483747" cy="3893059"/>
          </a:xfrm>
        </p:spPr>
        <p:txBody>
          <a:bodyPr wrap="square" lIns="0" tIns="0" rIns="0" bIns="0">
            <a:normAutofit/>
          </a:bodyPr>
          <a:lstStyle/>
          <a:p>
            <a:pPr lvl="1">
              <a:lnSpc>
                <a:spcPct val="150000"/>
              </a:lnSpc>
            </a:pPr>
            <a:r>
              <a:rPr lang="fr-FR" sz="1600" dirty="0">
                <a:solidFill>
                  <a:srgbClr val="222222"/>
                </a:solidFill>
                <a:latin typeface="Arial" panose="020B0604020202020204" pitchFamily="34" charset="0"/>
              </a:rPr>
              <a:t>Identifiez les anomalies dans la colonne </a:t>
            </a:r>
            <a:r>
              <a:rPr lang="fr-FR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prime_tot_ttc</a:t>
            </a:r>
            <a:r>
              <a:rPr lang="fr-FR" sz="1600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  <a:endParaRPr lang="fr-FR" sz="14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Q1,Q2,Q3 =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data.select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f.percentile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f.col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prime_tot_ttc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"), [0.25,0.5,0.75],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f.lit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(1))).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collect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()[0][0]</a:t>
            </a:r>
          </a:p>
          <a:p>
            <a:pPr lvl="1">
              <a:lnSpc>
                <a:spcPct val="150000"/>
              </a:lnSpc>
            </a:pP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IQR = Q3 - Q1</a:t>
            </a:r>
          </a:p>
          <a:p>
            <a:pPr lvl="1">
              <a:lnSpc>
                <a:spcPct val="150000"/>
              </a:lnSpc>
            </a:pP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f1 =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f.col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prime_tot_ttc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") &lt; (Q1 - 1.5 * IQR)</a:t>
            </a:r>
          </a:p>
          <a:p>
            <a:pPr lvl="1">
              <a:lnSpc>
                <a:spcPct val="150000"/>
              </a:lnSpc>
            </a:pP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f2 =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f.col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prime_tot_ttc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") &gt; ( Q3 + 1.5 * IQR)</a:t>
            </a:r>
          </a:p>
          <a:p>
            <a:pPr lvl="1">
              <a:lnSpc>
                <a:spcPct val="150000"/>
              </a:lnSpc>
            </a:pP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print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("Nombre d'anomalies détectées type (Q1 - 1.5 * IQR)",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data.filter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(f1).count())</a:t>
            </a:r>
          </a:p>
          <a:p>
            <a:pPr lvl="1">
              <a:lnSpc>
                <a:spcPct val="150000"/>
              </a:lnSpc>
            </a:pP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data.filter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(f1).show()</a:t>
            </a:r>
          </a:p>
          <a:p>
            <a:pPr lvl="1">
              <a:lnSpc>
                <a:spcPct val="150000"/>
              </a:lnSpc>
            </a:pP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print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("Nombre d'anomalies détectées type (Q3 + 1.5 * IQR)",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data.filter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(f2).count())</a:t>
            </a:r>
          </a:p>
          <a:p>
            <a:pPr lvl="1">
              <a:lnSpc>
                <a:spcPct val="150000"/>
              </a:lnSpc>
            </a:pP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data.filter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(f2).sort(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f.col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prime_tot_ttc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"),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ascending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=False).show()</a:t>
            </a:r>
          </a:p>
        </p:txBody>
      </p:sp>
      <p:sp>
        <p:nvSpPr>
          <p:cNvPr id="6" name="Titre 4">
            <a:extLst>
              <a:ext uri="{FF2B5EF4-FFF2-40B4-BE49-F238E27FC236}">
                <a16:creationId xmlns:a16="http://schemas.microsoft.com/office/drawing/2014/main" id="{BC30CBCE-88DB-094D-6950-826ABBC5A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</p:spPr>
        <p:txBody>
          <a:bodyPr/>
          <a:lstStyle/>
          <a:p>
            <a:endParaRPr lang="fr-F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A370157-C667-01BB-6AA8-938623CBBA0C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Google Shape;230;p17">
            <a:extLst>
              <a:ext uri="{FF2B5EF4-FFF2-40B4-BE49-F238E27FC236}">
                <a16:creationId xmlns:a16="http://schemas.microsoft.com/office/drawing/2014/main" id="{BC15BEEC-F69C-F4CC-C1B7-24CA5106C3B5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1;p17">
            <a:extLst>
              <a:ext uri="{FF2B5EF4-FFF2-40B4-BE49-F238E27FC236}">
                <a16:creationId xmlns:a16="http://schemas.microsoft.com/office/drawing/2014/main" id="{BF5591E0-C435-0737-4094-803D6C0724A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0" name="Google Shape;232;p17">
            <a:extLst>
              <a:ext uri="{FF2B5EF4-FFF2-40B4-BE49-F238E27FC236}">
                <a16:creationId xmlns:a16="http://schemas.microsoft.com/office/drawing/2014/main" id="{EE872C78-38BD-B4BF-E034-1C21065A1AAF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2A558CE-B216-221C-E49F-F801C2E6DD7B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numériques</a:t>
            </a:r>
          </a:p>
        </p:txBody>
      </p:sp>
    </p:spTree>
    <p:extLst>
      <p:ext uri="{BB962C8B-B14F-4D97-AF65-F5344CB8AC3E}">
        <p14:creationId xmlns:p14="http://schemas.microsoft.com/office/powerpoint/2010/main" val="1811619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AB7A4-C664-90F9-D209-94100D753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2A7F1-A6A9-0E00-5911-7F3929274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021134"/>
            <a:ext cx="7886700" cy="3263504"/>
          </a:xfrm>
        </p:spPr>
        <p:txBody>
          <a:bodyPr>
            <a:normAutofit/>
          </a:bodyPr>
          <a:lstStyle/>
          <a:p>
            <a:r>
              <a:rPr lang="fr-FR" dirty="0"/>
              <a:t>Résultat</a:t>
            </a: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32B6486-81B8-D411-CA24-2A26A7A78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35" y="1371600"/>
            <a:ext cx="6236193" cy="3511502"/>
          </a:xfrm>
          <a:prstGeom prst="rect">
            <a:avLst/>
          </a:prstGeom>
        </p:spPr>
      </p:pic>
      <p:sp>
        <p:nvSpPr>
          <p:cNvPr id="6" name="Titre 4">
            <a:extLst>
              <a:ext uri="{FF2B5EF4-FFF2-40B4-BE49-F238E27FC236}">
                <a16:creationId xmlns:a16="http://schemas.microsoft.com/office/drawing/2014/main" id="{B6C0D1AE-F7A3-B4B1-3CDD-A43CDE014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</p:spPr>
        <p:txBody>
          <a:bodyPr/>
          <a:lstStyle/>
          <a:p>
            <a:endParaRPr lang="fr-F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88EBFD1-3054-6572-B6FA-B452C7454FF0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Google Shape;230;p17">
            <a:extLst>
              <a:ext uri="{FF2B5EF4-FFF2-40B4-BE49-F238E27FC236}">
                <a16:creationId xmlns:a16="http://schemas.microsoft.com/office/drawing/2014/main" id="{F5BC1AFC-43FF-8A7E-7475-3E633F6FB438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0" name="Google Shape;231;p17">
            <a:extLst>
              <a:ext uri="{FF2B5EF4-FFF2-40B4-BE49-F238E27FC236}">
                <a16:creationId xmlns:a16="http://schemas.microsoft.com/office/drawing/2014/main" id="{F653B0C8-E77F-742B-FA2A-D43110AD6EDD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1" name="Google Shape;232;p17">
            <a:extLst>
              <a:ext uri="{FF2B5EF4-FFF2-40B4-BE49-F238E27FC236}">
                <a16:creationId xmlns:a16="http://schemas.microsoft.com/office/drawing/2014/main" id="{9491687E-54C7-4D29-C48E-21B3E05ED829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AF411DF-4EDF-76C1-F476-130B3577693B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numériques</a:t>
            </a:r>
          </a:p>
        </p:txBody>
      </p:sp>
    </p:spTree>
    <p:extLst>
      <p:ext uri="{BB962C8B-B14F-4D97-AF65-F5344CB8AC3E}">
        <p14:creationId xmlns:p14="http://schemas.microsoft.com/office/powerpoint/2010/main" val="39611676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25EBD-3D43-C3E8-E30E-471981193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8392F-D0C8-BED4-CCA7-4F939717A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174" y="1160634"/>
            <a:ext cx="8483747" cy="3893059"/>
          </a:xfrm>
        </p:spPr>
        <p:txBody>
          <a:bodyPr wrap="square" lIns="0" tIns="0" rIns="0" bIns="0">
            <a:normAutofit/>
          </a:bodyPr>
          <a:lstStyle/>
          <a:p>
            <a:pPr lvl="1">
              <a:lnSpc>
                <a:spcPct val="150000"/>
              </a:lnSpc>
            </a:pPr>
            <a:r>
              <a:rPr lang="fr-FR" sz="1600" dirty="0">
                <a:solidFill>
                  <a:srgbClr val="222222"/>
                </a:solidFill>
                <a:latin typeface="Arial" panose="020B0604020202020204" pitchFamily="34" charset="0"/>
              </a:rPr>
              <a:t>Supprimer les anomalies dans la colonne </a:t>
            </a:r>
            <a:r>
              <a:rPr lang="fr-FR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prime_tot_ttc</a:t>
            </a:r>
            <a:r>
              <a:rPr lang="fr-FR" sz="16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n_rows_avant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data.count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()</a:t>
            </a:r>
          </a:p>
          <a:p>
            <a:pPr lvl="1">
              <a:lnSpc>
                <a:spcPct val="150000"/>
              </a:lnSpc>
            </a:pP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nf1 =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f.col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prime_tot_ttc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") &gt;= (Q1 - 1.5 * IQR)</a:t>
            </a:r>
          </a:p>
          <a:p>
            <a:pPr lvl="1">
              <a:lnSpc>
                <a:spcPct val="150000"/>
              </a:lnSpc>
            </a:pP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nf2 =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f.col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prime_tot_ttc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") &lt;= ( Q3 + 1.5 * IQR)</a:t>
            </a:r>
          </a:p>
          <a:p>
            <a:pPr lvl="1">
              <a:lnSpc>
                <a:spcPct val="150000"/>
              </a:lnSpc>
            </a:pP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data =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data.filter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(nf1).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filter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(nf2)</a:t>
            </a:r>
          </a:p>
          <a:p>
            <a:pPr lvl="1">
              <a:lnSpc>
                <a:spcPct val="150000"/>
              </a:lnSpc>
            </a:pP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n_rows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data.count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()</a:t>
            </a:r>
          </a:p>
          <a:p>
            <a:pPr lvl="1">
              <a:lnSpc>
                <a:spcPct val="150000"/>
              </a:lnSpc>
            </a:pP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print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("Nombre d'anomalies supprimées : ",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n_rows_avant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 - 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n_rows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D2575EA-7E8F-1723-4939-72FEABAA6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53" y="3602583"/>
            <a:ext cx="8423168" cy="1194603"/>
          </a:xfrm>
          <a:prstGeom prst="rect">
            <a:avLst/>
          </a:prstGeom>
        </p:spPr>
      </p:pic>
      <p:sp>
        <p:nvSpPr>
          <p:cNvPr id="8" name="Titre 4">
            <a:extLst>
              <a:ext uri="{FF2B5EF4-FFF2-40B4-BE49-F238E27FC236}">
                <a16:creationId xmlns:a16="http://schemas.microsoft.com/office/drawing/2014/main" id="{25E64748-D648-AE7A-86ED-4835BF4DB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</p:spPr>
        <p:txBody>
          <a:bodyPr/>
          <a:lstStyle/>
          <a:p>
            <a:endParaRPr lang="fr-FR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8ECD170-B169-C154-47B6-9E1C0C0ED168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Google Shape;230;p17">
            <a:extLst>
              <a:ext uri="{FF2B5EF4-FFF2-40B4-BE49-F238E27FC236}">
                <a16:creationId xmlns:a16="http://schemas.microsoft.com/office/drawing/2014/main" id="{A9AC5D46-5A1E-8763-C368-0154757DAAA1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1" name="Google Shape;231;p17">
            <a:extLst>
              <a:ext uri="{FF2B5EF4-FFF2-40B4-BE49-F238E27FC236}">
                <a16:creationId xmlns:a16="http://schemas.microsoft.com/office/drawing/2014/main" id="{CE112FF1-6E1F-B53E-3A1F-7D5EA2B54C8E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2" name="Google Shape;232;p17">
            <a:extLst>
              <a:ext uri="{FF2B5EF4-FFF2-40B4-BE49-F238E27FC236}">
                <a16:creationId xmlns:a16="http://schemas.microsoft.com/office/drawing/2014/main" id="{BA97C75C-DB29-7875-9C1B-F5F37FDFCBEB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D1DC262-75AE-4600-888C-523212722411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numériques</a:t>
            </a:r>
          </a:p>
        </p:txBody>
      </p:sp>
    </p:spTree>
    <p:extLst>
      <p:ext uri="{BB962C8B-B14F-4D97-AF65-F5344CB8AC3E}">
        <p14:creationId xmlns:p14="http://schemas.microsoft.com/office/powerpoint/2010/main" val="33742172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FDF3B-A7B7-4212-1CBD-B784FB858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36929-FBE8-C287-6807-0878E8E02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174" y="1160634"/>
            <a:ext cx="8483747" cy="3982866"/>
          </a:xfrm>
        </p:spPr>
        <p:txBody>
          <a:bodyPr wrap="square" lIns="0" tIns="0" rIns="0" bIns="0">
            <a:normAutofit fontScale="47500" lnSpcReduction="20000"/>
          </a:bodyPr>
          <a:lstStyle/>
          <a:p>
            <a:pPr lvl="1">
              <a:lnSpc>
                <a:spcPct val="150000"/>
              </a:lnSpc>
            </a:pPr>
            <a:r>
              <a:rPr lang="fr-FR" sz="3400" dirty="0">
                <a:solidFill>
                  <a:srgbClr val="222222"/>
                </a:solidFill>
                <a:latin typeface="Arial" panose="020B0604020202020204" pitchFamily="34" charset="0"/>
              </a:rPr>
              <a:t>Calculez les corrélations entre les variables numériques </a:t>
            </a:r>
          </a:p>
          <a:p>
            <a:pPr lvl="1">
              <a:lnSpc>
                <a:spcPct val="150000"/>
              </a:lnSpc>
            </a:pPr>
            <a:endParaRPr lang="fr-FR" sz="14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from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pyspark.ml.stat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 import 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Correlation</a:t>
            </a:r>
            <a:endParaRPr lang="fr-FR" sz="21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from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pyspark.ml.feature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 import 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VectorAssembler</a:t>
            </a:r>
            <a:endParaRPr lang="fr-FR" sz="21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vector_assembler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VectorAssembler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(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inputCols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=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num_vars_cols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, 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outputCol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="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features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")</a:t>
            </a:r>
          </a:p>
          <a:p>
            <a:pPr lvl="1">
              <a:lnSpc>
                <a:spcPct val="150000"/>
              </a:lnSpc>
            </a:pP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df_assembled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vector_assembler.transform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(data).select("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features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")</a:t>
            </a:r>
          </a:p>
          <a:p>
            <a:pPr lvl="1">
              <a:lnSpc>
                <a:spcPct val="150000"/>
              </a:lnSpc>
            </a:pP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correlation_matrix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Correlation.corr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(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df_assembled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, "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features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").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head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()</a:t>
            </a:r>
          </a:p>
          <a:p>
            <a:pPr lvl="1">
              <a:lnSpc>
                <a:spcPct val="150000"/>
              </a:lnSpc>
            </a:pP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corr_matrix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correlation_matrix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[0]</a:t>
            </a:r>
          </a:p>
          <a:p>
            <a:pPr lvl="1">
              <a:lnSpc>
                <a:spcPct val="150000"/>
              </a:lnSpc>
            </a:pP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correlation_results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 = []</a:t>
            </a:r>
          </a:p>
          <a:p>
            <a:pPr lvl="1">
              <a:lnSpc>
                <a:spcPct val="150000"/>
              </a:lnSpc>
            </a:pPr>
            <a:endParaRPr lang="fr-FR" sz="21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# Loop 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through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each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 pair of 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columns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 and 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compute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 the 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correlation</a:t>
            </a:r>
            <a:endParaRPr lang="fr-FR" sz="21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for i in range(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len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(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num_vars_cols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)):</a:t>
            </a:r>
          </a:p>
          <a:p>
            <a:pPr lvl="1">
              <a:lnSpc>
                <a:spcPct val="150000"/>
              </a:lnSpc>
            </a:pP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    for j in range(i + 1, 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len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(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num_vars_cols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)):</a:t>
            </a:r>
          </a:p>
          <a:p>
            <a:pPr lvl="1">
              <a:lnSpc>
                <a:spcPct val="150000"/>
              </a:lnSpc>
            </a:pP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        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col_i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num_vars_cols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[i]</a:t>
            </a:r>
          </a:p>
          <a:p>
            <a:pPr lvl="1">
              <a:lnSpc>
                <a:spcPct val="150000"/>
              </a:lnSpc>
            </a:pP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        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col_j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num_vars_cols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[j]</a:t>
            </a:r>
          </a:p>
          <a:p>
            <a:pPr lvl="1">
              <a:lnSpc>
                <a:spcPct val="150000"/>
              </a:lnSpc>
            </a:pP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        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correlation_value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corr_matrix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[i, j]</a:t>
            </a:r>
          </a:p>
          <a:p>
            <a:pPr lvl="1">
              <a:lnSpc>
                <a:spcPct val="150000"/>
              </a:lnSpc>
            </a:pP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        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correlation_results.append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((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col_i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, 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col_j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, </a:t>
            </a: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correlation_value</a:t>
            </a:r>
            <a:r>
              <a:rPr lang="fr-FR" sz="2100" dirty="0">
                <a:solidFill>
                  <a:srgbClr val="222222"/>
                </a:solidFill>
                <a:latin typeface="Arial" panose="020B0604020202020204" pitchFamily="34" charset="0"/>
              </a:rPr>
              <a:t>))</a:t>
            </a:r>
          </a:p>
          <a:p>
            <a:pPr lvl="1">
              <a:lnSpc>
                <a:spcPct val="150000"/>
              </a:lnSpc>
            </a:pPr>
            <a:r>
              <a:rPr lang="fr-FR" sz="2100" dirty="0" err="1">
                <a:solidFill>
                  <a:srgbClr val="222222"/>
                </a:solidFill>
                <a:latin typeface="Arial" panose="020B0604020202020204" pitchFamily="34" charset="0"/>
              </a:rPr>
              <a:t>correlation_results</a:t>
            </a:r>
            <a:endParaRPr lang="fr-FR" sz="21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6" name="Titre 4">
            <a:extLst>
              <a:ext uri="{FF2B5EF4-FFF2-40B4-BE49-F238E27FC236}">
                <a16:creationId xmlns:a16="http://schemas.microsoft.com/office/drawing/2014/main" id="{33BBA3AE-3FF7-D21A-718C-68D4A9C31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</p:spPr>
        <p:txBody>
          <a:bodyPr/>
          <a:lstStyle/>
          <a:p>
            <a:endParaRPr lang="fr-F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692858-46E6-7431-B880-C7918B86B98E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Google Shape;230;p17">
            <a:extLst>
              <a:ext uri="{FF2B5EF4-FFF2-40B4-BE49-F238E27FC236}">
                <a16:creationId xmlns:a16="http://schemas.microsoft.com/office/drawing/2014/main" id="{14AA2A1A-B47E-505F-26F2-853DC29523CE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1;p17">
            <a:extLst>
              <a:ext uri="{FF2B5EF4-FFF2-40B4-BE49-F238E27FC236}">
                <a16:creationId xmlns:a16="http://schemas.microsoft.com/office/drawing/2014/main" id="{2E12C62F-C1FD-EFFE-0B36-DF6548933CF6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0" name="Google Shape;232;p17">
            <a:extLst>
              <a:ext uri="{FF2B5EF4-FFF2-40B4-BE49-F238E27FC236}">
                <a16:creationId xmlns:a16="http://schemas.microsoft.com/office/drawing/2014/main" id="{78F5DC18-E829-784B-C9F9-B3C092A3EAE4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7CA698E-1752-27A3-B7D6-943A411A8EE9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numériques</a:t>
            </a:r>
          </a:p>
        </p:txBody>
      </p:sp>
    </p:spTree>
    <p:extLst>
      <p:ext uri="{BB962C8B-B14F-4D97-AF65-F5344CB8AC3E}">
        <p14:creationId xmlns:p14="http://schemas.microsoft.com/office/powerpoint/2010/main" val="1261201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FAF8E-0D03-6B8E-88A3-48E688AD7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4912C-30B2-9425-2B9B-6EC614E60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826" y="1266793"/>
            <a:ext cx="7886700" cy="3263504"/>
          </a:xfrm>
        </p:spPr>
        <p:txBody>
          <a:bodyPr>
            <a:normAutofit/>
          </a:bodyPr>
          <a:lstStyle/>
          <a:p>
            <a:r>
              <a:rPr lang="fr-FR" dirty="0"/>
              <a:t>Résultat</a:t>
            </a: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3F51248-9CCB-3003-A8B3-9157C54FA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69" y="1792091"/>
            <a:ext cx="8708663" cy="1426586"/>
          </a:xfrm>
          <a:prstGeom prst="rect">
            <a:avLst/>
          </a:prstGeom>
        </p:spPr>
      </p:pic>
      <p:sp>
        <p:nvSpPr>
          <p:cNvPr id="5" name="Titre 4">
            <a:extLst>
              <a:ext uri="{FF2B5EF4-FFF2-40B4-BE49-F238E27FC236}">
                <a16:creationId xmlns:a16="http://schemas.microsoft.com/office/drawing/2014/main" id="{F3ABF3A5-6BDC-9D3A-4062-E2D8B53A4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EC3942E-28EA-9D42-5647-E4C599AC90EC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Google Shape;230;p17">
            <a:extLst>
              <a:ext uri="{FF2B5EF4-FFF2-40B4-BE49-F238E27FC236}">
                <a16:creationId xmlns:a16="http://schemas.microsoft.com/office/drawing/2014/main" id="{F68F5DBC-325D-6FB1-063E-EF906DE096E8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8" name="Google Shape;231;p17">
            <a:extLst>
              <a:ext uri="{FF2B5EF4-FFF2-40B4-BE49-F238E27FC236}">
                <a16:creationId xmlns:a16="http://schemas.microsoft.com/office/drawing/2014/main" id="{F13CF2C7-A84F-8D19-1C0A-C522614076C8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2;p17">
            <a:extLst>
              <a:ext uri="{FF2B5EF4-FFF2-40B4-BE49-F238E27FC236}">
                <a16:creationId xmlns:a16="http://schemas.microsoft.com/office/drawing/2014/main" id="{4D8354BB-04FD-6A66-0A84-03ECEFB3B6AE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90AF0A0-3CA5-0B59-5BCE-022E46C67B02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numériques</a:t>
            </a:r>
          </a:p>
        </p:txBody>
      </p:sp>
    </p:spTree>
    <p:extLst>
      <p:ext uri="{BB962C8B-B14F-4D97-AF65-F5344CB8AC3E}">
        <p14:creationId xmlns:p14="http://schemas.microsoft.com/office/powerpoint/2010/main" val="2992352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6ECCA-0E2B-B8B5-8AF2-3269C48DB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EA6B1-8EF0-1480-EE28-7F443D922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174" y="1160634"/>
            <a:ext cx="8483747" cy="3893059"/>
          </a:xfrm>
        </p:spPr>
        <p:txBody>
          <a:bodyPr wrap="square" lIns="0" tIns="0" rIns="0" bIns="0">
            <a:normAutofit/>
          </a:bodyPr>
          <a:lstStyle/>
          <a:p>
            <a:pPr lvl="1">
              <a:lnSpc>
                <a:spcPct val="150000"/>
              </a:lnSpc>
            </a:pP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relation mathématique entre les variables identifiées et var1</a:t>
            </a:r>
          </a:p>
          <a:p>
            <a:pPr lvl="1">
              <a:lnSpc>
                <a:spcPct val="150000"/>
              </a:lnSpc>
            </a:pP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data.select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("annee_naissance","annee_permis","var1").show()</a:t>
            </a:r>
            <a:endParaRPr lang="en-US" sz="1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E10EE4D-E177-FF38-3D6F-85AFEEA84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851" y="1889363"/>
            <a:ext cx="3338131" cy="2983374"/>
          </a:xfrm>
          <a:prstGeom prst="rect">
            <a:avLst/>
          </a:prstGeom>
        </p:spPr>
      </p:pic>
      <p:sp>
        <p:nvSpPr>
          <p:cNvPr id="15" name="Titre 4">
            <a:extLst>
              <a:ext uri="{FF2B5EF4-FFF2-40B4-BE49-F238E27FC236}">
                <a16:creationId xmlns:a16="http://schemas.microsoft.com/office/drawing/2014/main" id="{17B6CDFF-890D-36BD-9201-036F0C575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</p:spPr>
        <p:txBody>
          <a:bodyPr/>
          <a:lstStyle/>
          <a:p>
            <a:endParaRPr lang="fr-FR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8094F47-AB92-228C-2F1A-3A55B4C3D939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Google Shape;230;p17">
            <a:extLst>
              <a:ext uri="{FF2B5EF4-FFF2-40B4-BE49-F238E27FC236}">
                <a16:creationId xmlns:a16="http://schemas.microsoft.com/office/drawing/2014/main" id="{DE0D5CBF-F6F5-1EBD-B731-606709248711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8" name="Google Shape;231;p17">
            <a:extLst>
              <a:ext uri="{FF2B5EF4-FFF2-40B4-BE49-F238E27FC236}">
                <a16:creationId xmlns:a16="http://schemas.microsoft.com/office/drawing/2014/main" id="{AB3BD8AE-95CE-A1E1-FFEA-F380FAC9D963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9" name="Google Shape;232;p17">
            <a:extLst>
              <a:ext uri="{FF2B5EF4-FFF2-40B4-BE49-F238E27FC236}">
                <a16:creationId xmlns:a16="http://schemas.microsoft.com/office/drawing/2014/main" id="{1EA0E100-0899-D09A-D10E-53445DBD5094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0529068-D158-807C-7EC7-FFE2B3662541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numériques</a:t>
            </a:r>
          </a:p>
        </p:txBody>
      </p:sp>
    </p:spTree>
    <p:extLst>
      <p:ext uri="{BB962C8B-B14F-4D97-AF65-F5344CB8AC3E}">
        <p14:creationId xmlns:p14="http://schemas.microsoft.com/office/powerpoint/2010/main" val="1541916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B4CB9-177C-CD01-BE94-2A3F2A9C5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5D5E1-B207-9DF6-848B-5F28A272A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174" y="1160634"/>
            <a:ext cx="8483747" cy="3893059"/>
          </a:xfrm>
        </p:spPr>
        <p:txBody>
          <a:bodyPr>
            <a:normAutofit/>
          </a:bodyPr>
          <a:lstStyle/>
          <a:p>
            <a:pPr marL="342900" lvl="1"/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Vérification de l’hypothèse</a:t>
            </a:r>
          </a:p>
          <a:p>
            <a:pPr marL="342900" lvl="1"/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data.filter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((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f.lit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(2016)-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f.col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annee_permis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"))!=</a:t>
            </a:r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f.col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("var1")).show()</a:t>
            </a:r>
            <a:endParaRPr lang="en-US" sz="1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1D14DEA-830A-F00A-74DD-99381E790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24" y="2422453"/>
            <a:ext cx="7511408" cy="1723529"/>
          </a:xfrm>
          <a:prstGeom prst="rect">
            <a:avLst/>
          </a:prstGeom>
        </p:spPr>
      </p:pic>
      <p:sp>
        <p:nvSpPr>
          <p:cNvPr id="6" name="Titre 5">
            <a:extLst>
              <a:ext uri="{FF2B5EF4-FFF2-40B4-BE49-F238E27FC236}">
                <a16:creationId xmlns:a16="http://schemas.microsoft.com/office/drawing/2014/main" id="{B3E3DA8F-9C65-734A-5EC2-18AE1A092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E3729E8-52DB-1500-38E4-148DC00989AB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Google Shape;230;p17">
            <a:extLst>
              <a:ext uri="{FF2B5EF4-FFF2-40B4-BE49-F238E27FC236}">
                <a16:creationId xmlns:a16="http://schemas.microsoft.com/office/drawing/2014/main" id="{AC780151-5841-EB7E-5435-7D20293954E6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1;p17">
            <a:extLst>
              <a:ext uri="{FF2B5EF4-FFF2-40B4-BE49-F238E27FC236}">
                <a16:creationId xmlns:a16="http://schemas.microsoft.com/office/drawing/2014/main" id="{5DCC05A4-31FD-E291-9596-1201B99777FC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0" name="Google Shape;232;p17">
            <a:extLst>
              <a:ext uri="{FF2B5EF4-FFF2-40B4-BE49-F238E27FC236}">
                <a16:creationId xmlns:a16="http://schemas.microsoft.com/office/drawing/2014/main" id="{75C599EF-4FF8-CCD5-2D08-29B60D072EEB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D859F3F-D6D6-DE24-DA12-D8FB0151F0F1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numériques</a:t>
            </a:r>
          </a:p>
        </p:txBody>
      </p:sp>
    </p:spTree>
    <p:extLst>
      <p:ext uri="{BB962C8B-B14F-4D97-AF65-F5344CB8AC3E}">
        <p14:creationId xmlns:p14="http://schemas.microsoft.com/office/powerpoint/2010/main" val="31425365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443ED-13F4-6C29-48ED-C2E5710CE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D51E6-A226-850F-9AE9-75AD8F40A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174" y="1160634"/>
            <a:ext cx="8483747" cy="3893059"/>
          </a:xfrm>
        </p:spPr>
        <p:txBody>
          <a:bodyPr>
            <a:normAutofit/>
          </a:bodyPr>
          <a:lstStyle/>
          <a:p>
            <a:pPr marL="342900" lvl="1"/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Calculez la cardinalité de toutes les variables catégorielles</a:t>
            </a:r>
          </a:p>
          <a:p>
            <a:pPr marL="342900" lvl="1"/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1"/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Utilisez </a:t>
            </a:r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seaborn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pour affichez les </a:t>
            </a:r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barplots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des variables catégorielles</a:t>
            </a:r>
          </a:p>
          <a:p>
            <a:pPr marL="342900" lvl="1"/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1"/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Remarque: Définir une fonction indépendante des variables catégorielles</a:t>
            </a:r>
          </a:p>
          <a:p>
            <a:pPr marL="342900" lvl="1"/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1"/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Quelles sont vos conclusions ?</a:t>
            </a:r>
          </a:p>
          <a:p>
            <a:pPr marL="342900" lvl="1"/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1"/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Supprimez les lignes contenant des anomalies dans la colonne </a:t>
            </a:r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energie_veh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71C5B311-0B56-0FC8-842C-0AF67EE1B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</p:spPr>
        <p:txBody>
          <a:bodyPr/>
          <a:lstStyle/>
          <a:p>
            <a:endParaRPr lang="fr-F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2D0E285-2C78-E720-87FD-97D84334C8FF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Google Shape;230;p17">
            <a:extLst>
              <a:ext uri="{FF2B5EF4-FFF2-40B4-BE49-F238E27FC236}">
                <a16:creationId xmlns:a16="http://schemas.microsoft.com/office/drawing/2014/main" id="{35956799-8543-77F5-1222-A77280F0BFA9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1;p17">
            <a:extLst>
              <a:ext uri="{FF2B5EF4-FFF2-40B4-BE49-F238E27FC236}">
                <a16:creationId xmlns:a16="http://schemas.microsoft.com/office/drawing/2014/main" id="{E2B306C7-AB75-8D30-515F-D37D44FC49EC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0" name="Google Shape;232;p17">
            <a:extLst>
              <a:ext uri="{FF2B5EF4-FFF2-40B4-BE49-F238E27FC236}">
                <a16:creationId xmlns:a16="http://schemas.microsoft.com/office/drawing/2014/main" id="{AE84BF44-0F14-E9F9-A9E8-FDE6E9852D8E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1F8BB52-2538-9F02-9784-85A3C5CAFAFA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catégorielles</a:t>
            </a:r>
          </a:p>
        </p:txBody>
      </p:sp>
    </p:spTree>
    <p:extLst>
      <p:ext uri="{BB962C8B-B14F-4D97-AF65-F5344CB8AC3E}">
        <p14:creationId xmlns:p14="http://schemas.microsoft.com/office/powerpoint/2010/main" val="281569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956B7-3114-531E-EA5E-BD6C335D4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25A0C-2EAB-A0B3-14E5-E33DC37AF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174" y="1160634"/>
            <a:ext cx="8483747" cy="3893059"/>
          </a:xfrm>
        </p:spPr>
        <p:txBody>
          <a:bodyPr wrap="square" lIns="0" tIns="0" rIns="0" bIns="0">
            <a:normAutofit fontScale="47500" lnSpcReduction="20000"/>
          </a:bodyPr>
          <a:lstStyle/>
          <a:p>
            <a:pPr>
              <a:lnSpc>
                <a:spcPct val="150000"/>
              </a:lnSpc>
            </a:pPr>
            <a:r>
              <a:rPr lang="fr-FR" sz="3400" dirty="0">
                <a:solidFill>
                  <a:srgbClr val="222222"/>
                </a:solidFill>
                <a:latin typeface="Arial" panose="020B0604020202020204" pitchFamily="34" charset="0"/>
              </a:rPr>
              <a:t>Calculez la cardinalité de toutes les variables catégorielles:</a:t>
            </a:r>
          </a:p>
          <a:p>
            <a:pPr>
              <a:lnSpc>
                <a:spcPct val="150000"/>
              </a:lnSpc>
            </a:pPr>
            <a:r>
              <a:rPr lang="fr-FR" sz="2900" dirty="0">
                <a:solidFill>
                  <a:srgbClr val="222222"/>
                </a:solidFill>
                <a:latin typeface="Arial" panose="020B0604020202020204" pitchFamily="34" charset="0"/>
              </a:rPr>
              <a:t>  </a:t>
            </a:r>
            <a:r>
              <a:rPr lang="fr-FR" sz="2900" dirty="0" err="1">
                <a:solidFill>
                  <a:srgbClr val="222222"/>
                </a:solidFill>
                <a:latin typeface="Arial" panose="020B0604020202020204" pitchFamily="34" charset="0"/>
              </a:rPr>
              <a:t>cat_vars_cols</a:t>
            </a:r>
            <a:r>
              <a:rPr lang="fr-FR" sz="2900" dirty="0">
                <a:solidFill>
                  <a:srgbClr val="222222"/>
                </a:solidFill>
                <a:latin typeface="Arial" panose="020B0604020202020204" pitchFamily="34" charset="0"/>
              </a:rPr>
              <a:t> = ["marque","</a:t>
            </a:r>
            <a:r>
              <a:rPr lang="fr-FR" sz="2900" dirty="0" err="1">
                <a:solidFill>
                  <a:srgbClr val="222222"/>
                </a:solidFill>
                <a:latin typeface="Arial" panose="020B0604020202020204" pitchFamily="34" charset="0"/>
              </a:rPr>
              <a:t>codepostal</a:t>
            </a:r>
            <a:r>
              <a:rPr lang="fr-FR" sz="2900" dirty="0">
                <a:solidFill>
                  <a:srgbClr val="222222"/>
                </a:solidFill>
                <a:latin typeface="Arial" panose="020B0604020202020204" pitchFamily="34" charset="0"/>
              </a:rPr>
              <a:t>","</a:t>
            </a:r>
            <a:r>
              <a:rPr lang="fr-FR" sz="2900" dirty="0" err="1">
                <a:solidFill>
                  <a:srgbClr val="222222"/>
                </a:solidFill>
                <a:latin typeface="Arial" panose="020B0604020202020204" pitchFamily="34" charset="0"/>
              </a:rPr>
              <a:t>energie_veh</a:t>
            </a:r>
            <a:r>
              <a:rPr lang="fr-FR" sz="2900" dirty="0">
                <a:solidFill>
                  <a:srgbClr val="222222"/>
                </a:solidFill>
                <a:latin typeface="Arial" panose="020B0604020202020204" pitchFamily="34" charset="0"/>
              </a:rPr>
              <a:t>"]</a:t>
            </a:r>
          </a:p>
          <a:p>
            <a:pPr>
              <a:lnSpc>
                <a:spcPct val="150000"/>
              </a:lnSpc>
            </a:pPr>
            <a:r>
              <a:rPr lang="fr-FR" sz="2900" dirty="0">
                <a:solidFill>
                  <a:srgbClr val="222222"/>
                </a:solidFill>
                <a:latin typeface="Arial" panose="020B0604020202020204" pitchFamily="34" charset="0"/>
              </a:rPr>
              <a:t>  </a:t>
            </a:r>
            <a:r>
              <a:rPr lang="fr-FR" sz="2900" dirty="0" err="1">
                <a:solidFill>
                  <a:srgbClr val="222222"/>
                </a:solidFill>
                <a:latin typeface="Arial" panose="020B0604020202020204" pitchFamily="34" charset="0"/>
              </a:rPr>
              <a:t>data.agg</a:t>
            </a:r>
            <a:r>
              <a:rPr lang="fr-FR" sz="2900" dirty="0">
                <a:solidFill>
                  <a:srgbClr val="222222"/>
                </a:solidFill>
                <a:latin typeface="Arial" panose="020B0604020202020204" pitchFamily="34" charset="0"/>
              </a:rPr>
              <a:t>(</a:t>
            </a:r>
            <a:r>
              <a:rPr lang="fr-FR" sz="2900" dirty="0" err="1">
                <a:solidFill>
                  <a:srgbClr val="222222"/>
                </a:solidFill>
                <a:latin typeface="Arial" panose="020B0604020202020204" pitchFamily="34" charset="0"/>
              </a:rPr>
              <a:t>f.countDistinct</a:t>
            </a:r>
            <a:r>
              <a:rPr lang="fr-FR" sz="2900" dirty="0">
                <a:solidFill>
                  <a:srgbClr val="222222"/>
                </a:solidFill>
                <a:latin typeface="Arial" panose="020B0604020202020204" pitchFamily="34" charset="0"/>
              </a:rPr>
              <a:t>("marque"),</a:t>
            </a:r>
            <a:r>
              <a:rPr lang="fr-FR" sz="2900" dirty="0" err="1">
                <a:solidFill>
                  <a:srgbClr val="222222"/>
                </a:solidFill>
                <a:latin typeface="Arial" panose="020B0604020202020204" pitchFamily="34" charset="0"/>
              </a:rPr>
              <a:t>f.countDistinct</a:t>
            </a:r>
            <a:r>
              <a:rPr lang="fr-FR" sz="2900" dirty="0">
                <a:solidFill>
                  <a:srgbClr val="222222"/>
                </a:solidFill>
                <a:latin typeface="Arial" panose="020B0604020202020204" pitchFamily="34" charset="0"/>
              </a:rPr>
              <a:t>("</a:t>
            </a:r>
            <a:r>
              <a:rPr lang="fr-FR" sz="2900" dirty="0" err="1">
                <a:solidFill>
                  <a:srgbClr val="222222"/>
                </a:solidFill>
                <a:latin typeface="Arial" panose="020B0604020202020204" pitchFamily="34" charset="0"/>
              </a:rPr>
              <a:t>codepostal</a:t>
            </a:r>
            <a:r>
              <a:rPr lang="fr-FR" sz="2900" dirty="0">
                <a:solidFill>
                  <a:srgbClr val="222222"/>
                </a:solidFill>
                <a:latin typeface="Arial" panose="020B0604020202020204" pitchFamily="34" charset="0"/>
              </a:rPr>
              <a:t>"),</a:t>
            </a:r>
            <a:r>
              <a:rPr lang="fr-FR" sz="2900" dirty="0" err="1">
                <a:solidFill>
                  <a:srgbClr val="222222"/>
                </a:solidFill>
                <a:latin typeface="Arial" panose="020B0604020202020204" pitchFamily="34" charset="0"/>
              </a:rPr>
              <a:t>f.countDistinct</a:t>
            </a:r>
            <a:r>
              <a:rPr lang="fr-FR" sz="2900" dirty="0">
                <a:solidFill>
                  <a:srgbClr val="222222"/>
                </a:solidFill>
                <a:latin typeface="Arial" panose="020B0604020202020204" pitchFamily="34" charset="0"/>
              </a:rPr>
              <a:t>("</a:t>
            </a:r>
            <a:r>
              <a:rPr lang="fr-FR" sz="2900" dirty="0" err="1">
                <a:solidFill>
                  <a:srgbClr val="222222"/>
                </a:solidFill>
                <a:latin typeface="Arial" panose="020B0604020202020204" pitchFamily="34" charset="0"/>
              </a:rPr>
              <a:t>energie_veh</a:t>
            </a:r>
            <a:r>
              <a:rPr lang="fr-FR" sz="2900" dirty="0">
                <a:solidFill>
                  <a:srgbClr val="222222"/>
                </a:solidFill>
                <a:latin typeface="Arial" panose="020B0604020202020204" pitchFamily="34" charset="0"/>
              </a:rPr>
              <a:t>")).</a:t>
            </a:r>
            <a:r>
              <a:rPr lang="fr-FR" sz="2900" dirty="0" err="1">
                <a:solidFill>
                  <a:srgbClr val="222222"/>
                </a:solidFill>
                <a:latin typeface="Arial" panose="020B0604020202020204" pitchFamily="34" charset="0"/>
              </a:rPr>
              <a:t>collect</a:t>
            </a:r>
            <a:r>
              <a:rPr lang="fr-FR" sz="2900" dirty="0">
                <a:solidFill>
                  <a:srgbClr val="222222"/>
                </a:solidFill>
                <a:latin typeface="Arial" panose="020B0604020202020204" pitchFamily="34" charset="0"/>
              </a:rPr>
              <a:t>()</a:t>
            </a:r>
          </a:p>
          <a:p>
            <a:pPr>
              <a:lnSpc>
                <a:spcPct val="150000"/>
              </a:lnSpc>
            </a:pPr>
            <a:endParaRPr lang="fr-FR" sz="29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3400" dirty="0">
                <a:solidFill>
                  <a:srgbClr val="222222"/>
                </a:solidFill>
                <a:latin typeface="Arial" panose="020B0604020202020204" pitchFamily="34" charset="0"/>
              </a:rPr>
              <a:t>Utilisez </a:t>
            </a:r>
            <a:r>
              <a:rPr lang="fr-FR" sz="3400" dirty="0" err="1">
                <a:solidFill>
                  <a:srgbClr val="222222"/>
                </a:solidFill>
                <a:latin typeface="Arial" panose="020B0604020202020204" pitchFamily="34" charset="0"/>
              </a:rPr>
              <a:t>seaborn</a:t>
            </a:r>
            <a:r>
              <a:rPr lang="fr-FR" sz="3400" dirty="0">
                <a:solidFill>
                  <a:srgbClr val="222222"/>
                </a:solidFill>
                <a:latin typeface="Arial" panose="020B0604020202020204" pitchFamily="34" charset="0"/>
              </a:rPr>
              <a:t> pour affichez les </a:t>
            </a:r>
            <a:r>
              <a:rPr lang="fr-FR" sz="3400" dirty="0" err="1">
                <a:solidFill>
                  <a:srgbClr val="222222"/>
                </a:solidFill>
                <a:latin typeface="Arial" panose="020B0604020202020204" pitchFamily="34" charset="0"/>
              </a:rPr>
              <a:t>barplots</a:t>
            </a:r>
            <a:r>
              <a:rPr lang="fr-FR" sz="3400" dirty="0">
                <a:solidFill>
                  <a:srgbClr val="222222"/>
                </a:solidFill>
                <a:latin typeface="Arial" panose="020B0604020202020204" pitchFamily="34" charset="0"/>
              </a:rPr>
              <a:t> des variables catégorielles</a:t>
            </a:r>
            <a:endParaRPr lang="en-US" sz="34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3400" dirty="0">
                <a:solidFill>
                  <a:srgbClr val="222222"/>
                </a:solidFill>
                <a:latin typeface="Arial" panose="020B0604020202020204" pitchFamily="34" charset="0"/>
              </a:rPr>
              <a:t>Définition d’une fonction indépendante des variables catégorielles</a:t>
            </a:r>
            <a:endParaRPr lang="en-US" sz="34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3400" dirty="0">
                <a:solidFill>
                  <a:srgbClr val="222222"/>
                </a:solidFill>
                <a:latin typeface="Arial" panose="020B0604020202020204" pitchFamily="34" charset="0"/>
              </a:rPr>
              <a:t>  </a:t>
            </a:r>
            <a:r>
              <a:rPr lang="fr-FR" sz="3400" dirty="0" err="1">
                <a:solidFill>
                  <a:srgbClr val="222222"/>
                </a:solidFill>
                <a:latin typeface="Arial" panose="020B0604020202020204" pitchFamily="34" charset="0"/>
              </a:rPr>
              <a:t>def</a:t>
            </a:r>
            <a:r>
              <a:rPr lang="fr-FR" sz="34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fr-FR" sz="3400" dirty="0" err="1">
                <a:solidFill>
                  <a:srgbClr val="222222"/>
                </a:solidFill>
                <a:latin typeface="Arial" panose="020B0604020202020204" pitchFamily="34" charset="0"/>
              </a:rPr>
              <a:t>plot_cat</a:t>
            </a:r>
            <a:r>
              <a:rPr lang="fr-FR" sz="3400" dirty="0">
                <a:solidFill>
                  <a:srgbClr val="222222"/>
                </a:solidFill>
                <a:latin typeface="Arial" panose="020B0604020202020204" pitchFamily="34" charset="0"/>
              </a:rPr>
              <a:t>(col):</a:t>
            </a:r>
          </a:p>
          <a:p>
            <a:pPr>
              <a:lnSpc>
                <a:spcPct val="150000"/>
              </a:lnSpc>
            </a:pPr>
            <a:r>
              <a:rPr lang="fr-FR" sz="3400" dirty="0">
                <a:solidFill>
                  <a:srgbClr val="222222"/>
                </a:solidFill>
                <a:latin typeface="Arial" panose="020B0604020202020204" pitchFamily="34" charset="0"/>
              </a:rPr>
              <a:t>    </a:t>
            </a:r>
            <a:r>
              <a:rPr lang="fr-FR" sz="3400" dirty="0" err="1">
                <a:solidFill>
                  <a:srgbClr val="222222"/>
                </a:solidFill>
                <a:latin typeface="Arial" panose="020B0604020202020204" pitchFamily="34" charset="0"/>
              </a:rPr>
              <a:t>marques_count</a:t>
            </a:r>
            <a:r>
              <a:rPr lang="fr-FR" sz="34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fr-FR" sz="3400" dirty="0" err="1">
                <a:solidFill>
                  <a:srgbClr val="222222"/>
                </a:solidFill>
                <a:latin typeface="Arial" panose="020B0604020202020204" pitchFamily="34" charset="0"/>
              </a:rPr>
              <a:t>data.select</a:t>
            </a:r>
            <a:r>
              <a:rPr lang="fr-FR" sz="3400" dirty="0">
                <a:solidFill>
                  <a:srgbClr val="222222"/>
                </a:solidFill>
                <a:latin typeface="Arial" panose="020B0604020202020204" pitchFamily="34" charset="0"/>
              </a:rPr>
              <a:t>(col).</a:t>
            </a:r>
            <a:r>
              <a:rPr lang="fr-FR" sz="3400" dirty="0" err="1">
                <a:solidFill>
                  <a:srgbClr val="222222"/>
                </a:solidFill>
                <a:latin typeface="Arial" panose="020B0604020202020204" pitchFamily="34" charset="0"/>
              </a:rPr>
              <a:t>groupby</a:t>
            </a:r>
            <a:r>
              <a:rPr lang="fr-FR" sz="3400" dirty="0">
                <a:solidFill>
                  <a:srgbClr val="222222"/>
                </a:solidFill>
                <a:latin typeface="Arial" panose="020B0604020202020204" pitchFamily="34" charset="0"/>
              </a:rPr>
              <a:t>(col).count()</a:t>
            </a:r>
          </a:p>
          <a:p>
            <a:pPr>
              <a:lnSpc>
                <a:spcPct val="150000"/>
              </a:lnSpc>
            </a:pPr>
            <a:r>
              <a:rPr lang="fr-FR" sz="3400" dirty="0">
                <a:solidFill>
                  <a:srgbClr val="222222"/>
                </a:solidFill>
                <a:latin typeface="Arial" panose="020B0604020202020204" pitchFamily="34" charset="0"/>
              </a:rPr>
              <a:t>    </a:t>
            </a:r>
            <a:r>
              <a:rPr lang="fr-FR" sz="3400" dirty="0" err="1">
                <a:solidFill>
                  <a:srgbClr val="222222"/>
                </a:solidFill>
                <a:latin typeface="Arial" panose="020B0604020202020204" pitchFamily="34" charset="0"/>
              </a:rPr>
              <a:t>snsplot</a:t>
            </a:r>
            <a:r>
              <a:rPr lang="fr-FR" sz="34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fr-FR" sz="3400" dirty="0" err="1">
                <a:solidFill>
                  <a:srgbClr val="222222"/>
                </a:solidFill>
                <a:latin typeface="Arial" panose="020B0604020202020204" pitchFamily="34" charset="0"/>
              </a:rPr>
              <a:t>sns.catplot</a:t>
            </a:r>
            <a:r>
              <a:rPr lang="fr-FR" sz="3400" dirty="0">
                <a:solidFill>
                  <a:srgbClr val="222222"/>
                </a:solidFill>
                <a:latin typeface="Arial" panose="020B0604020202020204" pitchFamily="34" charset="0"/>
              </a:rPr>
              <a:t>(data=</a:t>
            </a:r>
            <a:r>
              <a:rPr lang="fr-FR" sz="3400" dirty="0" err="1">
                <a:solidFill>
                  <a:srgbClr val="222222"/>
                </a:solidFill>
                <a:latin typeface="Arial" panose="020B0604020202020204" pitchFamily="34" charset="0"/>
              </a:rPr>
              <a:t>marques_count.toPandas</a:t>
            </a:r>
            <a:r>
              <a:rPr lang="fr-FR" sz="3400" dirty="0">
                <a:solidFill>
                  <a:srgbClr val="222222"/>
                </a:solidFill>
                <a:latin typeface="Arial" panose="020B0604020202020204" pitchFamily="34" charset="0"/>
              </a:rPr>
              <a:t>(),x=</a:t>
            </a:r>
            <a:r>
              <a:rPr lang="fr-FR" sz="3400" dirty="0" err="1">
                <a:solidFill>
                  <a:srgbClr val="222222"/>
                </a:solidFill>
                <a:latin typeface="Arial" panose="020B0604020202020204" pitchFamily="34" charset="0"/>
              </a:rPr>
              <a:t>col,y</a:t>
            </a:r>
            <a:r>
              <a:rPr lang="fr-FR" sz="3400" dirty="0">
                <a:solidFill>
                  <a:srgbClr val="222222"/>
                </a:solidFill>
                <a:latin typeface="Arial" panose="020B0604020202020204" pitchFamily="34" charset="0"/>
              </a:rPr>
              <a:t>="count",</a:t>
            </a:r>
            <a:r>
              <a:rPr lang="fr-FR" sz="3400" dirty="0" err="1">
                <a:solidFill>
                  <a:srgbClr val="222222"/>
                </a:solidFill>
                <a:latin typeface="Arial" panose="020B0604020202020204" pitchFamily="34" charset="0"/>
              </a:rPr>
              <a:t>kind</a:t>
            </a:r>
            <a:r>
              <a:rPr lang="fr-FR" sz="3400" dirty="0">
                <a:solidFill>
                  <a:srgbClr val="222222"/>
                </a:solidFill>
                <a:latin typeface="Arial" panose="020B0604020202020204" pitchFamily="34" charset="0"/>
              </a:rPr>
              <a:t>="bar")</a:t>
            </a:r>
          </a:p>
          <a:p>
            <a:pPr>
              <a:lnSpc>
                <a:spcPct val="150000"/>
              </a:lnSpc>
            </a:pPr>
            <a:r>
              <a:rPr lang="fr-FR" sz="3400" dirty="0">
                <a:solidFill>
                  <a:srgbClr val="222222"/>
                </a:solidFill>
                <a:latin typeface="Arial" panose="020B0604020202020204" pitchFamily="34" charset="0"/>
              </a:rPr>
              <a:t>    </a:t>
            </a:r>
            <a:r>
              <a:rPr lang="fr-FR" sz="3400" dirty="0" err="1">
                <a:solidFill>
                  <a:srgbClr val="222222"/>
                </a:solidFill>
                <a:latin typeface="Arial" panose="020B0604020202020204" pitchFamily="34" charset="0"/>
              </a:rPr>
              <a:t>snsplot.set_xticklabels</a:t>
            </a:r>
            <a:r>
              <a:rPr lang="fr-FR" sz="3400" dirty="0">
                <a:solidFill>
                  <a:srgbClr val="222222"/>
                </a:solidFill>
                <a:latin typeface="Arial" panose="020B0604020202020204" pitchFamily="34" charset="0"/>
              </a:rPr>
              <a:t>(rotation="vertical")</a:t>
            </a:r>
          </a:p>
          <a:p>
            <a:pPr>
              <a:lnSpc>
                <a:spcPct val="150000"/>
              </a:lnSpc>
            </a:pPr>
            <a:r>
              <a:rPr lang="fr-FR" sz="3400" dirty="0">
                <a:solidFill>
                  <a:srgbClr val="222222"/>
                </a:solidFill>
                <a:latin typeface="Arial" panose="020B0604020202020204" pitchFamily="34" charset="0"/>
              </a:rPr>
              <a:t>    </a:t>
            </a:r>
            <a:r>
              <a:rPr lang="fr-FR" sz="3400" dirty="0" err="1">
                <a:solidFill>
                  <a:srgbClr val="222222"/>
                </a:solidFill>
                <a:latin typeface="Arial" panose="020B0604020202020204" pitchFamily="34" charset="0"/>
              </a:rPr>
              <a:t>snsplot.fig.set_figwidth</a:t>
            </a:r>
            <a:r>
              <a:rPr lang="fr-FR" sz="3400" dirty="0">
                <a:solidFill>
                  <a:srgbClr val="222222"/>
                </a:solidFill>
                <a:latin typeface="Arial" panose="020B0604020202020204" pitchFamily="34" charset="0"/>
              </a:rPr>
              <a:t>(20)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42B80017-15D3-0D40-7CD4-E7B52DC0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</p:spPr>
        <p:txBody>
          <a:bodyPr/>
          <a:lstStyle/>
          <a:p>
            <a:endParaRPr lang="fr-F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845EDA9-E76E-28D8-84DB-47948C6B4646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Google Shape;230;p17">
            <a:extLst>
              <a:ext uri="{FF2B5EF4-FFF2-40B4-BE49-F238E27FC236}">
                <a16:creationId xmlns:a16="http://schemas.microsoft.com/office/drawing/2014/main" id="{C5092F39-141D-188B-C117-65E59D0D1AB6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1;p17">
            <a:extLst>
              <a:ext uri="{FF2B5EF4-FFF2-40B4-BE49-F238E27FC236}">
                <a16:creationId xmlns:a16="http://schemas.microsoft.com/office/drawing/2014/main" id="{FAA53658-D5E3-D2C0-4C45-2C4B1CADF476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0" name="Google Shape;232;p17">
            <a:extLst>
              <a:ext uri="{FF2B5EF4-FFF2-40B4-BE49-F238E27FC236}">
                <a16:creationId xmlns:a16="http://schemas.microsoft.com/office/drawing/2014/main" id="{F473422C-CFDD-582E-26C5-DE92575574D0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AD236C8-C079-C1B2-F178-C8203E4F07F3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catégorielles</a:t>
            </a:r>
          </a:p>
        </p:txBody>
      </p:sp>
    </p:spTree>
    <p:extLst>
      <p:ext uri="{BB962C8B-B14F-4D97-AF65-F5344CB8AC3E}">
        <p14:creationId xmlns:p14="http://schemas.microsoft.com/office/powerpoint/2010/main" val="15726914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3C7E5-A1B4-08B8-F24A-648758473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19FC0-2A3D-43CB-133B-5EC8C61F2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127" y="1160634"/>
            <a:ext cx="8483747" cy="3893059"/>
          </a:xfrm>
        </p:spPr>
        <p:txBody>
          <a:bodyPr>
            <a:normAutofit/>
          </a:bodyPr>
          <a:lstStyle/>
          <a:p>
            <a:pPr marL="342900" lvl="1"/>
            <a:r>
              <a:rPr lang="fr-FR" sz="225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Affichage des « marques » </a:t>
            </a:r>
          </a:p>
          <a:p>
            <a:pPr lvl="1"/>
            <a:r>
              <a:rPr lang="fr-F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plot_cat</a:t>
            </a: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("marque")</a:t>
            </a:r>
          </a:p>
          <a:p>
            <a:pPr marL="342900" lvl="1"/>
            <a:endParaRPr lang="fr-FR" sz="25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1"/>
            <a:r>
              <a:rPr lang="fr-FR" sz="225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Pour le « code postal », la cardinalité est très </a:t>
            </a:r>
            <a:r>
              <a:rPr lang="fr-FR" sz="225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elevée</a:t>
            </a:r>
            <a:r>
              <a:rPr lang="fr-FR" sz="225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par la peine de faire un </a:t>
            </a:r>
            <a:r>
              <a:rPr lang="fr-FR" sz="225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groupby</a:t>
            </a:r>
            <a:r>
              <a:rPr lang="fr-FR" sz="225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ça plantera le système</a:t>
            </a:r>
          </a:p>
          <a:p>
            <a:pPr marL="342900" lvl="1"/>
            <a:endParaRPr lang="fr-FR" sz="22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1"/>
            <a:r>
              <a:rPr lang="fr-FR" sz="225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Affichage des « marques » </a:t>
            </a:r>
          </a:p>
          <a:p>
            <a:pPr lvl="1"/>
            <a:r>
              <a:rPr lang="fr-FR" dirty="0" err="1">
                <a:solidFill>
                  <a:srgbClr val="222222"/>
                </a:solidFill>
                <a:latin typeface="Arial" panose="020B0604020202020204" pitchFamily="34" charset="0"/>
              </a:rPr>
              <a:t>plot_cat</a:t>
            </a:r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</a:rPr>
              <a:t>("</a:t>
            </a:r>
            <a:r>
              <a:rPr lang="fr-FR" dirty="0" err="1">
                <a:solidFill>
                  <a:srgbClr val="222222"/>
                </a:solidFill>
                <a:latin typeface="Arial" panose="020B0604020202020204" pitchFamily="34" charset="0"/>
              </a:rPr>
              <a:t>energie_veh</a:t>
            </a:r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</a:rPr>
              <a:t>")</a:t>
            </a:r>
          </a:p>
          <a:p>
            <a:pPr marL="342900" lvl="1"/>
            <a:endParaRPr lang="fr-FR" sz="25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1"/>
            <a:endParaRPr lang="fr-FR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2A8BBCD6-765B-88F3-D5BE-77F6FF76E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B810F67-47D8-D35D-5DE6-FCEE175AF24E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Google Shape;230;p17">
            <a:extLst>
              <a:ext uri="{FF2B5EF4-FFF2-40B4-BE49-F238E27FC236}">
                <a16:creationId xmlns:a16="http://schemas.microsoft.com/office/drawing/2014/main" id="{C3CD53CE-03F6-5E5B-B789-117D202D4ABD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8" name="Google Shape;231;p17">
            <a:extLst>
              <a:ext uri="{FF2B5EF4-FFF2-40B4-BE49-F238E27FC236}">
                <a16:creationId xmlns:a16="http://schemas.microsoft.com/office/drawing/2014/main" id="{9FA01A11-C883-D7AA-6DA3-8263D92869FB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2;p17">
            <a:extLst>
              <a:ext uri="{FF2B5EF4-FFF2-40B4-BE49-F238E27FC236}">
                <a16:creationId xmlns:a16="http://schemas.microsoft.com/office/drawing/2014/main" id="{D2B9A98A-ACC8-72F7-2AF3-5A6C1B4ED498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B3CC466-6EE7-53F3-9257-E6E7260DDC10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catégorielles</a:t>
            </a:r>
          </a:p>
        </p:txBody>
      </p:sp>
    </p:spTree>
    <p:extLst>
      <p:ext uri="{BB962C8B-B14F-4D97-AF65-F5344CB8AC3E}">
        <p14:creationId xmlns:p14="http://schemas.microsoft.com/office/powerpoint/2010/main" val="10904019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67D8A-FA8B-41C3-BA2C-75A7004CC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53ADA-21C7-B5E3-3671-0AE832467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18959"/>
            <a:ext cx="7886700" cy="3263504"/>
          </a:xfrm>
        </p:spPr>
        <p:txBody>
          <a:bodyPr>
            <a:normAutofit/>
          </a:bodyPr>
          <a:lstStyle/>
          <a:p>
            <a:r>
              <a:rPr lang="fr-FR" dirty="0"/>
              <a:t>Résultat</a:t>
            </a: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AD3A4EC-1C6E-F5CF-A97D-8C001744F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46" y="1416059"/>
            <a:ext cx="7868495" cy="3586859"/>
          </a:xfrm>
          <a:prstGeom prst="rect">
            <a:avLst/>
          </a:prstGeom>
        </p:spPr>
      </p:pic>
      <p:sp>
        <p:nvSpPr>
          <p:cNvPr id="6" name="Titre 5">
            <a:extLst>
              <a:ext uri="{FF2B5EF4-FFF2-40B4-BE49-F238E27FC236}">
                <a16:creationId xmlns:a16="http://schemas.microsoft.com/office/drawing/2014/main" id="{6A27ED82-196E-50EA-851C-74836A54E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355D371-1E89-B270-A150-1CEFF3781F52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Google Shape;230;p17">
            <a:extLst>
              <a:ext uri="{FF2B5EF4-FFF2-40B4-BE49-F238E27FC236}">
                <a16:creationId xmlns:a16="http://schemas.microsoft.com/office/drawing/2014/main" id="{D7B58119-1603-B8F7-D7EB-21F458106483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1;p17">
            <a:extLst>
              <a:ext uri="{FF2B5EF4-FFF2-40B4-BE49-F238E27FC236}">
                <a16:creationId xmlns:a16="http://schemas.microsoft.com/office/drawing/2014/main" id="{5BEFA04F-080E-D7F6-B4E7-E30AFA8B25AE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0" name="Google Shape;232;p17">
            <a:extLst>
              <a:ext uri="{FF2B5EF4-FFF2-40B4-BE49-F238E27FC236}">
                <a16:creationId xmlns:a16="http://schemas.microsoft.com/office/drawing/2014/main" id="{2300BFB5-A81B-476A-5445-19A781B6F38B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59362A0-4DCF-ED97-8D7E-9470995807CF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catégorielles</a:t>
            </a:r>
          </a:p>
        </p:txBody>
      </p:sp>
    </p:spTree>
    <p:extLst>
      <p:ext uri="{BB962C8B-B14F-4D97-AF65-F5344CB8AC3E}">
        <p14:creationId xmlns:p14="http://schemas.microsoft.com/office/powerpoint/2010/main" val="23495739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2A6CD-FF23-F62C-D57E-5580A150D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76676-3829-AE8C-33CF-BC3D9C9B0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619" y="1266793"/>
            <a:ext cx="7886700" cy="3263504"/>
          </a:xfrm>
        </p:spPr>
        <p:txBody>
          <a:bodyPr>
            <a:normAutofit/>
          </a:bodyPr>
          <a:lstStyle/>
          <a:p>
            <a:r>
              <a:rPr lang="fr-FR" dirty="0"/>
              <a:t>Résultat</a:t>
            </a: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65F5A63-EDA7-A96F-8773-CFF053BAC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75" y="1826552"/>
            <a:ext cx="7982171" cy="2945655"/>
          </a:xfrm>
          <a:prstGeom prst="rect">
            <a:avLst/>
          </a:prstGeom>
        </p:spPr>
      </p:pic>
      <p:sp>
        <p:nvSpPr>
          <p:cNvPr id="7" name="Titre 4">
            <a:extLst>
              <a:ext uri="{FF2B5EF4-FFF2-40B4-BE49-F238E27FC236}">
                <a16:creationId xmlns:a16="http://schemas.microsoft.com/office/drawing/2014/main" id="{7234B3B4-60D4-3094-5560-BAA2E75DF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</p:spPr>
        <p:txBody>
          <a:bodyPr/>
          <a:lstStyle/>
          <a:p>
            <a:endParaRPr lang="fr-FR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D5820BA-DF1C-8194-D5EA-2AC228949658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Google Shape;230;p17">
            <a:extLst>
              <a:ext uri="{FF2B5EF4-FFF2-40B4-BE49-F238E27FC236}">
                <a16:creationId xmlns:a16="http://schemas.microsoft.com/office/drawing/2014/main" id="{030702CF-0116-E673-1C52-1E4110BB5679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0" name="Google Shape;231;p17">
            <a:extLst>
              <a:ext uri="{FF2B5EF4-FFF2-40B4-BE49-F238E27FC236}">
                <a16:creationId xmlns:a16="http://schemas.microsoft.com/office/drawing/2014/main" id="{19334721-7653-D5B0-3972-281FCAD24B1B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1" name="Google Shape;232;p17">
            <a:extLst>
              <a:ext uri="{FF2B5EF4-FFF2-40B4-BE49-F238E27FC236}">
                <a16:creationId xmlns:a16="http://schemas.microsoft.com/office/drawing/2014/main" id="{7AAC2EB6-FB7B-239F-79BC-081A8F5DAD0C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5E0F07C-599A-8319-9588-BD1ED96753E7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catégorielles</a:t>
            </a:r>
          </a:p>
        </p:txBody>
      </p:sp>
    </p:spTree>
    <p:extLst>
      <p:ext uri="{BB962C8B-B14F-4D97-AF65-F5344CB8AC3E}">
        <p14:creationId xmlns:p14="http://schemas.microsoft.com/office/powerpoint/2010/main" val="23679481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B9944-EC1D-40A7-B8F5-C6F987F5F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F8225-07A0-365E-6CB5-6348C2B32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401" y="1260207"/>
            <a:ext cx="7886700" cy="3263504"/>
          </a:xfrm>
        </p:spPr>
        <p:txBody>
          <a:bodyPr>
            <a:normAutofit/>
          </a:bodyPr>
          <a:lstStyle/>
          <a:p>
            <a:r>
              <a:rPr lang="fr-FR" dirty="0"/>
              <a:t>Résultat</a:t>
            </a: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51498B0-1069-2B01-7EC9-A5D4E9D51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47" y="1602541"/>
            <a:ext cx="8435322" cy="902843"/>
          </a:xfrm>
          <a:prstGeom prst="rect">
            <a:avLst/>
          </a:prstGeom>
        </p:spPr>
      </p:pic>
      <p:sp>
        <p:nvSpPr>
          <p:cNvPr id="7" name="Titre 4">
            <a:extLst>
              <a:ext uri="{FF2B5EF4-FFF2-40B4-BE49-F238E27FC236}">
                <a16:creationId xmlns:a16="http://schemas.microsoft.com/office/drawing/2014/main" id="{C22B3F95-0495-FAEC-B088-10E1136F6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</p:spPr>
        <p:txBody>
          <a:bodyPr/>
          <a:lstStyle/>
          <a:p>
            <a:endParaRPr lang="fr-FR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96C8D76-882C-3BB5-0D8B-8E40370DD2B7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Google Shape;230;p17">
            <a:extLst>
              <a:ext uri="{FF2B5EF4-FFF2-40B4-BE49-F238E27FC236}">
                <a16:creationId xmlns:a16="http://schemas.microsoft.com/office/drawing/2014/main" id="{77C4221B-CB49-1AEA-904F-CA8B295593D6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0" name="Google Shape;231;p17">
            <a:extLst>
              <a:ext uri="{FF2B5EF4-FFF2-40B4-BE49-F238E27FC236}">
                <a16:creationId xmlns:a16="http://schemas.microsoft.com/office/drawing/2014/main" id="{846EF131-C171-ECB6-5B7A-196C17A9E2C0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1" name="Google Shape;232;p17">
            <a:extLst>
              <a:ext uri="{FF2B5EF4-FFF2-40B4-BE49-F238E27FC236}">
                <a16:creationId xmlns:a16="http://schemas.microsoft.com/office/drawing/2014/main" id="{6C02B766-DC85-20B3-311B-8A63B29053B1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101F231-BF45-CBE6-4DAB-62B867667BDD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catégorielles</a:t>
            </a:r>
          </a:p>
        </p:txBody>
      </p:sp>
    </p:spTree>
    <p:extLst>
      <p:ext uri="{BB962C8B-B14F-4D97-AF65-F5344CB8AC3E}">
        <p14:creationId xmlns:p14="http://schemas.microsoft.com/office/powerpoint/2010/main" val="23821693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CCC31-EE5D-F220-8E41-FDCF69D72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D3561-2FE1-8C18-57E7-A7F73C733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127" y="1160634"/>
            <a:ext cx="8483747" cy="3893059"/>
          </a:xfrm>
        </p:spPr>
        <p:txBody>
          <a:bodyPr>
            <a:normAutofit/>
          </a:bodyPr>
          <a:lstStyle/>
          <a:p>
            <a:pPr marL="342900" lvl="1"/>
            <a:r>
              <a:rPr lang="fr-FR" sz="225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Supprimez les lignes contenant des anomalies dans la colonne </a:t>
            </a:r>
            <a:r>
              <a:rPr lang="fr-FR" sz="225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energie_veh</a:t>
            </a:r>
            <a:r>
              <a:rPr lang="fr-FR" sz="225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lvl="1"/>
            <a:endParaRPr lang="fr-FR" sz="22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fr-F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n_rows_avant</a:t>
            </a: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= </a:t>
            </a:r>
            <a:r>
              <a:rPr lang="fr-F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data.count</a:t>
            </a: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()</a:t>
            </a:r>
          </a:p>
          <a:p>
            <a:pPr lvl="1"/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data = </a:t>
            </a:r>
            <a:r>
              <a:rPr lang="fr-F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data.filter</a:t>
            </a: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fr-F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f.col</a:t>
            </a: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("</a:t>
            </a:r>
            <a:r>
              <a:rPr lang="fr-F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energie_veh</a:t>
            </a: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")!="NR")</a:t>
            </a:r>
          </a:p>
          <a:p>
            <a:pPr lvl="1"/>
            <a:r>
              <a:rPr lang="fr-F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n_rows</a:t>
            </a: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= </a:t>
            </a:r>
            <a:r>
              <a:rPr lang="fr-F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data.count</a:t>
            </a: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()</a:t>
            </a:r>
          </a:p>
          <a:p>
            <a:pPr lvl="1"/>
            <a:r>
              <a:rPr lang="fr-F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print</a:t>
            </a: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("Nombre d'enregistrements </a:t>
            </a:r>
            <a:r>
              <a:rPr lang="fr-F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suppimés</a:t>
            </a: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",</a:t>
            </a:r>
            <a:r>
              <a:rPr lang="fr-F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n_rows_avant-n_rows</a:t>
            </a: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</a:t>
            </a:r>
            <a:endParaRPr lang="fr-FR" sz="25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1"/>
            <a:endParaRPr lang="fr-FR" sz="25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1"/>
            <a:endParaRPr lang="fr-FR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C426F3F-A4C2-6914-75CB-CD4D9ACBA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779" y="3572443"/>
            <a:ext cx="7511527" cy="1276152"/>
          </a:xfrm>
          <a:prstGeom prst="rect">
            <a:avLst/>
          </a:prstGeom>
        </p:spPr>
      </p:pic>
      <p:sp>
        <p:nvSpPr>
          <p:cNvPr id="6" name="Titre 5">
            <a:extLst>
              <a:ext uri="{FF2B5EF4-FFF2-40B4-BE49-F238E27FC236}">
                <a16:creationId xmlns:a16="http://schemas.microsoft.com/office/drawing/2014/main" id="{0E1E0145-7F31-3C0D-1D45-2F76B498C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E14A4BF-8D69-8764-78CC-A523DD5B96A3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Google Shape;230;p17">
            <a:extLst>
              <a:ext uri="{FF2B5EF4-FFF2-40B4-BE49-F238E27FC236}">
                <a16:creationId xmlns:a16="http://schemas.microsoft.com/office/drawing/2014/main" id="{13A87C1B-D733-2EDC-30AB-E899BD24A76A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1;p17">
            <a:extLst>
              <a:ext uri="{FF2B5EF4-FFF2-40B4-BE49-F238E27FC236}">
                <a16:creationId xmlns:a16="http://schemas.microsoft.com/office/drawing/2014/main" id="{56268D3D-B792-9EFD-26C6-515661E2239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0" name="Google Shape;232;p17">
            <a:extLst>
              <a:ext uri="{FF2B5EF4-FFF2-40B4-BE49-F238E27FC236}">
                <a16:creationId xmlns:a16="http://schemas.microsoft.com/office/drawing/2014/main" id="{B71162EA-B2AA-F598-6984-8DEEA4917724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206764D-D815-9C91-CC7E-F5A95A8DEC8E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catégorielles</a:t>
            </a:r>
          </a:p>
        </p:txBody>
      </p:sp>
    </p:spTree>
    <p:extLst>
      <p:ext uri="{BB962C8B-B14F-4D97-AF65-F5344CB8AC3E}">
        <p14:creationId xmlns:p14="http://schemas.microsoft.com/office/powerpoint/2010/main" val="33190470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4B80B-6EDE-5FB5-B13C-448FBC0F8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1DA08-C535-975B-09D2-40BD6CE18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127" y="1160634"/>
            <a:ext cx="8483747" cy="3893059"/>
          </a:xfrm>
        </p:spPr>
        <p:txBody>
          <a:bodyPr>
            <a:normAutofit/>
          </a:bodyPr>
          <a:lstStyle/>
          <a:p>
            <a:pPr marL="342900" lvl="1"/>
            <a:r>
              <a:rPr lang="fr-FR" sz="225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fichier dict_marques_auto.csv contient la liste de toutes les marques de véhicules connues. </a:t>
            </a:r>
          </a:p>
          <a:p>
            <a:pPr marL="342900" lvl="1"/>
            <a:endParaRPr lang="fr-FR" sz="22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1"/>
            <a:r>
              <a:rPr lang="fr-FR" sz="225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Utilisez le pour supprimez des anomalies dans la colonne marque et enrichir le </a:t>
            </a:r>
            <a:r>
              <a:rPr lang="fr-FR" sz="225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dataset</a:t>
            </a:r>
            <a:r>
              <a:rPr lang="fr-FR" sz="225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avec la colonne pays (pays de fabrication du véhicule)</a:t>
            </a:r>
          </a:p>
          <a:p>
            <a:pPr marL="342900" lvl="1"/>
            <a:endParaRPr lang="fr-FR" sz="22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1"/>
            <a:r>
              <a:rPr lang="fr-FR" sz="225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Vérifiez avec </a:t>
            </a:r>
            <a:r>
              <a:rPr lang="fr-FR" sz="225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describe</a:t>
            </a:r>
            <a:r>
              <a:rPr lang="fr-FR" sz="225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puis sauvegardez les données nettoyées dans un fichier parquet. </a:t>
            </a:r>
            <a:endParaRPr lang="fr-FR" sz="25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1"/>
            <a:endParaRPr lang="fr-FR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2EA9F1B2-0263-24AD-F07F-BAA90A406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D77EDBD-5B49-8491-582E-72D084412CFD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Google Shape;230;p17">
            <a:extLst>
              <a:ext uri="{FF2B5EF4-FFF2-40B4-BE49-F238E27FC236}">
                <a16:creationId xmlns:a16="http://schemas.microsoft.com/office/drawing/2014/main" id="{B823FC22-283D-0848-D10E-310459A266B9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8" name="Google Shape;231;p17">
            <a:extLst>
              <a:ext uri="{FF2B5EF4-FFF2-40B4-BE49-F238E27FC236}">
                <a16:creationId xmlns:a16="http://schemas.microsoft.com/office/drawing/2014/main" id="{6931B809-C328-267E-1E1F-1076854F57F8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2;p17">
            <a:extLst>
              <a:ext uri="{FF2B5EF4-FFF2-40B4-BE49-F238E27FC236}">
                <a16:creationId xmlns:a16="http://schemas.microsoft.com/office/drawing/2014/main" id="{6C9D95EC-EC36-8214-07E9-389AD455B17D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E86AFCA-57C0-44EE-8FDC-4EC481EA18AC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catégorielles</a:t>
            </a:r>
          </a:p>
        </p:txBody>
      </p:sp>
    </p:spTree>
    <p:extLst>
      <p:ext uri="{BB962C8B-B14F-4D97-AF65-F5344CB8AC3E}">
        <p14:creationId xmlns:p14="http://schemas.microsoft.com/office/powerpoint/2010/main" val="25646978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9B346-7BD1-C6FD-BF7F-CAD042BB9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1F034-FD31-F9E8-EE0E-B60BF4766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127" y="1160634"/>
            <a:ext cx="8483747" cy="3893059"/>
          </a:xfrm>
        </p:spPr>
        <p:txBody>
          <a:bodyPr>
            <a:normAutofit fontScale="85000" lnSpcReduction="20000"/>
          </a:bodyPr>
          <a:lstStyle/>
          <a:p>
            <a:pPr marL="342900" lvl="1"/>
            <a:r>
              <a:rPr lang="fr-FR" sz="225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fichier dict_marques_auto.csv contient la liste de toutes les marques de véhicules connues. </a:t>
            </a:r>
            <a:endParaRPr lang="fr-FR" sz="3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fr-FR" sz="2400" dirty="0" err="1">
                <a:solidFill>
                  <a:srgbClr val="222222"/>
                </a:solidFill>
                <a:latin typeface="Arial" panose="020B0604020202020204" pitchFamily="34" charset="0"/>
              </a:rPr>
              <a:t>path</a:t>
            </a:r>
            <a:r>
              <a:rPr lang="fr-FR" sz="2400" dirty="0">
                <a:solidFill>
                  <a:srgbClr val="222222"/>
                </a:solidFill>
                <a:latin typeface="Arial" panose="020B0604020202020204" pitchFamily="34" charset="0"/>
              </a:rPr>
              <a:t> = "/data/dict_marques_auto.csv" # le chemin accessible au cluster</a:t>
            </a:r>
          </a:p>
          <a:p>
            <a:pPr lvl="1"/>
            <a:r>
              <a:rPr lang="fr-FR" sz="2400" dirty="0">
                <a:solidFill>
                  <a:srgbClr val="222222"/>
                </a:solidFill>
                <a:latin typeface="Arial" panose="020B0604020202020204" pitchFamily="34" charset="0"/>
              </a:rPr>
              <a:t>marques = </a:t>
            </a:r>
            <a:r>
              <a:rPr lang="fr-FR" sz="2400" dirty="0" err="1">
                <a:solidFill>
                  <a:srgbClr val="222222"/>
                </a:solidFill>
                <a:latin typeface="Arial" panose="020B0604020202020204" pitchFamily="34" charset="0"/>
              </a:rPr>
              <a:t>spark.read</a:t>
            </a:r>
            <a:r>
              <a:rPr lang="fr-FR" sz="2400" dirty="0">
                <a:solidFill>
                  <a:srgbClr val="222222"/>
                </a:solidFill>
                <a:latin typeface="Arial" panose="020B0604020202020204" pitchFamily="34" charset="0"/>
              </a:rPr>
              <a:t>\</a:t>
            </a:r>
          </a:p>
          <a:p>
            <a:pPr lvl="1"/>
            <a:r>
              <a:rPr lang="fr-FR" sz="2400" dirty="0">
                <a:solidFill>
                  <a:srgbClr val="222222"/>
                </a:solidFill>
                <a:latin typeface="Arial" panose="020B0604020202020204" pitchFamily="34" charset="0"/>
              </a:rPr>
              <a:t>.option("</a:t>
            </a:r>
            <a:r>
              <a:rPr lang="fr-FR" sz="2400" dirty="0" err="1">
                <a:solidFill>
                  <a:srgbClr val="222222"/>
                </a:solidFill>
                <a:latin typeface="Arial" panose="020B0604020202020204" pitchFamily="34" charset="0"/>
              </a:rPr>
              <a:t>inferSchema</a:t>
            </a:r>
            <a:r>
              <a:rPr lang="fr-FR" sz="2400" dirty="0">
                <a:solidFill>
                  <a:srgbClr val="222222"/>
                </a:solidFill>
                <a:latin typeface="Arial" panose="020B0604020202020204" pitchFamily="34" charset="0"/>
              </a:rPr>
              <a:t>",</a:t>
            </a:r>
            <a:r>
              <a:rPr lang="fr-FR" sz="2400" dirty="0" err="1">
                <a:solidFill>
                  <a:srgbClr val="222222"/>
                </a:solidFill>
                <a:latin typeface="Arial" panose="020B0604020202020204" pitchFamily="34" charset="0"/>
              </a:rPr>
              <a:t>True</a:t>
            </a:r>
            <a:r>
              <a:rPr lang="fr-FR" sz="2400" dirty="0">
                <a:solidFill>
                  <a:srgbClr val="222222"/>
                </a:solidFill>
                <a:latin typeface="Arial" panose="020B0604020202020204" pitchFamily="34" charset="0"/>
              </a:rPr>
              <a:t>)\</a:t>
            </a:r>
          </a:p>
          <a:p>
            <a:pPr lvl="1"/>
            <a:r>
              <a:rPr lang="fr-FR" sz="2400" dirty="0">
                <a:solidFill>
                  <a:srgbClr val="222222"/>
                </a:solidFill>
                <a:latin typeface="Arial" panose="020B0604020202020204" pitchFamily="34" charset="0"/>
              </a:rPr>
              <a:t>.option("header",</a:t>
            </a:r>
            <a:r>
              <a:rPr lang="fr-FR" sz="2400" dirty="0" err="1">
                <a:solidFill>
                  <a:srgbClr val="222222"/>
                </a:solidFill>
                <a:latin typeface="Arial" panose="020B0604020202020204" pitchFamily="34" charset="0"/>
              </a:rPr>
              <a:t>True</a:t>
            </a:r>
            <a:r>
              <a:rPr lang="fr-FR" sz="2400" dirty="0">
                <a:solidFill>
                  <a:srgbClr val="222222"/>
                </a:solidFill>
                <a:latin typeface="Arial" panose="020B0604020202020204" pitchFamily="34" charset="0"/>
              </a:rPr>
              <a:t>)\</a:t>
            </a:r>
          </a:p>
          <a:p>
            <a:pPr lvl="1"/>
            <a:r>
              <a:rPr lang="fr-FR" sz="2400" dirty="0">
                <a:solidFill>
                  <a:srgbClr val="222222"/>
                </a:solidFill>
                <a:latin typeface="Arial" panose="020B0604020202020204" pitchFamily="34" charset="0"/>
              </a:rPr>
              <a:t>.csv(</a:t>
            </a:r>
            <a:r>
              <a:rPr lang="fr-FR" sz="2400" dirty="0" err="1">
                <a:solidFill>
                  <a:srgbClr val="222222"/>
                </a:solidFill>
                <a:latin typeface="Arial" panose="020B0604020202020204" pitchFamily="34" charset="0"/>
              </a:rPr>
              <a:t>path</a:t>
            </a:r>
            <a:r>
              <a:rPr lang="fr-FR" sz="2400" dirty="0">
                <a:solidFill>
                  <a:srgbClr val="222222"/>
                </a:solidFill>
                <a:latin typeface="Arial" panose="020B0604020202020204" pitchFamily="34" charset="0"/>
              </a:rPr>
              <a:t>)</a:t>
            </a:r>
            <a:endParaRPr lang="fr-FR" sz="22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1"/>
            <a:endParaRPr lang="fr-FR" sz="22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1"/>
            <a:r>
              <a:rPr lang="fr-FR" sz="225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Utilisez le pour supprimez des anomalies dans la colonne marque et enrichir le </a:t>
            </a:r>
            <a:r>
              <a:rPr lang="fr-FR" sz="225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dataset</a:t>
            </a:r>
            <a:r>
              <a:rPr lang="fr-FR" sz="225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avec la colonne pays (pays de fabrication du véhicule)</a:t>
            </a:r>
            <a:endParaRPr lang="fr-FR" sz="2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pt-BR" sz="2100" dirty="0">
                <a:solidFill>
                  <a:srgbClr val="222222"/>
                </a:solidFill>
                <a:latin typeface="Arial" panose="020B0604020202020204" pitchFamily="34" charset="0"/>
              </a:rPr>
              <a:t>data = data.join(marques,"marque",how="inner")</a:t>
            </a:r>
          </a:p>
          <a:p>
            <a:pPr lvl="1"/>
            <a:endParaRPr lang="fr-FR" sz="22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1"/>
            <a:r>
              <a:rPr lang="fr-FR" sz="225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Vérifiez avec </a:t>
            </a:r>
            <a:r>
              <a:rPr lang="fr-FR" sz="225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describe</a:t>
            </a:r>
            <a:r>
              <a:rPr lang="fr-FR" sz="225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puis sauvegardez les données nettoyées dans un fichier parquet. </a:t>
            </a:r>
          </a:p>
          <a:p>
            <a:pPr lvl="1"/>
            <a:r>
              <a:rPr lang="fr-FR" sz="2400" dirty="0" err="1">
                <a:solidFill>
                  <a:srgbClr val="222222"/>
                </a:solidFill>
                <a:latin typeface="Arial" panose="020B0604020202020204" pitchFamily="34" charset="0"/>
              </a:rPr>
              <a:t>data.describe</a:t>
            </a:r>
            <a:r>
              <a:rPr lang="fr-FR" sz="2400" dirty="0">
                <a:solidFill>
                  <a:srgbClr val="222222"/>
                </a:solidFill>
                <a:latin typeface="Arial" panose="020B0604020202020204" pitchFamily="34" charset="0"/>
              </a:rPr>
              <a:t>().show()</a:t>
            </a:r>
          </a:p>
          <a:p>
            <a:pPr marL="342900" lvl="1"/>
            <a:endParaRPr lang="fr-FR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6" name="Titre 4">
            <a:extLst>
              <a:ext uri="{FF2B5EF4-FFF2-40B4-BE49-F238E27FC236}">
                <a16:creationId xmlns:a16="http://schemas.microsoft.com/office/drawing/2014/main" id="{FA365FF4-AADB-6BF8-B0B8-4F85A1366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</p:spPr>
        <p:txBody>
          <a:bodyPr/>
          <a:lstStyle/>
          <a:p>
            <a:endParaRPr lang="fr-F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EB49F3-1585-AE9B-02F0-1728DD0D5ABC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Google Shape;230;p17">
            <a:extLst>
              <a:ext uri="{FF2B5EF4-FFF2-40B4-BE49-F238E27FC236}">
                <a16:creationId xmlns:a16="http://schemas.microsoft.com/office/drawing/2014/main" id="{FCE81368-0ED1-95F3-CAE2-14627D5F2B28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1;p17">
            <a:extLst>
              <a:ext uri="{FF2B5EF4-FFF2-40B4-BE49-F238E27FC236}">
                <a16:creationId xmlns:a16="http://schemas.microsoft.com/office/drawing/2014/main" id="{2B0CDAE5-44FE-8BA8-F020-B07E77B9F343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0" name="Google Shape;232;p17">
            <a:extLst>
              <a:ext uri="{FF2B5EF4-FFF2-40B4-BE49-F238E27FC236}">
                <a16:creationId xmlns:a16="http://schemas.microsoft.com/office/drawing/2014/main" id="{D01B9D7F-55EA-9490-EF65-82E5881CA8BB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9DBB691-8433-C529-E984-99E42C9A1354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catégorielles</a:t>
            </a:r>
          </a:p>
        </p:txBody>
      </p:sp>
    </p:spTree>
    <p:extLst>
      <p:ext uri="{BB962C8B-B14F-4D97-AF65-F5344CB8AC3E}">
        <p14:creationId xmlns:p14="http://schemas.microsoft.com/office/powerpoint/2010/main" val="17949209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64992-E4EB-AAFF-5771-692286B08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D9A8E-012E-35EA-F52C-7E5D0A5E4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44615"/>
            <a:ext cx="7886700" cy="3263504"/>
          </a:xfrm>
        </p:spPr>
        <p:txBody>
          <a:bodyPr>
            <a:normAutofit/>
          </a:bodyPr>
          <a:lstStyle/>
          <a:p>
            <a:r>
              <a:rPr lang="fr-FR" dirty="0"/>
              <a:t>Résultat</a:t>
            </a: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0A4C329-594E-B0D3-6915-DE0584967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78" y="1417343"/>
            <a:ext cx="7313099" cy="3585575"/>
          </a:xfrm>
          <a:prstGeom prst="rect">
            <a:avLst/>
          </a:prstGeom>
        </p:spPr>
      </p:pic>
      <p:sp>
        <p:nvSpPr>
          <p:cNvPr id="7" name="Titre 4">
            <a:extLst>
              <a:ext uri="{FF2B5EF4-FFF2-40B4-BE49-F238E27FC236}">
                <a16:creationId xmlns:a16="http://schemas.microsoft.com/office/drawing/2014/main" id="{39B6E5FC-27AB-C8A6-01BD-CBE43A392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</p:spPr>
        <p:txBody>
          <a:bodyPr/>
          <a:lstStyle/>
          <a:p>
            <a:endParaRPr lang="fr-FR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735C9DB-A91B-410B-4CF7-085218025A47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Google Shape;230;p17">
            <a:extLst>
              <a:ext uri="{FF2B5EF4-FFF2-40B4-BE49-F238E27FC236}">
                <a16:creationId xmlns:a16="http://schemas.microsoft.com/office/drawing/2014/main" id="{1FB89E0A-BC86-693B-9183-47259902B3D0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0" name="Google Shape;231;p17">
            <a:extLst>
              <a:ext uri="{FF2B5EF4-FFF2-40B4-BE49-F238E27FC236}">
                <a16:creationId xmlns:a16="http://schemas.microsoft.com/office/drawing/2014/main" id="{E82840C5-C350-513E-E603-11F395E4FB35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1" name="Google Shape;232;p17">
            <a:extLst>
              <a:ext uri="{FF2B5EF4-FFF2-40B4-BE49-F238E27FC236}">
                <a16:creationId xmlns:a16="http://schemas.microsoft.com/office/drawing/2014/main" id="{020F634A-8F64-7507-85BD-47DAA84F834F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0F8DC2D-F691-3E53-E481-885A43156559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catégorielles</a:t>
            </a:r>
          </a:p>
        </p:txBody>
      </p:sp>
    </p:spTree>
    <p:extLst>
      <p:ext uri="{BB962C8B-B14F-4D97-AF65-F5344CB8AC3E}">
        <p14:creationId xmlns:p14="http://schemas.microsoft.com/office/powerpoint/2010/main" val="5648946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18AB5-E096-4129-18F0-6122F551F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EC5E4-AD16-2AF3-DC71-1B43F4AA9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975" y="1191647"/>
            <a:ext cx="7349346" cy="1031163"/>
          </a:xfrm>
        </p:spPr>
        <p:txBody>
          <a:bodyPr>
            <a:normAutofit/>
          </a:bodyPr>
          <a:lstStyle/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Les opérations de nettoyage effectuées, sont-elles industrialisables ? </a:t>
            </a:r>
          </a:p>
          <a:p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Pourquoi ?</a:t>
            </a:r>
          </a:p>
          <a:p>
            <a:pPr marL="342900" lvl="1"/>
            <a:endParaRPr lang="fr-FR" sz="1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33EC9A3E-96E0-5384-4435-0A7D52210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A976F61-C395-1EA7-3410-8B2BA019A8E5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Google Shape;230;p17">
            <a:extLst>
              <a:ext uri="{FF2B5EF4-FFF2-40B4-BE49-F238E27FC236}">
                <a16:creationId xmlns:a16="http://schemas.microsoft.com/office/drawing/2014/main" id="{86DB8E26-33F1-D62F-F18A-F2EB326EE1B6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8" name="Google Shape;231;p17">
            <a:extLst>
              <a:ext uri="{FF2B5EF4-FFF2-40B4-BE49-F238E27FC236}">
                <a16:creationId xmlns:a16="http://schemas.microsoft.com/office/drawing/2014/main" id="{0110A29C-2106-BE7F-78BA-051D7C7B68B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2;p17">
            <a:extLst>
              <a:ext uri="{FF2B5EF4-FFF2-40B4-BE49-F238E27FC236}">
                <a16:creationId xmlns:a16="http://schemas.microsoft.com/office/drawing/2014/main" id="{FC6246D5-BE6E-63C1-B28C-CDB0C54111A4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F91D2BC-0291-4A24-9707-E69CEC7FBE16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catégorielles</a:t>
            </a:r>
          </a:p>
        </p:txBody>
      </p:sp>
    </p:spTree>
    <p:extLst>
      <p:ext uri="{BB962C8B-B14F-4D97-AF65-F5344CB8AC3E}">
        <p14:creationId xmlns:p14="http://schemas.microsoft.com/office/powerpoint/2010/main" val="14684976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46E8B-C5F3-E94D-ABAB-2D6600001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202D7-7DA2-7E05-44C6-C028019E3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47" y="1163564"/>
            <a:ext cx="7886700" cy="3263504"/>
          </a:xfrm>
        </p:spPr>
        <p:txBody>
          <a:bodyPr>
            <a:normAutofit/>
          </a:bodyPr>
          <a:lstStyle/>
          <a:p>
            <a:r>
              <a:rPr lang="fr-FR" dirty="0"/>
              <a:t>Résultat</a:t>
            </a: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263445A-F247-F438-61D3-39499D71C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47" y="1681486"/>
            <a:ext cx="8186696" cy="890264"/>
          </a:xfrm>
          <a:prstGeom prst="rect">
            <a:avLst/>
          </a:prstGeom>
        </p:spPr>
      </p:pic>
      <p:sp>
        <p:nvSpPr>
          <p:cNvPr id="7" name="Titre 4">
            <a:extLst>
              <a:ext uri="{FF2B5EF4-FFF2-40B4-BE49-F238E27FC236}">
                <a16:creationId xmlns:a16="http://schemas.microsoft.com/office/drawing/2014/main" id="{DE7C6D06-474B-C905-AC51-AF85124D2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</p:spPr>
        <p:txBody>
          <a:bodyPr/>
          <a:lstStyle/>
          <a:p>
            <a:endParaRPr lang="fr-FR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DFED3CB-D0EF-1EE6-BD24-0F1F78E27515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Google Shape;230;p17">
            <a:extLst>
              <a:ext uri="{FF2B5EF4-FFF2-40B4-BE49-F238E27FC236}">
                <a16:creationId xmlns:a16="http://schemas.microsoft.com/office/drawing/2014/main" id="{EE53BB4A-2A2B-EB83-5F73-24FAC1E579A0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0" name="Google Shape;231;p17">
            <a:extLst>
              <a:ext uri="{FF2B5EF4-FFF2-40B4-BE49-F238E27FC236}">
                <a16:creationId xmlns:a16="http://schemas.microsoft.com/office/drawing/2014/main" id="{6142E31D-45D1-230C-56B4-13A712538DCB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1" name="Google Shape;232;p17">
            <a:extLst>
              <a:ext uri="{FF2B5EF4-FFF2-40B4-BE49-F238E27FC236}">
                <a16:creationId xmlns:a16="http://schemas.microsoft.com/office/drawing/2014/main" id="{85FEBE47-9D65-3CA3-519A-2097D0189842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A80058C-0804-BE1D-430F-03CAD4A91AE4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catégorielles</a:t>
            </a:r>
          </a:p>
        </p:txBody>
      </p:sp>
    </p:spTree>
    <p:extLst>
      <p:ext uri="{BB962C8B-B14F-4D97-AF65-F5344CB8AC3E}">
        <p14:creationId xmlns:p14="http://schemas.microsoft.com/office/powerpoint/2010/main" val="34208383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254C2-9ECF-8A81-6BDF-3FD062DB0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76D3F-A0ED-C3A0-B006-FFB7F1016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127" y="1160635"/>
            <a:ext cx="8483747" cy="772244"/>
          </a:xfrm>
        </p:spPr>
        <p:txBody>
          <a:bodyPr>
            <a:normAutofit/>
          </a:bodyPr>
          <a:lstStyle/>
          <a:p>
            <a:pPr marL="342900" lvl="1"/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Pour libérer la mémoire allouée par le traitement, il faut arrêter la session </a:t>
            </a:r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spark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1"/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fr-FR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spark.stop</a:t>
            </a:r>
            <a:r>
              <a:rPr lang="fr-FR" sz="1400" dirty="0">
                <a:solidFill>
                  <a:srgbClr val="222222"/>
                </a:solidFill>
                <a:latin typeface="Arial" panose="020B0604020202020204" pitchFamily="34" charset="0"/>
              </a:rPr>
              <a:t>()</a:t>
            </a:r>
          </a:p>
          <a:p>
            <a:pPr marL="342900" lvl="1"/>
            <a:endParaRPr lang="fr-FR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6" name="Titre 4">
            <a:extLst>
              <a:ext uri="{FF2B5EF4-FFF2-40B4-BE49-F238E27FC236}">
                <a16:creationId xmlns:a16="http://schemas.microsoft.com/office/drawing/2014/main" id="{0E7EB6B7-3834-F010-E99E-0E48C9846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</p:spPr>
        <p:txBody>
          <a:bodyPr/>
          <a:lstStyle/>
          <a:p>
            <a:endParaRPr lang="fr-F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05A029-528D-9C1C-0BD2-820F36348F90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Google Shape;230;p17">
            <a:extLst>
              <a:ext uri="{FF2B5EF4-FFF2-40B4-BE49-F238E27FC236}">
                <a16:creationId xmlns:a16="http://schemas.microsoft.com/office/drawing/2014/main" id="{84A2A3A4-7789-FD65-4083-875815BF9317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1;p17">
            <a:extLst>
              <a:ext uri="{FF2B5EF4-FFF2-40B4-BE49-F238E27FC236}">
                <a16:creationId xmlns:a16="http://schemas.microsoft.com/office/drawing/2014/main" id="{87A43795-096E-AF4B-3438-B2BE53521617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0" name="Google Shape;232;p17">
            <a:extLst>
              <a:ext uri="{FF2B5EF4-FFF2-40B4-BE49-F238E27FC236}">
                <a16:creationId xmlns:a16="http://schemas.microsoft.com/office/drawing/2014/main" id="{4D873D03-2919-ED3B-0184-59BE1B6B220F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7A8F321-1B6F-D0D5-964B-7D1917927139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catégorielles</a:t>
            </a:r>
          </a:p>
        </p:txBody>
      </p:sp>
    </p:spTree>
    <p:extLst>
      <p:ext uri="{BB962C8B-B14F-4D97-AF65-F5344CB8AC3E}">
        <p14:creationId xmlns:p14="http://schemas.microsoft.com/office/powerpoint/2010/main" val="21949013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E20C1-875E-8CC7-B44E-C89B5C5F1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3BC1-C630-C9C0-229D-8AA4E90AD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126" y="1453364"/>
            <a:ext cx="8483747" cy="2236771"/>
          </a:xfrm>
        </p:spPr>
        <p:txBody>
          <a:bodyPr>
            <a:normAutofit/>
          </a:bodyPr>
          <a:lstStyle/>
          <a:p>
            <a:pPr marL="342900" lvl="1"/>
            <a:r>
              <a:rPr lang="fr-FR" sz="225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Pour la suite des exercices stocker les données corrigées sous le format parquet: </a:t>
            </a:r>
            <a:r>
              <a:rPr lang="fr-FR" sz="225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data_prime_auto_propre</a:t>
            </a:r>
            <a:r>
              <a:rPr lang="fr-FR" sz="225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avant de clore la session:</a:t>
            </a:r>
          </a:p>
          <a:p>
            <a:pPr marL="342900" lvl="1"/>
            <a:endParaRPr lang="fr-FR" sz="3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fr-FR" sz="2400" dirty="0" err="1">
                <a:solidFill>
                  <a:srgbClr val="222222"/>
                </a:solidFill>
                <a:latin typeface="Arial" panose="020B0604020202020204" pitchFamily="34" charset="0"/>
              </a:rPr>
              <a:t>Data.write.mode</a:t>
            </a:r>
            <a:r>
              <a:rPr lang="fr-FR" sz="2400" dirty="0">
                <a:solidFill>
                  <a:srgbClr val="222222"/>
                </a:solidFill>
                <a:latin typeface="Arial" panose="020B0604020202020204" pitchFamily="34" charset="0"/>
              </a:rPr>
              <a:t>("</a:t>
            </a:r>
            <a:r>
              <a:rPr lang="fr-FR" sz="2400" dirty="0" err="1">
                <a:solidFill>
                  <a:srgbClr val="222222"/>
                </a:solidFill>
                <a:latin typeface="Arial" panose="020B0604020202020204" pitchFamily="34" charset="0"/>
              </a:rPr>
              <a:t>overwrite</a:t>
            </a:r>
            <a:r>
              <a:rPr lang="fr-FR" sz="2400" dirty="0">
                <a:solidFill>
                  <a:srgbClr val="222222"/>
                </a:solidFill>
                <a:latin typeface="Arial" panose="020B0604020202020204" pitchFamily="34" charset="0"/>
              </a:rPr>
              <a:t>").parquet("file:///data/data_prime_auto_propre")</a:t>
            </a:r>
          </a:p>
          <a:p>
            <a:pPr lvl="1"/>
            <a:endParaRPr lang="fr-FR" sz="24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342900" lvl="1"/>
            <a:endParaRPr lang="fr-FR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6" name="Titre 4">
            <a:extLst>
              <a:ext uri="{FF2B5EF4-FFF2-40B4-BE49-F238E27FC236}">
                <a16:creationId xmlns:a16="http://schemas.microsoft.com/office/drawing/2014/main" id="{F364D41C-C617-58EA-7602-84EB73160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</p:spPr>
        <p:txBody>
          <a:bodyPr/>
          <a:lstStyle/>
          <a:p>
            <a:endParaRPr lang="fr-F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591B316-81DC-7FA3-0DBF-7E34EB4CE542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Google Shape;230;p17">
            <a:extLst>
              <a:ext uri="{FF2B5EF4-FFF2-40B4-BE49-F238E27FC236}">
                <a16:creationId xmlns:a16="http://schemas.microsoft.com/office/drawing/2014/main" id="{70F05238-802A-537F-E168-3C8A2839B065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1;p17">
            <a:extLst>
              <a:ext uri="{FF2B5EF4-FFF2-40B4-BE49-F238E27FC236}">
                <a16:creationId xmlns:a16="http://schemas.microsoft.com/office/drawing/2014/main" id="{9A111CAB-2350-B9CA-A92F-486B1EA52EA4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0" name="Google Shape;232;p17">
            <a:extLst>
              <a:ext uri="{FF2B5EF4-FFF2-40B4-BE49-F238E27FC236}">
                <a16:creationId xmlns:a16="http://schemas.microsoft.com/office/drawing/2014/main" id="{57EB924E-9F28-0722-3FEC-0FB42FFAC48E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40142B5-E0A9-DBE6-580E-E9E251473C0B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catégorielles</a:t>
            </a:r>
          </a:p>
        </p:txBody>
      </p:sp>
    </p:spTree>
    <p:extLst>
      <p:ext uri="{BB962C8B-B14F-4D97-AF65-F5344CB8AC3E}">
        <p14:creationId xmlns:p14="http://schemas.microsoft.com/office/powerpoint/2010/main" val="7279987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361A6-83BD-5DF5-9CAE-D5F321184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7DD2B-9847-F9C4-7B93-EBE50C86A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127" y="1160634"/>
            <a:ext cx="8483747" cy="3893059"/>
          </a:xfrm>
        </p:spPr>
        <p:txBody>
          <a:bodyPr>
            <a:normAutofit/>
          </a:bodyPr>
          <a:lstStyle/>
          <a:p>
            <a:pPr marL="342900" lvl="1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l’état nous avons une erreur d’accès lors de l’écriture des données. Ceci vient du fait que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Jupyter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utilise le compte par défaut 1000:1000 alors que les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workers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utilisent le compte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spark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(185:185) , de ce fait nous allons laisser les données de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Jupyter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dans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et mettre les données dans une répertoire ~/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spark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/data</a:t>
            </a:r>
          </a:p>
          <a:p>
            <a:pPr marL="342900" lvl="1"/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cd ~/</a:t>
            </a:r>
            <a:r>
              <a:rPr lang="fr-FR" dirty="0" err="1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spark</a:t>
            </a:r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</a:p>
          <a:p>
            <a:pPr lvl="1"/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mkdir</a:t>
            </a:r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</a:t>
            </a:r>
          </a:p>
          <a:p>
            <a:pPr lvl="1"/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chmod –R 185:185 ./data </a:t>
            </a:r>
          </a:p>
          <a:p>
            <a:pPr marL="342900" lvl="1"/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1"/>
            <a:endParaRPr lang="fr-FR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6" name="Titre 4">
            <a:extLst>
              <a:ext uri="{FF2B5EF4-FFF2-40B4-BE49-F238E27FC236}">
                <a16:creationId xmlns:a16="http://schemas.microsoft.com/office/drawing/2014/main" id="{74BDBC8B-E45A-48C1-9B0F-D105F0B6C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</p:spPr>
        <p:txBody>
          <a:bodyPr/>
          <a:lstStyle/>
          <a:p>
            <a:endParaRPr lang="fr-F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2A736C3-A92E-B7AE-E95B-4079F244E895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Google Shape;230;p17">
            <a:extLst>
              <a:ext uri="{FF2B5EF4-FFF2-40B4-BE49-F238E27FC236}">
                <a16:creationId xmlns:a16="http://schemas.microsoft.com/office/drawing/2014/main" id="{22C9E58A-F21B-E7D3-C0A5-EDC54BCB3101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1;p17">
            <a:extLst>
              <a:ext uri="{FF2B5EF4-FFF2-40B4-BE49-F238E27FC236}">
                <a16:creationId xmlns:a16="http://schemas.microsoft.com/office/drawing/2014/main" id="{27155A9C-9322-7A1D-1144-A7619159925E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0" name="Google Shape;232;p17">
            <a:extLst>
              <a:ext uri="{FF2B5EF4-FFF2-40B4-BE49-F238E27FC236}">
                <a16:creationId xmlns:a16="http://schemas.microsoft.com/office/drawing/2014/main" id="{87186CC4-69A2-DD11-1254-DD668045F9CE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335BECF-3B8C-8E98-041E-18E7198E0C9C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Variables catégorielles</a:t>
            </a:r>
          </a:p>
        </p:txBody>
      </p:sp>
    </p:spTree>
    <p:extLst>
      <p:ext uri="{BB962C8B-B14F-4D97-AF65-F5344CB8AC3E}">
        <p14:creationId xmlns:p14="http://schemas.microsoft.com/office/powerpoint/2010/main" val="39978749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E0A2B-3618-8204-E5FF-8642EE08F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90A37EA0-6C0E-AFD5-40C3-015C7A023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70" y="1242284"/>
            <a:ext cx="4454933" cy="3334737"/>
          </a:xfrm>
          <a:prstGeom prst="rect">
            <a:avLst/>
          </a:prstGeom>
        </p:spPr>
      </p:pic>
      <p:sp>
        <p:nvSpPr>
          <p:cNvPr id="12" name="Titre 4">
            <a:extLst>
              <a:ext uri="{FF2B5EF4-FFF2-40B4-BE49-F238E27FC236}">
                <a16:creationId xmlns:a16="http://schemas.microsoft.com/office/drawing/2014/main" id="{F61279F7-F67E-772D-D265-7DDA50EA9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</p:spPr>
        <p:txBody>
          <a:bodyPr/>
          <a:lstStyle/>
          <a:p>
            <a:endParaRPr lang="fr-FR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A9C8370-3357-1A5A-748F-5755A37E3DE0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Google Shape;230;p17">
            <a:extLst>
              <a:ext uri="{FF2B5EF4-FFF2-40B4-BE49-F238E27FC236}">
                <a16:creationId xmlns:a16="http://schemas.microsoft.com/office/drawing/2014/main" id="{A63235BA-4E13-257D-32AC-1E5F9DA80143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5" name="Google Shape;231;p17">
            <a:extLst>
              <a:ext uri="{FF2B5EF4-FFF2-40B4-BE49-F238E27FC236}">
                <a16:creationId xmlns:a16="http://schemas.microsoft.com/office/drawing/2014/main" id="{AABFCD38-0711-3CF3-7789-35EB876C0157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6" name="Google Shape;232;p17">
            <a:extLst>
              <a:ext uri="{FF2B5EF4-FFF2-40B4-BE49-F238E27FC236}">
                <a16:creationId xmlns:a16="http://schemas.microsoft.com/office/drawing/2014/main" id="{D9941447-300A-2443-4C7D-610CC266BDD1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0EC6D5D-5BDF-D071-78CE-D07672CB8674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Export au format parquet</a:t>
            </a:r>
          </a:p>
        </p:txBody>
      </p:sp>
    </p:spTree>
    <p:extLst>
      <p:ext uri="{BB962C8B-B14F-4D97-AF65-F5344CB8AC3E}">
        <p14:creationId xmlns:p14="http://schemas.microsoft.com/office/powerpoint/2010/main" val="2515912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F6D2C-33BB-C633-1C0F-FDE78EF48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00649-EEA0-5ECF-BDB5-83A4C8D14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524" y="1093502"/>
            <a:ext cx="8483747" cy="4388447"/>
          </a:xfrm>
        </p:spPr>
        <p:txBody>
          <a:bodyPr>
            <a:noAutofit/>
          </a:bodyPr>
          <a:lstStyle/>
          <a:p>
            <a:pPr marL="342900" lvl="1"/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Modifier  le fichier </a:t>
            </a:r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Dockerfile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dans le répertoire ~/</a:t>
            </a:r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spark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jupiter</a:t>
            </a:r>
            <a:endParaRPr lang="fr-FR" sz="16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342900" lvl="1"/>
            <a:r>
              <a:rPr lang="fr-FR" sz="1200" dirty="0">
                <a:solidFill>
                  <a:srgbClr val="222222"/>
                </a:solidFill>
                <a:latin typeface="Arial" panose="020B0604020202020204" pitchFamily="34" charset="0"/>
              </a:rPr>
              <a:t>FROM </a:t>
            </a:r>
            <a:r>
              <a:rPr lang="fr-FR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jupyter</a:t>
            </a:r>
            <a:r>
              <a:rPr lang="fr-FR" sz="1200" dirty="0">
                <a:solidFill>
                  <a:srgbClr val="222222"/>
                </a:solidFill>
                <a:latin typeface="Arial" panose="020B0604020202020204" pitchFamily="34" charset="0"/>
              </a:rPr>
              <a:t>/pyspark-notebook:python-3.11</a:t>
            </a:r>
          </a:p>
          <a:p>
            <a:pPr marL="342900" lvl="1"/>
            <a:r>
              <a:rPr lang="fr-FR" sz="1200" dirty="0">
                <a:solidFill>
                  <a:srgbClr val="222222"/>
                </a:solidFill>
                <a:latin typeface="Arial" panose="020B0604020202020204" pitchFamily="34" charset="0"/>
              </a:rPr>
              <a:t>USER root</a:t>
            </a:r>
          </a:p>
          <a:p>
            <a:pPr marL="342900" lvl="1"/>
            <a:r>
              <a:rPr lang="fr-FR" sz="1200" dirty="0">
                <a:solidFill>
                  <a:srgbClr val="222222"/>
                </a:solidFill>
                <a:latin typeface="Arial" panose="020B0604020202020204" pitchFamily="34" charset="0"/>
              </a:rPr>
              <a:t># Aligne l’utilisateur avec les </a:t>
            </a:r>
            <a:r>
              <a:rPr lang="fr-FR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workers</a:t>
            </a:r>
            <a:r>
              <a:rPr lang="fr-FR" sz="1200" dirty="0">
                <a:solidFill>
                  <a:srgbClr val="222222"/>
                </a:solidFill>
                <a:latin typeface="Arial" panose="020B0604020202020204" pitchFamily="34" charset="0"/>
              </a:rPr>
              <a:t> Spark (</a:t>
            </a:r>
            <a:r>
              <a:rPr lang="fr-FR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uid</a:t>
            </a:r>
            <a:r>
              <a:rPr lang="fr-FR" sz="1200" dirty="0">
                <a:solidFill>
                  <a:srgbClr val="222222"/>
                </a:solidFill>
                <a:latin typeface="Arial" panose="020B0604020202020204" pitchFamily="34" charset="0"/>
              </a:rPr>
              <a:t>/</a:t>
            </a:r>
            <a:r>
              <a:rPr lang="fr-FR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gid</a:t>
            </a:r>
            <a:r>
              <a:rPr lang="fr-FR" sz="1200" dirty="0">
                <a:solidFill>
                  <a:srgbClr val="222222"/>
                </a:solidFill>
                <a:latin typeface="Arial" panose="020B0604020202020204" pitchFamily="34" charset="0"/>
              </a:rPr>
              <a:t> = 185)</a:t>
            </a:r>
          </a:p>
          <a:p>
            <a:pPr marL="342900" lvl="1"/>
            <a:r>
              <a:rPr lang="fr-FR" sz="1200" dirty="0">
                <a:solidFill>
                  <a:srgbClr val="222222"/>
                </a:solidFill>
                <a:latin typeface="Arial" panose="020B0604020202020204" pitchFamily="34" charset="0"/>
              </a:rPr>
              <a:t>ENV NB_USER=</a:t>
            </a:r>
            <a:r>
              <a:rPr lang="fr-FR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spark</a:t>
            </a:r>
            <a:r>
              <a:rPr lang="fr-FR" sz="1200" dirty="0">
                <a:solidFill>
                  <a:srgbClr val="222222"/>
                </a:solidFill>
                <a:latin typeface="Arial" panose="020B0604020202020204" pitchFamily="34" charset="0"/>
              </a:rPr>
              <a:t> \</a:t>
            </a:r>
          </a:p>
          <a:p>
            <a:pPr marL="342900" lvl="1"/>
            <a:r>
              <a:rPr lang="fr-FR" sz="1200" dirty="0">
                <a:solidFill>
                  <a:srgbClr val="222222"/>
                </a:solidFill>
                <a:latin typeface="Arial" panose="020B0604020202020204" pitchFamily="34" charset="0"/>
              </a:rPr>
              <a:t>         NB_UID=185 \    </a:t>
            </a:r>
          </a:p>
          <a:p>
            <a:pPr marL="342900" lvl="1"/>
            <a:r>
              <a:rPr lang="fr-FR" sz="1200" dirty="0">
                <a:solidFill>
                  <a:srgbClr val="222222"/>
                </a:solidFill>
                <a:latin typeface="Arial" panose="020B0604020202020204" pitchFamily="34" charset="0"/>
              </a:rPr>
              <a:t>         NB_GID=185 \    </a:t>
            </a:r>
          </a:p>
          <a:p>
            <a:pPr marL="342900" lvl="1"/>
            <a:r>
              <a:rPr lang="fr-FR" sz="1200" dirty="0">
                <a:solidFill>
                  <a:srgbClr val="222222"/>
                </a:solidFill>
                <a:latin typeface="Arial" panose="020B0604020202020204" pitchFamily="34" charset="0"/>
              </a:rPr>
              <a:t>         HOME=/home/</a:t>
            </a:r>
            <a:r>
              <a:rPr lang="fr-FR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spark</a:t>
            </a:r>
            <a:endParaRPr lang="fr-FR" sz="12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342900" lvl="1"/>
            <a:endParaRPr lang="fr-FR" sz="12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342900" lvl="1"/>
            <a:r>
              <a:rPr lang="fr-FR" sz="1200" dirty="0">
                <a:solidFill>
                  <a:srgbClr val="222222"/>
                </a:solidFill>
                <a:latin typeface="Arial" panose="020B0604020202020204" pitchFamily="34" charset="0"/>
              </a:rPr>
              <a:t># Crée l’utilisateur et prépare son home</a:t>
            </a:r>
          </a:p>
          <a:p>
            <a:pPr marL="342900" lvl="1"/>
            <a:r>
              <a:rPr lang="fr-FR" sz="1200" dirty="0">
                <a:solidFill>
                  <a:srgbClr val="222222"/>
                </a:solidFill>
                <a:latin typeface="Arial" panose="020B0604020202020204" pitchFamily="34" charset="0"/>
              </a:rPr>
              <a:t>RUN </a:t>
            </a:r>
            <a:r>
              <a:rPr lang="fr-FR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groupadd</a:t>
            </a:r>
            <a:r>
              <a:rPr lang="fr-FR" sz="1200" dirty="0">
                <a:solidFill>
                  <a:srgbClr val="222222"/>
                </a:solidFill>
                <a:latin typeface="Arial" panose="020B0604020202020204" pitchFamily="34" charset="0"/>
              </a:rPr>
              <a:t> -g ${NB_GID} ${NB_USER} &amp;&amp; \    </a:t>
            </a:r>
          </a:p>
          <a:p>
            <a:pPr marL="342900" lvl="1"/>
            <a:r>
              <a:rPr lang="fr-FR" sz="1200" dirty="0">
                <a:solidFill>
                  <a:srgbClr val="222222"/>
                </a:solidFill>
                <a:latin typeface="Arial" panose="020B0604020202020204" pitchFamily="34" charset="0"/>
              </a:rPr>
              <a:t>         </a:t>
            </a:r>
            <a:r>
              <a:rPr lang="fr-FR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useradd</a:t>
            </a:r>
            <a:r>
              <a:rPr lang="fr-FR" sz="1200" dirty="0">
                <a:solidFill>
                  <a:srgbClr val="222222"/>
                </a:solidFill>
                <a:latin typeface="Arial" panose="020B0604020202020204" pitchFamily="34" charset="0"/>
              </a:rPr>
              <a:t> -m -u ${NB_UID} -g ${NB_GID} ${NB_USER} &amp;&amp; \ </a:t>
            </a:r>
          </a:p>
          <a:p>
            <a:pPr marL="342900" lvl="1"/>
            <a:r>
              <a:rPr lang="fr-FR" sz="1200" dirty="0">
                <a:solidFill>
                  <a:srgbClr val="222222"/>
                </a:solidFill>
                <a:latin typeface="Arial" panose="020B0604020202020204" pitchFamily="34" charset="0"/>
              </a:rPr>
              <a:t>         </a:t>
            </a:r>
            <a:r>
              <a:rPr lang="fr-FR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mkdir</a:t>
            </a:r>
            <a:r>
              <a:rPr lang="fr-FR" sz="1200" dirty="0">
                <a:solidFill>
                  <a:srgbClr val="222222"/>
                </a:solidFill>
                <a:latin typeface="Arial" panose="020B0604020202020204" pitchFamily="34" charset="0"/>
              </a:rPr>
              <a:t> -p /home/${NB_USER} &amp;&amp; \</a:t>
            </a:r>
          </a:p>
          <a:p>
            <a:pPr marL="342900" lvl="1"/>
            <a:r>
              <a:rPr lang="fr-FR" sz="1200" dirty="0">
                <a:solidFill>
                  <a:srgbClr val="222222"/>
                </a:solidFill>
                <a:latin typeface="Arial" panose="020B0604020202020204" pitchFamily="34" charset="0"/>
              </a:rPr>
              <a:t>         </a:t>
            </a:r>
            <a:r>
              <a:rPr lang="fr-FR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chown</a:t>
            </a:r>
            <a:r>
              <a:rPr lang="fr-FR" sz="1200" dirty="0">
                <a:solidFill>
                  <a:srgbClr val="222222"/>
                </a:solidFill>
                <a:latin typeface="Arial" panose="020B0604020202020204" pitchFamily="34" charset="0"/>
              </a:rPr>
              <a:t> -R ${NB_UID}:${NB_GID} /home/${NB_USER}</a:t>
            </a:r>
          </a:p>
          <a:p>
            <a:pPr marL="342900" lvl="1"/>
            <a:endParaRPr lang="fr-FR" sz="12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342900" lvl="1"/>
            <a:r>
              <a:rPr lang="fr-FR" sz="1200" dirty="0">
                <a:solidFill>
                  <a:srgbClr val="222222"/>
                </a:solidFill>
                <a:latin typeface="Arial" panose="020B0604020202020204" pitchFamily="34" charset="0"/>
              </a:rPr>
              <a:t># Donne les droits à l’utilisateur sur </a:t>
            </a:r>
            <a:r>
              <a:rPr lang="fr-FR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conda</a:t>
            </a:r>
            <a:r>
              <a:rPr lang="fr-FR" sz="1200" dirty="0">
                <a:solidFill>
                  <a:srgbClr val="222222"/>
                </a:solidFill>
                <a:latin typeface="Arial" panose="020B0604020202020204" pitchFamily="34" charset="0"/>
              </a:rPr>
              <a:t> et son home</a:t>
            </a:r>
          </a:p>
          <a:p>
            <a:pPr marL="342900" lvl="1"/>
            <a:r>
              <a:rPr lang="fr-FR" sz="1200" dirty="0">
                <a:solidFill>
                  <a:srgbClr val="222222"/>
                </a:solidFill>
                <a:latin typeface="Arial" panose="020B0604020202020204" pitchFamily="34" charset="0"/>
              </a:rPr>
              <a:t># (fix-permissions est fourni par les images </a:t>
            </a:r>
            <a:r>
              <a:rPr lang="fr-FR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Jupyter</a:t>
            </a:r>
            <a:r>
              <a:rPr lang="fr-FR" sz="1200" dirty="0">
                <a:solidFill>
                  <a:srgbClr val="222222"/>
                </a:solidFill>
                <a:latin typeface="Arial" panose="020B0604020202020204" pitchFamily="34" charset="0"/>
              </a:rPr>
              <a:t>)</a:t>
            </a:r>
          </a:p>
          <a:p>
            <a:pPr marL="342900" lvl="1"/>
            <a:r>
              <a:rPr lang="fr-FR" sz="1200" dirty="0">
                <a:solidFill>
                  <a:srgbClr val="222222"/>
                </a:solidFill>
                <a:latin typeface="Arial" panose="020B0604020202020204" pitchFamily="34" charset="0"/>
              </a:rPr>
              <a:t>RUN fix-permissions "${HOME}" &amp;&amp; \</a:t>
            </a:r>
          </a:p>
          <a:p>
            <a:pPr marL="342900" lvl="1"/>
            <a:r>
              <a:rPr lang="fr-FR" sz="1200" dirty="0">
                <a:solidFill>
                  <a:srgbClr val="222222"/>
                </a:solidFill>
                <a:latin typeface="Arial" panose="020B0604020202020204" pitchFamily="34" charset="0"/>
              </a:rPr>
              <a:t>         fix-permissions "${CONDA_DIR}"  </a:t>
            </a:r>
          </a:p>
          <a:p>
            <a:pPr marL="342900" lvl="1"/>
            <a:endParaRPr lang="fr-FR" sz="1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6" name="Titre 4">
            <a:extLst>
              <a:ext uri="{FF2B5EF4-FFF2-40B4-BE49-F238E27FC236}">
                <a16:creationId xmlns:a16="http://schemas.microsoft.com/office/drawing/2014/main" id="{5FBB7FAF-B1FF-F8C7-77BF-047509914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</p:spPr>
        <p:txBody>
          <a:bodyPr/>
          <a:lstStyle/>
          <a:p>
            <a:endParaRPr lang="fr-F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75F61D2-D2B0-1DD3-1B53-D441FB926CDB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Google Shape;230;p17">
            <a:extLst>
              <a:ext uri="{FF2B5EF4-FFF2-40B4-BE49-F238E27FC236}">
                <a16:creationId xmlns:a16="http://schemas.microsoft.com/office/drawing/2014/main" id="{ECB05FA4-725E-088F-AF5C-25F945E43685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1;p17">
            <a:extLst>
              <a:ext uri="{FF2B5EF4-FFF2-40B4-BE49-F238E27FC236}">
                <a16:creationId xmlns:a16="http://schemas.microsoft.com/office/drawing/2014/main" id="{E1AC1640-D70A-2250-82EC-512C0F47D91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0" name="Google Shape;232;p17">
            <a:extLst>
              <a:ext uri="{FF2B5EF4-FFF2-40B4-BE49-F238E27FC236}">
                <a16:creationId xmlns:a16="http://schemas.microsoft.com/office/drawing/2014/main" id="{F8A54535-F252-0A4A-1804-CED77A4AAD21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1B3610D-FDAB-5467-7481-68CFE53F374B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Export au format parquet</a:t>
            </a:r>
          </a:p>
        </p:txBody>
      </p:sp>
    </p:spTree>
    <p:extLst>
      <p:ext uri="{BB962C8B-B14F-4D97-AF65-F5344CB8AC3E}">
        <p14:creationId xmlns:p14="http://schemas.microsoft.com/office/powerpoint/2010/main" val="22606869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2B460-F6C6-CEFA-6668-CBB301BB6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A308E-EB7F-6C0E-62DB-1084C2628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524" y="1093502"/>
            <a:ext cx="8483747" cy="3515669"/>
          </a:xfrm>
        </p:spPr>
        <p:txBody>
          <a:bodyPr>
            <a:normAutofit/>
          </a:bodyPr>
          <a:lstStyle/>
          <a:p>
            <a:pPr marL="342900" lvl="1"/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</a:rPr>
              <a:t>WORKDIR /home/</a:t>
            </a:r>
            <a:r>
              <a:rPr lang="fr-FR" dirty="0" err="1">
                <a:solidFill>
                  <a:srgbClr val="222222"/>
                </a:solidFill>
                <a:latin typeface="Arial" panose="020B0604020202020204" pitchFamily="34" charset="0"/>
              </a:rPr>
              <a:t>spark</a:t>
            </a:r>
            <a:endParaRPr lang="fr-FR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342900" lvl="1"/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</a:rPr>
              <a:t># Installe tes </a:t>
            </a:r>
            <a:r>
              <a:rPr lang="fr-FR" dirty="0" err="1">
                <a:solidFill>
                  <a:srgbClr val="222222"/>
                </a:solidFill>
                <a:latin typeface="Arial" panose="020B0604020202020204" pitchFamily="34" charset="0"/>
              </a:rPr>
              <a:t>libs</a:t>
            </a:r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</a:rPr>
              <a:t> (en root, c’est OK)</a:t>
            </a:r>
          </a:p>
          <a:p>
            <a:pPr marL="342900" lvl="1"/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</a:rPr>
              <a:t>RUN </a:t>
            </a:r>
            <a:r>
              <a:rPr lang="fr-FR" dirty="0" err="1">
                <a:solidFill>
                  <a:srgbClr val="222222"/>
                </a:solidFill>
                <a:latin typeface="Arial" panose="020B0604020202020204" pitchFamily="34" charset="0"/>
              </a:rPr>
              <a:t>pip</a:t>
            </a:r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fr-FR" dirty="0" err="1">
                <a:solidFill>
                  <a:srgbClr val="222222"/>
                </a:solidFill>
                <a:latin typeface="Arial" panose="020B0604020202020204" pitchFamily="34" charset="0"/>
              </a:rPr>
              <a:t>install</a:t>
            </a:r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</a:rPr>
              <a:t> --no-cache-</a:t>
            </a:r>
            <a:r>
              <a:rPr lang="fr-FR" dirty="0" err="1">
                <a:solidFill>
                  <a:srgbClr val="222222"/>
                </a:solidFill>
                <a:latin typeface="Arial" panose="020B0604020202020204" pitchFamily="34" charset="0"/>
              </a:rPr>
              <a:t>dir</a:t>
            </a:r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</a:rPr>
              <a:t> \</a:t>
            </a:r>
          </a:p>
          <a:p>
            <a:pPr marL="342900" lvl="1"/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</a:rPr>
              <a:t>         "</a:t>
            </a:r>
            <a:r>
              <a:rPr lang="fr-FR" dirty="0" err="1">
                <a:solidFill>
                  <a:srgbClr val="222222"/>
                </a:solidFill>
                <a:latin typeface="Arial" panose="020B0604020202020204" pitchFamily="34" charset="0"/>
              </a:rPr>
              <a:t>pyspark</a:t>
            </a:r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</a:rPr>
              <a:t>==3.5.1" \</a:t>
            </a:r>
          </a:p>
          <a:p>
            <a:pPr marL="342900" lvl="1"/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</a:rPr>
              <a:t>         "</a:t>
            </a:r>
            <a:r>
              <a:rPr lang="fr-FR" dirty="0" err="1">
                <a:solidFill>
                  <a:srgbClr val="222222"/>
                </a:solidFill>
                <a:latin typeface="Arial" panose="020B0604020202020204" pitchFamily="34" charset="0"/>
              </a:rPr>
              <a:t>kafka</a:t>
            </a:r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</a:rPr>
              <a:t>-python==2.0.2" \ </a:t>
            </a:r>
          </a:p>
          <a:p>
            <a:pPr marL="342900" lvl="1"/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</a:rPr>
              <a:t>         "pandas&lt;3" \ </a:t>
            </a:r>
          </a:p>
          <a:p>
            <a:pPr marL="342900" lvl="1"/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</a:rPr>
              <a:t>        "</a:t>
            </a:r>
            <a:r>
              <a:rPr lang="fr-FR" dirty="0" err="1">
                <a:solidFill>
                  <a:srgbClr val="222222"/>
                </a:solidFill>
                <a:latin typeface="Arial" panose="020B0604020202020204" pitchFamily="34" charset="0"/>
              </a:rPr>
              <a:t>matplotlib</a:t>
            </a:r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</a:rPr>
              <a:t>"</a:t>
            </a:r>
          </a:p>
          <a:p>
            <a:pPr marL="342900" lvl="1"/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</a:rPr>
              <a:t># </a:t>
            </a:r>
            <a:r>
              <a:rPr lang="fr-FR" dirty="0" err="1">
                <a:solidFill>
                  <a:srgbClr val="222222"/>
                </a:solidFill>
                <a:latin typeface="Arial" panose="020B0604020202020204" pitchFamily="34" charset="0"/>
              </a:rPr>
              <a:t>Re-fixe</a:t>
            </a:r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</a:rPr>
              <a:t> les permissions après </a:t>
            </a:r>
            <a:r>
              <a:rPr lang="fr-FR" dirty="0" err="1">
                <a:solidFill>
                  <a:srgbClr val="222222"/>
                </a:solidFill>
                <a:latin typeface="Arial" panose="020B0604020202020204" pitchFamily="34" charset="0"/>
              </a:rPr>
              <a:t>install</a:t>
            </a:r>
            <a:endParaRPr lang="fr-FR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342900" lvl="1"/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</a:rPr>
              <a:t>RUN fix-permissions "${HOME}" &amp;&amp; \ </a:t>
            </a:r>
          </a:p>
          <a:p>
            <a:pPr marL="342900" lvl="1"/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</a:rPr>
              <a:t>         fix-permissions "${CONDA_DIR}"</a:t>
            </a:r>
          </a:p>
          <a:p>
            <a:pPr marL="342900" lvl="1"/>
            <a:endParaRPr lang="fr-FR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342900" lvl="1"/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</a:rPr>
              <a:t>USER </a:t>
            </a:r>
            <a:r>
              <a:rPr lang="fr-FR" dirty="0" err="1">
                <a:solidFill>
                  <a:srgbClr val="222222"/>
                </a:solidFill>
                <a:latin typeface="Arial" panose="020B0604020202020204" pitchFamily="34" charset="0"/>
              </a:rPr>
              <a:t>spark</a:t>
            </a:r>
            <a:endParaRPr lang="fr-FR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6" name="Titre 4">
            <a:extLst>
              <a:ext uri="{FF2B5EF4-FFF2-40B4-BE49-F238E27FC236}">
                <a16:creationId xmlns:a16="http://schemas.microsoft.com/office/drawing/2014/main" id="{2910323E-47A1-6724-AF2C-BF6C8F08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</p:spPr>
        <p:txBody>
          <a:bodyPr/>
          <a:lstStyle/>
          <a:p>
            <a:endParaRPr lang="fr-F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443CE98-A23B-D661-DEFE-66083445F678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Google Shape;230;p17">
            <a:extLst>
              <a:ext uri="{FF2B5EF4-FFF2-40B4-BE49-F238E27FC236}">
                <a16:creationId xmlns:a16="http://schemas.microsoft.com/office/drawing/2014/main" id="{3C73C7F1-8D6B-8F29-ADCD-D84327E0268E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1;p17">
            <a:extLst>
              <a:ext uri="{FF2B5EF4-FFF2-40B4-BE49-F238E27FC236}">
                <a16:creationId xmlns:a16="http://schemas.microsoft.com/office/drawing/2014/main" id="{0B05D9B2-CAF2-FAD0-4736-E30E0DFBD8CB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0" name="Google Shape;232;p17">
            <a:extLst>
              <a:ext uri="{FF2B5EF4-FFF2-40B4-BE49-F238E27FC236}">
                <a16:creationId xmlns:a16="http://schemas.microsoft.com/office/drawing/2014/main" id="{02EA013B-CE4A-1920-9988-53B75E2CC669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5DEF8E9-9AA3-DB24-24D3-EF9784DB1497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Export au format parquet</a:t>
            </a:r>
          </a:p>
        </p:txBody>
      </p:sp>
    </p:spTree>
    <p:extLst>
      <p:ext uri="{BB962C8B-B14F-4D97-AF65-F5344CB8AC3E}">
        <p14:creationId xmlns:p14="http://schemas.microsoft.com/office/powerpoint/2010/main" val="16932739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156EC-DDE9-2973-3C52-A735A376D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C01D3-5CBE-75E8-C28F-1AEA24EB2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524" y="1266793"/>
            <a:ext cx="7886700" cy="3263504"/>
          </a:xfrm>
        </p:spPr>
        <p:txBody>
          <a:bodyPr>
            <a:normAutofit fontScale="77500" lnSpcReduction="20000"/>
          </a:bodyPr>
          <a:lstStyle/>
          <a:p>
            <a:r>
              <a:rPr lang="fr-FR" dirty="0"/>
              <a:t>Modifier dans le répertoire ~/</a:t>
            </a:r>
            <a:r>
              <a:rPr lang="fr-FR" dirty="0" err="1"/>
              <a:t>spark</a:t>
            </a:r>
            <a:r>
              <a:rPr lang="fr-FR" dirty="0"/>
              <a:t> le fichier docker-</a:t>
            </a:r>
            <a:r>
              <a:rPr lang="fr-FR" dirty="0" err="1"/>
              <a:t>compose.yml</a:t>
            </a:r>
            <a:r>
              <a:rPr lang="fr-FR" dirty="0"/>
              <a:t> (Suite page suivante)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services: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</a:t>
            </a:r>
            <a:r>
              <a:rPr lang="fr-FR" dirty="0" err="1">
                <a:solidFill>
                  <a:schemeClr val="tx1"/>
                </a:solidFill>
              </a:rPr>
              <a:t>spark</a:t>
            </a:r>
            <a:r>
              <a:rPr lang="fr-FR" dirty="0">
                <a:solidFill>
                  <a:schemeClr val="tx1"/>
                </a:solidFill>
              </a:rPr>
              <a:t>-master:  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image: spark:3.5.0-java17-python3   # &lt;&lt;&lt; 3.5.0  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</a:t>
            </a:r>
            <a:r>
              <a:rPr lang="fr-FR" dirty="0" err="1">
                <a:solidFill>
                  <a:schemeClr val="tx1"/>
                </a:solidFill>
              </a:rPr>
              <a:t>container_name</a:t>
            </a:r>
            <a:r>
              <a:rPr lang="fr-FR" dirty="0">
                <a:solidFill>
                  <a:schemeClr val="tx1"/>
                </a:solidFill>
              </a:rPr>
              <a:t>: </a:t>
            </a:r>
            <a:r>
              <a:rPr lang="fr-FR" dirty="0" err="1">
                <a:solidFill>
                  <a:schemeClr val="tx1"/>
                </a:solidFill>
              </a:rPr>
              <a:t>spark</a:t>
            </a:r>
            <a:r>
              <a:rPr lang="fr-FR" dirty="0">
                <a:solidFill>
                  <a:schemeClr val="tx1"/>
                </a:solidFill>
              </a:rPr>
              <a:t>-master  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command: &gt;    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     </a:t>
            </a:r>
            <a:r>
              <a:rPr lang="fr-FR" dirty="0" err="1">
                <a:solidFill>
                  <a:schemeClr val="tx1"/>
                </a:solidFill>
              </a:rPr>
              <a:t>bash</a:t>
            </a:r>
            <a:r>
              <a:rPr lang="fr-FR" dirty="0">
                <a:solidFill>
                  <a:schemeClr val="tx1"/>
                </a:solidFill>
              </a:rPr>
              <a:t> -</a:t>
            </a:r>
            <a:r>
              <a:rPr lang="fr-FR" dirty="0" err="1">
                <a:solidFill>
                  <a:schemeClr val="tx1"/>
                </a:solidFill>
              </a:rPr>
              <a:t>lc</a:t>
            </a:r>
            <a:r>
              <a:rPr lang="fr-FR" dirty="0">
                <a:solidFill>
                  <a:schemeClr val="tx1"/>
                </a:solidFill>
              </a:rPr>
              <a:t> "      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            /opt/spark/sbin/start-master.sh -h 0.0.0.0 &amp;&amp;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            </a:t>
            </a:r>
            <a:r>
              <a:rPr lang="fr-FR" dirty="0" err="1">
                <a:solidFill>
                  <a:schemeClr val="tx1"/>
                </a:solidFill>
              </a:rPr>
              <a:t>tail</a:t>
            </a:r>
            <a:r>
              <a:rPr lang="fr-FR" dirty="0">
                <a:solidFill>
                  <a:schemeClr val="tx1"/>
                </a:solidFill>
              </a:rPr>
              <a:t> -f /</a:t>
            </a:r>
            <a:r>
              <a:rPr lang="fr-FR" dirty="0" err="1">
                <a:solidFill>
                  <a:schemeClr val="tx1"/>
                </a:solidFill>
              </a:rPr>
              <a:t>opt</a:t>
            </a:r>
            <a:r>
              <a:rPr lang="fr-FR" dirty="0">
                <a:solidFill>
                  <a:schemeClr val="tx1"/>
                </a:solidFill>
              </a:rPr>
              <a:t>/</a:t>
            </a:r>
            <a:r>
              <a:rPr lang="fr-FR" dirty="0" err="1">
                <a:solidFill>
                  <a:schemeClr val="tx1"/>
                </a:solidFill>
              </a:rPr>
              <a:t>spark</a:t>
            </a:r>
            <a:r>
              <a:rPr lang="fr-FR" dirty="0">
                <a:solidFill>
                  <a:schemeClr val="tx1"/>
                </a:solidFill>
              </a:rPr>
              <a:t>/logs/*"  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</a:t>
            </a:r>
            <a:r>
              <a:rPr lang="fr-FR" dirty="0" err="1">
                <a:solidFill>
                  <a:schemeClr val="tx1"/>
                </a:solidFill>
              </a:rPr>
              <a:t>environment</a:t>
            </a:r>
            <a:r>
              <a:rPr lang="fr-FR" dirty="0">
                <a:solidFill>
                  <a:schemeClr val="tx1"/>
                </a:solidFill>
              </a:rPr>
              <a:t>:   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  - NB_UID=1000    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  - NB_GID=1000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volumes:  ["./data:/data"]   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ports:    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   - "7077:7077"    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   - "8080:8080"  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networks: [</a:t>
            </a:r>
            <a:r>
              <a:rPr lang="fr-FR" dirty="0" err="1">
                <a:solidFill>
                  <a:schemeClr val="tx1"/>
                </a:solidFill>
              </a:rPr>
              <a:t>ksnet</a:t>
            </a:r>
            <a:r>
              <a:rPr lang="fr-FR" dirty="0">
                <a:solidFill>
                  <a:schemeClr val="tx1"/>
                </a:solidFill>
              </a:rPr>
              <a:t>]  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restart: </a:t>
            </a:r>
            <a:r>
              <a:rPr lang="fr-FR" dirty="0" err="1">
                <a:solidFill>
                  <a:schemeClr val="tx1"/>
                </a:solidFill>
              </a:rPr>
              <a:t>unless-stopped</a:t>
            </a:r>
            <a:endParaRPr lang="fr-FR" dirty="0">
              <a:solidFill>
                <a:schemeClr val="tx1"/>
              </a:solidFill>
            </a:endParaRPr>
          </a:p>
          <a:p>
            <a:endParaRPr lang="fr-FR" dirty="0"/>
          </a:p>
          <a:p>
            <a:pPr lvl="1"/>
            <a:endParaRPr lang="fr-FR" b="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fr-FR" b="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itre 4">
            <a:extLst>
              <a:ext uri="{FF2B5EF4-FFF2-40B4-BE49-F238E27FC236}">
                <a16:creationId xmlns:a16="http://schemas.microsoft.com/office/drawing/2014/main" id="{896784F0-DA2F-992A-798D-264E0B8B9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</p:spPr>
        <p:txBody>
          <a:bodyPr/>
          <a:lstStyle/>
          <a:p>
            <a:endParaRPr lang="fr-FR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77BB4EC-2590-6682-0151-346E24B6DF7E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Google Shape;230;p17">
            <a:extLst>
              <a:ext uri="{FF2B5EF4-FFF2-40B4-BE49-F238E27FC236}">
                <a16:creationId xmlns:a16="http://schemas.microsoft.com/office/drawing/2014/main" id="{6CA94A12-2BE8-A0F0-CDBB-992A2DE2304B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0" name="Google Shape;231;p17">
            <a:extLst>
              <a:ext uri="{FF2B5EF4-FFF2-40B4-BE49-F238E27FC236}">
                <a16:creationId xmlns:a16="http://schemas.microsoft.com/office/drawing/2014/main" id="{133B2848-7362-6FF8-B5F0-A27B0645A85E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2" name="Google Shape;232;p17">
            <a:extLst>
              <a:ext uri="{FF2B5EF4-FFF2-40B4-BE49-F238E27FC236}">
                <a16:creationId xmlns:a16="http://schemas.microsoft.com/office/drawing/2014/main" id="{7118C1F2-95BF-D3FB-0F3D-3D4EA47689B9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901D89F-4D0E-B4BE-B092-12F72F3DEB97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Export au format parquet</a:t>
            </a:r>
          </a:p>
        </p:txBody>
      </p:sp>
    </p:spTree>
    <p:extLst>
      <p:ext uri="{BB962C8B-B14F-4D97-AF65-F5344CB8AC3E}">
        <p14:creationId xmlns:p14="http://schemas.microsoft.com/office/powerpoint/2010/main" val="22818483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0159C-24A4-F0CA-92DE-963EB658C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EAA01-2B35-3648-EAE8-8B57CBBB9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141895"/>
            <a:ext cx="7886700" cy="3263504"/>
          </a:xfrm>
        </p:spPr>
        <p:txBody>
          <a:bodyPr>
            <a:normAutofit fontScale="70000" lnSpcReduction="20000"/>
          </a:bodyPr>
          <a:lstStyle/>
          <a:p>
            <a:r>
              <a:rPr lang="fr-FR" dirty="0"/>
              <a:t>Modifier dans le répertoire ~/</a:t>
            </a:r>
            <a:r>
              <a:rPr lang="fr-FR" dirty="0" err="1"/>
              <a:t>spark</a:t>
            </a:r>
            <a:r>
              <a:rPr lang="fr-FR" dirty="0"/>
              <a:t> le fichier docker-</a:t>
            </a:r>
            <a:r>
              <a:rPr lang="fr-FR" dirty="0" err="1"/>
              <a:t>compose.yml</a:t>
            </a:r>
            <a:r>
              <a:rPr lang="fr-FR" dirty="0"/>
              <a:t>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# services: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spark-worker-1:  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image: spark:3.5.0-java17-python3   # &lt;&lt;&lt; 3.5.0  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</a:t>
            </a:r>
            <a:r>
              <a:rPr lang="fr-FR" dirty="0" err="1">
                <a:solidFill>
                  <a:schemeClr val="tx1"/>
                </a:solidFill>
              </a:rPr>
              <a:t>container_name</a:t>
            </a:r>
            <a:r>
              <a:rPr lang="fr-FR" dirty="0">
                <a:solidFill>
                  <a:schemeClr val="tx1"/>
                </a:solidFill>
              </a:rPr>
              <a:t>: </a:t>
            </a:r>
            <a:r>
              <a:rPr lang="fr-FR" dirty="0" err="1">
                <a:solidFill>
                  <a:schemeClr val="tx1"/>
                </a:solidFill>
              </a:rPr>
              <a:t>spark</a:t>
            </a:r>
            <a:r>
              <a:rPr lang="fr-FR" dirty="0">
                <a:solidFill>
                  <a:schemeClr val="tx1"/>
                </a:solidFill>
              </a:rPr>
              <a:t>-master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</a:t>
            </a:r>
            <a:r>
              <a:rPr lang="fr-FR" dirty="0" err="1">
                <a:solidFill>
                  <a:schemeClr val="tx1"/>
                </a:solidFill>
              </a:rPr>
              <a:t>depends_on</a:t>
            </a:r>
            <a:r>
              <a:rPr lang="fr-FR" dirty="0">
                <a:solidFill>
                  <a:schemeClr val="tx1"/>
                </a:solidFill>
              </a:rPr>
              <a:t>: [</a:t>
            </a:r>
            <a:r>
              <a:rPr lang="fr-FR" dirty="0" err="1">
                <a:solidFill>
                  <a:schemeClr val="tx1"/>
                </a:solidFill>
              </a:rPr>
              <a:t>spark</a:t>
            </a:r>
            <a:r>
              <a:rPr lang="fr-FR" dirty="0">
                <a:solidFill>
                  <a:schemeClr val="tx1"/>
                </a:solidFill>
              </a:rPr>
              <a:t>-master]  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command: &gt;    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   </a:t>
            </a:r>
            <a:r>
              <a:rPr lang="fr-FR" dirty="0" err="1">
                <a:solidFill>
                  <a:schemeClr val="tx1"/>
                </a:solidFill>
              </a:rPr>
              <a:t>bash</a:t>
            </a:r>
            <a:r>
              <a:rPr lang="fr-FR" dirty="0">
                <a:solidFill>
                  <a:schemeClr val="tx1"/>
                </a:solidFill>
              </a:rPr>
              <a:t> -</a:t>
            </a:r>
            <a:r>
              <a:rPr lang="fr-FR" dirty="0" err="1">
                <a:solidFill>
                  <a:schemeClr val="tx1"/>
                </a:solidFill>
              </a:rPr>
              <a:t>lc</a:t>
            </a:r>
            <a:r>
              <a:rPr lang="fr-FR" dirty="0">
                <a:solidFill>
                  <a:schemeClr val="tx1"/>
                </a:solidFill>
              </a:rPr>
              <a:t> "      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            /opt/spark/sbin/start-worker.sh spark://spark-master:7077 &amp;&amp;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            </a:t>
            </a:r>
            <a:r>
              <a:rPr lang="fr-FR" dirty="0" err="1">
                <a:solidFill>
                  <a:schemeClr val="tx1"/>
                </a:solidFill>
              </a:rPr>
              <a:t>tail</a:t>
            </a:r>
            <a:r>
              <a:rPr lang="fr-FR" dirty="0">
                <a:solidFill>
                  <a:schemeClr val="tx1"/>
                </a:solidFill>
              </a:rPr>
              <a:t> -f /</a:t>
            </a:r>
            <a:r>
              <a:rPr lang="fr-FR" dirty="0" err="1">
                <a:solidFill>
                  <a:schemeClr val="tx1"/>
                </a:solidFill>
              </a:rPr>
              <a:t>opt</a:t>
            </a:r>
            <a:r>
              <a:rPr lang="fr-FR" dirty="0">
                <a:solidFill>
                  <a:schemeClr val="tx1"/>
                </a:solidFill>
              </a:rPr>
              <a:t>/</a:t>
            </a:r>
            <a:r>
              <a:rPr lang="fr-FR" dirty="0" err="1">
                <a:solidFill>
                  <a:schemeClr val="tx1"/>
                </a:solidFill>
              </a:rPr>
              <a:t>spark</a:t>
            </a:r>
            <a:r>
              <a:rPr lang="fr-FR" dirty="0">
                <a:solidFill>
                  <a:schemeClr val="tx1"/>
                </a:solidFill>
              </a:rPr>
              <a:t>/logs/*"  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</a:t>
            </a:r>
            <a:r>
              <a:rPr lang="fr-FR" dirty="0" err="1">
                <a:solidFill>
                  <a:schemeClr val="tx1"/>
                </a:solidFill>
              </a:rPr>
              <a:t>environment</a:t>
            </a:r>
            <a:r>
              <a:rPr lang="fr-FR" dirty="0">
                <a:solidFill>
                  <a:schemeClr val="tx1"/>
                </a:solidFill>
              </a:rPr>
              <a:t>: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  - NB_UID=1000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  - NB_GID=1000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  - SPARK_WORKER_CORES=6        # à adapter à la configuration garder au moins deux </a:t>
            </a:r>
            <a:r>
              <a:rPr lang="fr-FR" dirty="0" err="1">
                <a:solidFill>
                  <a:schemeClr val="tx1"/>
                </a:solidFill>
              </a:rPr>
              <a:t>coeurs</a:t>
            </a:r>
            <a:r>
              <a:rPr lang="fr-FR" dirty="0">
                <a:solidFill>
                  <a:schemeClr val="tx1"/>
                </a:solidFill>
              </a:rPr>
              <a:t>   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  - SPARK_WORKER_MEMORY=12g     # garder au moins 4g pour le système      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volumes:  ["./</a:t>
            </a:r>
            <a:r>
              <a:rPr lang="fr-FR" dirty="0" err="1">
                <a:solidFill>
                  <a:schemeClr val="tx1"/>
                </a:solidFill>
              </a:rPr>
              <a:t>work</a:t>
            </a:r>
            <a:r>
              <a:rPr lang="fr-FR" dirty="0">
                <a:solidFill>
                  <a:schemeClr val="tx1"/>
                </a:solidFill>
              </a:rPr>
              <a:t>:/data"]   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ports:    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   - "8081:8081" 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networks: [</a:t>
            </a:r>
            <a:r>
              <a:rPr lang="fr-FR" dirty="0" err="1">
                <a:solidFill>
                  <a:schemeClr val="tx1"/>
                </a:solidFill>
              </a:rPr>
              <a:t>ksnet</a:t>
            </a:r>
            <a:r>
              <a:rPr lang="fr-FR" dirty="0">
                <a:solidFill>
                  <a:schemeClr val="tx1"/>
                </a:solidFill>
              </a:rPr>
              <a:t>]  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   restart: </a:t>
            </a:r>
            <a:r>
              <a:rPr lang="fr-FR" dirty="0" err="1">
                <a:solidFill>
                  <a:schemeClr val="tx1"/>
                </a:solidFill>
              </a:rPr>
              <a:t>unless-stopped</a:t>
            </a:r>
            <a:endParaRPr lang="fr-FR" dirty="0">
              <a:solidFill>
                <a:schemeClr val="tx1"/>
              </a:solidFill>
            </a:endParaRPr>
          </a:p>
          <a:p>
            <a:pPr marL="342900" lvl="1"/>
            <a:endParaRPr lang="fr-FR" dirty="0">
              <a:solidFill>
                <a:schemeClr val="tx1"/>
              </a:solidFill>
            </a:endParaRPr>
          </a:p>
          <a:p>
            <a:endParaRPr lang="fr-FR" dirty="0"/>
          </a:p>
          <a:p>
            <a:pPr lvl="1"/>
            <a:endParaRPr lang="fr-FR" b="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fr-FR" b="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itre 4">
            <a:extLst>
              <a:ext uri="{FF2B5EF4-FFF2-40B4-BE49-F238E27FC236}">
                <a16:creationId xmlns:a16="http://schemas.microsoft.com/office/drawing/2014/main" id="{B7510924-18CD-346B-CD28-5B5F6BEE9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</p:spPr>
        <p:txBody>
          <a:bodyPr/>
          <a:lstStyle/>
          <a:p>
            <a:endParaRPr lang="fr-FR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981EBF8-EEC8-49CA-7256-33079C99FFCB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Google Shape;230;p17">
            <a:extLst>
              <a:ext uri="{FF2B5EF4-FFF2-40B4-BE49-F238E27FC236}">
                <a16:creationId xmlns:a16="http://schemas.microsoft.com/office/drawing/2014/main" id="{52E656EC-564E-D0F2-6B53-0B2E9E20EE3F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0" name="Google Shape;231;p17">
            <a:extLst>
              <a:ext uri="{FF2B5EF4-FFF2-40B4-BE49-F238E27FC236}">
                <a16:creationId xmlns:a16="http://schemas.microsoft.com/office/drawing/2014/main" id="{5AE1A4F0-F2ED-B354-9C2A-7239187C7A1E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1" name="Google Shape;232;p17">
            <a:extLst>
              <a:ext uri="{FF2B5EF4-FFF2-40B4-BE49-F238E27FC236}">
                <a16:creationId xmlns:a16="http://schemas.microsoft.com/office/drawing/2014/main" id="{7D7C8E8B-56F5-81D9-4934-11F02D6E9D0B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0D9652E-D124-E41C-19FD-E7D871242109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Export au format parquet</a:t>
            </a:r>
          </a:p>
        </p:txBody>
      </p:sp>
    </p:spTree>
    <p:extLst>
      <p:ext uri="{BB962C8B-B14F-4D97-AF65-F5344CB8AC3E}">
        <p14:creationId xmlns:p14="http://schemas.microsoft.com/office/powerpoint/2010/main" val="37234088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640B7-2FD3-CB41-B31C-9DA3ED8FD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D4228-B15D-6EA5-F9DE-5A36CF8BE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15061"/>
            <a:ext cx="7886700" cy="3263504"/>
          </a:xfrm>
        </p:spPr>
        <p:txBody>
          <a:bodyPr>
            <a:normAutofit fontScale="47500" lnSpcReduction="20000"/>
          </a:bodyPr>
          <a:lstStyle/>
          <a:p>
            <a:r>
              <a:rPr lang="fr-FR" dirty="0"/>
              <a:t>Modifier dans le répertoire ~/</a:t>
            </a:r>
            <a:r>
              <a:rPr lang="fr-FR" dirty="0" err="1"/>
              <a:t>spark</a:t>
            </a:r>
            <a:r>
              <a:rPr lang="fr-FR" dirty="0"/>
              <a:t> le fichier docker-</a:t>
            </a:r>
            <a:r>
              <a:rPr lang="fr-FR" dirty="0" err="1"/>
              <a:t>compose.yml</a:t>
            </a:r>
            <a:r>
              <a:rPr lang="fr-FR" dirty="0"/>
              <a:t> en ajoutant un nouveau service </a:t>
            </a:r>
            <a:r>
              <a:rPr lang="fr-FR" dirty="0" err="1"/>
              <a:t>Jupyter</a:t>
            </a:r>
            <a:endParaRPr lang="fr-FR" dirty="0"/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# services:  </a:t>
            </a:r>
          </a:p>
          <a:p>
            <a:pPr marL="342900" lvl="1"/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dirty="0" err="1">
                <a:solidFill>
                  <a:schemeClr val="tx1"/>
                </a:solidFill>
              </a:rPr>
              <a:t>jupyter</a:t>
            </a:r>
            <a:r>
              <a:rPr lang="en-US" dirty="0">
                <a:solidFill>
                  <a:schemeClr val="tx1"/>
                </a:solidFill>
              </a:rPr>
              <a:t>:   </a:t>
            </a:r>
          </a:p>
          <a:p>
            <a:pPr marL="342900" lvl="1"/>
            <a:r>
              <a:rPr lang="en-US" dirty="0">
                <a:solidFill>
                  <a:schemeClr val="tx1"/>
                </a:solidFill>
              </a:rPr>
              <a:t>     build: ./</a:t>
            </a:r>
            <a:r>
              <a:rPr lang="en-US" dirty="0" err="1">
                <a:solidFill>
                  <a:schemeClr val="tx1"/>
                </a:solidFill>
              </a:rPr>
              <a:t>jupyter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342900" lvl="1"/>
            <a:r>
              <a:rPr lang="en-US" dirty="0">
                <a:solidFill>
                  <a:schemeClr val="tx1"/>
                </a:solidFill>
              </a:rPr>
              <a:t>     user: "185:185"   </a:t>
            </a:r>
          </a:p>
          <a:p>
            <a:pPr marL="342900" lvl="1"/>
            <a:r>
              <a:rPr lang="en-US" dirty="0">
                <a:solidFill>
                  <a:schemeClr val="tx1"/>
                </a:solidFill>
              </a:rPr>
              <a:t>     </a:t>
            </a:r>
            <a:r>
              <a:rPr lang="en-US" dirty="0" err="1">
                <a:solidFill>
                  <a:schemeClr val="tx1"/>
                </a:solidFill>
              </a:rPr>
              <a:t>container_name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jupyter</a:t>
            </a:r>
            <a:r>
              <a:rPr lang="en-US" dirty="0">
                <a:solidFill>
                  <a:schemeClr val="tx1"/>
                </a:solidFill>
              </a:rPr>
              <a:t>    </a:t>
            </a:r>
          </a:p>
          <a:p>
            <a:pPr marL="342900" lvl="1"/>
            <a:r>
              <a:rPr lang="en-US" dirty="0">
                <a:solidFill>
                  <a:schemeClr val="tx1"/>
                </a:solidFill>
              </a:rPr>
              <a:t>     </a:t>
            </a:r>
            <a:r>
              <a:rPr lang="en-US" dirty="0" err="1">
                <a:solidFill>
                  <a:schemeClr val="tx1"/>
                </a:solidFill>
              </a:rPr>
              <a:t>depends_on</a:t>
            </a:r>
            <a:r>
              <a:rPr lang="en-US" dirty="0">
                <a:solidFill>
                  <a:schemeClr val="tx1"/>
                </a:solidFill>
              </a:rPr>
              <a:t>: [spark-master]    </a:t>
            </a:r>
          </a:p>
          <a:p>
            <a:pPr marL="342900" lvl="1"/>
            <a:r>
              <a:rPr lang="en-US" dirty="0">
                <a:solidFill>
                  <a:schemeClr val="tx1"/>
                </a:solidFill>
              </a:rPr>
              <a:t>     environment:</a:t>
            </a:r>
          </a:p>
          <a:p>
            <a:pPr marL="342900" lvl="1"/>
            <a:r>
              <a:rPr lang="en-US" dirty="0">
                <a:solidFill>
                  <a:schemeClr val="tx1"/>
                </a:solidFill>
              </a:rPr>
              <a:t>       - NB_UID=1000</a:t>
            </a:r>
          </a:p>
          <a:p>
            <a:pPr marL="342900" lvl="1"/>
            <a:r>
              <a:rPr lang="en-US" dirty="0">
                <a:solidFill>
                  <a:schemeClr val="tx1"/>
                </a:solidFill>
              </a:rPr>
              <a:t>       - NB_GID=1000</a:t>
            </a:r>
          </a:p>
          <a:p>
            <a:pPr marL="342900" lvl="1"/>
            <a:r>
              <a:rPr lang="en-US" dirty="0">
                <a:solidFill>
                  <a:schemeClr val="tx1"/>
                </a:solidFill>
              </a:rPr>
              <a:t>       -  JUPYTER_TOKEN=demo</a:t>
            </a:r>
          </a:p>
          <a:p>
            <a:pPr marL="342900" lvl="1"/>
            <a:r>
              <a:rPr lang="en-US" dirty="0">
                <a:solidFill>
                  <a:schemeClr val="tx1"/>
                </a:solidFill>
              </a:rPr>
              <a:t>       -  SPARK_MASTER_URL=spark://spark-master:7077</a:t>
            </a:r>
          </a:p>
          <a:p>
            <a:pPr marL="342900" lvl="1"/>
            <a:r>
              <a:rPr lang="en-US" dirty="0">
                <a:solidFill>
                  <a:schemeClr val="tx1"/>
                </a:solidFill>
              </a:rPr>
              <a:t>       -  SPARK_LOCAL_HOSTNAME=</a:t>
            </a:r>
            <a:r>
              <a:rPr lang="en-US" dirty="0" err="1">
                <a:solidFill>
                  <a:schemeClr val="tx1"/>
                </a:solidFill>
              </a:rPr>
              <a:t>jupyter</a:t>
            </a:r>
            <a:endParaRPr lang="en-US" dirty="0">
              <a:solidFill>
                <a:schemeClr val="tx1"/>
              </a:solidFill>
            </a:endParaRPr>
          </a:p>
          <a:p>
            <a:pPr marL="342900" lvl="1"/>
            <a:r>
              <a:rPr lang="en-US" dirty="0">
                <a:solidFill>
                  <a:schemeClr val="tx1"/>
                </a:solidFill>
              </a:rPr>
              <a:t>       -  PYSPARK_PYTHON=python</a:t>
            </a:r>
          </a:p>
          <a:p>
            <a:pPr marL="342900" lvl="1"/>
            <a:r>
              <a:rPr lang="en-US" dirty="0">
                <a:solidFill>
                  <a:schemeClr val="tx1"/>
                </a:solidFill>
              </a:rPr>
              <a:t>       -  PYSPARK_DRIVER_PYTHON=python</a:t>
            </a:r>
          </a:p>
          <a:p>
            <a:pPr marL="342900" lvl="1"/>
            <a:r>
              <a:rPr lang="en-US" dirty="0">
                <a:solidFill>
                  <a:schemeClr val="tx1"/>
                </a:solidFill>
              </a:rPr>
              <a:t>       # &lt;&lt;&lt; </a:t>
            </a:r>
            <a:r>
              <a:rPr lang="en-US" dirty="0" err="1">
                <a:solidFill>
                  <a:schemeClr val="tx1"/>
                </a:solidFill>
              </a:rPr>
              <a:t>connecteur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aligné</a:t>
            </a:r>
            <a:r>
              <a:rPr lang="en-US" dirty="0">
                <a:solidFill>
                  <a:schemeClr val="tx1"/>
                </a:solidFill>
              </a:rPr>
              <a:t> 3.5.0</a:t>
            </a:r>
          </a:p>
          <a:p>
            <a:pPr marL="342900" lvl="1"/>
            <a:r>
              <a:rPr lang="en-US" dirty="0">
                <a:solidFill>
                  <a:schemeClr val="tx1"/>
                </a:solidFill>
              </a:rPr>
              <a:t>       -  PYSPARK_SUBMIT_ARGS=--packages org.apache.spark:spark-sql-kafka-0-10_2.12:3.5.0,org.apache.kafka:kafka-clients:3.8.0 </a:t>
            </a:r>
            <a:r>
              <a:rPr lang="en-US" dirty="0" err="1">
                <a:solidFill>
                  <a:schemeClr val="tx1"/>
                </a:solidFill>
              </a:rPr>
              <a:t>pyspark</a:t>
            </a:r>
            <a:r>
              <a:rPr lang="en-US" dirty="0">
                <a:solidFill>
                  <a:schemeClr val="tx1"/>
                </a:solidFill>
              </a:rPr>
              <a:t>-shell </a:t>
            </a:r>
          </a:p>
          <a:p>
            <a:pPr marL="342900" lvl="1"/>
            <a:r>
              <a:rPr lang="en-US" dirty="0">
                <a:solidFill>
                  <a:schemeClr val="tx1"/>
                </a:solidFill>
              </a:rPr>
              <a:t>     volumes:</a:t>
            </a:r>
          </a:p>
          <a:p>
            <a:pPr marL="342900" lvl="1"/>
            <a:r>
              <a:rPr lang="en-US" dirty="0">
                <a:solidFill>
                  <a:schemeClr val="tx1"/>
                </a:solidFill>
              </a:rPr>
              <a:t>       -  ./work:/data</a:t>
            </a:r>
          </a:p>
          <a:p>
            <a:pPr marL="342900" lvl="1"/>
            <a:r>
              <a:rPr lang="en-US" dirty="0">
                <a:solidFill>
                  <a:schemeClr val="tx1"/>
                </a:solidFill>
              </a:rPr>
              <a:t>       -  </a:t>
            </a:r>
            <a:r>
              <a:rPr lang="fr-FR" dirty="0">
                <a:solidFill>
                  <a:schemeClr val="tx1"/>
                </a:solidFill>
              </a:rPr>
              <a:t>./</a:t>
            </a:r>
            <a:r>
              <a:rPr lang="fr-FR" dirty="0" err="1">
                <a:solidFill>
                  <a:schemeClr val="tx1"/>
                </a:solidFill>
              </a:rPr>
              <a:t>work</a:t>
            </a:r>
            <a:r>
              <a:rPr lang="fr-FR" dirty="0">
                <a:solidFill>
                  <a:schemeClr val="tx1"/>
                </a:solidFill>
              </a:rPr>
              <a:t>:/home/</a:t>
            </a:r>
            <a:r>
              <a:rPr lang="fr-FR" dirty="0" err="1">
                <a:solidFill>
                  <a:schemeClr val="tx1"/>
                </a:solidFill>
              </a:rPr>
              <a:t>jovyan</a:t>
            </a:r>
            <a:r>
              <a:rPr lang="fr-FR" dirty="0">
                <a:solidFill>
                  <a:schemeClr val="tx1"/>
                </a:solidFill>
              </a:rPr>
              <a:t>/</a:t>
            </a:r>
            <a:r>
              <a:rPr lang="fr-FR" dirty="0" err="1">
                <a:solidFill>
                  <a:schemeClr val="tx1"/>
                </a:solidFill>
              </a:rPr>
              <a:t>work</a:t>
            </a:r>
            <a:r>
              <a:rPr lang="fr-FR" dirty="0">
                <a:solidFill>
                  <a:schemeClr val="tx1"/>
                </a:solidFill>
              </a:rPr>
              <a:t>   # (facultatif) pour le confort dans </a:t>
            </a:r>
            <a:r>
              <a:rPr lang="fr-FR" dirty="0" err="1">
                <a:solidFill>
                  <a:schemeClr val="tx1"/>
                </a:solidFill>
              </a:rPr>
              <a:t>JupyterLab</a:t>
            </a:r>
            <a:r>
              <a:rPr lang="en-US" dirty="0" err="1">
                <a:solidFill>
                  <a:schemeClr val="tx1"/>
                </a:solidFill>
              </a:rPr>
              <a:t>pyspark</a:t>
            </a:r>
            <a:r>
              <a:rPr lang="en-US" dirty="0">
                <a:solidFill>
                  <a:schemeClr val="tx1"/>
                </a:solidFill>
              </a:rPr>
              <a:t>-shell </a:t>
            </a:r>
          </a:p>
          <a:p>
            <a:pPr marL="342900" lvl="1"/>
            <a:r>
              <a:rPr lang="en-US" dirty="0">
                <a:solidFill>
                  <a:schemeClr val="tx1"/>
                </a:solidFill>
              </a:rPr>
              <a:t>       - ./work:/home/spark/work</a:t>
            </a:r>
          </a:p>
          <a:p>
            <a:pPr marL="342900" lvl="1"/>
            <a:r>
              <a:rPr lang="en-US" dirty="0">
                <a:solidFill>
                  <a:schemeClr val="tx1"/>
                </a:solidFill>
              </a:rPr>
              <a:t>     ports:</a:t>
            </a:r>
          </a:p>
          <a:p>
            <a:pPr marL="342900" lvl="1"/>
            <a:r>
              <a:rPr lang="en-US" dirty="0">
                <a:solidFill>
                  <a:schemeClr val="tx1"/>
                </a:solidFill>
              </a:rPr>
              <a:t>       -  "8888:8888“ </a:t>
            </a:r>
          </a:p>
          <a:p>
            <a:pPr marL="342900" lvl="1"/>
            <a:r>
              <a:rPr lang="en-US" dirty="0">
                <a:solidFill>
                  <a:schemeClr val="tx1"/>
                </a:solidFill>
              </a:rPr>
              <a:t>     networks: [</a:t>
            </a:r>
            <a:r>
              <a:rPr lang="en-US" dirty="0" err="1">
                <a:solidFill>
                  <a:schemeClr val="tx1"/>
                </a:solidFill>
              </a:rPr>
              <a:t>ksnet</a:t>
            </a:r>
            <a:r>
              <a:rPr lang="en-US" dirty="0">
                <a:solidFill>
                  <a:schemeClr val="tx1"/>
                </a:solidFill>
              </a:rPr>
              <a:t>]</a:t>
            </a:r>
          </a:p>
          <a:p>
            <a:pPr marL="342900" lvl="1"/>
            <a:r>
              <a:rPr lang="en-US" dirty="0">
                <a:solidFill>
                  <a:schemeClr val="tx1"/>
                </a:solidFill>
              </a:rPr>
              <a:t>     restart: unless-stopped</a:t>
            </a:r>
          </a:p>
          <a:p>
            <a:pPr marL="342900" lvl="1"/>
            <a:endParaRPr lang="fr-FR" dirty="0">
              <a:solidFill>
                <a:schemeClr val="tx1"/>
              </a:solidFill>
            </a:endParaRP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networks:  </a:t>
            </a:r>
          </a:p>
          <a:p>
            <a:pPr marL="342900" lvl="1"/>
            <a:r>
              <a:rPr lang="fr-FR" dirty="0">
                <a:solidFill>
                  <a:schemeClr val="tx1"/>
                </a:solidFill>
              </a:rPr>
              <a:t>  </a:t>
            </a:r>
            <a:r>
              <a:rPr lang="fr-FR" dirty="0" err="1">
                <a:solidFill>
                  <a:schemeClr val="tx1"/>
                </a:solidFill>
              </a:rPr>
              <a:t>ksnet</a:t>
            </a:r>
            <a:r>
              <a:rPr lang="fr-FR" dirty="0">
                <a:solidFill>
                  <a:schemeClr val="tx1"/>
                </a:solidFill>
              </a:rPr>
              <a:t>:</a:t>
            </a:r>
          </a:p>
          <a:p>
            <a:pPr lvl="1"/>
            <a:endParaRPr lang="fr-FR" b="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C6B0A8AB-2EC2-049F-82F3-C892FB73E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</p:spPr>
        <p:txBody>
          <a:bodyPr/>
          <a:lstStyle/>
          <a:p>
            <a:endParaRPr lang="fr-F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A08DB8-788D-FE42-DD2A-E44F6B283BC8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Google Shape;230;p17">
            <a:extLst>
              <a:ext uri="{FF2B5EF4-FFF2-40B4-BE49-F238E27FC236}">
                <a16:creationId xmlns:a16="http://schemas.microsoft.com/office/drawing/2014/main" id="{481BA89F-36E8-3DD5-22F5-B47A1023AA95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9" name="Google Shape;231;p17">
            <a:extLst>
              <a:ext uri="{FF2B5EF4-FFF2-40B4-BE49-F238E27FC236}">
                <a16:creationId xmlns:a16="http://schemas.microsoft.com/office/drawing/2014/main" id="{42FD5D0B-A407-D73F-5883-E06D6DFA627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0" name="Google Shape;232;p17">
            <a:extLst>
              <a:ext uri="{FF2B5EF4-FFF2-40B4-BE49-F238E27FC236}">
                <a16:creationId xmlns:a16="http://schemas.microsoft.com/office/drawing/2014/main" id="{50975990-A6CC-2D5F-C664-BEF9677A7AF8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2B240E2-BB8C-1324-DD66-6232DD46A6A6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Export au format parquet</a:t>
            </a:r>
          </a:p>
        </p:txBody>
      </p:sp>
    </p:spTree>
    <p:extLst>
      <p:ext uri="{BB962C8B-B14F-4D97-AF65-F5344CB8AC3E}">
        <p14:creationId xmlns:p14="http://schemas.microsoft.com/office/powerpoint/2010/main" val="39691997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290EA-8DD8-5498-95F6-8F13CBFD3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AB576-B959-72FB-E483-A1722DCAF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678" y="1141895"/>
            <a:ext cx="7886700" cy="3263504"/>
          </a:xfrm>
        </p:spPr>
        <p:txBody>
          <a:bodyPr>
            <a:normAutofit/>
          </a:bodyPr>
          <a:lstStyle/>
          <a:p>
            <a:r>
              <a:rPr lang="fr-FR" dirty="0"/>
              <a:t>Relancer le traitement</a:t>
            </a:r>
          </a:p>
          <a:p>
            <a:pPr marL="342900" lvl="1"/>
            <a:endParaRPr lang="fr-FR" dirty="0">
              <a:solidFill>
                <a:schemeClr val="bg1"/>
              </a:solidFill>
            </a:endParaRPr>
          </a:p>
          <a:p>
            <a:pPr marL="342900" lvl="1"/>
            <a:endParaRPr lang="fr-FR" dirty="0">
              <a:solidFill>
                <a:schemeClr val="bg1"/>
              </a:solidFill>
            </a:endParaRPr>
          </a:p>
          <a:p>
            <a:pPr marL="342900" lvl="1"/>
            <a:endParaRPr lang="fr-FR" dirty="0">
              <a:solidFill>
                <a:schemeClr val="bg1"/>
              </a:solidFill>
            </a:endParaRPr>
          </a:p>
          <a:p>
            <a:pPr marL="342900" lvl="1"/>
            <a:endParaRPr lang="fr-FR" dirty="0">
              <a:solidFill>
                <a:schemeClr val="bg1"/>
              </a:solidFill>
            </a:endParaRPr>
          </a:p>
          <a:p>
            <a:pPr marL="342900" lvl="1"/>
            <a:endParaRPr lang="fr-FR" dirty="0">
              <a:solidFill>
                <a:schemeClr val="bg1"/>
              </a:solidFill>
            </a:endParaRPr>
          </a:p>
          <a:p>
            <a:pPr marL="342900" lvl="1"/>
            <a:r>
              <a:rPr lang="fr-FR" dirty="0">
                <a:solidFill>
                  <a:schemeClr val="bg1"/>
                </a:solidFill>
              </a:rPr>
              <a:t>Fichiers générés:</a:t>
            </a:r>
          </a:p>
          <a:p>
            <a:pPr marL="342900" lvl="1"/>
            <a:r>
              <a:rPr lang="fr-FR" dirty="0">
                <a:solidFill>
                  <a:schemeClr val="bg1"/>
                </a:solidFill>
              </a:rPr>
              <a:t>  </a:t>
            </a:r>
            <a:endParaRPr lang="fr-FR" dirty="0"/>
          </a:p>
          <a:p>
            <a:pPr lvl="1"/>
            <a:endParaRPr lang="fr-F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fr-F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9AC4794-DB93-E594-6976-731A32CC4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287" y="1651486"/>
            <a:ext cx="7902090" cy="107885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1C67A35-2987-536A-8E68-383CE6E16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5007" y="3071501"/>
            <a:ext cx="3646841" cy="1473159"/>
          </a:xfrm>
          <a:prstGeom prst="rect">
            <a:avLst/>
          </a:prstGeom>
        </p:spPr>
      </p:pic>
      <p:sp>
        <p:nvSpPr>
          <p:cNvPr id="7" name="Titre 4">
            <a:extLst>
              <a:ext uri="{FF2B5EF4-FFF2-40B4-BE49-F238E27FC236}">
                <a16:creationId xmlns:a16="http://schemas.microsoft.com/office/drawing/2014/main" id="{063EB49D-568C-4C17-31A8-C04EEBDD2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</p:spPr>
        <p:txBody>
          <a:bodyPr/>
          <a:lstStyle/>
          <a:p>
            <a:endParaRPr lang="fr-FR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D647ED4-39CB-1E5F-42A7-0A1841603308}"/>
              </a:ext>
            </a:extLst>
          </p:cNvPr>
          <p:cNvSpPr txBox="1">
            <a:spLocks/>
          </p:cNvSpPr>
          <p:nvPr/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 fontScale="60000" lnSpcReduction="20000"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TP : Exploration des données: Recherche d’anomalies</a:t>
            </a:r>
            <a:br>
              <a:rPr lang="fr-FR" kern="1400" spc="-38"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fr-FR" sz="1800" ker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numériques</a:t>
            </a:r>
            <a:endParaRPr lang="fr-FR" sz="1800" kern="1400" spc="-38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Google Shape;230;p17">
            <a:extLst>
              <a:ext uri="{FF2B5EF4-FFF2-40B4-BE49-F238E27FC236}">
                <a16:creationId xmlns:a16="http://schemas.microsoft.com/office/drawing/2014/main" id="{C7B28ED3-3826-7C0A-D601-2EFA75481DC4}"/>
              </a:ext>
            </a:extLst>
          </p:cNvPr>
          <p:cNvSpPr/>
          <p:nvPr/>
        </p:nvSpPr>
        <p:spPr>
          <a:xfrm>
            <a:off x="728524" y="58794"/>
            <a:ext cx="7791008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0" name="Google Shape;231;p17">
            <a:extLst>
              <a:ext uri="{FF2B5EF4-FFF2-40B4-BE49-F238E27FC236}">
                <a16:creationId xmlns:a16="http://schemas.microsoft.com/office/drawing/2014/main" id="{BE85A571-4268-BF2F-B8D9-1626AD022424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2" name="Google Shape;232;p17">
            <a:extLst>
              <a:ext uri="{FF2B5EF4-FFF2-40B4-BE49-F238E27FC236}">
                <a16:creationId xmlns:a16="http://schemas.microsoft.com/office/drawing/2014/main" id="{70F3CA13-0B43-8A53-E9C9-239BB18CA273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DA20591-A309-8DB2-AE10-127D0BD6289F}"/>
              </a:ext>
            </a:extLst>
          </p:cNvPr>
          <p:cNvSpPr txBox="1"/>
          <p:nvPr/>
        </p:nvSpPr>
        <p:spPr>
          <a:xfrm>
            <a:off x="824975" y="140582"/>
            <a:ext cx="7581775" cy="83869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Exploration des données: recherche d’anomalies</a:t>
            </a:r>
          </a:p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Export au format parquet</a:t>
            </a:r>
          </a:p>
        </p:txBody>
      </p:sp>
    </p:spTree>
    <p:extLst>
      <p:ext uri="{BB962C8B-B14F-4D97-AF65-F5344CB8AC3E}">
        <p14:creationId xmlns:p14="http://schemas.microsoft.com/office/powerpoint/2010/main" val="22190533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35" t="869" r="11671"/>
          <a:stretch/>
        </p:blipFill>
        <p:spPr>
          <a:xfrm>
            <a:off x="4431282" y="-7974"/>
            <a:ext cx="4718608" cy="513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11625" y="932"/>
            <a:ext cx="8138265" cy="5143500"/>
          </a:xfrm>
          <a:prstGeom prst="rect">
            <a:avLst/>
          </a:prstGeom>
          <a:solidFill>
            <a:srgbClr val="676D7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bg1"/>
              </a:solidFill>
            </a:endParaRPr>
          </a:p>
        </p:txBody>
      </p:sp>
      <p:sp>
        <p:nvSpPr>
          <p:cNvPr id="7" name="Parallélogramme 6"/>
          <p:cNvSpPr/>
          <p:nvPr/>
        </p:nvSpPr>
        <p:spPr>
          <a:xfrm>
            <a:off x="-1634180" y="-5770"/>
            <a:ext cx="7690701" cy="5135525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124" y="2162390"/>
            <a:ext cx="3304125" cy="2579399"/>
          </a:xfrm>
          <a:prstGeom prst="rect">
            <a:avLst/>
          </a:prstGeom>
        </p:spPr>
      </p:pic>
      <p:sp>
        <p:nvSpPr>
          <p:cNvPr id="12" name="Titre 1"/>
          <p:cNvSpPr>
            <a:spLocks noGrp="1"/>
          </p:cNvSpPr>
          <p:nvPr>
            <p:ph type="ctrTitle" idx="4294967295"/>
          </p:nvPr>
        </p:nvSpPr>
        <p:spPr>
          <a:xfrm>
            <a:off x="5971273" y="2636568"/>
            <a:ext cx="2393946" cy="175196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2700">
                <a:solidFill>
                  <a:schemeClr val="bg1"/>
                </a:solidFill>
                <a:latin typeface="Agency FB" panose="020B0503020202020204" pitchFamily="34" charset="0"/>
                <a:ea typeface="+mn-ea"/>
                <a:cs typeface="+mn-cs"/>
              </a:rPr>
              <a:t>Suivez-Nous</a:t>
            </a:r>
            <a:br>
              <a:rPr lang="fr-FR">
                <a:solidFill>
                  <a:schemeClr val="bg1"/>
                </a:solidFill>
              </a:rPr>
            </a:br>
            <a:br>
              <a:rPr lang="fr-FR">
                <a:solidFill>
                  <a:schemeClr val="bg1"/>
                </a:solidFill>
              </a:rPr>
            </a:br>
            <a:br>
              <a:rPr lang="fr-FR" sz="1500">
                <a:solidFill>
                  <a:schemeClr val="bg1"/>
                </a:solidFill>
              </a:rPr>
            </a:br>
            <a:r>
              <a:rPr lang="fr-FR" sz="1500">
                <a:solidFill>
                  <a:schemeClr val="bg1"/>
                </a:solidFill>
                <a:hlinkClick r:id="rId5"/>
              </a:rPr>
              <a:t>www.mgt-conseils.com</a:t>
            </a:r>
            <a:br>
              <a:rPr lang="fr-FR" sz="1500">
                <a:solidFill>
                  <a:schemeClr val="bg1"/>
                </a:solidFill>
              </a:rPr>
            </a:br>
            <a:r>
              <a:rPr lang="fr-FR" sz="1500">
                <a:solidFill>
                  <a:schemeClr val="bg1"/>
                </a:solidFill>
              </a:rPr>
              <a:t>contact@mgt-conseils.com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8619" y="496808"/>
            <a:ext cx="3489311" cy="300082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/>
          <a:p>
            <a:r>
              <a:rPr lang="fr-FR" sz="1500" b="1">
                <a:solidFill>
                  <a:srgbClr val="0070C0"/>
                </a:solidFill>
                <a:latin typeface="Agency FB"/>
              </a:rPr>
              <a:t> </a:t>
            </a:r>
            <a:r>
              <a:rPr lang="fr-FR" sz="1500" b="1">
                <a:solidFill>
                  <a:srgbClr val="F89A33"/>
                </a:solidFill>
                <a:latin typeface="Agency FB"/>
              </a:rPr>
              <a:t>| Direction Commerciale</a:t>
            </a:r>
            <a:endParaRPr lang="fr-FR" sz="1500">
              <a:latin typeface="Agency FB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450011" y="794581"/>
            <a:ext cx="2639741" cy="300082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/>
              </a:rPr>
              <a:t>business@mgt-conseils.com </a:t>
            </a:r>
            <a:endParaRPr lang="fr-FR" sz="1500">
              <a:solidFill>
                <a:srgbClr val="676D72"/>
              </a:solidFill>
              <a:latin typeface="Agency FB" panose="020B0503020202020204" pitchFamily="34" charset="0"/>
            </a:endParaRPr>
          </a:p>
        </p:txBody>
      </p:sp>
      <p:sp>
        <p:nvSpPr>
          <p:cNvPr id="25" name="Titre 1"/>
          <p:cNvSpPr txBox="1">
            <a:spLocks/>
          </p:cNvSpPr>
          <p:nvPr/>
        </p:nvSpPr>
        <p:spPr>
          <a:xfrm>
            <a:off x="4667449" y="4706090"/>
            <a:ext cx="5001596" cy="54998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825">
                <a:solidFill>
                  <a:schemeClr val="bg1"/>
                </a:solidFill>
              </a:rPr>
              <a:t>SARL au capital de 50 300 € - SIRET 479 638 462 00032 </a:t>
            </a:r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24" y="871474"/>
            <a:ext cx="146399" cy="14639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59972" y="1314543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Paris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32" name="ZoneTexte 31"/>
          <p:cNvSpPr txBox="1"/>
          <p:nvPr/>
        </p:nvSpPr>
        <p:spPr>
          <a:xfrm>
            <a:off x="451364" y="1626848"/>
            <a:ext cx="26397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+331 47 20 67 63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Les Champs Elysées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104 Rue du Faubourg Saint - Honoré, 75008 Paris</a:t>
            </a:r>
          </a:p>
        </p:txBody>
      </p:sp>
      <p:pic>
        <p:nvPicPr>
          <p:cNvPr id="34" name="Image 3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79" y="1699834"/>
            <a:ext cx="146399" cy="146399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245868" y="2674542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Abidjan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40" name="ZoneTexte 39"/>
          <p:cNvSpPr txBox="1"/>
          <p:nvPr/>
        </p:nvSpPr>
        <p:spPr>
          <a:xfrm>
            <a:off x="437260" y="2986846"/>
            <a:ext cx="280687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+225 05 06 75 01 01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Résidence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Palazzo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Posillipo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 Cocody - Danga, 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BP 10 367, Abidjan 01</a:t>
            </a:r>
          </a:p>
        </p:txBody>
      </p:sp>
      <p:pic>
        <p:nvPicPr>
          <p:cNvPr id="41" name="Image 4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75" y="3059832"/>
            <a:ext cx="146399" cy="146399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242717" y="3838560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Bénin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43" name="ZoneTexte 42"/>
          <p:cNvSpPr txBox="1"/>
          <p:nvPr/>
        </p:nvSpPr>
        <p:spPr>
          <a:xfrm>
            <a:off x="434109" y="4150864"/>
            <a:ext cx="305456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+229 90 55 10 55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Akpakpa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Rés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. JR d’Adèle, 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Cotonou</a:t>
            </a:r>
          </a:p>
        </p:txBody>
      </p:sp>
      <p:pic>
        <p:nvPicPr>
          <p:cNvPr id="44" name="Image 4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24" y="4223850"/>
            <a:ext cx="146399" cy="146399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32" y="1946622"/>
            <a:ext cx="141499" cy="141499"/>
          </a:xfrm>
          <a:prstGeom prst="rect">
            <a:avLst/>
          </a:prstGeom>
        </p:spPr>
      </p:pic>
      <p:pic>
        <p:nvPicPr>
          <p:cNvPr id="45" name="Image 4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4460988"/>
            <a:ext cx="141499" cy="141499"/>
          </a:xfrm>
          <a:prstGeom prst="rect">
            <a:avLst/>
          </a:prstGeom>
        </p:spPr>
      </p:pic>
      <p:pic>
        <p:nvPicPr>
          <p:cNvPr id="46" name="Image 4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3343186"/>
            <a:ext cx="141499" cy="141499"/>
          </a:xfrm>
          <a:prstGeom prst="rect">
            <a:avLst/>
          </a:prstGeom>
        </p:spPr>
      </p:pic>
      <p:grpSp>
        <p:nvGrpSpPr>
          <p:cNvPr id="16" name="Groupe 15"/>
          <p:cNvGrpSpPr/>
          <p:nvPr/>
        </p:nvGrpSpPr>
        <p:grpSpPr>
          <a:xfrm>
            <a:off x="5935935" y="3045995"/>
            <a:ext cx="2471907" cy="660017"/>
            <a:chOff x="7953078" y="4393803"/>
            <a:chExt cx="3295876" cy="880023"/>
          </a:xfrm>
        </p:grpSpPr>
        <p:grpSp>
          <p:nvGrpSpPr>
            <p:cNvPr id="13" name="Groupe 12"/>
            <p:cNvGrpSpPr/>
            <p:nvPr/>
          </p:nvGrpSpPr>
          <p:grpSpPr>
            <a:xfrm>
              <a:off x="7953078" y="4393803"/>
              <a:ext cx="1235024" cy="880023"/>
              <a:chOff x="7708552" y="4387991"/>
              <a:chExt cx="1235024" cy="880023"/>
            </a:xfrm>
          </p:grpSpPr>
          <p:pic>
            <p:nvPicPr>
              <p:cNvPr id="4" name="Image 3"/>
              <p:cNvPicPr>
                <a:picLocks noChangeAspect="1"/>
              </p:cNvPicPr>
              <p:nvPr/>
            </p:nvPicPr>
            <p:blipFill>
              <a:blip r:embed="rId9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53043" y="4387991"/>
                <a:ext cx="346041" cy="346041"/>
              </a:xfrm>
              <a:prstGeom prst="rect">
                <a:avLst/>
              </a:prstGeom>
            </p:spPr>
          </p:pic>
          <p:sp>
            <p:nvSpPr>
              <p:cNvPr id="47" name="Titre 1"/>
              <p:cNvSpPr txBox="1">
                <a:spLocks/>
              </p:cNvSpPr>
              <p:nvPr/>
            </p:nvSpPr>
            <p:spPr>
              <a:xfrm>
                <a:off x="7708552" y="4534702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/</a:t>
                </a:r>
                <a:r>
                  <a:rPr lang="fr-FR" sz="825" err="1">
                    <a:solidFill>
                      <a:schemeClr val="bg1"/>
                    </a:solidFill>
                  </a:rPr>
                  <a:t>MGT.Conseils</a:t>
                </a:r>
                <a:endParaRPr lang="fr-FR" sz="825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" name="Groupe 13"/>
            <p:cNvGrpSpPr/>
            <p:nvPr/>
          </p:nvGrpSpPr>
          <p:grpSpPr>
            <a:xfrm>
              <a:off x="8943789" y="4426916"/>
              <a:ext cx="1235024" cy="840134"/>
              <a:chOff x="8704148" y="4427880"/>
              <a:chExt cx="1235024" cy="840134"/>
            </a:xfrm>
          </p:grpSpPr>
          <p:pic>
            <p:nvPicPr>
              <p:cNvPr id="6" name="Image 5"/>
              <p:cNvPicPr>
                <a:picLocks noChangeAspect="1"/>
              </p:cNvPicPr>
              <p:nvPr/>
            </p:nvPicPr>
            <p:blipFill>
              <a:blip r:embed="rId10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43910" y="4427880"/>
                <a:ext cx="349810" cy="349810"/>
              </a:xfrm>
              <a:prstGeom prst="rect">
                <a:avLst/>
              </a:prstGeom>
            </p:spPr>
          </p:pic>
          <p:sp>
            <p:nvSpPr>
              <p:cNvPr id="49" name="Titre 1"/>
              <p:cNvSpPr txBox="1">
                <a:spLocks/>
              </p:cNvSpPr>
              <p:nvPr/>
            </p:nvSpPr>
            <p:spPr>
              <a:xfrm>
                <a:off x="8704148" y="4534702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/</a:t>
                </a:r>
                <a:r>
                  <a:rPr lang="fr-FR" sz="825" err="1">
                    <a:solidFill>
                      <a:schemeClr val="bg1"/>
                    </a:solidFill>
                  </a:rPr>
                  <a:t>mgt</a:t>
                </a:r>
                <a:r>
                  <a:rPr lang="fr-FR" sz="825">
                    <a:solidFill>
                      <a:schemeClr val="bg1"/>
                    </a:solidFill>
                  </a:rPr>
                  <a:t>-conseils</a:t>
                </a:r>
              </a:p>
            </p:txBody>
          </p:sp>
        </p:grpSp>
        <p:grpSp>
          <p:nvGrpSpPr>
            <p:cNvPr id="15" name="Groupe 14"/>
            <p:cNvGrpSpPr/>
            <p:nvPr/>
          </p:nvGrpSpPr>
          <p:grpSpPr>
            <a:xfrm>
              <a:off x="10013930" y="4426197"/>
              <a:ext cx="1235024" cy="840853"/>
              <a:chOff x="9613248" y="4415593"/>
              <a:chExt cx="1235024" cy="840853"/>
            </a:xfrm>
          </p:grpSpPr>
          <p:pic>
            <p:nvPicPr>
              <p:cNvPr id="9" name="Image 8"/>
              <p:cNvPicPr>
                <a:picLocks noChangeAspect="1"/>
              </p:cNvPicPr>
              <p:nvPr/>
            </p:nvPicPr>
            <p:blipFill>
              <a:blip r:embed="rId11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153" y="4415593"/>
                <a:ext cx="347214" cy="347214"/>
              </a:xfrm>
              <a:prstGeom prst="rect">
                <a:avLst/>
              </a:prstGeom>
            </p:spPr>
          </p:pic>
          <p:sp>
            <p:nvSpPr>
              <p:cNvPr id="51" name="Titre 1"/>
              <p:cNvSpPr txBox="1">
                <a:spLocks/>
              </p:cNvSpPr>
              <p:nvPr/>
            </p:nvSpPr>
            <p:spPr>
              <a:xfrm>
                <a:off x="9613248" y="4523134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@</a:t>
                </a:r>
                <a:r>
                  <a:rPr lang="fr-FR" sz="825" err="1">
                    <a:solidFill>
                      <a:schemeClr val="bg1"/>
                    </a:solidFill>
                  </a:rPr>
                  <a:t>MGTConseils</a:t>
                </a:r>
                <a:endParaRPr lang="fr-FR" sz="825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10192631-2D34-469C-A952-3B55768F581D}"/>
              </a:ext>
            </a:extLst>
          </p:cNvPr>
          <p:cNvSpPr txBox="1"/>
          <p:nvPr/>
        </p:nvSpPr>
        <p:spPr>
          <a:xfrm>
            <a:off x="6020136" y="501821"/>
            <a:ext cx="2784985" cy="1569660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pPr algn="ctr"/>
            <a:r>
              <a:rPr lang="fr-FR" sz="3200" b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Merci pour votre attention </a:t>
            </a:r>
          </a:p>
        </p:txBody>
      </p:sp>
    </p:spTree>
    <p:extLst>
      <p:ext uri="{BB962C8B-B14F-4D97-AF65-F5344CB8AC3E}">
        <p14:creationId xmlns:p14="http://schemas.microsoft.com/office/powerpoint/2010/main" val="782514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3eca01c-4ea5-40c8-83fd-b296bd340025">
      <UserInfo>
        <DisplayName>Abir GUENICH - Ingénieure d’affaire</DisplayName>
        <AccountId>246</AccountId>
        <AccountType/>
      </UserInfo>
    </SharedWithUsers>
    <_activity xmlns="6f1b3788-58c0-46a5-9604-64d97c7fc47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419B1710D3DF4A9DAA9ADF73C802B5" ma:contentTypeVersion="14" ma:contentTypeDescription="Crée un document." ma:contentTypeScope="" ma:versionID="d45f398bd182fafaec1e6b20d8a38b6f">
  <xsd:schema xmlns:xsd="http://www.w3.org/2001/XMLSchema" xmlns:xs="http://www.w3.org/2001/XMLSchema" xmlns:p="http://schemas.microsoft.com/office/2006/metadata/properties" xmlns:ns3="6f1b3788-58c0-46a5-9604-64d97c7fc47c" xmlns:ns4="73eca01c-4ea5-40c8-83fd-b296bd340025" targetNamespace="http://schemas.microsoft.com/office/2006/metadata/properties" ma:root="true" ma:fieldsID="de746a5257d740f042749d495693305b" ns3:_="" ns4:_="">
    <xsd:import namespace="6f1b3788-58c0-46a5-9604-64d97c7fc47c"/>
    <xsd:import namespace="73eca01c-4ea5-40c8-83fd-b296bd34002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1b3788-58c0-46a5-9604-64d97c7fc4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eca01c-4ea5-40c8-83fd-b296bd34002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AA46D8-DF31-4768-AD82-8F485C82E64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0C00205-F11F-4D61-9572-D162BE7CE022}">
  <ds:schemaRefs>
    <ds:schemaRef ds:uri="http://schemas.microsoft.com/office/infopath/2007/PartnerControls"/>
    <ds:schemaRef ds:uri="http://purl.org/dc/terms/"/>
    <ds:schemaRef ds:uri="http://purl.org/dc/elements/1.1/"/>
    <ds:schemaRef ds:uri="6f1b3788-58c0-46a5-9604-64d97c7fc47c"/>
    <ds:schemaRef ds:uri="73eca01c-4ea5-40c8-83fd-b296bd340025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13D40C7A-64C6-4B3B-A1B6-9CB64BC756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1b3788-58c0-46a5-9604-64d97c7fc47c"/>
    <ds:schemaRef ds:uri="73eca01c-4ea5-40c8-83fd-b296bd3400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3433</TotalTime>
  <Words>4253</Words>
  <Application>Microsoft Office PowerPoint</Application>
  <PresentationFormat>Affichage à l'écran (16:9)</PresentationFormat>
  <Paragraphs>573</Paragraphs>
  <Slides>48</Slides>
  <Notes>47</Notes>
  <HiddenSlides>0</HiddenSlides>
  <MMClips>0</MMClips>
  <ScaleCrop>false</ScaleCrop>
  <HeadingPairs>
    <vt:vector size="6" baseType="variant">
      <vt:variant>
        <vt:lpstr>Polices utilisées</vt:lpstr>
      </vt:variant>
      <vt:variant>
        <vt:i4>13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48</vt:i4>
      </vt:variant>
    </vt:vector>
  </HeadingPairs>
  <TitlesOfParts>
    <vt:vector size="62" baseType="lpstr">
      <vt:lpstr>Abadi Extra Light</vt:lpstr>
      <vt:lpstr>Arial UNICODE MS</vt:lpstr>
      <vt:lpstr>Arial UNICODE MS</vt:lpstr>
      <vt:lpstr>FUTURA MEDIUM</vt:lpstr>
      <vt:lpstr>Agency FB</vt:lpstr>
      <vt:lpstr>Arial</vt:lpstr>
      <vt:lpstr>Calibri</vt:lpstr>
      <vt:lpstr>Calibri Light</vt:lpstr>
      <vt:lpstr>Ebrima</vt:lpstr>
      <vt:lpstr>Roboto</vt:lpstr>
      <vt:lpstr>Trebuchet MS</vt:lpstr>
      <vt:lpstr>Verdana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TP : Exploration des données: Recherche d’anomalies variables numériques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Suivez-Nous   www.mgt-conseils.com contact@mgt-conseils.com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Groupe  DataValue Consulting</dc:title>
  <dc:creator>Conrad GBAGUIDI</dc:creator>
  <cp:lastModifiedBy>Denis ARGOUARCH</cp:lastModifiedBy>
  <cp:revision>175</cp:revision>
  <dcterms:created xsi:type="dcterms:W3CDTF">2021-01-18T11:01:50Z</dcterms:created>
  <dcterms:modified xsi:type="dcterms:W3CDTF">2025-12-20T11:54:14Z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2020-03-16T00:00:00Z</vt:filetime>
  </property>
  <property fmtid="{D5CDD505-2E9C-101B-9397-08002B2CF9AE}" pid="3" name="LastSaved">
    <vt:filetime>2021-01-18T00:00:00Z</vt:filetime>
  </property>
  <property fmtid="{D5CDD505-2E9C-101B-9397-08002B2CF9AE}" pid="4" name="ContentTypeId">
    <vt:lpwstr>0x01010058419B1710D3DF4A9DAA9ADF73C802B5</vt:lpwstr>
  </property>
  <property fmtid="{D5CDD505-2E9C-101B-9397-08002B2CF9AE}" pid="5" name="MediaServiceImageTags">
    <vt:lpwstr/>
  </property>
</Properties>
</file>