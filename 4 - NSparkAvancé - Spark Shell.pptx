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52"/>
  </p:notesMasterIdLst>
  <p:sldIdLst>
    <p:sldId id="263" r:id="rId5"/>
    <p:sldId id="2134807190" r:id="rId6"/>
    <p:sldId id="2134807191" r:id="rId7"/>
    <p:sldId id="2134807199" r:id="rId8"/>
    <p:sldId id="2134807200" r:id="rId9"/>
    <p:sldId id="2134807201" r:id="rId10"/>
    <p:sldId id="2134807205" r:id="rId11"/>
    <p:sldId id="2134807206" r:id="rId12"/>
    <p:sldId id="2134807207" r:id="rId13"/>
    <p:sldId id="2134807208" r:id="rId14"/>
    <p:sldId id="2134807209" r:id="rId15"/>
    <p:sldId id="2134807203" r:id="rId16"/>
    <p:sldId id="2134807210" r:id="rId17"/>
    <p:sldId id="2134807204" r:id="rId18"/>
    <p:sldId id="2134807211" r:id="rId19"/>
    <p:sldId id="2134807212" r:id="rId20"/>
    <p:sldId id="2134807213" r:id="rId21"/>
    <p:sldId id="2134807214" r:id="rId22"/>
    <p:sldId id="2134807215" r:id="rId23"/>
    <p:sldId id="2134807217" r:id="rId24"/>
    <p:sldId id="2134807216" r:id="rId25"/>
    <p:sldId id="2134807219" r:id="rId26"/>
    <p:sldId id="2134807218" r:id="rId27"/>
    <p:sldId id="2134807220" r:id="rId28"/>
    <p:sldId id="2134807221" r:id="rId29"/>
    <p:sldId id="2134807222" r:id="rId30"/>
    <p:sldId id="2134807223" r:id="rId31"/>
    <p:sldId id="2134807224" r:id="rId32"/>
    <p:sldId id="2134807225" r:id="rId33"/>
    <p:sldId id="2134807226" r:id="rId34"/>
    <p:sldId id="2134807227" r:id="rId35"/>
    <p:sldId id="2134807228" r:id="rId36"/>
    <p:sldId id="2134807229" r:id="rId37"/>
    <p:sldId id="2134807230" r:id="rId38"/>
    <p:sldId id="2134807231" r:id="rId39"/>
    <p:sldId id="2134807232" r:id="rId40"/>
    <p:sldId id="2134807233" r:id="rId41"/>
    <p:sldId id="2134807235" r:id="rId42"/>
    <p:sldId id="2134807234" r:id="rId43"/>
    <p:sldId id="2134807242" r:id="rId44"/>
    <p:sldId id="2134807236" r:id="rId45"/>
    <p:sldId id="2134807237" r:id="rId46"/>
    <p:sldId id="2134807238" r:id="rId47"/>
    <p:sldId id="2134807239" r:id="rId48"/>
    <p:sldId id="2134807240" r:id="rId49"/>
    <p:sldId id="2134807241" r:id="rId50"/>
    <p:sldId id="269" r:id="rId51"/>
  </p:sldIdLst>
  <p:sldSz cx="9144000" cy="5143500" type="screen16x9"/>
  <p:notesSz cx="9144000" cy="51435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8200"/>
    <a:srgbClr val="E89D06"/>
    <a:srgbClr val="606A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684" y="15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3371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EFCF4C-C656-4173-9B19-E1AF5C686E36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481D4-7198-485D-BC3A-9DB0AF6D6A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9205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481D4-7198-485D-BC3A-9DB0AF6D6A6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4745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8B0EE-DB74-4337-9E39-4F4401AC088C}" type="slidenum">
              <a:rPr lang="fr-FR" smtClean="0"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9741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597370" y="4578722"/>
            <a:ext cx="429860" cy="2832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457200" y="4783455"/>
            <a:ext cx="2103120" cy="276999"/>
          </a:xfrm>
        </p:spPr>
        <p:txBody>
          <a:bodyPr/>
          <a:lstStyle/>
          <a:p>
            <a:fld id="{FE69C2FC-FDFD-4827-B361-612217FFD460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108960" y="4783455"/>
            <a:ext cx="2926080" cy="276999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874741" y="4894851"/>
            <a:ext cx="215900" cy="307777"/>
          </a:xfrm>
        </p:spPr>
        <p:txBody>
          <a:bodyPr/>
          <a:lstStyle/>
          <a:p>
            <a:fld id="{145EDAB0-9B87-4A61-82A7-24EB9E95EB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2946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876384" y="2592654"/>
            <a:ext cx="4569441" cy="1384995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965951" y="3982528"/>
            <a:ext cx="4390307" cy="27699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6830C2E-4564-4B17-8002-21FAB13655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0999" r="11596"/>
          <a:stretch/>
        </p:blipFill>
        <p:spPr>
          <a:xfrm>
            <a:off x="-2024" y="0"/>
            <a:ext cx="7077950" cy="51753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C26AB9D-2720-48E7-9F02-9FF73EC7320C}"/>
              </a:ext>
            </a:extLst>
          </p:cNvPr>
          <p:cNvSpPr/>
          <p:nvPr userDrawn="1"/>
        </p:nvSpPr>
        <p:spPr>
          <a:xfrm>
            <a:off x="5272" y="1"/>
            <a:ext cx="8138265" cy="5159408"/>
          </a:xfrm>
          <a:prstGeom prst="rect">
            <a:avLst/>
          </a:prstGeom>
          <a:solidFill>
            <a:srgbClr val="676D7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bg1"/>
              </a:solidFill>
            </a:endParaRPr>
          </a:p>
        </p:txBody>
      </p:sp>
      <p:sp>
        <p:nvSpPr>
          <p:cNvPr id="11" name="Parallélogramme 10">
            <a:extLst>
              <a:ext uri="{FF2B5EF4-FFF2-40B4-BE49-F238E27FC236}">
                <a16:creationId xmlns:a16="http://schemas.microsoft.com/office/drawing/2014/main" id="{89BE8FA3-37AB-4349-895E-C9147FFA4740}"/>
              </a:ext>
            </a:extLst>
          </p:cNvPr>
          <p:cNvSpPr/>
          <p:nvPr userDrawn="1"/>
        </p:nvSpPr>
        <p:spPr>
          <a:xfrm>
            <a:off x="4348264" y="-15909"/>
            <a:ext cx="5287890" cy="517531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1869992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158" y="790177"/>
            <a:ext cx="7865109" cy="144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74741" y="4894851"/>
            <a:ext cx="215900" cy="18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hyperlink" Target="http://www.mgt-conseils.com/" TargetMode="External"/><Relationship Id="rId10" Type="http://schemas.openxmlformats.org/officeDocument/2006/relationships/image" Target="../media/image14.png"/><Relationship Id="rId4" Type="http://schemas.openxmlformats.org/officeDocument/2006/relationships/image" Target="../media/image9.emf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>
            <a:extLst>
              <a:ext uri="{FF2B5EF4-FFF2-40B4-BE49-F238E27FC236}">
                <a16:creationId xmlns:a16="http://schemas.microsoft.com/office/drawing/2014/main" id="{6645293F-0238-41E2-AE61-25FF444A98FA}"/>
              </a:ext>
            </a:extLst>
          </p:cNvPr>
          <p:cNvSpPr txBox="1"/>
          <p:nvPr/>
        </p:nvSpPr>
        <p:spPr>
          <a:xfrm>
            <a:off x="5241241" y="2668269"/>
            <a:ext cx="33179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b="1">
                <a:solidFill>
                  <a:srgbClr val="EE8200"/>
                </a:solidFill>
                <a:latin typeface="Arial UNICODE MS"/>
              </a:rPr>
              <a:t>L’accélérateur </a:t>
            </a:r>
            <a:br>
              <a:rPr lang="fr-FR" sz="2000" b="1">
                <a:solidFill>
                  <a:srgbClr val="EE8200"/>
                </a:solidFill>
                <a:latin typeface="Arial UNICODE MS"/>
              </a:rPr>
            </a:br>
            <a:r>
              <a:rPr lang="fr-FR" sz="2000" b="1">
                <a:solidFill>
                  <a:srgbClr val="EE8200"/>
                </a:solidFill>
                <a:latin typeface="Arial UNICODE MS"/>
              </a:rPr>
              <a:t>de vos Performances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27EBDE4-AF21-46CC-A637-A8E445A354FC}"/>
              </a:ext>
            </a:extLst>
          </p:cNvPr>
          <p:cNvSpPr txBox="1"/>
          <p:nvPr/>
        </p:nvSpPr>
        <p:spPr>
          <a:xfrm>
            <a:off x="5425360" y="3454631"/>
            <a:ext cx="30479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204020104020204" pitchFamily="34" charset="0"/>
              </a:rPr>
              <a:t>Cabinet de Conseil et Formation spécialisé dans l’Amélioration des Performances des Entreprises</a:t>
            </a:r>
          </a:p>
        </p:txBody>
      </p:sp>
      <p:grpSp>
        <p:nvGrpSpPr>
          <p:cNvPr id="4" name="Google Shape;1211;p42">
            <a:extLst>
              <a:ext uri="{FF2B5EF4-FFF2-40B4-BE49-F238E27FC236}">
                <a16:creationId xmlns:a16="http://schemas.microsoft.com/office/drawing/2014/main" id="{0805AA11-DDF0-28CE-7329-E9ABB8802C46}"/>
              </a:ext>
            </a:extLst>
          </p:cNvPr>
          <p:cNvGrpSpPr/>
          <p:nvPr/>
        </p:nvGrpSpPr>
        <p:grpSpPr>
          <a:xfrm>
            <a:off x="866124" y="1529312"/>
            <a:ext cx="2906404" cy="2211684"/>
            <a:chOff x="4743450" y="1116900"/>
            <a:chExt cx="2486100" cy="1690800"/>
          </a:xfrm>
        </p:grpSpPr>
        <p:sp>
          <p:nvSpPr>
            <p:cNvPr id="5" name="Google Shape;1212;p42">
              <a:extLst>
                <a:ext uri="{FF2B5EF4-FFF2-40B4-BE49-F238E27FC236}">
                  <a16:creationId xmlns:a16="http://schemas.microsoft.com/office/drawing/2014/main" id="{19E28FA2-BA25-9760-C0E3-7AB39B1EEB5E}"/>
                </a:ext>
              </a:extLst>
            </p:cNvPr>
            <p:cNvSpPr/>
            <p:nvPr/>
          </p:nvSpPr>
          <p:spPr>
            <a:xfrm>
              <a:off x="4743450" y="1116900"/>
              <a:ext cx="2486100" cy="1690800"/>
            </a:xfrm>
            <a:prstGeom prst="roundRect">
              <a:avLst>
                <a:gd name="adj" fmla="val 16667"/>
              </a:avLst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213;p42">
              <a:extLst>
                <a:ext uri="{FF2B5EF4-FFF2-40B4-BE49-F238E27FC236}">
                  <a16:creationId xmlns:a16="http://schemas.microsoft.com/office/drawing/2014/main" id="{F4C6AACD-E2C4-85E5-CF68-119723003E9E}"/>
                </a:ext>
              </a:extLst>
            </p:cNvPr>
            <p:cNvSpPr/>
            <p:nvPr/>
          </p:nvSpPr>
          <p:spPr>
            <a:xfrm>
              <a:off x="4743450" y="1708870"/>
              <a:ext cx="2486100" cy="729400"/>
            </a:xfrm>
            <a:prstGeom prst="rect">
              <a:avLst/>
            </a:prstGeom>
            <a:gradFill>
              <a:gsLst>
                <a:gs pos="83000">
                  <a:srgbClr val="E89D06"/>
                </a:gs>
                <a:gs pos="38000">
                  <a:srgbClr val="E89D06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just"/>
              <a:endParaRPr lang="fr-FR" sz="2400" b="1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endParaRPr>
            </a:p>
          </p:txBody>
        </p:sp>
        <p:sp>
          <p:nvSpPr>
            <p:cNvPr id="7" name="Google Shape;1214;p42">
              <a:extLst>
                <a:ext uri="{FF2B5EF4-FFF2-40B4-BE49-F238E27FC236}">
                  <a16:creationId xmlns:a16="http://schemas.microsoft.com/office/drawing/2014/main" id="{10DB14C9-1189-F962-9C46-48F2025E5D4E}"/>
                </a:ext>
              </a:extLst>
            </p:cNvPr>
            <p:cNvSpPr txBox="1"/>
            <p:nvPr/>
          </p:nvSpPr>
          <p:spPr>
            <a:xfrm>
              <a:off x="4754902" y="2510233"/>
              <a:ext cx="2283900" cy="2620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"/>
                  <a:ea typeface="Roboto"/>
                  <a:cs typeface="Roboto"/>
                  <a:sym typeface="Roboto"/>
                </a:rPr>
                <a:t>18/11/2025</a:t>
              </a:r>
            </a:p>
          </p:txBody>
        </p:sp>
        <p:grpSp>
          <p:nvGrpSpPr>
            <p:cNvPr id="8" name="Google Shape;1215;p42">
              <a:extLst>
                <a:ext uri="{FF2B5EF4-FFF2-40B4-BE49-F238E27FC236}">
                  <a16:creationId xmlns:a16="http://schemas.microsoft.com/office/drawing/2014/main" id="{6C607AC6-5841-D5C0-CDC0-064B9E45A8F0}"/>
                </a:ext>
              </a:extLst>
            </p:cNvPr>
            <p:cNvGrpSpPr/>
            <p:nvPr/>
          </p:nvGrpSpPr>
          <p:grpSpPr>
            <a:xfrm>
              <a:off x="5790959" y="1236253"/>
              <a:ext cx="394134" cy="394090"/>
              <a:chOff x="-64764500" y="2280550"/>
              <a:chExt cx="316650" cy="319800"/>
            </a:xfrm>
          </p:grpSpPr>
          <p:sp>
            <p:nvSpPr>
              <p:cNvPr id="9" name="Google Shape;1216;p42">
                <a:extLst>
                  <a:ext uri="{FF2B5EF4-FFF2-40B4-BE49-F238E27FC236}">
                    <a16:creationId xmlns:a16="http://schemas.microsoft.com/office/drawing/2014/main" id="{185FED04-2E27-BE7C-9209-400D4E0C0465}"/>
                  </a:ext>
                </a:extLst>
              </p:cNvPr>
              <p:cNvSpPr/>
              <p:nvPr/>
            </p:nvSpPr>
            <p:spPr>
              <a:xfrm>
                <a:off x="-64764500" y="2280550"/>
                <a:ext cx="316650" cy="319800"/>
              </a:xfrm>
              <a:custGeom>
                <a:avLst/>
                <a:gdLst/>
                <a:ahLst/>
                <a:cxnLst/>
                <a:rect l="l" t="t" r="r" b="b"/>
                <a:pathLst>
                  <a:path w="12666" h="12792" extrusionOk="0">
                    <a:moveTo>
                      <a:pt x="11405" y="820"/>
                    </a:moveTo>
                    <a:cubicBezTo>
                      <a:pt x="11657" y="820"/>
                      <a:pt x="11815" y="1009"/>
                      <a:pt x="11815" y="1261"/>
                    </a:cubicBezTo>
                    <a:cubicBezTo>
                      <a:pt x="11815" y="1481"/>
                      <a:pt x="11657" y="1670"/>
                      <a:pt x="11405" y="1670"/>
                    </a:cubicBezTo>
                    <a:lnTo>
                      <a:pt x="1229" y="1670"/>
                    </a:lnTo>
                    <a:cubicBezTo>
                      <a:pt x="977" y="1670"/>
                      <a:pt x="788" y="1481"/>
                      <a:pt x="788" y="1261"/>
                    </a:cubicBezTo>
                    <a:cubicBezTo>
                      <a:pt x="788" y="1009"/>
                      <a:pt x="977" y="820"/>
                      <a:pt x="1229" y="820"/>
                    </a:cubicBezTo>
                    <a:close/>
                    <a:moveTo>
                      <a:pt x="10996" y="2521"/>
                    </a:moveTo>
                    <a:lnTo>
                      <a:pt x="10996" y="8286"/>
                    </a:lnTo>
                    <a:lnTo>
                      <a:pt x="1607" y="8286"/>
                    </a:lnTo>
                    <a:lnTo>
                      <a:pt x="1607" y="2521"/>
                    </a:lnTo>
                    <a:close/>
                    <a:moveTo>
                      <a:pt x="6302" y="11027"/>
                    </a:moveTo>
                    <a:cubicBezTo>
                      <a:pt x="6554" y="11027"/>
                      <a:pt x="6743" y="11216"/>
                      <a:pt x="6743" y="11437"/>
                    </a:cubicBezTo>
                    <a:cubicBezTo>
                      <a:pt x="6743" y="11689"/>
                      <a:pt x="6522" y="11878"/>
                      <a:pt x="6302" y="11878"/>
                    </a:cubicBezTo>
                    <a:cubicBezTo>
                      <a:pt x="6050" y="11878"/>
                      <a:pt x="5892" y="11689"/>
                      <a:pt x="5892" y="11437"/>
                    </a:cubicBezTo>
                    <a:cubicBezTo>
                      <a:pt x="5892" y="11216"/>
                      <a:pt x="6113" y="11027"/>
                      <a:pt x="6302" y="11027"/>
                    </a:cubicBezTo>
                    <a:close/>
                    <a:moveTo>
                      <a:pt x="1229" y="1"/>
                    </a:moveTo>
                    <a:cubicBezTo>
                      <a:pt x="536" y="1"/>
                      <a:pt x="1" y="536"/>
                      <a:pt x="1" y="1261"/>
                    </a:cubicBezTo>
                    <a:cubicBezTo>
                      <a:pt x="1" y="1797"/>
                      <a:pt x="347" y="2238"/>
                      <a:pt x="820" y="2427"/>
                    </a:cubicBezTo>
                    <a:lnTo>
                      <a:pt x="820" y="8286"/>
                    </a:lnTo>
                    <a:lnTo>
                      <a:pt x="442" y="8286"/>
                    </a:lnTo>
                    <a:cubicBezTo>
                      <a:pt x="190" y="8286"/>
                      <a:pt x="32" y="8507"/>
                      <a:pt x="32" y="8728"/>
                    </a:cubicBezTo>
                    <a:cubicBezTo>
                      <a:pt x="32" y="8980"/>
                      <a:pt x="221" y="9169"/>
                      <a:pt x="442" y="9169"/>
                    </a:cubicBezTo>
                    <a:lnTo>
                      <a:pt x="5955" y="9169"/>
                    </a:lnTo>
                    <a:lnTo>
                      <a:pt x="5955" y="10334"/>
                    </a:lnTo>
                    <a:cubicBezTo>
                      <a:pt x="5483" y="10492"/>
                      <a:pt x="5104" y="10964"/>
                      <a:pt x="5104" y="11531"/>
                    </a:cubicBezTo>
                    <a:cubicBezTo>
                      <a:pt x="5104" y="12193"/>
                      <a:pt x="5672" y="12792"/>
                      <a:pt x="6333" y="12792"/>
                    </a:cubicBezTo>
                    <a:cubicBezTo>
                      <a:pt x="6995" y="12792"/>
                      <a:pt x="7593" y="12225"/>
                      <a:pt x="7593" y="11531"/>
                    </a:cubicBezTo>
                    <a:cubicBezTo>
                      <a:pt x="7593" y="10964"/>
                      <a:pt x="7247" y="10555"/>
                      <a:pt x="6774" y="10334"/>
                    </a:cubicBezTo>
                    <a:lnTo>
                      <a:pt x="6774" y="9169"/>
                    </a:lnTo>
                    <a:lnTo>
                      <a:pt x="12288" y="9169"/>
                    </a:lnTo>
                    <a:cubicBezTo>
                      <a:pt x="12508" y="9169"/>
                      <a:pt x="12666" y="8980"/>
                      <a:pt x="12666" y="8728"/>
                    </a:cubicBezTo>
                    <a:cubicBezTo>
                      <a:pt x="12666" y="8507"/>
                      <a:pt x="12477" y="8286"/>
                      <a:pt x="12288" y="8286"/>
                    </a:cubicBezTo>
                    <a:lnTo>
                      <a:pt x="11847" y="8286"/>
                    </a:lnTo>
                    <a:lnTo>
                      <a:pt x="11847" y="2427"/>
                    </a:lnTo>
                    <a:cubicBezTo>
                      <a:pt x="12319" y="2238"/>
                      <a:pt x="12634" y="1797"/>
                      <a:pt x="12634" y="1261"/>
                    </a:cubicBezTo>
                    <a:cubicBezTo>
                      <a:pt x="12634" y="568"/>
                      <a:pt x="12099" y="1"/>
                      <a:pt x="11405" y="1"/>
                    </a:cubicBezTo>
                    <a:close/>
                  </a:path>
                </a:pathLst>
              </a:custGeom>
              <a:solidFill>
                <a:srgbClr val="EE82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1217;p42">
                <a:extLst>
                  <a:ext uri="{FF2B5EF4-FFF2-40B4-BE49-F238E27FC236}">
                    <a16:creationId xmlns:a16="http://schemas.microsoft.com/office/drawing/2014/main" id="{3604447A-576F-6388-A6B4-EAB22FCF3F94}"/>
                  </a:ext>
                </a:extLst>
              </p:cNvPr>
              <p:cNvSpPr/>
              <p:nvPr/>
            </p:nvSpPr>
            <p:spPr>
              <a:xfrm>
                <a:off x="-64679425" y="2364825"/>
                <a:ext cx="146500" cy="102450"/>
              </a:xfrm>
              <a:custGeom>
                <a:avLst/>
                <a:gdLst/>
                <a:ahLst/>
                <a:cxnLst/>
                <a:rect l="l" t="t" r="r" b="b"/>
                <a:pathLst>
                  <a:path w="5860" h="4098" extrusionOk="0">
                    <a:moveTo>
                      <a:pt x="3749" y="1"/>
                    </a:moveTo>
                    <a:cubicBezTo>
                      <a:pt x="3529" y="1"/>
                      <a:pt x="3371" y="190"/>
                      <a:pt x="3371" y="442"/>
                    </a:cubicBezTo>
                    <a:cubicBezTo>
                      <a:pt x="3371" y="662"/>
                      <a:pt x="3560" y="820"/>
                      <a:pt x="3749" y="820"/>
                    </a:cubicBezTo>
                    <a:lnTo>
                      <a:pt x="4442" y="820"/>
                    </a:lnTo>
                    <a:lnTo>
                      <a:pt x="2930" y="2332"/>
                    </a:lnTo>
                    <a:lnTo>
                      <a:pt x="2395" y="1765"/>
                    </a:lnTo>
                    <a:cubicBezTo>
                      <a:pt x="2316" y="1686"/>
                      <a:pt x="2206" y="1647"/>
                      <a:pt x="2095" y="1647"/>
                    </a:cubicBezTo>
                    <a:cubicBezTo>
                      <a:pt x="1985" y="1647"/>
                      <a:pt x="1875" y="1686"/>
                      <a:pt x="1796" y="1765"/>
                    </a:cubicBezTo>
                    <a:lnTo>
                      <a:pt x="126" y="3435"/>
                    </a:lnTo>
                    <a:cubicBezTo>
                      <a:pt x="0" y="3592"/>
                      <a:pt x="0" y="3844"/>
                      <a:pt x="126" y="4033"/>
                    </a:cubicBezTo>
                    <a:cubicBezTo>
                      <a:pt x="195" y="4075"/>
                      <a:pt x="288" y="4098"/>
                      <a:pt x="384" y="4098"/>
                    </a:cubicBezTo>
                    <a:cubicBezTo>
                      <a:pt x="507" y="4098"/>
                      <a:pt x="636" y="4059"/>
                      <a:pt x="725" y="3970"/>
                    </a:cubicBezTo>
                    <a:lnTo>
                      <a:pt x="2111" y="2616"/>
                    </a:lnTo>
                    <a:lnTo>
                      <a:pt x="2647" y="3151"/>
                    </a:lnTo>
                    <a:cubicBezTo>
                      <a:pt x="2725" y="3230"/>
                      <a:pt x="2836" y="3269"/>
                      <a:pt x="2946" y="3269"/>
                    </a:cubicBezTo>
                    <a:cubicBezTo>
                      <a:pt x="3056" y="3269"/>
                      <a:pt x="3166" y="3230"/>
                      <a:pt x="3245" y="3151"/>
                    </a:cubicBezTo>
                    <a:lnTo>
                      <a:pt x="5009" y="1387"/>
                    </a:lnTo>
                    <a:lnTo>
                      <a:pt x="5009" y="2049"/>
                    </a:lnTo>
                    <a:cubicBezTo>
                      <a:pt x="5009" y="2269"/>
                      <a:pt x="5230" y="2490"/>
                      <a:pt x="5451" y="2490"/>
                    </a:cubicBezTo>
                    <a:cubicBezTo>
                      <a:pt x="5703" y="2490"/>
                      <a:pt x="5860" y="2269"/>
                      <a:pt x="5860" y="2049"/>
                    </a:cubicBezTo>
                    <a:lnTo>
                      <a:pt x="5860" y="410"/>
                    </a:lnTo>
                    <a:cubicBezTo>
                      <a:pt x="5860" y="158"/>
                      <a:pt x="5640" y="1"/>
                      <a:pt x="5419" y="1"/>
                    </a:cubicBezTo>
                    <a:close/>
                  </a:path>
                </a:pathLst>
              </a:custGeom>
              <a:solidFill>
                <a:srgbClr val="E89D0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ED8FED94-221E-D61F-429C-874B96C41C0C}"/>
              </a:ext>
            </a:extLst>
          </p:cNvPr>
          <p:cNvSpPr txBox="1"/>
          <p:nvPr/>
        </p:nvSpPr>
        <p:spPr>
          <a:xfrm>
            <a:off x="866123" y="2426759"/>
            <a:ext cx="29064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solidFill>
                  <a:srgbClr val="17375E"/>
                </a:solidFill>
                <a:effectLst/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Spark Avancé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17375E"/>
                </a:solidFill>
                <a:uLnTx/>
                <a:uFillTx/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Intégration </a:t>
            </a:r>
            <a:r>
              <a:rPr kumimoji="0" lang="fr-FR" b="1" i="0" u="none" strike="noStrike" kern="1200" cap="none" spc="0" normalizeH="0" baseline="0" noProof="0" dirty="0" err="1">
                <a:ln>
                  <a:noFill/>
                </a:ln>
                <a:solidFill>
                  <a:srgbClr val="17375E"/>
                </a:solidFill>
                <a:uLnTx/>
                <a:uFillTx/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Kaf</a:t>
            </a:r>
            <a:r>
              <a:rPr lang="fr-FR" b="1" dirty="0">
                <a:solidFill>
                  <a:srgbClr val="17375E"/>
                </a:solidFill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ka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pic>
        <p:nvPicPr>
          <p:cNvPr id="12" name="Image 11" descr="Une image contenant Police, logo, Graphique, symbole&#10;&#10;Description générée automatiquement">
            <a:extLst>
              <a:ext uri="{FF2B5EF4-FFF2-40B4-BE49-F238E27FC236}">
                <a16:creationId xmlns:a16="http://schemas.microsoft.com/office/drawing/2014/main" id="{2E6698BC-47B7-0035-A30B-07E4D74BEF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696" y="1422768"/>
            <a:ext cx="1833563" cy="1033463"/>
          </a:xfrm>
          <a:prstGeom prst="rect">
            <a:avLst/>
          </a:prstGeom>
        </p:spPr>
      </p:pic>
      <p:pic>
        <p:nvPicPr>
          <p:cNvPr id="2" name="Picture 3">
            <a:extLst>
              <a:ext uri="{FF2B5EF4-FFF2-40B4-BE49-F238E27FC236}">
                <a16:creationId xmlns:a16="http://schemas.microsoft.com/office/drawing/2014/main" id="{9971AD4C-61B2-E54F-348A-AD68E0D81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642" y="208193"/>
            <a:ext cx="1679880" cy="872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599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510A95A0-53DE-E2CE-4E14-43866D0C249D}"/>
              </a:ext>
            </a:extLst>
          </p:cNvPr>
          <p:cNvSpPr txBox="1"/>
          <p:nvPr/>
        </p:nvSpPr>
        <p:spPr>
          <a:xfrm>
            <a:off x="702127" y="1048864"/>
            <a:ext cx="7943850" cy="2482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Tout le support d’exercice est constitué de la même manière: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Les objectifs de l’exercice: quel est l’intérêt de l’exercice ?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Un descriptif global des étapes à réaliser qui doit permettre de faire l’exercice en connaissant les notions abordées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Le résultat de l’exercice sous forme de copies d’’écran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La correction de l’exercice étape par étape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grpSp>
        <p:nvGrpSpPr>
          <p:cNvPr id="43" name="Google Shape;229;p17">
            <a:extLst>
              <a:ext uri="{FF2B5EF4-FFF2-40B4-BE49-F238E27FC236}">
                <a16:creationId xmlns:a16="http://schemas.microsoft.com/office/drawing/2014/main" id="{8050A46D-E5DF-230C-1D3D-C45C7E91D88C}"/>
              </a:ext>
            </a:extLst>
          </p:cNvPr>
          <p:cNvGrpSpPr/>
          <p:nvPr/>
        </p:nvGrpSpPr>
        <p:grpSpPr>
          <a:xfrm>
            <a:off x="253089" y="58794"/>
            <a:ext cx="3073828" cy="952920"/>
            <a:chOff x="457200" y="3624815"/>
            <a:chExt cx="3073828" cy="952920"/>
          </a:xfrm>
          <a:solidFill>
            <a:srgbClr val="E89D06"/>
          </a:solidFill>
        </p:grpSpPr>
        <p:sp>
          <p:nvSpPr>
            <p:cNvPr id="46" name="Google Shape;230;p17">
              <a:extLst>
                <a:ext uri="{FF2B5EF4-FFF2-40B4-BE49-F238E27FC236}">
                  <a16:creationId xmlns:a16="http://schemas.microsoft.com/office/drawing/2014/main" id="{15404E31-4A3C-09C1-2702-844D6EC923CB}"/>
                </a:ext>
              </a:extLst>
            </p:cNvPr>
            <p:cNvSpPr/>
            <p:nvPr/>
          </p:nvSpPr>
          <p:spPr>
            <a:xfrm>
              <a:off x="932635" y="3624815"/>
              <a:ext cx="2598393" cy="952920"/>
            </a:xfrm>
            <a:custGeom>
              <a:avLst/>
              <a:gdLst/>
              <a:ahLst/>
              <a:cxnLst/>
              <a:rect l="l" t="t" r="r" b="b"/>
              <a:pathLst>
                <a:path w="12451" h="8780" extrusionOk="0">
                  <a:moveTo>
                    <a:pt x="0" y="0"/>
                  </a:moveTo>
                  <a:lnTo>
                    <a:pt x="0" y="8780"/>
                  </a:lnTo>
                  <a:lnTo>
                    <a:pt x="12101" y="8780"/>
                  </a:lnTo>
                  <a:cubicBezTo>
                    <a:pt x="12289" y="8780"/>
                    <a:pt x="12451" y="8618"/>
                    <a:pt x="12451" y="8428"/>
                  </a:cubicBezTo>
                  <a:lnTo>
                    <a:pt x="12451" y="378"/>
                  </a:lnTo>
                  <a:cubicBezTo>
                    <a:pt x="12451" y="162"/>
                    <a:pt x="12289" y="0"/>
                    <a:pt x="12101" y="0"/>
                  </a:cubicBezTo>
                  <a:close/>
                </a:path>
              </a:pathLst>
            </a:custGeom>
            <a:grpFill/>
            <a:ln>
              <a:noFill/>
            </a:ln>
            <a:effectLst>
              <a:outerShdw blurRad="85725" dist="57150" dir="12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31;p17">
              <a:extLst>
                <a:ext uri="{FF2B5EF4-FFF2-40B4-BE49-F238E27FC236}">
                  <a16:creationId xmlns:a16="http://schemas.microsoft.com/office/drawing/2014/main" id="{9721E7DF-0628-6CA8-3F7B-6A37732AFEBB}"/>
                </a:ext>
              </a:extLst>
            </p:cNvPr>
            <p:cNvSpPr/>
            <p:nvPr/>
          </p:nvSpPr>
          <p:spPr>
            <a:xfrm>
              <a:off x="457200" y="3624815"/>
              <a:ext cx="530346" cy="952920"/>
            </a:xfrm>
            <a:custGeom>
              <a:avLst/>
              <a:gdLst/>
              <a:ahLst/>
              <a:cxnLst/>
              <a:rect l="l" t="t" r="r" b="b"/>
              <a:pathLst>
                <a:path w="3325" h="6646" extrusionOk="0">
                  <a:moveTo>
                    <a:pt x="3324" y="1"/>
                  </a:moveTo>
                  <a:cubicBezTo>
                    <a:pt x="1488" y="1"/>
                    <a:pt x="1" y="1487"/>
                    <a:pt x="1" y="3324"/>
                  </a:cubicBezTo>
                  <a:cubicBezTo>
                    <a:pt x="1" y="5161"/>
                    <a:pt x="1488" y="6645"/>
                    <a:pt x="3324" y="6645"/>
                  </a:cubicBezTo>
                  <a:lnTo>
                    <a:pt x="3324" y="1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71438" dist="57150" dir="114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32;p17">
              <a:extLst>
                <a:ext uri="{FF2B5EF4-FFF2-40B4-BE49-F238E27FC236}">
                  <a16:creationId xmlns:a16="http://schemas.microsoft.com/office/drawing/2014/main" id="{64BC68AD-6A69-B568-F712-AF19EEB78275}"/>
                </a:ext>
              </a:extLst>
            </p:cNvPr>
            <p:cNvSpPr txBox="1"/>
            <p:nvPr/>
          </p:nvSpPr>
          <p:spPr>
            <a:xfrm>
              <a:off x="602635" y="3912335"/>
              <a:ext cx="330000" cy="3873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+</a:t>
              </a:r>
              <a:endParaRPr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0EC7B5A5-E640-1B4A-17B0-914F60AD1A58}"/>
              </a:ext>
            </a:extLst>
          </p:cNvPr>
          <p:cNvSpPr txBox="1"/>
          <p:nvPr/>
        </p:nvSpPr>
        <p:spPr>
          <a:xfrm>
            <a:off x="824976" y="311564"/>
            <a:ext cx="2977376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Organisation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4C3097B-0D2C-CB46-8829-E0A26E71B7D5}"/>
              </a:ext>
            </a:extLst>
          </p:cNvPr>
          <p:cNvSpPr txBox="1"/>
          <p:nvPr/>
        </p:nvSpPr>
        <p:spPr>
          <a:xfrm>
            <a:off x="3363493" y="335199"/>
            <a:ext cx="560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900"/>
              </a:spcBef>
            </a:pPr>
            <a:r>
              <a:rPr lang="fr-FR" sz="2000" b="1" dirty="0">
                <a:solidFill>
                  <a:srgbClr val="ED7D31"/>
                </a:solidFill>
                <a:latin typeface="Arial Unicode MS"/>
              </a:rPr>
              <a:t>Organisation des exercices</a:t>
            </a:r>
          </a:p>
        </p:txBody>
      </p:sp>
    </p:spTree>
    <p:extLst>
      <p:ext uri="{BB962C8B-B14F-4D97-AF65-F5344CB8AC3E}">
        <p14:creationId xmlns:p14="http://schemas.microsoft.com/office/powerpoint/2010/main" val="1764122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9531A-E7DF-1CA6-945C-B89C8D1DA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17A597BC-FC40-ED9E-CCD0-685FC66EDFEC}"/>
              </a:ext>
            </a:extLst>
          </p:cNvPr>
          <p:cNvSpPr txBox="1"/>
          <p:nvPr/>
        </p:nvSpPr>
        <p:spPr>
          <a:xfrm>
            <a:off x="728524" y="1071166"/>
            <a:ext cx="7943850" cy="1343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Le but de cet exercice est d’illustrer certaines fonctions de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spark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aussi bien en scala qu’en python.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Ces exercices peuvent être réalisés en réalisant des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shell-submit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mais pour faciliter l’utilisation il est conseillé de se mettre directement dans le container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spark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et d’ouvrir deux sessions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0135C58F-F80B-EC87-6F17-0DD433237347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A6E6D83B-AED8-8028-3ACB-9CC605E229A5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28B9E1D2-E8B0-FDD8-4257-B6A3EC74D6F7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777A63A5-A937-C186-CFF3-78E33528282F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Utilisation des scripts </a:t>
            </a:r>
            <a:r>
              <a:rPr lang="fr-FR" sz="2500" b="1" dirty="0" err="1">
                <a:solidFill>
                  <a:schemeClr val="bg1"/>
                </a:solidFill>
                <a:latin typeface="+mj-lt"/>
              </a:rPr>
              <a:t>shell</a:t>
            </a:r>
            <a:r>
              <a:rPr lang="fr-FR" sz="2500" b="1" dirty="0">
                <a:solidFill>
                  <a:schemeClr val="bg1"/>
                </a:solidFill>
                <a:latin typeface="+mj-lt"/>
              </a:rPr>
              <a:t> en Python et Scala</a:t>
            </a:r>
          </a:p>
        </p:txBody>
      </p:sp>
    </p:spTree>
    <p:extLst>
      <p:ext uri="{BB962C8B-B14F-4D97-AF65-F5344CB8AC3E}">
        <p14:creationId xmlns:p14="http://schemas.microsoft.com/office/powerpoint/2010/main" val="2021615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6C3FC-7C99-DC3D-F448-EC9999F31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D52E6649-EF32-FCC9-B89E-FC76C385C5E1}"/>
              </a:ext>
            </a:extLst>
          </p:cNvPr>
          <p:cNvSpPr txBox="1"/>
          <p:nvPr/>
        </p:nvSpPr>
        <p:spPr>
          <a:xfrm>
            <a:off x="702127" y="1048864"/>
            <a:ext cx="7943850" cy="1159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Avant de démarrer nous allons créer sur le partage deux fichiers dans le répertoire ~/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spark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/data/csv/ :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Le fichier </a:t>
            </a:r>
            <a:r>
              <a:rPr lang="fr-FR" sz="1200" dirty="0"/>
              <a:t>clients.csv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:			Le fichier commandes.csv: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DF692EE9-FA1D-E4A4-7578-869774CF83A7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BF64E7D5-66C7-DEE1-AA5D-CB8C358395D8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DEF06258-F0EA-0B81-DEB3-387D4A597F84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B8E5B3AC-6D41-9BFD-5F65-D34A0DE4D2B9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Utilisation des scripts </a:t>
            </a:r>
            <a:r>
              <a:rPr lang="fr-FR" sz="2500" b="1" dirty="0" err="1">
                <a:solidFill>
                  <a:schemeClr val="bg1"/>
                </a:solidFill>
                <a:latin typeface="+mj-lt"/>
              </a:rPr>
              <a:t>shell</a:t>
            </a:r>
            <a:r>
              <a:rPr lang="fr-FR" sz="2500" b="1" dirty="0">
                <a:solidFill>
                  <a:schemeClr val="bg1"/>
                </a:solidFill>
                <a:latin typeface="+mj-lt"/>
              </a:rPr>
              <a:t> en Python et Scala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5765D9-2D7C-B8EC-2DE5-F936C878F0E0}"/>
              </a:ext>
            </a:extLst>
          </p:cNvPr>
          <p:cNvSpPr/>
          <p:nvPr/>
        </p:nvSpPr>
        <p:spPr>
          <a:xfrm>
            <a:off x="783435" y="1948968"/>
            <a:ext cx="2933889" cy="195395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client_id,nom,age,pays,ville,segment</a:t>
            </a:r>
            <a:endParaRPr lang="fr-FR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1,Durand,28,France,Paris,Particulier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2,Martin,45,France,Lyon,Entreprise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3,Dupont,33,Belgique,Bruxelles,Particulier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4,Moreau,,France,Marseille,Particulier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5,Smith,52,Royaume-Uni,London,Entreprise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6,Rossi,41,Italie,Rome,Particulier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7,Garcia,29,Espagne,Madrid,Particulier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8,Müller,38,Allemagne,Berlin,Entreprise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9,Lopez,27,Espagne,Barcelona,Particulier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10,Nguyen,31,France,Toulouse,Particulier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140B78-BD2C-23B3-20AB-F2C8760930E1}"/>
              </a:ext>
            </a:extLst>
          </p:cNvPr>
          <p:cNvSpPr/>
          <p:nvPr/>
        </p:nvSpPr>
        <p:spPr>
          <a:xfrm>
            <a:off x="4508701" y="1948967"/>
            <a:ext cx="3572216" cy="195395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</a:rPr>
              <a:t>commande_id,client_id,date_commande,montant,status</a:t>
            </a:r>
            <a:endParaRPr lang="fr-FR" sz="1000" dirty="0">
              <a:latin typeface="Aptos" panose="020B0004020202020204" pitchFamily="34" charset="0"/>
              <a:ea typeface="DengXian" panose="02010600030101010101" pitchFamily="2" charset="-122"/>
            </a:endParaRP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</a:rPr>
              <a:t>1001,1,2024-01-05,120.5,LIVREE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</a:rPr>
              <a:t>1002,1,2024-01-15,80.0,ANNULEE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</a:rPr>
              <a:t>1003,2,2024-02-01,560.0,LIVREE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</a:rPr>
              <a:t>1004,3,2024-02-10,42.0,LIVREE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</a:rPr>
              <a:t>1005,4,2024-02-11,,EN_COURS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</a:rPr>
              <a:t>1006,5,2024-03-05,230.0,LIVREE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</a:rPr>
              <a:t>1007,6,2024-03-14,75.0,LIVREE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</a:rPr>
              <a:t>1008,7,2024-03-20,15.0,LIVREE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</a:rPr>
              <a:t>1009,8,2024-03-22,990.0,LIVREE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</a:rPr>
              <a:t>1010,10,2024-03-25,120.0,LIVREE</a:t>
            </a:r>
          </a:p>
        </p:txBody>
      </p:sp>
    </p:spTree>
    <p:extLst>
      <p:ext uri="{BB962C8B-B14F-4D97-AF65-F5344CB8AC3E}">
        <p14:creationId xmlns:p14="http://schemas.microsoft.com/office/powerpoint/2010/main" val="3852757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E19FC-5651-929A-1004-A069F712B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A4EFBC92-8D1F-CE43-BA41-D08E7A8B2B48}"/>
              </a:ext>
            </a:extLst>
          </p:cNvPr>
          <p:cNvSpPr txBox="1"/>
          <p:nvPr/>
        </p:nvSpPr>
        <p:spPr>
          <a:xfrm>
            <a:off x="702127" y="1048864"/>
            <a:ext cx="7943850" cy="718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Résultat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5FADABC2-8F0F-0F73-9B15-0ED32E13187E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D3419CC3-5DCC-72F0-EA6A-D56CE2064FD5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E9ACD403-6941-BA40-3C76-89EAA2E30243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D6BAB358-1838-0507-2BEF-D21C4CD8EBAC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Utilisation des scripts </a:t>
            </a:r>
            <a:r>
              <a:rPr lang="fr-FR" sz="2500" b="1" dirty="0" err="1">
                <a:solidFill>
                  <a:schemeClr val="bg1"/>
                </a:solidFill>
                <a:latin typeface="+mj-lt"/>
              </a:rPr>
              <a:t>shell</a:t>
            </a:r>
            <a:r>
              <a:rPr lang="fr-FR" sz="2500" b="1" dirty="0">
                <a:solidFill>
                  <a:schemeClr val="bg1"/>
                </a:solidFill>
                <a:latin typeface="+mj-lt"/>
              </a:rPr>
              <a:t> en Python et Scala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5924E71-74D3-4533-2F84-E3A34307B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848" y="1336414"/>
            <a:ext cx="6231488" cy="2215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423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A036A-CEA0-2B7D-9F4A-6460DB16A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282F223E-5D4B-655E-7862-0296211C66AC}"/>
              </a:ext>
            </a:extLst>
          </p:cNvPr>
          <p:cNvSpPr txBox="1"/>
          <p:nvPr/>
        </p:nvSpPr>
        <p:spPr>
          <a:xfrm>
            <a:off x="702127" y="1048864"/>
            <a:ext cx="794385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Ouvrir deux terminaux: le service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spark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-master doit être démarré.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Un pour scala:                                                                                        Un pour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pypython</a:t>
            </a: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29A5C7F5-8E6F-53BD-F45C-4C428DBEA1F9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191C4397-909A-4DF7-3D7C-D175D1871580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84DFFC78-6349-4624-71F4-11E07928285F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232E5BF6-F7D2-5E53-03C0-F5EF165B8182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Utilisation des scripts </a:t>
            </a:r>
            <a:r>
              <a:rPr lang="fr-FR" sz="2500" b="1" dirty="0" err="1">
                <a:solidFill>
                  <a:schemeClr val="bg1"/>
                </a:solidFill>
                <a:latin typeface="+mj-lt"/>
              </a:rPr>
              <a:t>shell</a:t>
            </a:r>
            <a:r>
              <a:rPr lang="fr-FR" sz="2500" b="1" dirty="0">
                <a:solidFill>
                  <a:schemeClr val="bg1"/>
                </a:solidFill>
                <a:latin typeface="+mj-lt"/>
              </a:rPr>
              <a:t> en Python et Scala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B62B97-0575-3861-9E7C-3EB543ACC893}"/>
              </a:ext>
            </a:extLst>
          </p:cNvPr>
          <p:cNvSpPr/>
          <p:nvPr/>
        </p:nvSpPr>
        <p:spPr>
          <a:xfrm>
            <a:off x="1979375" y="1308624"/>
            <a:ext cx="2397912" cy="93983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Dans le terminal: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docker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exec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–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it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-master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bash</a:t>
            </a:r>
            <a:endParaRPr lang="fr-FR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endParaRPr lang="fr-FR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Dans le container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opt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/bin/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spark-shell</a:t>
            </a:r>
            <a:endParaRPr lang="fr-FR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6FBD9A7-80E2-7AE2-DA6F-24E4A2C08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918" y="2284046"/>
            <a:ext cx="3290477" cy="280912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F190949-23CD-2B89-D4E6-EE3B41F9F418}"/>
              </a:ext>
            </a:extLst>
          </p:cNvPr>
          <p:cNvSpPr/>
          <p:nvPr/>
        </p:nvSpPr>
        <p:spPr>
          <a:xfrm>
            <a:off x="5997931" y="1264484"/>
            <a:ext cx="2397912" cy="93983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Dans le terminal: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docker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exec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–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it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-master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bash</a:t>
            </a:r>
            <a:endParaRPr lang="fr-FR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endParaRPr lang="fr-FR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Dans le container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opt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/bin/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pyspark</a:t>
            </a:r>
            <a:endParaRPr lang="fr-FR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8C49753-5DB4-6A0E-76A2-AA01C0115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185" y="2284046"/>
            <a:ext cx="3618547" cy="213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85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EC864-A47D-3F36-D597-557933DD2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E7B182E8-80DE-B601-9849-8B1D639EDC63}"/>
              </a:ext>
            </a:extLst>
          </p:cNvPr>
          <p:cNvSpPr txBox="1"/>
          <p:nvPr/>
        </p:nvSpPr>
        <p:spPr>
          <a:xfrm>
            <a:off x="702127" y="1048864"/>
            <a:ext cx="794385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dirty="0"/>
              <a:t>✅ </a:t>
            </a: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Spark SQL remplace-t-il les RDD ?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Oui, pour 90 % des cas d’usage: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indent="-17145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Les RDD restent présents et fonctionnels, mais ils sont devenus :une API bas niveau (« </a:t>
            </a:r>
            <a:r>
              <a:rPr lang="fr-FR" dirty="0" err="1">
                <a:ea typeface="Calibri" panose="020F0502020204030204" pitchFamily="34" charset="0"/>
                <a:cs typeface="Arial" panose="020B0604020202020204" pitchFamily="34" charset="0"/>
              </a:rPr>
              <a:t>low</a:t>
            </a: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ea typeface="Calibri" panose="020F0502020204030204" pitchFamily="34" charset="0"/>
                <a:cs typeface="Arial" panose="020B0604020202020204" pitchFamily="34" charset="0"/>
              </a:rPr>
              <a:t>level</a:t>
            </a: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 API »),utilisée seulement pour des cas particuliers (fonctions ultra-custom, opérations non structurées).</a:t>
            </a:r>
          </a:p>
          <a:p>
            <a:pPr marL="171450" indent="-17145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fr-FR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indent="-17145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Les </a:t>
            </a:r>
            <a:r>
              <a:rPr lang="fr-FR" dirty="0" err="1">
                <a:ea typeface="Calibri" panose="020F0502020204030204" pitchFamily="34" charset="0"/>
                <a:cs typeface="Arial" panose="020B0604020202020204" pitchFamily="34" charset="0"/>
              </a:rPr>
              <a:t>DataFrames</a:t>
            </a: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fr-FR" dirty="0" err="1">
                <a:ea typeface="Calibri" panose="020F0502020204030204" pitchFamily="34" charset="0"/>
                <a:cs typeface="Arial" panose="020B0604020202020204" pitchFamily="34" charset="0"/>
              </a:rPr>
              <a:t>Datasets</a:t>
            </a: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 et Spark SQL sont désormais la high-</a:t>
            </a:r>
            <a:r>
              <a:rPr lang="fr-FR" dirty="0" err="1">
                <a:ea typeface="Calibri" panose="020F0502020204030204" pitchFamily="34" charset="0"/>
                <a:cs typeface="Arial" panose="020B0604020202020204" pitchFamily="34" charset="0"/>
              </a:rPr>
              <a:t>level</a:t>
            </a: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 API privilégiée.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477518B3-0367-B64B-17E0-D28F289EF908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91841D65-0785-D0A5-E920-8C53E11650C0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A696988D-1B5A-76B0-A5A4-4A1460991563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EC81BF0B-D32A-C13F-4FAE-9F38FA8EEB50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Spark SQL vs RDD ?</a:t>
            </a:r>
          </a:p>
        </p:txBody>
      </p:sp>
    </p:spTree>
    <p:extLst>
      <p:ext uri="{BB962C8B-B14F-4D97-AF65-F5344CB8AC3E}">
        <p14:creationId xmlns:p14="http://schemas.microsoft.com/office/powerpoint/2010/main" val="3929996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17687-8D5E-202D-2803-BAE8CB6B7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4E4DBE0B-ACA4-5C6B-B595-0935BA96A526}"/>
              </a:ext>
            </a:extLst>
          </p:cNvPr>
          <p:cNvSpPr txBox="1"/>
          <p:nvPr/>
        </p:nvSpPr>
        <p:spPr>
          <a:xfrm>
            <a:off x="702127" y="1048864"/>
            <a:ext cx="794385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dirty="0"/>
              <a:t>🎯 Pourquoi Spark SQL a remplacé RDD ?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👉  Optimisation automatique (Catalyst)</a:t>
            </a:r>
          </a:p>
          <a:p>
            <a:pPr marL="800100" lvl="1" indent="-342900" algn="just">
              <a:spcBef>
                <a:spcPts val="400"/>
              </a:spcBef>
              <a:spcAft>
                <a:spcPts val="400"/>
              </a:spcAft>
              <a:buAutoNum type="arabicPeriod"/>
            </a:pP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Spark SQL bénéficie du Catalyst </a:t>
            </a:r>
            <a:r>
              <a:rPr lang="fr-FR" dirty="0" err="1">
                <a:ea typeface="Calibri" panose="020F0502020204030204" pitchFamily="34" charset="0"/>
                <a:cs typeface="Arial" panose="020B0604020202020204" pitchFamily="34" charset="0"/>
              </a:rPr>
              <a:t>Optimizer</a:t>
            </a: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, qui :</a:t>
            </a:r>
          </a:p>
          <a:p>
            <a:pPr marL="800100" lvl="1" indent="-342900" algn="just">
              <a:spcBef>
                <a:spcPts val="400"/>
              </a:spcBef>
              <a:spcAft>
                <a:spcPts val="400"/>
              </a:spcAft>
              <a:buAutoNum type="arabicPeriod"/>
            </a:pP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réécrit automatiquement les requêtes,</a:t>
            </a:r>
          </a:p>
          <a:p>
            <a:pPr marL="800100" lvl="1" indent="-342900" algn="just">
              <a:spcBef>
                <a:spcPts val="400"/>
              </a:spcBef>
              <a:spcAft>
                <a:spcPts val="400"/>
              </a:spcAft>
              <a:buAutoNum type="arabicPeriod"/>
            </a:pP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optimise les plans d’exécution, </a:t>
            </a:r>
          </a:p>
          <a:p>
            <a:pPr marL="800100" lvl="1" indent="-342900" algn="just">
              <a:spcBef>
                <a:spcPts val="400"/>
              </a:spcBef>
              <a:spcAft>
                <a:spcPts val="400"/>
              </a:spcAft>
              <a:buAutoNum type="arabicPeriod"/>
            </a:pP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pousse les filtres (« </a:t>
            </a:r>
            <a:r>
              <a:rPr lang="fr-FR" dirty="0" err="1">
                <a:ea typeface="Calibri" panose="020F0502020204030204" pitchFamily="34" charset="0"/>
                <a:cs typeface="Arial" panose="020B0604020202020204" pitchFamily="34" charset="0"/>
              </a:rPr>
              <a:t>predicate</a:t>
            </a: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ea typeface="Calibri" panose="020F0502020204030204" pitchFamily="34" charset="0"/>
                <a:cs typeface="Arial" panose="020B0604020202020204" pitchFamily="34" charset="0"/>
              </a:rPr>
              <a:t>pushdown</a:t>
            </a: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 »),</a:t>
            </a:r>
          </a:p>
          <a:p>
            <a:pPr marL="800100" lvl="1" indent="-342900" algn="just">
              <a:spcBef>
                <a:spcPts val="400"/>
              </a:spcBef>
              <a:spcAft>
                <a:spcPts val="400"/>
              </a:spcAft>
              <a:buAutoNum type="arabicPeriod"/>
            </a:pP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applique des stratégies intelligentes de jointure,</a:t>
            </a:r>
          </a:p>
          <a:p>
            <a:pPr marL="800100" lvl="1" indent="-342900" algn="just">
              <a:spcBef>
                <a:spcPts val="400"/>
              </a:spcBef>
              <a:spcAft>
                <a:spcPts val="400"/>
              </a:spcAft>
              <a:buAutoNum type="arabicPeriod"/>
            </a:pP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génère du code natif optimisé (</a:t>
            </a:r>
            <a:r>
              <a:rPr lang="fr-FR" dirty="0" err="1">
                <a:ea typeface="Calibri" panose="020F0502020204030204" pitchFamily="34" charset="0"/>
                <a:cs typeface="Arial" panose="020B0604020202020204" pitchFamily="34" charset="0"/>
              </a:rPr>
              <a:t>whole</a:t>
            </a: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-stage code </a:t>
            </a:r>
            <a:r>
              <a:rPr lang="fr-FR" dirty="0" err="1">
                <a:ea typeface="Calibri" panose="020F0502020204030204" pitchFamily="34" charset="0"/>
                <a:cs typeface="Arial" panose="020B0604020202020204" pitchFamily="34" charset="0"/>
              </a:rPr>
              <a:t>generation</a:t>
            </a: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).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👉 Avec RDD, aucune optimisation : </a:t>
            </a:r>
          </a:p>
          <a:p>
            <a:pPr marL="742950" lvl="1" indent="-28575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chaque transformation est appliquée telle quelle.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99CC0395-A720-F18E-C9E7-BA0270E1CB1B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771F38C6-E04F-84D6-F6D3-32447E1CF624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EF61208C-8554-8EE0-DCCF-6356D76DE1A1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82ED4143-AFE6-9BD9-8BD7-9795BA1DE463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Spark SQL vs RDD ?</a:t>
            </a:r>
          </a:p>
        </p:txBody>
      </p:sp>
    </p:spTree>
    <p:extLst>
      <p:ext uri="{BB962C8B-B14F-4D97-AF65-F5344CB8AC3E}">
        <p14:creationId xmlns:p14="http://schemas.microsoft.com/office/powerpoint/2010/main" val="4132092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E895B-84FD-34ED-8310-5BF977E1A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A58ABE06-7E1B-4DB0-85E3-46D6AA132F3E}"/>
              </a:ext>
            </a:extLst>
          </p:cNvPr>
          <p:cNvSpPr txBox="1"/>
          <p:nvPr/>
        </p:nvSpPr>
        <p:spPr>
          <a:xfrm>
            <a:off x="702127" y="1048864"/>
            <a:ext cx="794385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Spark SQL;</a:t>
            </a:r>
          </a:p>
          <a:p>
            <a:pPr marL="285750" indent="-28575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Performance bien supérieure</a:t>
            </a:r>
          </a:p>
          <a:p>
            <a:pPr marL="285750" indent="-28575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dirty="0" err="1">
                <a:ea typeface="Calibri" panose="020F0502020204030204" pitchFamily="34" charset="0"/>
                <a:cs typeface="Arial" panose="020B0604020202020204" pitchFamily="34" charset="0"/>
              </a:rPr>
              <a:t>DataFrame</a:t>
            </a: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 / </a:t>
            </a:r>
            <a:r>
              <a:rPr lang="fr-FR" dirty="0" err="1">
                <a:ea typeface="Calibri" panose="020F0502020204030204" pitchFamily="34" charset="0"/>
                <a:cs typeface="Arial" panose="020B0604020202020204" pitchFamily="34" charset="0"/>
              </a:rPr>
              <a:t>Dataset</a:t>
            </a: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 / SQL :</a:t>
            </a:r>
          </a:p>
          <a:p>
            <a:pPr marL="285750" indent="-28575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représentent les données sous format colonne (via </a:t>
            </a:r>
            <a:r>
              <a:rPr lang="fr-FR" dirty="0" err="1">
                <a:ea typeface="Calibri" panose="020F0502020204030204" pitchFamily="34" charset="0"/>
                <a:cs typeface="Arial" panose="020B0604020202020204" pitchFamily="34" charset="0"/>
              </a:rPr>
              <a:t>Tungsten</a:t>
            </a: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),</a:t>
            </a:r>
          </a:p>
          <a:p>
            <a:pPr marL="285750" indent="-28575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utilisent du code natif généré en runtime,</a:t>
            </a:r>
          </a:p>
          <a:p>
            <a:pPr marL="285750" indent="-28575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minimisent les allocations </a:t>
            </a:r>
            <a:r>
              <a:rPr lang="fr-FR" dirty="0" err="1">
                <a:ea typeface="Calibri" panose="020F0502020204030204" pitchFamily="34" charset="0"/>
                <a:cs typeface="Arial" panose="020B0604020202020204" pitchFamily="34" charset="0"/>
              </a:rPr>
              <a:t>mémoire,réduisent</a:t>
            </a: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 les </a:t>
            </a:r>
            <a:r>
              <a:rPr lang="fr-FR" dirty="0" err="1">
                <a:ea typeface="Calibri" panose="020F0502020204030204" pitchFamily="34" charset="0"/>
                <a:cs typeface="Arial" panose="020B0604020202020204" pitchFamily="34" charset="0"/>
              </a:rPr>
              <a:t>shuffles</a:t>
            </a: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Résultat : entre ×3 et ×10 plus rapide que RDD selon les </a:t>
            </a:r>
            <a:r>
              <a:rPr lang="fr-FR" dirty="0" err="1">
                <a:ea typeface="Calibri" panose="020F0502020204030204" pitchFamily="34" charset="0"/>
                <a:cs typeface="Arial" panose="020B0604020202020204" pitchFamily="34" charset="0"/>
              </a:rPr>
              <a:t>workloads</a:t>
            </a: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5079244A-07FC-B796-28BC-989D584B0CED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1C7443EA-F761-028B-995D-7BE59915FAC8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749A60D7-3C21-2B34-BED2-4EDC3428F123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7623010B-0C71-BD8E-0BD5-A1E64C3BDAF4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Spark SQL vs RDD ?</a:t>
            </a:r>
          </a:p>
        </p:txBody>
      </p:sp>
    </p:spTree>
    <p:extLst>
      <p:ext uri="{BB962C8B-B14F-4D97-AF65-F5344CB8AC3E}">
        <p14:creationId xmlns:p14="http://schemas.microsoft.com/office/powerpoint/2010/main" val="970905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C3999-ACAE-F9F6-1E92-C7252B879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E49F4428-E6F2-4CFC-083C-A3B1EDC3CAF1}"/>
              </a:ext>
            </a:extLst>
          </p:cNvPr>
          <p:cNvSpPr txBox="1"/>
          <p:nvPr/>
        </p:nvSpPr>
        <p:spPr>
          <a:xfrm>
            <a:off x="702127" y="1048864"/>
            <a:ext cx="794385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dirty="0"/>
              <a:t>Spark SQL: moins de code, plus lisible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Exemple RDD: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Exemple scala: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dirty="0"/>
              <a:t>Les </a:t>
            </a:r>
            <a:r>
              <a:rPr lang="fr-FR" dirty="0" err="1"/>
              <a:t>DataFrames</a:t>
            </a:r>
            <a:r>
              <a:rPr lang="fr-FR" dirty="0"/>
              <a:t> sont accessibles depuis </a:t>
            </a:r>
            <a:r>
              <a:rPr lang="fr-FR" b="1" dirty="0"/>
              <a:t>tous les langages</a:t>
            </a:r>
            <a:r>
              <a:rPr lang="fr-FR" dirty="0"/>
              <a:t>, ce que les RDD ne permettent pas réellement.</a:t>
            </a:r>
            <a:r>
              <a:rPr lang="fr-FR" b="1" dirty="0"/>
              <a:t>: SQL, Python, R, Scala</a:t>
            </a:r>
            <a:endParaRPr lang="fr-FR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402F912E-4256-82F3-E1BB-252515D4C680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D821FBF7-0466-BC48-0B50-E79DF5BD4D63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A3F759C2-B8E3-009A-6438-72A36F976F69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C8739051-A9DA-9D94-AB4C-A0333677B91C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Spark SQL vs RDD 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858026-0D26-8670-DDE9-052E36AB54BD}"/>
              </a:ext>
            </a:extLst>
          </p:cNvPr>
          <p:cNvSpPr/>
          <p:nvPr/>
        </p:nvSpPr>
        <p:spPr>
          <a:xfrm>
            <a:off x="2582664" y="1443081"/>
            <a:ext cx="5527991" cy="136174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 </a:t>
            </a:r>
            <a:r>
              <a:rPr lang="fr-FR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rdd</a:t>
            </a:r>
            <a:r>
              <a:rPr lang="fr-FR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fr-FR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sc.textFile</a:t>
            </a:r>
            <a:r>
              <a:rPr lang="fr-FR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("...")</a:t>
            </a:r>
          </a:p>
          <a:p>
            <a:r>
              <a:rPr lang="fr-FR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 </a:t>
            </a:r>
            <a:r>
              <a:rPr lang="fr-FR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filtered</a:t>
            </a:r>
            <a:r>
              <a:rPr lang="fr-FR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fr-FR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rdd.filter</a:t>
            </a:r>
            <a:r>
              <a:rPr lang="fr-FR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(line =&gt; </a:t>
            </a:r>
            <a:r>
              <a:rPr lang="fr-FR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line.contains</a:t>
            </a:r>
            <a:r>
              <a:rPr lang="fr-FR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</a:t>
            </a:r>
            <a:r>
              <a:rPr lang="fr-FR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error</a:t>
            </a:r>
            <a:r>
              <a:rPr lang="fr-FR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"))</a:t>
            </a:r>
          </a:p>
          <a:p>
            <a:r>
              <a:rPr lang="fr-FR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 </a:t>
            </a:r>
            <a:r>
              <a:rPr lang="fr-FR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mapped</a:t>
            </a:r>
            <a:r>
              <a:rPr lang="fr-FR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fr-FR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filtered.map</a:t>
            </a:r>
            <a:r>
              <a:rPr lang="fr-FR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(line =&gt; (</a:t>
            </a:r>
            <a:r>
              <a:rPr lang="fr-FR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line.split</a:t>
            </a:r>
            <a:r>
              <a:rPr lang="fr-FR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 ")(0), 1))</a:t>
            </a:r>
          </a:p>
          <a:p>
            <a:r>
              <a:rPr lang="fr-FR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 </a:t>
            </a:r>
            <a:r>
              <a:rPr lang="fr-FR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result</a:t>
            </a:r>
            <a:r>
              <a:rPr lang="fr-FR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fr-FR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mapped.reduceByKey</a:t>
            </a:r>
            <a:r>
              <a:rPr lang="fr-FR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(_ + _)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EA3C1E-C777-2568-B9DA-8C420E4A62B1}"/>
              </a:ext>
            </a:extLst>
          </p:cNvPr>
          <p:cNvSpPr/>
          <p:nvPr/>
        </p:nvSpPr>
        <p:spPr>
          <a:xfrm>
            <a:off x="2582664" y="3019546"/>
            <a:ext cx="5527990" cy="136174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df</a:t>
            </a:r>
            <a:endParaRPr lang="fr-FR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fr-FR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.</a:t>
            </a:r>
            <a:r>
              <a:rPr lang="fr-FR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filter</a:t>
            </a:r>
            <a:r>
              <a:rPr lang="fr-FR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($"message".</a:t>
            </a:r>
            <a:r>
              <a:rPr lang="fr-FR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contains</a:t>
            </a:r>
            <a:r>
              <a:rPr lang="fr-FR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</a:t>
            </a:r>
            <a:r>
              <a:rPr lang="fr-FR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error</a:t>
            </a:r>
            <a:r>
              <a:rPr lang="fr-FR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"))</a:t>
            </a:r>
          </a:p>
          <a:p>
            <a:r>
              <a:rPr lang="fr-FR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.</a:t>
            </a:r>
            <a:r>
              <a:rPr lang="fr-FR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groupBy</a:t>
            </a:r>
            <a:r>
              <a:rPr lang="fr-FR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($"date")</a:t>
            </a:r>
          </a:p>
          <a:p>
            <a:r>
              <a:rPr lang="fr-FR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.count()</a:t>
            </a:r>
          </a:p>
        </p:txBody>
      </p:sp>
    </p:spTree>
    <p:extLst>
      <p:ext uri="{BB962C8B-B14F-4D97-AF65-F5344CB8AC3E}">
        <p14:creationId xmlns:p14="http://schemas.microsoft.com/office/powerpoint/2010/main" val="1007318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9C539-A1C7-0F8D-AB9F-8A1500748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BADD1019-3E49-551E-877C-6326ECDAD131}"/>
              </a:ext>
            </a:extLst>
          </p:cNvPr>
          <p:cNvSpPr txBox="1"/>
          <p:nvPr/>
        </p:nvSpPr>
        <p:spPr>
          <a:xfrm>
            <a:off x="702127" y="1048864"/>
            <a:ext cx="7943850" cy="2759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🔚 Conclusion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✔  Oui, Spark SQL /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DataFrames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remplacent quasi totalement les RDD en Spark 3.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✔ Avantages principaux :</a:t>
            </a:r>
          </a:p>
          <a:p>
            <a:pPr marL="171450" indent="-17145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meilleures performances (Catalyst +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Tungsten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),</a:t>
            </a:r>
          </a:p>
          <a:p>
            <a:pPr marL="171450" indent="-17145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moins de code,</a:t>
            </a:r>
          </a:p>
          <a:p>
            <a:pPr marL="171450" indent="-17145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compatibilité SQL,</a:t>
            </a:r>
          </a:p>
          <a:p>
            <a:pPr marL="171450" indent="-17145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meilleure optimisation mémoire &amp; cluster,</a:t>
            </a:r>
          </a:p>
          <a:p>
            <a:pPr marL="171450" indent="-17145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standardisation des API.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➡ Recommandation : n’utiliser les RDD qu’en dernier recours.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2D24F730-37EA-3410-18BE-A7D8623860C5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F7384724-0D92-9CCF-17B7-8B8FCDD14516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D611FCF5-F776-AEF4-8793-6007E6BE814A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52887717-7FF7-9A20-C108-8CC91B776D3D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Spark SQL vs RDD ?</a:t>
            </a:r>
          </a:p>
        </p:txBody>
      </p:sp>
    </p:spTree>
    <p:extLst>
      <p:ext uri="{BB962C8B-B14F-4D97-AF65-F5344CB8AC3E}">
        <p14:creationId xmlns:p14="http://schemas.microsoft.com/office/powerpoint/2010/main" val="3630068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BFB3A-607D-6349-7723-06828D9BC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7C4E5270-E6B1-EA41-78BE-11199683E7E8}"/>
              </a:ext>
            </a:extLst>
          </p:cNvPr>
          <p:cNvSpPr txBox="1"/>
          <p:nvPr/>
        </p:nvSpPr>
        <p:spPr>
          <a:xfrm>
            <a:off x="702127" y="1048864"/>
            <a:ext cx="7943850" cy="2841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Le but de cet exercice est d’illustrer certains concepts  Spark aussi bien en Scala qu’en Python et les principales manipulations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lang="fr-FR" dirty="0"/>
              <a:t>👉 </a:t>
            </a:r>
            <a:r>
              <a:rPr lang="fr-FR" b="1" dirty="0" err="1"/>
              <a:t>Lazy</a:t>
            </a:r>
            <a:r>
              <a:rPr lang="fr-FR" b="1" dirty="0"/>
              <a:t> </a:t>
            </a:r>
            <a:r>
              <a:rPr lang="fr-FR" b="1" dirty="0" err="1"/>
              <a:t>evaluation</a:t>
            </a:r>
            <a:br>
              <a:rPr lang="fr-FR" dirty="0"/>
            </a:br>
            <a:r>
              <a:rPr lang="fr-FR" dirty="0"/>
              <a:t>👉 </a:t>
            </a:r>
            <a:r>
              <a:rPr lang="fr-FR" b="1" dirty="0"/>
              <a:t>Actions vs Transformations</a:t>
            </a:r>
            <a:br>
              <a:rPr lang="fr-FR" dirty="0"/>
            </a:br>
            <a:r>
              <a:rPr lang="fr-FR" dirty="0"/>
              <a:t>👉 </a:t>
            </a:r>
            <a:r>
              <a:rPr lang="fr-FR" b="1" dirty="0"/>
              <a:t>Narrow vs Wide Transformations</a:t>
            </a:r>
            <a:br>
              <a:rPr lang="fr-FR" dirty="0"/>
            </a:br>
            <a:r>
              <a:rPr lang="fr-FR" dirty="0"/>
              <a:t>👉 </a:t>
            </a:r>
            <a:r>
              <a:rPr lang="fr-FR" b="1" dirty="0" err="1"/>
              <a:t>Shuffles</a:t>
            </a:r>
            <a:br>
              <a:rPr lang="fr-FR" dirty="0"/>
            </a:br>
            <a:r>
              <a:rPr lang="fr-FR" dirty="0"/>
              <a:t>👉 </a:t>
            </a:r>
            <a:r>
              <a:rPr lang="fr-FR" b="1" dirty="0"/>
              <a:t>Partitions &amp; </a:t>
            </a:r>
            <a:r>
              <a:rPr lang="fr-FR" b="1" dirty="0" err="1"/>
              <a:t>parallelisme</a:t>
            </a:r>
            <a:br>
              <a:rPr lang="fr-FR" dirty="0"/>
            </a:br>
            <a:r>
              <a:rPr lang="fr-FR" dirty="0"/>
              <a:t>👉 </a:t>
            </a:r>
            <a:r>
              <a:rPr lang="fr-FR" b="1" dirty="0"/>
              <a:t>Broadcast variables</a:t>
            </a:r>
            <a:br>
              <a:rPr lang="fr-FR" dirty="0"/>
            </a:br>
            <a:r>
              <a:rPr lang="fr-FR" dirty="0"/>
              <a:t>👉 </a:t>
            </a:r>
            <a:r>
              <a:rPr lang="fr-FR" b="1" dirty="0"/>
              <a:t>Cache &amp; </a:t>
            </a:r>
            <a:r>
              <a:rPr lang="fr-FR" b="1" dirty="0" err="1"/>
              <a:t>Persist</a:t>
            </a:r>
            <a:endParaRPr lang="fr-FR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31A2C328-99AC-418F-A7C7-A418E78EB191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F06F5435-40D2-7751-019A-0F2BAD428FA9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368A4C85-15F8-2A80-EA3C-4D8D5DDBF4DD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43E290E4-928A-7B7F-8422-91882C0D69D8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Concepts fondamentaux de Spark</a:t>
            </a:r>
          </a:p>
        </p:txBody>
      </p:sp>
    </p:spTree>
    <p:extLst>
      <p:ext uri="{BB962C8B-B14F-4D97-AF65-F5344CB8AC3E}">
        <p14:creationId xmlns:p14="http://schemas.microsoft.com/office/powerpoint/2010/main" val="3365706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101F9-6A0F-C6A6-0760-ECF7AE57B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DD705FF0-57B3-142B-CE6C-D74F8661EEF8}"/>
              </a:ext>
            </a:extLst>
          </p:cNvPr>
          <p:cNvSpPr txBox="1"/>
          <p:nvPr/>
        </p:nvSpPr>
        <p:spPr>
          <a:xfrm>
            <a:off x="702127" y="1048864"/>
            <a:ext cx="7943850" cy="3241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🔥 1. </a:t>
            </a:r>
            <a:r>
              <a:rPr lang="fr-FR" dirty="0" err="1">
                <a:ea typeface="Calibri" panose="020F0502020204030204" pitchFamily="34" charset="0"/>
                <a:cs typeface="Arial" panose="020B0604020202020204" pitchFamily="34" charset="0"/>
              </a:rPr>
              <a:t>Lazy</a:t>
            </a:r>
            <a:r>
              <a:rPr lang="fr-FR" dirty="0">
                <a:ea typeface="Calibri" panose="020F0502020204030204" pitchFamily="34" charset="0"/>
                <a:cs typeface="Arial" panose="020B0604020202020204" pitchFamily="34" charset="0"/>
              </a:rPr>
              <a:t> Evaluation (Évaluation paresseuse)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📌 Définition: </a:t>
            </a:r>
          </a:p>
          <a:p>
            <a:pPr marL="171450" indent="-17145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En Spark, les transformations (ex :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map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filter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, select,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groupBy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, etc.) ne sont jamais exécutées immédiatement.</a:t>
            </a:r>
          </a:p>
          <a:p>
            <a:pPr marL="171450" indent="-17145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Spark construit un plan logique (DAG –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Directed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Acyclic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Graph) décrivant les étapes à réaliser.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📌 Exécution réelle ? </a:t>
            </a:r>
          </a:p>
          <a:p>
            <a:pPr marL="171450" indent="-17145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Spark exécute réellement le code seulement quand une action est appelée, comme :</a:t>
            </a:r>
          </a:p>
          <a:p>
            <a:pPr marL="628650" lvl="1" indent="-17145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count(),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collect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(), show(),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save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(),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write.parquet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(),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take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(n),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foreach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()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🎯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AvantagesOptimisation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globale du plan (Catalyst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Optimizer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</a:p>
          <a:p>
            <a:pPr marL="171450" indent="-17145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Réduction des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shuffles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inutiles</a:t>
            </a:r>
          </a:p>
          <a:p>
            <a:pPr marL="171450" indent="-17145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Enchaînement optimal des opérations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🧠 Exemple mental: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31EBF56B-1594-957D-EDDA-F46F733EC55A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F5FB0D52-C942-C0E2-7574-B00D724DF652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353CB69B-92DE-82FC-6BCA-38793CF39CCB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D198DE74-E7B6-B733-1807-44FBB46ED713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Concepts fondamentaux de Spark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22765C-7E4C-95BE-4273-0F3E95315AC7}"/>
              </a:ext>
            </a:extLst>
          </p:cNvPr>
          <p:cNvSpPr/>
          <p:nvPr/>
        </p:nvSpPr>
        <p:spPr>
          <a:xfrm>
            <a:off x="2292301" y="3992350"/>
            <a:ext cx="4031356" cy="7580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&gt; 30"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"nom"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Rien ne s’exécute !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  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L’action déclenche tout !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303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99145-A1DB-5752-538E-AF35F8D15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C366CACE-F982-80B0-D666-D89EE797767E}"/>
              </a:ext>
            </a:extLst>
          </p:cNvPr>
          <p:cNvSpPr txBox="1"/>
          <p:nvPr/>
        </p:nvSpPr>
        <p:spPr>
          <a:xfrm>
            <a:off x="728524" y="1053054"/>
            <a:ext cx="7943850" cy="3698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fr-FR" dirty="0"/>
              <a:t>⚡ 2. Transformations vs Actions</a:t>
            </a:r>
            <a:endParaRPr lang="fr-FR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📌 </a:t>
            </a:r>
            <a:r>
              <a:rPr lang="fr-FR" sz="1200" b="1" dirty="0"/>
              <a:t>Transformations (</a:t>
            </a:r>
            <a:r>
              <a:rPr lang="fr-FR" sz="1200" b="1" dirty="0" err="1"/>
              <a:t>lazy</a:t>
            </a:r>
            <a:r>
              <a:rPr lang="fr-FR" sz="1200" b="1" dirty="0"/>
              <a:t>)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/>
              <a:t>Créent un </a:t>
            </a:r>
            <a:r>
              <a:rPr lang="fr-FR" sz="1200" b="1" dirty="0"/>
              <a:t>nouveau RDD/</a:t>
            </a:r>
            <a:r>
              <a:rPr lang="fr-FR" sz="1200" b="1" dirty="0" err="1"/>
              <a:t>DataFrame</a:t>
            </a:r>
            <a:r>
              <a:rPr lang="fr-FR" sz="1200" dirty="0"/>
              <a:t>, mais ne déclenchent aucun calcul :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map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flatMap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filter</a:t>
            </a: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select,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withColumn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groupBy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join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repartition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, coalesce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📌 </a:t>
            </a:r>
            <a:r>
              <a:rPr lang="fr-FR" sz="1200" b="1" dirty="0"/>
              <a:t>Actions</a:t>
            </a: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628650" lvl="1" indent="-1714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a typeface="Calibri" panose="020F0502020204030204" pitchFamily="34" charset="0"/>
                <a:cs typeface="Arial" panose="020B0604020202020204" pitchFamily="34" charset="0"/>
              </a:rPr>
              <a:t>count(), reduce(), collect(), first(), </a:t>
            </a:r>
          </a:p>
          <a:p>
            <a:pPr marL="628650" lvl="1" indent="-1714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a typeface="Calibri" panose="020F0502020204030204" pitchFamily="34" charset="0"/>
                <a:cs typeface="Arial" panose="020B0604020202020204" pitchFamily="34" charset="0"/>
              </a:rPr>
              <a:t>show(), display()</a:t>
            </a:r>
          </a:p>
          <a:p>
            <a:pPr marL="628650" lvl="1" indent="-1714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ea typeface="Calibri" panose="020F0502020204030204" pitchFamily="34" charset="0"/>
                <a:cs typeface="Arial" panose="020B0604020202020204" pitchFamily="34" charset="0"/>
              </a:rPr>
              <a:t>write.parquet</a:t>
            </a:r>
            <a:r>
              <a:rPr lang="en-US" sz="1200" dirty="0">
                <a:ea typeface="Calibri" panose="020F0502020204030204" pitchFamily="34" charset="0"/>
                <a:cs typeface="Arial" panose="020B0604020202020204" pitchFamily="34" charset="0"/>
              </a:rPr>
              <a:t>() / .csv()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count()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DDDA74D0-BAD9-8252-E7B7-29338EA310E0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54496D19-C9D0-72BB-E056-617943FF7DF4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385FA4CD-73AD-ED7D-9A59-F9C97373670C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280EA108-07D6-6292-1358-C514B4E1AA2F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Concepts fondamentaux de Spark</a:t>
            </a:r>
          </a:p>
        </p:txBody>
      </p:sp>
    </p:spTree>
    <p:extLst>
      <p:ext uri="{BB962C8B-B14F-4D97-AF65-F5344CB8AC3E}">
        <p14:creationId xmlns:p14="http://schemas.microsoft.com/office/powerpoint/2010/main" val="478615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6D2F2-F48D-0CEC-6B44-DA636BFCC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295645A7-0F65-6862-3979-007D976E3A71}"/>
              </a:ext>
            </a:extLst>
          </p:cNvPr>
          <p:cNvSpPr txBox="1"/>
          <p:nvPr/>
        </p:nvSpPr>
        <p:spPr>
          <a:xfrm>
            <a:off x="728524" y="1053054"/>
            <a:ext cx="7943850" cy="3659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dirty="0"/>
              <a:t>🪵 3. Narrow vs Wide Transformations</a:t>
            </a:r>
          </a:p>
          <a:p>
            <a:pPr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📌 </a:t>
            </a:r>
            <a:r>
              <a:rPr lang="fr-FR" sz="1200" b="1" dirty="0"/>
              <a:t>Narrow Transformations (pas de </a:t>
            </a:r>
            <a:r>
              <a:rPr lang="fr-FR" sz="1200" b="1" dirty="0" err="1"/>
              <a:t>shuffle</a:t>
            </a:r>
            <a:r>
              <a:rPr lang="fr-FR" sz="1200" b="1" dirty="0"/>
              <a:t>)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/>
              <a:t>Définition :Chaque partition de sortie dépend uniquement d'une partition d’origine.:</a:t>
            </a:r>
          </a:p>
          <a:p>
            <a:pPr marL="108585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Map</a:t>
            </a: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08585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FlatMap</a:t>
            </a: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08585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Filter</a:t>
            </a: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08585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sample</a:t>
            </a:r>
            <a:endParaRPr lang="fr-FR" sz="1200" b="1" dirty="0"/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/>
              <a:t>Avantages</a:t>
            </a:r>
          </a:p>
          <a:p>
            <a:pPr marL="1085850" lvl="2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Très rapides</a:t>
            </a:r>
          </a:p>
          <a:p>
            <a:pPr marL="1085850" lvl="2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Pas de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shuffle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réseau</a:t>
            </a:r>
          </a:p>
          <a:p>
            <a:pPr marL="1085850" lvl="2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Scalabilité maximale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73E5684E-087F-2FCB-D0E5-BD45CECAE507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AE85F7A4-304C-A651-E4AD-B451F5360158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D01EA9CB-7A50-ADD2-052A-07CB3630E507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86E95AA0-89F3-F6E5-FF59-4917A689945B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Concepts fondamentaux de Spark</a:t>
            </a:r>
          </a:p>
        </p:txBody>
      </p:sp>
    </p:spTree>
    <p:extLst>
      <p:ext uri="{BB962C8B-B14F-4D97-AF65-F5344CB8AC3E}">
        <p14:creationId xmlns:p14="http://schemas.microsoft.com/office/powerpoint/2010/main" val="1057654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EC640-76CB-EB4A-1C20-65351A02A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F5FC58E7-8C36-C22C-2B1C-DA9F06C05AD8}"/>
              </a:ext>
            </a:extLst>
          </p:cNvPr>
          <p:cNvSpPr txBox="1"/>
          <p:nvPr/>
        </p:nvSpPr>
        <p:spPr>
          <a:xfrm>
            <a:off x="728524" y="948061"/>
            <a:ext cx="7943850" cy="422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sz="1600" dirty="0"/>
              <a:t>🪵 3. Narrow vs Wide Transformations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📌 </a:t>
            </a:r>
            <a:r>
              <a:rPr lang="fr-FR" sz="1200" b="1" dirty="0"/>
              <a:t>Wide Transformations (</a:t>
            </a:r>
            <a:r>
              <a:rPr lang="fr-FR" sz="1200" b="1" dirty="0" err="1"/>
              <a:t>shuffle</a:t>
            </a:r>
            <a:r>
              <a:rPr lang="fr-FR" sz="1200" b="1" dirty="0"/>
              <a:t>)</a:t>
            </a:r>
          </a:p>
          <a:p>
            <a:pPr marL="628650" lvl="1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200" dirty="0"/>
              <a:t>Définition :Chaque partition de sortie dépend uniquement d'une partition d’origine.:</a:t>
            </a:r>
          </a:p>
          <a:p>
            <a:pPr marL="1085850" lvl="2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groupBy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groupByKey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reduceByKey</a:t>
            </a: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085850" lvl="2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Distinct</a:t>
            </a:r>
          </a:p>
          <a:p>
            <a:pPr marL="1085850" lvl="2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sortBy</a:t>
            </a: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085850" lvl="2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Keyjoin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(certains types),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dropDuplicates</a:t>
            </a: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628650" lvl="1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200" dirty="0"/>
              <a:t>Inconvénients</a:t>
            </a:r>
          </a:p>
          <a:p>
            <a:pPr marL="1085850" lvl="2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Coûteux : mouvements réseau</a:t>
            </a:r>
          </a:p>
          <a:p>
            <a:pPr marL="1085850" lvl="2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Serialization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+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disk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spill</a:t>
            </a: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085850" lvl="2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Opérations souvent les plus lentes de Spark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BFAE7DF3-1D8B-7FE8-D8F6-960A0D18BBF7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BF41E91C-A896-A6DD-6A0C-E45B93D7353D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3069DB83-7F4E-E249-2D4F-8648BA2FA97C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2A62DE21-3995-D896-48CF-4A62D1B3705E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Concepts fondamentaux de Spark</a:t>
            </a:r>
          </a:p>
        </p:txBody>
      </p:sp>
    </p:spTree>
    <p:extLst>
      <p:ext uri="{BB962C8B-B14F-4D97-AF65-F5344CB8AC3E}">
        <p14:creationId xmlns:p14="http://schemas.microsoft.com/office/powerpoint/2010/main" val="252630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A8631-455B-25EE-5E62-B8F1C9E72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E50BA7F0-DD5C-113B-3E0B-EEEEBAD1B708}"/>
              </a:ext>
            </a:extLst>
          </p:cNvPr>
          <p:cNvSpPr txBox="1"/>
          <p:nvPr/>
        </p:nvSpPr>
        <p:spPr>
          <a:xfrm>
            <a:off x="728524" y="951930"/>
            <a:ext cx="7943850" cy="2654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fr-FR" b="1" dirty="0"/>
              <a:t>⚡ 7. Cache / </a:t>
            </a:r>
            <a:r>
              <a:rPr lang="fr-FR" b="1" dirty="0" err="1"/>
              <a:t>Persist</a:t>
            </a:r>
            <a:r>
              <a:rPr lang="en-US" sz="1200" b="1" dirty="0"/>
              <a:t> 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fr-FR" sz="1200" dirty="0"/>
              <a:t>Pourquoi cacher ?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fr-FR" sz="1200" dirty="0"/>
              <a:t>Lorsqu’un </a:t>
            </a:r>
            <a:r>
              <a:rPr lang="fr-FR" sz="1200" dirty="0" err="1"/>
              <a:t>DataFrame</a:t>
            </a:r>
            <a:r>
              <a:rPr lang="fr-FR" sz="1200" dirty="0"/>
              <a:t> est utilisé plusieurs fois, chaque action le recalculerait entièrement. → perdre du temps→ refaire des </a:t>
            </a:r>
            <a:r>
              <a:rPr lang="fr-FR" sz="1200" dirty="0" err="1"/>
              <a:t>shuffles</a:t>
            </a:r>
            <a:r>
              <a:rPr lang="fr-FR" sz="1200" dirty="0"/>
              <a:t> inutiles.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fr-FR" sz="1200" b="1" dirty="0"/>
              <a:t>Solution : Cache ou </a:t>
            </a:r>
            <a:r>
              <a:rPr lang="fr-FR" sz="1200" b="1" dirty="0" err="1"/>
              <a:t>Persist</a:t>
            </a:r>
            <a:r>
              <a:rPr lang="en-US" sz="1200" b="1" dirty="0"/>
              <a:t>: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endParaRPr lang="en-US" sz="1200" b="1" dirty="0"/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sz="1200" b="1" dirty="0"/>
              <a:t>Cache vs Persist: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8C5770D2-A287-17ED-7AE4-24FC3FACB2AB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5F0BEDD6-E17E-9CE4-998A-377BF207B721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600F58D7-043C-875A-065A-9E4665303F68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F94B83C8-0BB3-3A21-3299-669FBAF76588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Concepts fondamentaux de Spark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D92237-F2BB-9299-D127-8455A3ACC921}"/>
              </a:ext>
            </a:extLst>
          </p:cNvPr>
          <p:cNvSpPr/>
          <p:nvPr/>
        </p:nvSpPr>
        <p:spPr>
          <a:xfrm>
            <a:off x="3144383" y="2500851"/>
            <a:ext cx="5527991" cy="7206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df.cache</a:t>
            </a:r>
            <a:r>
              <a:rPr lang="en-US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  <a:p>
            <a:r>
              <a:rPr lang="en-US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df.persist</a:t>
            </a:r>
            <a:r>
              <a:rPr lang="en-US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</a:t>
            </a:r>
            <a:r>
              <a:rPr lang="en-US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StorageLevel.MEMORY_AND_DISK</a:t>
            </a:r>
            <a:r>
              <a:rPr lang="en-US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)</a:t>
            </a: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1BE0F5A3-8DB3-1378-275C-33D3F6CD9F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215739"/>
              </p:ext>
            </p:extLst>
          </p:nvPr>
        </p:nvGraphicFramePr>
        <p:xfrm>
          <a:off x="2118643" y="3467670"/>
          <a:ext cx="6553731" cy="144780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184577">
                  <a:extLst>
                    <a:ext uri="{9D8B030D-6E8A-4147-A177-3AD203B41FA5}">
                      <a16:colId xmlns:a16="http://schemas.microsoft.com/office/drawing/2014/main" val="4109461077"/>
                    </a:ext>
                  </a:extLst>
                </a:gridCol>
                <a:gridCol w="2184577">
                  <a:extLst>
                    <a:ext uri="{9D8B030D-6E8A-4147-A177-3AD203B41FA5}">
                      <a16:colId xmlns:a16="http://schemas.microsoft.com/office/drawing/2014/main" val="3917236549"/>
                    </a:ext>
                  </a:extLst>
                </a:gridCol>
                <a:gridCol w="2184577">
                  <a:extLst>
                    <a:ext uri="{9D8B030D-6E8A-4147-A177-3AD203B41FA5}">
                      <a16:colId xmlns:a16="http://schemas.microsoft.com/office/drawing/2014/main" val="170037326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fr-FR" sz="1500"/>
                        <a:t>Méthode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fr-FR" sz="1500"/>
                        <a:t>Stockage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fr-FR" sz="1500"/>
                        <a:t>Usage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72762969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fr-FR" sz="1500"/>
                        <a:t>cache()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fr-FR" sz="1500"/>
                        <a:t>mémoire uniquement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fr-FR" sz="1500"/>
                        <a:t>rapide si DF tient en RAM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55728485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fr-FR" sz="1500"/>
                        <a:t>persist(MEMORY_AND_DISK)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fr-FR" sz="1500"/>
                        <a:t>mémoire + disque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fr-FR" sz="1500"/>
                        <a:t>recommandé en production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47475984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fr-FR" sz="1500" dirty="0" err="1"/>
                        <a:t>persist</a:t>
                      </a:r>
                      <a:r>
                        <a:rPr lang="fr-FR" sz="1500" dirty="0"/>
                        <a:t>(DISK_ONLY)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fr-FR" sz="1500"/>
                        <a:t>disque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fr-FR" sz="1500" dirty="0"/>
                        <a:t>pour très gros </a:t>
                      </a:r>
                      <a:r>
                        <a:rPr lang="fr-FR" sz="1500" dirty="0" err="1"/>
                        <a:t>datasets</a:t>
                      </a:r>
                      <a:endParaRPr lang="fr-FR" sz="1500" dirty="0"/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099203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1211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C475C-6E23-20C0-D86B-7A5152D17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6A8C2FAA-999D-1D51-8774-AB7B54DA0032}"/>
              </a:ext>
            </a:extLst>
          </p:cNvPr>
          <p:cNvSpPr txBox="1"/>
          <p:nvPr/>
        </p:nvSpPr>
        <p:spPr>
          <a:xfrm>
            <a:off x="563524" y="948061"/>
            <a:ext cx="7943850" cy="3787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fr-FR" b="1" dirty="0"/>
              <a:t>🧠 8. DAG &amp; Catalyst </a:t>
            </a:r>
            <a:r>
              <a:rPr lang="fr-FR" b="1" dirty="0" err="1"/>
              <a:t>Optimizer</a:t>
            </a:r>
            <a:r>
              <a:rPr lang="en-US" b="1" dirty="0"/>
              <a:t> 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📌 </a:t>
            </a:r>
            <a:r>
              <a:rPr lang="fr-FR" sz="1200" b="1" dirty="0"/>
              <a:t>AG (</a:t>
            </a:r>
            <a:r>
              <a:rPr lang="fr-FR" sz="1200" b="1" dirty="0" err="1"/>
              <a:t>Directed</a:t>
            </a:r>
            <a:r>
              <a:rPr lang="fr-FR" sz="1200" b="1" dirty="0"/>
              <a:t> </a:t>
            </a:r>
            <a:r>
              <a:rPr lang="fr-FR" sz="1200" b="1" dirty="0" err="1"/>
              <a:t>Acyclic</a:t>
            </a:r>
            <a:r>
              <a:rPr lang="fr-FR" sz="1200" b="1" dirty="0"/>
              <a:t> Graph): </a:t>
            </a:r>
            <a:r>
              <a:rPr lang="fr-FR" sz="1200" dirty="0"/>
              <a:t>Représente la suite des opérations que Spark doit exécuter:</a:t>
            </a:r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Calcul généré après une action</a:t>
            </a:r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Spark fusionne des étapes</a:t>
            </a:r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Optimise les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narrow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transformations</a:t>
            </a:r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Crée des stages séparés par les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shuffles</a:t>
            </a: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fr-FR" sz="1200" b="1" dirty="0">
                <a:ea typeface="Calibri" panose="020F0502020204030204" pitchFamily="34" charset="0"/>
                <a:cs typeface="Arial" panose="020B0604020202020204" pitchFamily="34" charset="0"/>
              </a:rPr>
              <a:t>📌Catalyst </a:t>
            </a:r>
            <a:r>
              <a:rPr lang="fr-FR" sz="1200" b="1" dirty="0" err="1">
                <a:ea typeface="Calibri" panose="020F0502020204030204" pitchFamily="34" charset="0"/>
                <a:cs typeface="Arial" panose="020B0604020202020204" pitchFamily="34" charset="0"/>
              </a:rPr>
              <a:t>Optimizer</a:t>
            </a:r>
            <a:r>
              <a:rPr lang="fr-FR" sz="1200" b="1" dirty="0">
                <a:ea typeface="Calibri" panose="020F0502020204030204" pitchFamily="34" charset="0"/>
                <a:cs typeface="Arial" panose="020B0604020202020204" pitchFamily="34" charset="0"/>
              </a:rPr>
              <a:t> (</a:t>
            </a:r>
            <a:r>
              <a:rPr lang="fr-FR" sz="1200" b="1" dirty="0" err="1">
                <a:ea typeface="Calibri" panose="020F0502020204030204" pitchFamily="34" charset="0"/>
                <a:cs typeface="Arial" panose="020B0604020202020204" pitchFamily="34" charset="0"/>
              </a:rPr>
              <a:t>DataFrame</a:t>
            </a:r>
            <a:r>
              <a:rPr lang="fr-FR" sz="1200" b="1" dirty="0">
                <a:ea typeface="Calibri" panose="020F0502020204030204" pitchFamily="34" charset="0"/>
                <a:cs typeface="Arial" panose="020B0604020202020204" pitchFamily="34" charset="0"/>
              </a:rPr>
              <a:t> API)</a:t>
            </a:r>
            <a:r>
              <a:rPr lang="fr-FR" sz="1200" b="1" dirty="0"/>
              <a:t> : </a:t>
            </a:r>
            <a:r>
              <a:rPr lang="fr-FR" sz="1200" dirty="0"/>
              <a:t>Optimise automatiquement :</a:t>
            </a:r>
            <a:endParaRPr lang="fr-FR" sz="1200" b="1" dirty="0"/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prédicats (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filter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pushdown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projection (sélection de colonnes utilisées)</a:t>
            </a:r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/>
              <a:t>réordonnancement des opérations</a:t>
            </a: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/>
              <a:t>choix entre plusieurs stratégies de </a:t>
            </a:r>
            <a:r>
              <a:rPr lang="fr-FR" sz="1200" dirty="0" err="1"/>
              <a:t>join</a:t>
            </a: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96FD7BFE-4AD7-1D0F-B3BD-4C60DDE351ED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EB1F3E97-CC0B-DA30-C8F4-FE73B052D788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579FFD7B-3F38-8ED1-A786-2B1BA21F6644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5D3B162E-C094-8137-0713-D586C498C47A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Concepts fondamentaux de Spark</a:t>
            </a:r>
          </a:p>
        </p:txBody>
      </p:sp>
    </p:spTree>
    <p:extLst>
      <p:ext uri="{BB962C8B-B14F-4D97-AF65-F5344CB8AC3E}">
        <p14:creationId xmlns:p14="http://schemas.microsoft.com/office/powerpoint/2010/main" val="2757455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A8AE3-A80A-76B1-F169-202350DE8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A3B52ABE-B8DA-58BF-8AA9-E6A67C7F1B18}"/>
              </a:ext>
            </a:extLst>
          </p:cNvPr>
          <p:cNvSpPr txBox="1"/>
          <p:nvPr/>
        </p:nvSpPr>
        <p:spPr>
          <a:xfrm>
            <a:off x="563524" y="948061"/>
            <a:ext cx="7943850" cy="463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fr-FR" b="1" dirty="0"/>
              <a:t>🏁 9. Résumé synthétique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13190464-49E0-F3E3-F179-E40CCA3A58EA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05D478E0-F406-547F-B729-26C06D32C189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7D474B0C-5419-D645-72AF-6E512D75B162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0076CC21-C207-9E10-58EE-DFDB5F3D9150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Concepts fondamentaux de Spark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A3360695-6FF0-7D36-771E-FBE0762A6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944010"/>
              </p:ext>
            </p:extLst>
          </p:nvPr>
        </p:nvGraphicFramePr>
        <p:xfrm>
          <a:off x="1204260" y="1411073"/>
          <a:ext cx="7199512" cy="3637692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3599756">
                  <a:extLst>
                    <a:ext uri="{9D8B030D-6E8A-4147-A177-3AD203B41FA5}">
                      <a16:colId xmlns:a16="http://schemas.microsoft.com/office/drawing/2014/main" val="33896849"/>
                    </a:ext>
                  </a:extLst>
                </a:gridCol>
                <a:gridCol w="3599756">
                  <a:extLst>
                    <a:ext uri="{9D8B030D-6E8A-4147-A177-3AD203B41FA5}">
                      <a16:colId xmlns:a16="http://schemas.microsoft.com/office/drawing/2014/main" val="1713178344"/>
                    </a:ext>
                  </a:extLst>
                </a:gridCol>
              </a:tblGrid>
              <a:tr h="303141">
                <a:tc>
                  <a:txBody>
                    <a:bodyPr/>
                    <a:lstStyle/>
                    <a:p>
                      <a:r>
                        <a:rPr lang="fr-FR" sz="1400" dirty="0"/>
                        <a:t>Concept</a:t>
                      </a:r>
                    </a:p>
                  </a:txBody>
                  <a:tcPr marL="26811" marR="26811" marT="13406" marB="13406" anchor="ctr"/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Définition rapide</a:t>
                      </a:r>
                    </a:p>
                  </a:txBody>
                  <a:tcPr marL="26811" marR="26811" marT="13406" marB="13406" anchor="ctr"/>
                </a:tc>
                <a:extLst>
                  <a:ext uri="{0D108BD9-81ED-4DB2-BD59-A6C34878D82A}">
                    <a16:rowId xmlns:a16="http://schemas.microsoft.com/office/drawing/2014/main" val="575518184"/>
                  </a:ext>
                </a:extLst>
              </a:tr>
              <a:tr h="303141">
                <a:tc>
                  <a:txBody>
                    <a:bodyPr/>
                    <a:lstStyle/>
                    <a:p>
                      <a:r>
                        <a:rPr lang="fr-FR" sz="1400" dirty="0" err="1"/>
                        <a:t>Lazy</a:t>
                      </a:r>
                      <a:r>
                        <a:rPr lang="fr-FR" sz="1400" dirty="0"/>
                        <a:t> Evaluation</a:t>
                      </a:r>
                    </a:p>
                  </a:txBody>
                  <a:tcPr marL="26811" marR="26811" marT="13406" marB="13406" anchor="ctr"/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Spark ne calcule rien tant qu’il n’y a pas d’action</a:t>
                      </a:r>
                    </a:p>
                  </a:txBody>
                  <a:tcPr marL="26811" marR="26811" marT="13406" marB="13406" anchor="ctr"/>
                </a:tc>
                <a:extLst>
                  <a:ext uri="{0D108BD9-81ED-4DB2-BD59-A6C34878D82A}">
                    <a16:rowId xmlns:a16="http://schemas.microsoft.com/office/drawing/2014/main" val="2948934650"/>
                  </a:ext>
                </a:extLst>
              </a:tr>
              <a:tr h="303141">
                <a:tc>
                  <a:txBody>
                    <a:bodyPr/>
                    <a:lstStyle/>
                    <a:p>
                      <a:r>
                        <a:rPr lang="fr-FR" sz="1400" dirty="0"/>
                        <a:t>Transformation</a:t>
                      </a:r>
                    </a:p>
                  </a:txBody>
                  <a:tcPr marL="26811" marR="26811" marT="13406" marB="13406" anchor="ctr"/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Étape logique → pas d’exécution</a:t>
                      </a:r>
                    </a:p>
                  </a:txBody>
                  <a:tcPr marL="26811" marR="26811" marT="13406" marB="13406" anchor="ctr"/>
                </a:tc>
                <a:extLst>
                  <a:ext uri="{0D108BD9-81ED-4DB2-BD59-A6C34878D82A}">
                    <a16:rowId xmlns:a16="http://schemas.microsoft.com/office/drawing/2014/main" val="1068972162"/>
                  </a:ext>
                </a:extLst>
              </a:tr>
              <a:tr h="303141">
                <a:tc>
                  <a:txBody>
                    <a:bodyPr/>
                    <a:lstStyle/>
                    <a:p>
                      <a:r>
                        <a:rPr lang="fr-FR" sz="1400" dirty="0"/>
                        <a:t>Action</a:t>
                      </a:r>
                    </a:p>
                  </a:txBody>
                  <a:tcPr marL="26811" marR="26811" marT="13406" marB="13406"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Déclenche l’exécution réelle</a:t>
                      </a:r>
                    </a:p>
                  </a:txBody>
                  <a:tcPr marL="26811" marR="26811" marT="13406" marB="13406" anchor="ctr"/>
                </a:tc>
                <a:extLst>
                  <a:ext uri="{0D108BD9-81ED-4DB2-BD59-A6C34878D82A}">
                    <a16:rowId xmlns:a16="http://schemas.microsoft.com/office/drawing/2014/main" val="1809674061"/>
                  </a:ext>
                </a:extLst>
              </a:tr>
              <a:tr h="303141">
                <a:tc>
                  <a:txBody>
                    <a:bodyPr/>
                    <a:lstStyle/>
                    <a:p>
                      <a:r>
                        <a:rPr lang="fr-FR" sz="1400"/>
                        <a:t>Narrow</a:t>
                      </a:r>
                    </a:p>
                  </a:txBody>
                  <a:tcPr marL="26811" marR="26811" marT="13406" marB="13406"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Pas de </a:t>
                      </a:r>
                      <a:r>
                        <a:rPr lang="fr-FR" sz="1400" dirty="0" err="1"/>
                        <a:t>shuffle</a:t>
                      </a:r>
                      <a:r>
                        <a:rPr lang="fr-FR" sz="1400" dirty="0"/>
                        <a:t> → rapide</a:t>
                      </a:r>
                    </a:p>
                  </a:txBody>
                  <a:tcPr marL="26811" marR="26811" marT="13406" marB="13406" anchor="ctr"/>
                </a:tc>
                <a:extLst>
                  <a:ext uri="{0D108BD9-81ED-4DB2-BD59-A6C34878D82A}">
                    <a16:rowId xmlns:a16="http://schemas.microsoft.com/office/drawing/2014/main" val="3437257959"/>
                  </a:ext>
                </a:extLst>
              </a:tr>
              <a:tr h="303141">
                <a:tc>
                  <a:txBody>
                    <a:bodyPr/>
                    <a:lstStyle/>
                    <a:p>
                      <a:r>
                        <a:rPr lang="fr-FR" sz="1400"/>
                        <a:t>Wide</a:t>
                      </a:r>
                    </a:p>
                  </a:txBody>
                  <a:tcPr marL="26811" marR="26811" marT="13406" marB="13406" anchor="ctr"/>
                </a:tc>
                <a:tc>
                  <a:txBody>
                    <a:bodyPr/>
                    <a:lstStyle/>
                    <a:p>
                      <a:r>
                        <a:rPr lang="fr-FR" sz="1400" dirty="0" err="1"/>
                        <a:t>Shuffle</a:t>
                      </a:r>
                      <a:r>
                        <a:rPr lang="fr-FR" sz="1400" dirty="0"/>
                        <a:t> → coûteux</a:t>
                      </a:r>
                    </a:p>
                  </a:txBody>
                  <a:tcPr marL="26811" marR="26811" marT="13406" marB="13406" anchor="ctr"/>
                </a:tc>
                <a:extLst>
                  <a:ext uri="{0D108BD9-81ED-4DB2-BD59-A6C34878D82A}">
                    <a16:rowId xmlns:a16="http://schemas.microsoft.com/office/drawing/2014/main" val="4244276843"/>
                  </a:ext>
                </a:extLst>
              </a:tr>
              <a:tr h="303141">
                <a:tc>
                  <a:txBody>
                    <a:bodyPr/>
                    <a:lstStyle/>
                    <a:p>
                      <a:r>
                        <a:rPr lang="fr-FR" sz="1400"/>
                        <a:t>Shuffle</a:t>
                      </a:r>
                    </a:p>
                  </a:txBody>
                  <a:tcPr marL="26811" marR="26811" marT="13406" marB="13406"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Échange de partitions entre nœuds</a:t>
                      </a:r>
                    </a:p>
                  </a:txBody>
                  <a:tcPr marL="26811" marR="26811" marT="13406" marB="13406" anchor="ctr"/>
                </a:tc>
                <a:extLst>
                  <a:ext uri="{0D108BD9-81ED-4DB2-BD59-A6C34878D82A}">
                    <a16:rowId xmlns:a16="http://schemas.microsoft.com/office/drawing/2014/main" val="3529677437"/>
                  </a:ext>
                </a:extLst>
              </a:tr>
              <a:tr h="303141">
                <a:tc>
                  <a:txBody>
                    <a:bodyPr/>
                    <a:lstStyle/>
                    <a:p>
                      <a:r>
                        <a:rPr lang="fr-FR" sz="1400"/>
                        <a:t>Repartition</a:t>
                      </a:r>
                    </a:p>
                  </a:txBody>
                  <a:tcPr marL="26811" marR="26811" marT="13406" marB="13406"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Change le nb de partitions (</a:t>
                      </a:r>
                      <a:r>
                        <a:rPr lang="fr-FR" sz="1400" dirty="0" err="1"/>
                        <a:t>shuffle</a:t>
                      </a:r>
                      <a:r>
                        <a:rPr lang="fr-FR" sz="1400" dirty="0"/>
                        <a:t>)</a:t>
                      </a:r>
                    </a:p>
                  </a:txBody>
                  <a:tcPr marL="26811" marR="26811" marT="13406" marB="13406" anchor="ctr"/>
                </a:tc>
                <a:extLst>
                  <a:ext uri="{0D108BD9-81ED-4DB2-BD59-A6C34878D82A}">
                    <a16:rowId xmlns:a16="http://schemas.microsoft.com/office/drawing/2014/main" val="1184897165"/>
                  </a:ext>
                </a:extLst>
              </a:tr>
              <a:tr h="303141">
                <a:tc>
                  <a:txBody>
                    <a:bodyPr/>
                    <a:lstStyle/>
                    <a:p>
                      <a:r>
                        <a:rPr lang="fr-FR" sz="1400"/>
                        <a:t>Coalesce</a:t>
                      </a:r>
                    </a:p>
                  </a:txBody>
                  <a:tcPr marL="26811" marR="26811" marT="13406" marB="13406"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Réduit partitions (sans </a:t>
                      </a:r>
                      <a:r>
                        <a:rPr lang="fr-FR" sz="1400" dirty="0" err="1"/>
                        <a:t>shuffle</a:t>
                      </a:r>
                      <a:r>
                        <a:rPr lang="fr-FR" sz="1400" dirty="0"/>
                        <a:t>)</a:t>
                      </a:r>
                    </a:p>
                  </a:txBody>
                  <a:tcPr marL="26811" marR="26811" marT="13406" marB="13406" anchor="ctr"/>
                </a:tc>
                <a:extLst>
                  <a:ext uri="{0D108BD9-81ED-4DB2-BD59-A6C34878D82A}">
                    <a16:rowId xmlns:a16="http://schemas.microsoft.com/office/drawing/2014/main" val="3809308687"/>
                  </a:ext>
                </a:extLst>
              </a:tr>
              <a:tr h="303141">
                <a:tc>
                  <a:txBody>
                    <a:bodyPr/>
                    <a:lstStyle/>
                    <a:p>
                      <a:r>
                        <a:rPr lang="fr-FR" sz="1400"/>
                        <a:t>Cache/Persist</a:t>
                      </a:r>
                    </a:p>
                  </a:txBody>
                  <a:tcPr marL="26811" marR="26811" marT="13406" marB="13406"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Sauvegarde intermédiaire pour réutilisation</a:t>
                      </a:r>
                    </a:p>
                  </a:txBody>
                  <a:tcPr marL="26811" marR="26811" marT="13406" marB="13406" anchor="ctr"/>
                </a:tc>
                <a:extLst>
                  <a:ext uri="{0D108BD9-81ED-4DB2-BD59-A6C34878D82A}">
                    <a16:rowId xmlns:a16="http://schemas.microsoft.com/office/drawing/2014/main" val="816882819"/>
                  </a:ext>
                </a:extLst>
              </a:tr>
              <a:tr h="303141">
                <a:tc>
                  <a:txBody>
                    <a:bodyPr/>
                    <a:lstStyle/>
                    <a:p>
                      <a:r>
                        <a:rPr lang="fr-FR" sz="1400"/>
                        <a:t>Broadcast</a:t>
                      </a:r>
                    </a:p>
                  </a:txBody>
                  <a:tcPr marL="26811" marR="26811" marT="13406" marB="13406"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Jointure rapide pour petite table</a:t>
                      </a:r>
                    </a:p>
                  </a:txBody>
                  <a:tcPr marL="26811" marR="26811" marT="13406" marB="13406" anchor="ctr"/>
                </a:tc>
                <a:extLst>
                  <a:ext uri="{0D108BD9-81ED-4DB2-BD59-A6C34878D82A}">
                    <a16:rowId xmlns:a16="http://schemas.microsoft.com/office/drawing/2014/main" val="2402455375"/>
                  </a:ext>
                </a:extLst>
              </a:tr>
              <a:tr h="303141">
                <a:tc>
                  <a:txBody>
                    <a:bodyPr/>
                    <a:lstStyle/>
                    <a:p>
                      <a:r>
                        <a:rPr lang="fr-FR" sz="1400"/>
                        <a:t>DAG</a:t>
                      </a:r>
                    </a:p>
                  </a:txBody>
                  <a:tcPr marL="26811" marR="26811" marT="13406" marB="13406"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Plan d’exécution optimisé</a:t>
                      </a:r>
                    </a:p>
                  </a:txBody>
                  <a:tcPr marL="26811" marR="26811" marT="13406" marB="13406" anchor="ctr"/>
                </a:tc>
                <a:extLst>
                  <a:ext uri="{0D108BD9-81ED-4DB2-BD59-A6C34878D82A}">
                    <a16:rowId xmlns:a16="http://schemas.microsoft.com/office/drawing/2014/main" val="312791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0890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8D079-0732-F189-0D33-AF780C924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386BC23F-B36A-30F5-C402-76F888958E9B}"/>
              </a:ext>
            </a:extLst>
          </p:cNvPr>
          <p:cNvSpPr txBox="1"/>
          <p:nvPr/>
        </p:nvSpPr>
        <p:spPr>
          <a:xfrm>
            <a:off x="563524" y="948061"/>
            <a:ext cx="7943850" cy="2284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fr-FR" dirty="0"/>
              <a:t>🎯 Objectif</a:t>
            </a:r>
            <a:endParaRPr lang="fr-FR" sz="1200" dirty="0"/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/>
              <a:t>Lire les fichiers CSV dans Spark, vérifier le schéma et afficher les premières lignes.</a:t>
            </a: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fr-FR" dirty="0"/>
              <a:t>✔️ Énoncé:</a:t>
            </a:r>
            <a:endParaRPr lang="fr-FR" b="1" dirty="0"/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Charger clients.csv et commandes.csv depuis le dossier data/csv.</a:t>
            </a:r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Afficher 5 lignes de chaque table.</a:t>
            </a:r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Afficher leur schéma (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printSchema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()).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50EC0D68-F53B-4929-5674-A10B126D151D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446C68C7-4602-467E-61B2-38BA478721C2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EC422719-CB10-68CA-FCE4-6EE8F6F31EBA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9FCE3916-F2E3-3371-A6B1-FF54C5805877}"/>
              </a:ext>
            </a:extLst>
          </p:cNvPr>
          <p:cNvSpPr txBox="1"/>
          <p:nvPr/>
        </p:nvSpPr>
        <p:spPr>
          <a:xfrm>
            <a:off x="824975" y="311564"/>
            <a:ext cx="7367453" cy="500137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800" dirty="0"/>
              <a:t>📘 </a:t>
            </a:r>
            <a:r>
              <a:rPr lang="fr-FR" sz="2800" b="1" dirty="0"/>
              <a:t>Exercice 1 — Charger les données</a:t>
            </a:r>
            <a:endParaRPr lang="fr-FR" sz="25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883898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01737-55C1-5315-AA23-F8944A8A5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CDA097A2-CA1B-967D-BE24-2DB0AA414E3F}"/>
              </a:ext>
            </a:extLst>
          </p:cNvPr>
          <p:cNvSpPr txBox="1"/>
          <p:nvPr/>
        </p:nvSpPr>
        <p:spPr>
          <a:xfrm>
            <a:off x="702127" y="1048864"/>
            <a:ext cx="7943850" cy="1159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Scala:                                                                                                        Python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5C26FAC6-A08E-B15D-603A-C0281D27104F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084B2D13-18DF-6ECC-9E3D-9A9D38200A1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39EED3AF-F717-F8B6-62A9-44CBE05DDB39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0C12D723-74B5-5F13-DE98-4EAC85DE6C5F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400" dirty="0"/>
              <a:t>📘 </a:t>
            </a:r>
            <a:r>
              <a:rPr lang="fr-FR" sz="2400" b="1" dirty="0"/>
              <a:t>Exercice 1 — Charger les données</a:t>
            </a:r>
            <a:endParaRPr lang="fr-FR" sz="2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FE5416-C962-5064-C6DB-2AB26C915053}"/>
              </a:ext>
            </a:extLst>
          </p:cNvPr>
          <p:cNvSpPr/>
          <p:nvPr/>
        </p:nvSpPr>
        <p:spPr>
          <a:xfrm>
            <a:off x="783435" y="1416706"/>
            <a:ext cx="3369610" cy="26779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 clients =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spark.read</a:t>
            </a:r>
            <a:endParaRPr lang="fr-FR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.option("header", "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true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.option("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inferSchema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", "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true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.csv("/data/csv/clients.csv")</a:t>
            </a:r>
          </a:p>
          <a:p>
            <a:endParaRPr lang="fr-FR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 commandes =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spark.read</a:t>
            </a:r>
            <a:endParaRPr lang="fr-FR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.option("header", "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true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.option("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inferSchema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", "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true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.csv("/data/csv/commandes.csv")</a:t>
            </a:r>
          </a:p>
          <a:p>
            <a:endParaRPr lang="fr-FR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clients.show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(5)</a:t>
            </a:r>
          </a:p>
          <a:p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commandes.show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(5)</a:t>
            </a:r>
          </a:p>
          <a:p>
            <a:endParaRPr lang="fr-FR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clients.printSchema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  <a:p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commandes.printSchema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322707-AEBE-20E4-F398-12BA321F6A7E}"/>
              </a:ext>
            </a:extLst>
          </p:cNvPr>
          <p:cNvSpPr/>
          <p:nvPr/>
        </p:nvSpPr>
        <p:spPr>
          <a:xfrm>
            <a:off x="4822818" y="1416706"/>
            <a:ext cx="3369610" cy="26779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 =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spark.read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\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.option("header", "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true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 \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.option("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inferSchema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", "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true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 \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.csv(« /data/csv/clients.csv")</a:t>
            </a:r>
          </a:p>
          <a:p>
            <a:endParaRPr lang="fr-FR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 =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spark.read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\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.option("header", "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true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 \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.option("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inferSchema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", "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true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 \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.csv("/data/csv/commandes.csv")</a:t>
            </a:r>
          </a:p>
          <a:p>
            <a:endParaRPr lang="fr-FR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clients.show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(5)</a:t>
            </a:r>
          </a:p>
          <a:p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commandes.show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(5)</a:t>
            </a:r>
          </a:p>
          <a:p>
            <a:endParaRPr lang="fr-FR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clients.printSchema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  <a:p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commandes.printSchema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802933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1601C-2052-0A4E-EE2A-5E8842BCE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2E34235D-ED90-B781-B400-FB42F95EE36B}"/>
              </a:ext>
            </a:extLst>
          </p:cNvPr>
          <p:cNvSpPr txBox="1"/>
          <p:nvPr/>
        </p:nvSpPr>
        <p:spPr>
          <a:xfrm>
            <a:off x="563524" y="948061"/>
            <a:ext cx="7943850" cy="2284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fr-FR" dirty="0"/>
              <a:t>🎯 Objectif</a:t>
            </a:r>
            <a:endParaRPr lang="fr-FR" sz="1200" dirty="0"/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/>
              <a:t>Manipuler select(), </a:t>
            </a:r>
            <a:r>
              <a:rPr lang="fr-FR" sz="1200" dirty="0" err="1"/>
              <a:t>filter</a:t>
            </a:r>
            <a:r>
              <a:rPr lang="fr-FR" sz="1200" dirty="0"/>
              <a:t>(), </a:t>
            </a:r>
            <a:r>
              <a:rPr lang="fr-FR" sz="1200" dirty="0" err="1"/>
              <a:t>where</a:t>
            </a:r>
            <a:r>
              <a:rPr lang="fr-FR" sz="1200" dirty="0"/>
              <a:t>.</a:t>
            </a: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fr-FR" dirty="0"/>
              <a:t>✔️ Énoncé:</a:t>
            </a:r>
            <a:endParaRPr lang="fr-FR" b="1" dirty="0"/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Sélectionner les colonnes nom,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age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, pays.</a:t>
            </a:r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Afficher les clients de plus de 30 ans.</a:t>
            </a:r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Filtrer les clients français (pays = "France").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27C6E295-5F39-78B8-1A46-8B9E55249FEC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94573E57-9753-37A5-9A40-9D473EC51E2C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EE0B8CA1-C785-180B-6489-CB152206E156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73777CBA-A56B-0FFB-3E53-BD8A27EB5C70}"/>
              </a:ext>
            </a:extLst>
          </p:cNvPr>
          <p:cNvSpPr txBox="1"/>
          <p:nvPr/>
        </p:nvSpPr>
        <p:spPr>
          <a:xfrm>
            <a:off x="824975" y="311564"/>
            <a:ext cx="7367453" cy="500137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800" dirty="0"/>
              <a:t>📘 </a:t>
            </a:r>
            <a:r>
              <a:rPr lang="fr-FR" sz="2800" b="1" dirty="0"/>
              <a:t>Exercice 2 — Sélection et filtrage</a:t>
            </a:r>
            <a:endParaRPr lang="fr-FR" sz="25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134020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DB17F-6A02-CDF2-6E9A-7CF9D26DB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0782C04D-5814-1BED-36C4-54C9CEC3527C}"/>
              </a:ext>
            </a:extLst>
          </p:cNvPr>
          <p:cNvSpPr txBox="1"/>
          <p:nvPr/>
        </p:nvSpPr>
        <p:spPr>
          <a:xfrm>
            <a:off x="702127" y="1048864"/>
            <a:ext cx="7943850" cy="1159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Scala:                                                                                                        Python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DE4A79B0-9746-2E51-2FAC-E7B0359FBEE4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EA633391-F7A8-4BE6-2E0E-055FD7FF333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7171C453-CD64-7E08-8909-3597D0FEAF6F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2BE6A4A0-CA97-35CE-A391-551619275F79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400" dirty="0"/>
              <a:t>📘 </a:t>
            </a:r>
            <a:r>
              <a:rPr lang="fr-FR" sz="2400" b="1" dirty="0"/>
              <a:t>Exercice 2 — Sélection et filtrage</a:t>
            </a:r>
            <a:endParaRPr lang="fr-FR" sz="2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CAA2EA-BD1A-068C-5610-C6D5BFD4DB94}"/>
              </a:ext>
            </a:extLst>
          </p:cNvPr>
          <p:cNvSpPr/>
          <p:nvPr/>
        </p:nvSpPr>
        <p:spPr>
          <a:xfrm>
            <a:off x="783435" y="1519421"/>
            <a:ext cx="3369610" cy="10523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clients.select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("nom", "age", "pays").show()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clients.filter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($"age" &gt; 30).show()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clients.filter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($"pays" === "France").show()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E5F2B8-7FD3-ABA9-580A-2E7088A703D8}"/>
              </a:ext>
            </a:extLst>
          </p:cNvPr>
          <p:cNvSpPr/>
          <p:nvPr/>
        </p:nvSpPr>
        <p:spPr>
          <a:xfrm>
            <a:off x="4777824" y="1538471"/>
            <a:ext cx="3369610" cy="10523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clients.select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("nom", "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age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", "pays").show()</a:t>
            </a:r>
          </a:p>
          <a:p>
            <a:endParaRPr lang="fr-FR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clients.filter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clients.age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&gt; 30).show()</a:t>
            </a:r>
          </a:p>
          <a:p>
            <a:endParaRPr lang="fr-FR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clients.filter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clients.pays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== "France").show()</a:t>
            </a:r>
          </a:p>
        </p:txBody>
      </p:sp>
    </p:spTree>
    <p:extLst>
      <p:ext uri="{BB962C8B-B14F-4D97-AF65-F5344CB8AC3E}">
        <p14:creationId xmlns:p14="http://schemas.microsoft.com/office/powerpoint/2010/main" val="27290260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ABD15-3E0C-3F3E-9565-5B7813DEF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4D3758F0-28A8-232B-2187-7424621488EF}"/>
              </a:ext>
            </a:extLst>
          </p:cNvPr>
          <p:cNvSpPr txBox="1"/>
          <p:nvPr/>
        </p:nvSpPr>
        <p:spPr>
          <a:xfrm>
            <a:off x="563524" y="948061"/>
            <a:ext cx="7943850" cy="2284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fr-FR" dirty="0"/>
              <a:t>🎯 Objectif</a:t>
            </a:r>
            <a:endParaRPr lang="fr-FR" sz="1200" dirty="0"/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/>
              <a:t>Utiliser </a:t>
            </a:r>
            <a:r>
              <a:rPr lang="fr-FR" sz="1200" dirty="0" err="1"/>
              <a:t>na.drop</a:t>
            </a:r>
            <a:r>
              <a:rPr lang="fr-FR" sz="1200" dirty="0"/>
              <a:t>, </a:t>
            </a:r>
            <a:r>
              <a:rPr lang="fr-FR" sz="1200" dirty="0" err="1"/>
              <a:t>na.fill</a:t>
            </a:r>
            <a:r>
              <a:rPr lang="fr-FR" sz="1200" dirty="0"/>
              <a:t>, suppression de colonnes..</a:t>
            </a: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fr-FR" dirty="0"/>
              <a:t>✔️ Énoncé:</a:t>
            </a:r>
            <a:endParaRPr lang="fr-FR" b="1" dirty="0"/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Supprimer les lignes du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DataFrame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clients contenant des valeurs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null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Remplacer les valeurs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null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dans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commandes.montant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par 0.</a:t>
            </a:r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Supprimer la colonne segment dans clients.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18417106-8189-6AA5-C9D6-66527757E7EC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AA678299-81D4-4625-BFA4-EE7D975B7921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DD2C25B0-AE98-C2FF-E001-E8FE3C897B8D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B7EBB7DC-7B10-ABFB-66C3-5C9EAD57E628}"/>
              </a:ext>
            </a:extLst>
          </p:cNvPr>
          <p:cNvSpPr txBox="1"/>
          <p:nvPr/>
        </p:nvSpPr>
        <p:spPr>
          <a:xfrm>
            <a:off x="824975" y="311564"/>
            <a:ext cx="7367453" cy="500137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800" dirty="0"/>
              <a:t>📘 </a:t>
            </a:r>
            <a:r>
              <a:rPr lang="fr-FR" sz="2800" b="1" dirty="0"/>
              <a:t>Exercice 3 — Nettoyage des données</a:t>
            </a:r>
            <a:endParaRPr lang="fr-FR" sz="25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386858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6A8BA-F937-DB18-D317-D3CB45CF8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02D70432-D364-8D20-BD92-BD738E1AFD08}"/>
              </a:ext>
            </a:extLst>
          </p:cNvPr>
          <p:cNvSpPr txBox="1"/>
          <p:nvPr/>
        </p:nvSpPr>
        <p:spPr>
          <a:xfrm>
            <a:off x="702127" y="1048864"/>
            <a:ext cx="7943850" cy="1159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Scala:                                                                                                        Python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BC26DB5B-4928-F121-AB37-29F8BF055A7D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482086A5-36E8-8521-B4D1-FD85C77978CB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196BA786-FCA4-DFDB-E503-F29B193A8129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C3AE3B2E-5752-D676-5B53-315B49FC2FBD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400" dirty="0"/>
              <a:t>📘 </a:t>
            </a:r>
            <a:r>
              <a:rPr lang="fr-FR" sz="2400" b="1" dirty="0"/>
              <a:t>Exercice 3 — Nettoyage des données</a:t>
            </a:r>
            <a:endParaRPr lang="fr-FR" sz="2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93600A-C62A-4D7B-8751-B50684A735F5}"/>
              </a:ext>
            </a:extLst>
          </p:cNvPr>
          <p:cNvSpPr/>
          <p:nvPr/>
        </p:nvSpPr>
        <p:spPr>
          <a:xfrm>
            <a:off x="783435" y="1570221"/>
            <a:ext cx="3369610" cy="10523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clientsClean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clients.na.drop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commandesClean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commandes.na.fill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(Map("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montant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 -&gt; 0))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clientsSansSegment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clients.drop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("segment")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3AF50B-77FD-2F1B-3F80-F96852F0AC10}"/>
              </a:ext>
            </a:extLst>
          </p:cNvPr>
          <p:cNvSpPr/>
          <p:nvPr/>
        </p:nvSpPr>
        <p:spPr>
          <a:xfrm>
            <a:off x="4822818" y="1570219"/>
            <a:ext cx="3369610" cy="10523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clients_clean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clients.na.drop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  <a:p>
            <a:endParaRPr lang="fr-FR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commandes_clean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commandes.na.fill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({"montant": 0})</a:t>
            </a:r>
          </a:p>
          <a:p>
            <a:endParaRPr lang="fr-FR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clients_sans_segment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clients.drop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("segment")</a:t>
            </a:r>
          </a:p>
        </p:txBody>
      </p:sp>
    </p:spTree>
    <p:extLst>
      <p:ext uri="{BB962C8B-B14F-4D97-AF65-F5344CB8AC3E}">
        <p14:creationId xmlns:p14="http://schemas.microsoft.com/office/powerpoint/2010/main" val="11352379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3771A-298E-B61E-24BA-2DD169632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4FFB38DC-DF08-F54F-388A-1780314E8D08}"/>
              </a:ext>
            </a:extLst>
          </p:cNvPr>
          <p:cNvSpPr txBox="1"/>
          <p:nvPr/>
        </p:nvSpPr>
        <p:spPr>
          <a:xfrm>
            <a:off x="563524" y="948061"/>
            <a:ext cx="7943850" cy="1956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fr-FR" dirty="0"/>
              <a:t>🎯 Objectif</a:t>
            </a:r>
            <a:endParaRPr lang="fr-FR" sz="1200" dirty="0"/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/>
              <a:t>Manipuler </a:t>
            </a:r>
            <a:r>
              <a:rPr lang="fr-FR" sz="1200" dirty="0" err="1"/>
              <a:t>withColumn</a:t>
            </a:r>
            <a:r>
              <a:rPr lang="fr-FR" sz="1200" dirty="0"/>
              <a:t>.</a:t>
            </a: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fr-FR" dirty="0"/>
              <a:t>✔️ Énoncé:</a:t>
            </a:r>
            <a:endParaRPr lang="fr-FR" b="1" dirty="0"/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Ajouter une colonne age_plus_1 =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age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+ 1.</a:t>
            </a:r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Ajouter une colonne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montant_TTC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= montant * 1.20.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CB7C9809-95B4-D028-8F21-46C9979E9233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EDD5EF7A-81EA-FA9C-CE21-4FB290CE8BAE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0C55940E-1B5E-103D-97E3-197012CD4476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5F0246B2-BBC1-9810-FBCA-4BED4BE9646A}"/>
              </a:ext>
            </a:extLst>
          </p:cNvPr>
          <p:cNvSpPr txBox="1"/>
          <p:nvPr/>
        </p:nvSpPr>
        <p:spPr>
          <a:xfrm>
            <a:off x="824975" y="311564"/>
            <a:ext cx="7367453" cy="500137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800" dirty="0"/>
              <a:t>📘 </a:t>
            </a:r>
            <a:r>
              <a:rPr lang="fr-FR" sz="2800" b="1" dirty="0"/>
              <a:t>Exercice 4 — Ajout de colonnes</a:t>
            </a:r>
            <a:endParaRPr lang="fr-FR" sz="25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587174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F9F21-AD6F-67C7-D581-075E98862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8C6B1028-80E0-58B5-47D5-AEC933D8EEBF}"/>
              </a:ext>
            </a:extLst>
          </p:cNvPr>
          <p:cNvSpPr txBox="1"/>
          <p:nvPr/>
        </p:nvSpPr>
        <p:spPr>
          <a:xfrm>
            <a:off x="702127" y="1048864"/>
            <a:ext cx="7943850" cy="1159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Scala:                                                                                                        Python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CFCF62D1-ED4A-12F2-5AAE-B59FF412260A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5EFE9B40-E754-84B7-0D9E-0A331DD01EB9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4A16BE66-DBEF-E32D-6537-AD40307C3BCE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B64F8C83-0930-40B0-2F87-682478BE99FA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400" dirty="0"/>
              <a:t>📘 </a:t>
            </a:r>
            <a:r>
              <a:rPr lang="fr-FR" sz="2400" b="1" dirty="0"/>
              <a:t>Exercice 4 — Ajout de colonnes</a:t>
            </a:r>
            <a:endParaRPr lang="fr-FR" sz="2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67940D-11D7-A936-313F-68712243CBED}"/>
              </a:ext>
            </a:extLst>
          </p:cNvPr>
          <p:cNvSpPr/>
          <p:nvPr/>
        </p:nvSpPr>
        <p:spPr>
          <a:xfrm>
            <a:off x="783435" y="1519421"/>
            <a:ext cx="3369610" cy="10523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import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org.apache.spark.sql.functions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._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c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clients.withColumn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("age_plus_1", col("age") + 1)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cmd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commandes.withColumn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montant_TTC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", col("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montant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 * 1.20)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5611D6-7F02-9684-B529-4C4C4ED48CF7}"/>
              </a:ext>
            </a:extLst>
          </p:cNvPr>
          <p:cNvSpPr/>
          <p:nvPr/>
        </p:nvSpPr>
        <p:spPr>
          <a:xfrm>
            <a:off x="4822818" y="1519419"/>
            <a:ext cx="3369610" cy="10523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from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pyspark.sql.functions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import col</a:t>
            </a:r>
          </a:p>
          <a:p>
            <a:endParaRPr lang="fr-FR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 =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clients.withColumn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("age_plus_1", col("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age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 + 1)</a:t>
            </a:r>
          </a:p>
          <a:p>
            <a:endParaRPr lang="fr-FR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cmd =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commandes.withColumn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montant_TTC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", col("montant") * 1.20)</a:t>
            </a:r>
          </a:p>
        </p:txBody>
      </p:sp>
    </p:spTree>
    <p:extLst>
      <p:ext uri="{BB962C8B-B14F-4D97-AF65-F5344CB8AC3E}">
        <p14:creationId xmlns:p14="http://schemas.microsoft.com/office/powerpoint/2010/main" val="41526983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C7C49-0B7A-BA6F-2260-B843356A5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B5AA1B13-9F47-9B87-01C8-12B8CED3E88F}"/>
              </a:ext>
            </a:extLst>
          </p:cNvPr>
          <p:cNvSpPr txBox="1"/>
          <p:nvPr/>
        </p:nvSpPr>
        <p:spPr>
          <a:xfrm>
            <a:off x="563524" y="948061"/>
            <a:ext cx="7943850" cy="2284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fr-FR" dirty="0"/>
              <a:t>🎯 Objectif</a:t>
            </a:r>
            <a:endParaRPr lang="fr-FR" sz="1200" dirty="0"/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/>
              <a:t>Utiliser </a:t>
            </a:r>
            <a:r>
              <a:rPr lang="fr-FR" sz="1200" dirty="0" err="1"/>
              <a:t>groupBy</a:t>
            </a:r>
            <a:r>
              <a:rPr lang="fr-FR" sz="1200" dirty="0"/>
              <a:t>, </a:t>
            </a:r>
            <a:r>
              <a:rPr lang="fr-FR" sz="1200" dirty="0" err="1"/>
              <a:t>agg</a:t>
            </a:r>
            <a:r>
              <a:rPr lang="fr-FR" sz="1200" dirty="0"/>
              <a:t>, </a:t>
            </a:r>
            <a:r>
              <a:rPr lang="fr-FR" sz="1200" dirty="0" err="1"/>
              <a:t>avg</a:t>
            </a:r>
            <a:r>
              <a:rPr lang="fr-FR" sz="1200" dirty="0"/>
              <a:t>, </a:t>
            </a:r>
            <a:r>
              <a:rPr lang="fr-FR" sz="1200" dirty="0" err="1"/>
              <a:t>sum</a:t>
            </a:r>
            <a:r>
              <a:rPr lang="fr-FR" sz="1200" dirty="0"/>
              <a:t>.</a:t>
            </a: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fr-FR" dirty="0"/>
              <a:t>✔️ Énoncé:</a:t>
            </a:r>
            <a:endParaRPr lang="fr-FR" b="1" dirty="0"/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Calculer l’âge moyen par pays.</a:t>
            </a:r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Calculer le montant total des commandes par client.</a:t>
            </a:r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Compter le nombre de commandes livrées.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BD136F0D-9B0A-1DF1-F41E-3EEE88963731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C532C9D6-4C65-8F61-CDF3-2A4A0E053D1D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275B048D-4F56-F863-98AC-90B520348D1C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089FFF40-1192-19FA-2399-F9993861A638}"/>
              </a:ext>
            </a:extLst>
          </p:cNvPr>
          <p:cNvSpPr txBox="1"/>
          <p:nvPr/>
        </p:nvSpPr>
        <p:spPr>
          <a:xfrm>
            <a:off x="824975" y="311564"/>
            <a:ext cx="7367453" cy="500137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800" dirty="0"/>
              <a:t>📘 </a:t>
            </a:r>
            <a:r>
              <a:rPr lang="fr-FR" sz="2800" b="1" dirty="0"/>
              <a:t>Exercice 5 — Agrégations</a:t>
            </a:r>
            <a:endParaRPr lang="fr-FR" sz="25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3493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A55E7-3EFB-58D7-67EB-D3CBF10AB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FA9F56D1-77CE-E25E-32F4-B309E7594CC2}"/>
              </a:ext>
            </a:extLst>
          </p:cNvPr>
          <p:cNvSpPr txBox="1"/>
          <p:nvPr/>
        </p:nvSpPr>
        <p:spPr>
          <a:xfrm>
            <a:off x="702127" y="1048864"/>
            <a:ext cx="7943850" cy="1159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Scala:                                                                                                        Python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F1B93EB6-0366-6476-BC1E-65D1182BEE98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A0879955-CF0C-37E0-EECD-3861D6C2A3C3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8CA9C45B-7BDB-9F87-E69A-426F0616B219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065FD5B7-AA23-4152-2F3A-6F84324E1432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400" dirty="0"/>
              <a:t>📘 </a:t>
            </a:r>
            <a:r>
              <a:rPr lang="fr-FR" sz="2400" b="1" dirty="0"/>
              <a:t>Exercice 5 — Agrégations</a:t>
            </a:r>
            <a:endParaRPr lang="fr-FR" sz="2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E0B2F9-DBAE-0523-9627-C3F0C9B46DC7}"/>
              </a:ext>
            </a:extLst>
          </p:cNvPr>
          <p:cNvSpPr/>
          <p:nvPr/>
        </p:nvSpPr>
        <p:spPr>
          <a:xfrm>
            <a:off x="783435" y="1649291"/>
            <a:ext cx="3369610" cy="11920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clients.groupBy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("pays").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agg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(avg("age")).show()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commandes.groupBy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client_id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").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agg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(sum("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montant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")).show()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commandes.filter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($"status" === "LIVREE").count()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AA0B7C-A96E-0D2B-9BD8-9DEF73043221}"/>
              </a:ext>
            </a:extLst>
          </p:cNvPr>
          <p:cNvSpPr/>
          <p:nvPr/>
        </p:nvSpPr>
        <p:spPr>
          <a:xfrm>
            <a:off x="4822818" y="1649290"/>
            <a:ext cx="3369610" cy="178528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from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pyspark.sql.functions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import avg, sum</a:t>
            </a:r>
          </a:p>
          <a:p>
            <a:endParaRPr lang="fr-FR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clients.groupBy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("pays").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agg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avg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age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")).show()</a:t>
            </a:r>
          </a:p>
          <a:p>
            <a:endParaRPr lang="fr-FR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commandes.groupBy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client_id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").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agg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sum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("montant")).show()</a:t>
            </a:r>
          </a:p>
          <a:p>
            <a:endParaRPr lang="fr-FR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commandes.filter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commandes.status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== "LIVREE").count()</a:t>
            </a:r>
          </a:p>
        </p:txBody>
      </p:sp>
    </p:spTree>
    <p:extLst>
      <p:ext uri="{BB962C8B-B14F-4D97-AF65-F5344CB8AC3E}">
        <p14:creationId xmlns:p14="http://schemas.microsoft.com/office/powerpoint/2010/main" val="9431718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1374C-9164-468E-FBEE-705C7D7BC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CC8979D3-33B3-1A3A-5C54-F3F30D646B5B}"/>
              </a:ext>
            </a:extLst>
          </p:cNvPr>
          <p:cNvSpPr txBox="1"/>
          <p:nvPr/>
        </p:nvSpPr>
        <p:spPr>
          <a:xfrm>
            <a:off x="563524" y="948061"/>
            <a:ext cx="7943850" cy="2284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fr-FR" dirty="0"/>
              <a:t>🎯 Objectif</a:t>
            </a:r>
            <a:endParaRPr lang="fr-FR" sz="1200" dirty="0"/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/>
              <a:t>Utiliser </a:t>
            </a:r>
            <a:r>
              <a:rPr lang="fr-FR" sz="1200" dirty="0" err="1"/>
              <a:t>groupBy</a:t>
            </a:r>
            <a:r>
              <a:rPr lang="fr-FR" sz="1200" dirty="0"/>
              <a:t>, </a:t>
            </a:r>
            <a:r>
              <a:rPr lang="fr-FR" sz="1200" dirty="0" err="1"/>
              <a:t>agg</a:t>
            </a:r>
            <a:r>
              <a:rPr lang="fr-FR" sz="1200" dirty="0"/>
              <a:t>, </a:t>
            </a:r>
            <a:r>
              <a:rPr lang="fr-FR" sz="1200" dirty="0" err="1"/>
              <a:t>avg</a:t>
            </a:r>
            <a:r>
              <a:rPr lang="fr-FR" sz="1200" dirty="0"/>
              <a:t>, </a:t>
            </a:r>
            <a:r>
              <a:rPr lang="fr-FR" sz="1200" dirty="0" err="1"/>
              <a:t>sum</a:t>
            </a:r>
            <a:r>
              <a:rPr lang="fr-FR" sz="1200" dirty="0"/>
              <a:t>.</a:t>
            </a: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fr-FR" dirty="0"/>
              <a:t>✔️ Énoncé:</a:t>
            </a:r>
            <a:endParaRPr lang="fr-FR" b="1" dirty="0"/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Calculer l’âge moyen par pays.</a:t>
            </a:r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Calculer le montant total des commandes par client.</a:t>
            </a:r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Compter le nombre de commandes livrées.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E4A35814-C265-4613-95EE-57C2DCBF38C2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51C66AD6-D3F2-626E-61F0-C0FAC7807905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DA6115B3-92C5-559F-49F7-333D85FF05BA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FA370D13-DFC8-84D8-A641-84F083B49354}"/>
              </a:ext>
            </a:extLst>
          </p:cNvPr>
          <p:cNvSpPr txBox="1"/>
          <p:nvPr/>
        </p:nvSpPr>
        <p:spPr>
          <a:xfrm>
            <a:off x="824975" y="311564"/>
            <a:ext cx="7367453" cy="500137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800" dirty="0"/>
              <a:t>📘 </a:t>
            </a:r>
            <a:r>
              <a:rPr lang="fr-FR" sz="2800" b="1" dirty="0"/>
              <a:t>Exercice 6 — Jointure</a:t>
            </a:r>
            <a:endParaRPr lang="fr-FR" sz="25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526931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C2F26-B61F-4890-DBE6-7B7655BF2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6991500E-FA09-2CEB-F9FF-BF1AA9C4C359}"/>
              </a:ext>
            </a:extLst>
          </p:cNvPr>
          <p:cNvSpPr txBox="1"/>
          <p:nvPr/>
        </p:nvSpPr>
        <p:spPr>
          <a:xfrm>
            <a:off x="702127" y="1048864"/>
            <a:ext cx="7943850" cy="1159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Scala:                                                                                                        Python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45EF917E-B264-E9FF-1DDE-F0E5718747DD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741CA6EF-26E4-BB5D-A424-B80031FCD8F7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13D89666-1182-8614-0377-82D82FCD8046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56E16CCB-2BD5-F15B-4939-3C6573FBC04D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400" dirty="0"/>
              <a:t>📘 </a:t>
            </a:r>
            <a:r>
              <a:rPr lang="fr-FR" sz="2400" b="1" dirty="0"/>
              <a:t>Exercice 6 — Jointure</a:t>
            </a:r>
            <a:endParaRPr lang="fr-FR" sz="2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46A2D5-FD20-3089-CE62-CA647A368EE7}"/>
              </a:ext>
            </a:extLst>
          </p:cNvPr>
          <p:cNvSpPr/>
          <p:nvPr/>
        </p:nvSpPr>
        <p:spPr>
          <a:xfrm>
            <a:off x="824975" y="1743316"/>
            <a:ext cx="3369610" cy="11920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 joint =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clients.join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(commandes, Seq("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client_id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"))</a:t>
            </a:r>
          </a:p>
          <a:p>
            <a:endParaRPr lang="fr-FR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joint.select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("nom", "pays", "montant")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 .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filter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($"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status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 === "LIVREE")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 .show()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1B00BE-8BDE-A5DF-E287-F416863C8F8B}"/>
              </a:ext>
            </a:extLst>
          </p:cNvPr>
          <p:cNvSpPr/>
          <p:nvPr/>
        </p:nvSpPr>
        <p:spPr>
          <a:xfrm>
            <a:off x="4822818" y="1743315"/>
            <a:ext cx="3369610" cy="11920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joint =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clients.join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(commandes, ["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client_id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"])</a:t>
            </a:r>
          </a:p>
          <a:p>
            <a:endParaRPr lang="fr-FR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joint.select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("nom", "pays", "montant") \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 .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filter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joint.status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== "LIVREE") \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 .show()</a:t>
            </a:r>
          </a:p>
        </p:txBody>
      </p:sp>
    </p:spTree>
    <p:extLst>
      <p:ext uri="{BB962C8B-B14F-4D97-AF65-F5344CB8AC3E}">
        <p14:creationId xmlns:p14="http://schemas.microsoft.com/office/powerpoint/2010/main" val="31833803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7CE91-A64D-9C6D-4D80-CC7190361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4F7CE3A0-B430-46AE-C576-2228F56B15E3}"/>
              </a:ext>
            </a:extLst>
          </p:cNvPr>
          <p:cNvSpPr txBox="1"/>
          <p:nvPr/>
        </p:nvSpPr>
        <p:spPr>
          <a:xfrm>
            <a:off x="563524" y="948061"/>
            <a:ext cx="7943850" cy="2284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fr-FR" dirty="0"/>
              <a:t>🎯 Objectif</a:t>
            </a:r>
            <a:endParaRPr lang="fr-FR" sz="1200" dirty="0"/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/>
              <a:t>Créer une vue temporaire et exécuter des requêtes SQL.</a:t>
            </a: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fr-FR" dirty="0"/>
              <a:t>✔️ Énoncé:</a:t>
            </a:r>
            <a:endParaRPr lang="fr-FR" b="1" dirty="0"/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Créer une vue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clients_v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Lister les clients âgés de plus de 40 ans.</a:t>
            </a:r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Compter le nombre de clients par pays.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E1B622BD-1988-736C-1E7B-BC3032D972FA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75F3D817-D8A3-5254-1F1D-0EF7EE118E6B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46825FE0-BE4D-5ACA-310F-105F64B840FD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51B0E9CE-E73F-84CB-2DA0-6F7528551131}"/>
              </a:ext>
            </a:extLst>
          </p:cNvPr>
          <p:cNvSpPr txBox="1"/>
          <p:nvPr/>
        </p:nvSpPr>
        <p:spPr>
          <a:xfrm>
            <a:off x="824975" y="311564"/>
            <a:ext cx="7367453" cy="500137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800" dirty="0"/>
              <a:t>📘 </a:t>
            </a:r>
            <a:r>
              <a:rPr lang="fr-FR" sz="2800" b="1" dirty="0"/>
              <a:t>Exercice 7 — SQL avec Spark</a:t>
            </a:r>
            <a:endParaRPr lang="fr-FR" sz="25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883437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AE1E7-9E73-51D8-4770-F199691A7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906DF101-98E8-90B6-C4F9-1BDFEC534A63}"/>
              </a:ext>
            </a:extLst>
          </p:cNvPr>
          <p:cNvSpPr txBox="1"/>
          <p:nvPr/>
        </p:nvSpPr>
        <p:spPr>
          <a:xfrm>
            <a:off x="702127" y="1048864"/>
            <a:ext cx="7943850" cy="1159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Scala:                                                                                                        Python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5660E054-3B9D-F7ED-6192-AB6799D8CDE2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68C1EFE1-2462-97C9-408F-7FB59FBBAAB2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CE45F4CA-D8EC-96FA-1CE7-AC394B02A9EE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B229ADAC-4F25-9B18-C6C4-B0D01F096CB7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400" dirty="0"/>
              <a:t>📘 </a:t>
            </a:r>
            <a:r>
              <a:rPr lang="fr-FR" sz="2400" b="1" dirty="0"/>
              <a:t>Exercice 7 — SQL avec Spark</a:t>
            </a:r>
            <a:endParaRPr lang="fr-FR" sz="2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ED6603-2C8C-FC65-373E-9060CB5604DD}"/>
              </a:ext>
            </a:extLst>
          </p:cNvPr>
          <p:cNvSpPr/>
          <p:nvPr/>
        </p:nvSpPr>
        <p:spPr>
          <a:xfrm>
            <a:off x="824975" y="1743316"/>
            <a:ext cx="3369610" cy="11920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clients.createOrReplaceTempView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clients_v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spark.sql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("SELECT * FROM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clients_v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WHERE age &gt; 40").show()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spark.sql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("SELECT pays, COUNT(*) FROM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clients_v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GROUP BY pays").show()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9EB25B-687F-382B-67E9-D1F5A8BF9333}"/>
              </a:ext>
            </a:extLst>
          </p:cNvPr>
          <p:cNvSpPr/>
          <p:nvPr/>
        </p:nvSpPr>
        <p:spPr>
          <a:xfrm>
            <a:off x="4822818" y="1743315"/>
            <a:ext cx="3369610" cy="11920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clients.createOrReplaceTempView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clients_v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spark.sql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("SELECT * FROM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clients_v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WHERE age &gt; 40").show()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spark.sql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("SELECT pays, COUNT(*) FROM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clients_v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GROUP BY pays").show()</a:t>
            </a:r>
          </a:p>
        </p:txBody>
      </p:sp>
    </p:spTree>
    <p:extLst>
      <p:ext uri="{BB962C8B-B14F-4D97-AF65-F5344CB8AC3E}">
        <p14:creationId xmlns:p14="http://schemas.microsoft.com/office/powerpoint/2010/main" val="30132408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81694-FA7F-B5FA-859D-2FCE6BC9F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E83D7018-035C-FC80-FC91-3D683B9C2454}"/>
              </a:ext>
            </a:extLst>
          </p:cNvPr>
          <p:cNvSpPr txBox="1"/>
          <p:nvPr/>
        </p:nvSpPr>
        <p:spPr>
          <a:xfrm>
            <a:off x="563524" y="948061"/>
            <a:ext cx="7943850" cy="1628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fr-FR" dirty="0"/>
              <a:t>🎯 Objectif</a:t>
            </a:r>
            <a:endParaRPr lang="fr-FR" sz="1200" dirty="0"/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/>
              <a:t>Créer sa propre fonction dans Spark.</a:t>
            </a: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fr-FR" dirty="0"/>
              <a:t>✔️ Énoncé:</a:t>
            </a:r>
            <a:endParaRPr lang="fr-FR" b="1" dirty="0"/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Créer une UDF qui transforme le nom du client en MAJUSCULES, puis l’appliquer.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33A03F53-CCE4-F28E-AD01-C5363A4BD532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14A71C57-B88B-0A28-059C-66F10AD4D057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1BE799A0-93AE-AB4A-350B-BDCDF6046E93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9EA50B9B-5C5D-1485-1177-99F1112084E6}"/>
              </a:ext>
            </a:extLst>
          </p:cNvPr>
          <p:cNvSpPr txBox="1"/>
          <p:nvPr/>
        </p:nvSpPr>
        <p:spPr>
          <a:xfrm>
            <a:off x="824975" y="311564"/>
            <a:ext cx="7367453" cy="500137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en-US" sz="2800" dirty="0"/>
              <a:t>📘 </a:t>
            </a:r>
            <a:r>
              <a:rPr lang="en-US" sz="2800" b="1" dirty="0" err="1"/>
              <a:t>Exercice</a:t>
            </a:r>
            <a:r>
              <a:rPr lang="en-US" sz="2800" b="1" dirty="0"/>
              <a:t> 8 — UDF (User Defined Function)</a:t>
            </a:r>
            <a:endParaRPr lang="fr-FR" sz="25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091595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FEBB0-BE70-0329-3954-D8407D9EC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C6D78E41-6CCE-50F6-CF06-03F8D70930CF}"/>
              </a:ext>
            </a:extLst>
          </p:cNvPr>
          <p:cNvSpPr txBox="1"/>
          <p:nvPr/>
        </p:nvSpPr>
        <p:spPr>
          <a:xfrm>
            <a:off x="702127" y="1048864"/>
            <a:ext cx="7943850" cy="1159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Scala:                                                                                                        Python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F43AC9AC-B9D3-9FA3-8003-642ED7C1017C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9229192B-930B-5413-2A7A-20C48DC817D2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FE007F32-3CB9-EC93-4542-B8165FA417D4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075E4822-962C-011F-E247-EB3A0882B6D1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en-US" sz="2400" dirty="0"/>
              <a:t>📘 </a:t>
            </a:r>
            <a:r>
              <a:rPr lang="en-US" sz="2400" b="1" dirty="0" err="1"/>
              <a:t>Exercice</a:t>
            </a:r>
            <a:r>
              <a:rPr lang="en-US" sz="2400" b="1" dirty="0"/>
              <a:t> 8 — UDF (User Defined Function)</a:t>
            </a:r>
            <a:endParaRPr lang="fr-FR" sz="2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9D0CA0-32BB-35EE-DFF1-EC53359FDDA9}"/>
              </a:ext>
            </a:extLst>
          </p:cNvPr>
          <p:cNvSpPr/>
          <p:nvPr/>
        </p:nvSpPr>
        <p:spPr>
          <a:xfrm>
            <a:off x="824975" y="1743316"/>
            <a:ext cx="3369610" cy="11920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upperUDF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udf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((s: String) =&gt;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s.toUpperCase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clients.withColumn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nom_upper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",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upperUDF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($"nom")).show()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EFDCDD-8A7B-5D5D-2A88-F722745200A5}"/>
              </a:ext>
            </a:extLst>
          </p:cNvPr>
          <p:cNvSpPr/>
          <p:nvPr/>
        </p:nvSpPr>
        <p:spPr>
          <a:xfrm>
            <a:off x="4822818" y="1743315"/>
            <a:ext cx="3369610" cy="11920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from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pyspark.sql.functions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import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udf</a:t>
            </a:r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from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pyspark.sql.types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import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StringType</a:t>
            </a:r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upper_udf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udf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(lambda s: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s.upper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(),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StringType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clients.withColumn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nom_upper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",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upper_udf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("nom")).show()</a:t>
            </a:r>
          </a:p>
        </p:txBody>
      </p:sp>
    </p:spTree>
    <p:extLst>
      <p:ext uri="{BB962C8B-B14F-4D97-AF65-F5344CB8AC3E}">
        <p14:creationId xmlns:p14="http://schemas.microsoft.com/office/powerpoint/2010/main" val="11108279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3692C-7E6A-1E46-3B6C-A00E1E970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6DE1D88A-E442-8927-8CE8-8D1F0EB888BB}"/>
              </a:ext>
            </a:extLst>
          </p:cNvPr>
          <p:cNvSpPr txBox="1"/>
          <p:nvPr/>
        </p:nvSpPr>
        <p:spPr>
          <a:xfrm>
            <a:off x="563524" y="948061"/>
            <a:ext cx="7943850" cy="1956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fr-FR" dirty="0"/>
              <a:t>🎯 Objectif</a:t>
            </a:r>
            <a:endParaRPr lang="fr-FR" sz="1200" dirty="0"/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/>
              <a:t>Écrire un </a:t>
            </a:r>
            <a:r>
              <a:rPr lang="fr-FR" sz="1200" dirty="0" err="1"/>
              <a:t>DataFrame</a:t>
            </a:r>
            <a:r>
              <a:rPr lang="fr-FR" sz="1200" dirty="0"/>
              <a:t> en CSV et Parquet.</a:t>
            </a: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fr-FR" dirty="0"/>
              <a:t>✔️ Énoncé:</a:t>
            </a:r>
            <a:endParaRPr lang="fr-FR" b="1" dirty="0"/>
          </a:p>
          <a:p>
            <a:pPr marL="1085850" lvl="2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Exporter le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DataFrame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suivant :</a:t>
            </a:r>
          </a:p>
          <a:p>
            <a:pPr marL="1543050" lvl="3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commandes_livrees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(toutes les commandes LIVRÉES)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CD540BFB-038E-775F-4105-F1965245EF54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C6CF5A22-209F-0B92-8AA2-2AABFCD26DC1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91A11799-29B3-DE7E-6856-B3D596E3F8B7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D33E6074-1F94-3398-26D2-13DBC08F569A}"/>
              </a:ext>
            </a:extLst>
          </p:cNvPr>
          <p:cNvSpPr txBox="1"/>
          <p:nvPr/>
        </p:nvSpPr>
        <p:spPr>
          <a:xfrm>
            <a:off x="824975" y="311564"/>
            <a:ext cx="7367453" cy="500137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800" dirty="0"/>
              <a:t>📘 </a:t>
            </a:r>
            <a:r>
              <a:rPr lang="fr-FR" sz="2800" b="1" dirty="0"/>
              <a:t>Exercice 9 — Export des résultats</a:t>
            </a:r>
            <a:endParaRPr lang="fr-FR" sz="25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905881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7AC49-AD36-86CC-BB80-2A34A9A32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78AE2ECA-1A2E-29EB-9333-20EDB8BABC09}"/>
              </a:ext>
            </a:extLst>
          </p:cNvPr>
          <p:cNvSpPr txBox="1"/>
          <p:nvPr/>
        </p:nvSpPr>
        <p:spPr>
          <a:xfrm>
            <a:off x="702127" y="1048864"/>
            <a:ext cx="7943850" cy="1159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Scala:                                                                                                        Python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E0197EB3-4FBE-52D2-3807-6CA32ABFF129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ED9AC54D-F380-6602-7308-5F494C2EC48C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C0645D98-EC37-CE97-C9C5-1E88C2AD028B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CC26F981-8A51-FBFA-16F4-5559A1C932CF}"/>
              </a:ext>
            </a:extLst>
          </p:cNvPr>
          <p:cNvSpPr txBox="1"/>
          <p:nvPr/>
        </p:nvSpPr>
        <p:spPr>
          <a:xfrm>
            <a:off x="824975" y="311564"/>
            <a:ext cx="7367453" cy="807913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400" dirty="0"/>
              <a:t>📘 </a:t>
            </a:r>
            <a:r>
              <a:rPr lang="fr-FR" sz="2400" b="1" dirty="0"/>
              <a:t>Exercice 9 — Export des résultats</a:t>
            </a:r>
            <a:endParaRPr lang="fr-FR" sz="2400" b="1" dirty="0">
              <a:solidFill>
                <a:schemeClr val="bg1"/>
              </a:solidFill>
              <a:latin typeface="+mj-lt"/>
            </a:endParaRPr>
          </a:p>
          <a:p>
            <a:endParaRPr lang="fr-FR" sz="2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096A1F-1095-84E3-6F97-05A0BEFF8AD2}"/>
              </a:ext>
            </a:extLst>
          </p:cNvPr>
          <p:cNvSpPr/>
          <p:nvPr/>
        </p:nvSpPr>
        <p:spPr>
          <a:xfrm>
            <a:off x="824975" y="1743316"/>
            <a:ext cx="3369610" cy="168568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commandesLivrees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commandes.filter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($"status" === "LIVREE")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commandesLivrees.write.mode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("overwrite").csv("output/commandes_livrees.csv")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commandesLivrees.write.parquet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("output/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commandes_livrees.parquet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C5ED6E-D4D6-3FEF-71BD-18FE41C4863F}"/>
              </a:ext>
            </a:extLst>
          </p:cNvPr>
          <p:cNvSpPr/>
          <p:nvPr/>
        </p:nvSpPr>
        <p:spPr>
          <a:xfrm>
            <a:off x="4822818" y="1743315"/>
            <a:ext cx="3369610" cy="168568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commandes_livrees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commandes.filter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commandes.status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== "LIVREE")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commandes_livrees.write.mode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("overwrite").csv("output/commandes_livrees.csv")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commandes_livrees.write.parquet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("output/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commandes_livrees.parquet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8895939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CAD53-441E-9D06-47EB-066CC7B5E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4021C80C-FDC0-1472-F8FF-A17383FEE0C3}"/>
              </a:ext>
            </a:extLst>
          </p:cNvPr>
          <p:cNvSpPr txBox="1"/>
          <p:nvPr/>
        </p:nvSpPr>
        <p:spPr>
          <a:xfrm>
            <a:off x="702127" y="1048864"/>
            <a:ext cx="7943850" cy="1159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Scala:                                                                                                        Python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B986BB62-95D2-358B-B778-9B8B9ED101FF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C4C523EB-4AF4-EC98-8560-6AE082034978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950CAAB8-F943-7B3A-84C9-56BB841E5D52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6EB0E4CA-7758-26FC-D5C0-7C3BE564FCB1}"/>
              </a:ext>
            </a:extLst>
          </p:cNvPr>
          <p:cNvSpPr txBox="1"/>
          <p:nvPr/>
        </p:nvSpPr>
        <p:spPr>
          <a:xfrm>
            <a:off x="824975" y="311564"/>
            <a:ext cx="7367453" cy="807913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400" b="1" dirty="0"/>
              <a:t>📘 Exercice 10 — Pipeline complet</a:t>
            </a:r>
            <a:endParaRPr lang="fr-FR" sz="2400" b="1" dirty="0">
              <a:solidFill>
                <a:schemeClr val="bg1"/>
              </a:solidFill>
              <a:latin typeface="+mj-lt"/>
            </a:endParaRPr>
          </a:p>
          <a:p>
            <a:endParaRPr lang="fr-FR" sz="2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35C32E-CE68-0AA5-99F6-A9D5A1DD908E}"/>
              </a:ext>
            </a:extLst>
          </p:cNvPr>
          <p:cNvSpPr/>
          <p:nvPr/>
        </p:nvSpPr>
        <p:spPr>
          <a:xfrm>
            <a:off x="824975" y="1743316"/>
            <a:ext cx="3369610" cy="211748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import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org.apache.spark.sql.functions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._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c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clients.na.drop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cmd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commandes.na.fill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(Map("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montant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 -&gt; 0))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joint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c.join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cmd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, Seq("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client_id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"))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.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withColumn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montant_TTC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", $"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montant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 * 1.20)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.filter($"status" === "LIVREE")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joint.groupBy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("pays").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agg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(sum("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montant_TTC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")).show()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904364-CFC4-594E-CB70-5A11958F9E24}"/>
              </a:ext>
            </a:extLst>
          </p:cNvPr>
          <p:cNvSpPr/>
          <p:nvPr/>
        </p:nvSpPr>
        <p:spPr>
          <a:xfrm>
            <a:off x="4822818" y="1743314"/>
            <a:ext cx="3369610" cy="211748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from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pyspark.sql.functions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import col, sum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clients.na.drop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cmd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commandes.na.fill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({"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montant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": 0})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joint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c.join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cmd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, ["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client_id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"]) \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     .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withColumn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montant_TTC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", col("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montant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 * 1.20) \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     .filter(col("status") == "LIVREE")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joint.groupBy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("pays").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agg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(sum("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montant_TTC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")).show()</a:t>
            </a:r>
          </a:p>
        </p:txBody>
      </p:sp>
    </p:spTree>
    <p:extLst>
      <p:ext uri="{BB962C8B-B14F-4D97-AF65-F5344CB8AC3E}">
        <p14:creationId xmlns:p14="http://schemas.microsoft.com/office/powerpoint/2010/main" val="25618058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A89CC-5866-872D-57F7-D070BD0C6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A0C284CC-27E3-0FF6-B465-A268092EAAEF}"/>
              </a:ext>
            </a:extLst>
          </p:cNvPr>
          <p:cNvSpPr txBox="1"/>
          <p:nvPr/>
        </p:nvSpPr>
        <p:spPr>
          <a:xfrm>
            <a:off x="563523" y="948061"/>
            <a:ext cx="8327387" cy="3505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fr-FR" dirty="0"/>
              <a:t>✔️ Énoncé:</a:t>
            </a:r>
            <a:endParaRPr lang="fr-FR" b="1" dirty="0"/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Étape 1 – Chargement &amp;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inspectionCharger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clients.csv et commandes.csv avec header=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true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et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inferSchema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=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true.Afficher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le schéma et quelques lignes de chaque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DataFrame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Étape 2 – Nettoyage des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donnéesDans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clients :supprimer uniquement les lignes où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age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est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null.Dans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commandes :remplacer les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null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de la colonne montant par 0.Vérifier le résultat (compter les lignes avant/après).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Étape 3 – Filtrer les commandes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pertinentesCréer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un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DataFrame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commandes_valide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avec uniquement les commandes :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status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= '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LIVREE'montant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&gt; 0. Compter le nombre de commandes valides.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Étape 4 – Jointure clients /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commandesJoindre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clients_clean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et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commandes_valide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sur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client_id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(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inner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join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). Obtenir un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DataFrame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ventes contenant au minimum :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client_id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, nom, pays,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date_commande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, montant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Étape 5 – Enrichissement (colonnes dérivées)Ajouter une colonne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montant_TTC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= montant * 1.20.Extraire l’année et le mois de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date_commande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dans deux colonnes :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anneemoisVérifier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le résultat avec show().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C92CEB76-E987-AE55-8F5D-83DA72AADA7E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E48519F9-EAAA-EE7C-9B23-910EE5FA85CB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E3331597-08FA-99E0-180E-213CA5CD5E82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0B2F51E3-16ED-2E8C-9BFF-79D0768C1B9F}"/>
              </a:ext>
            </a:extLst>
          </p:cNvPr>
          <p:cNvSpPr txBox="1"/>
          <p:nvPr/>
        </p:nvSpPr>
        <p:spPr>
          <a:xfrm>
            <a:off x="824975" y="311564"/>
            <a:ext cx="7367453" cy="500137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800" b="1" dirty="0"/>
              <a:t>📘 Mini-Projet Récapitulatif</a:t>
            </a:r>
            <a:endParaRPr lang="fr-FR" sz="25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386914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BDC8A-1124-4D9A-2A91-25A8D451F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C55BDD0C-C382-8066-1A9E-CEF6C9A68650}"/>
              </a:ext>
            </a:extLst>
          </p:cNvPr>
          <p:cNvSpPr txBox="1"/>
          <p:nvPr/>
        </p:nvSpPr>
        <p:spPr>
          <a:xfrm>
            <a:off x="563523" y="948061"/>
            <a:ext cx="8327387" cy="2295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fr-FR" dirty="0"/>
              <a:t>✔️ Énoncé:</a:t>
            </a:r>
            <a:endParaRPr lang="fr-FR" b="1" dirty="0"/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Étape 6 – KPI par pays &amp; par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clientÀ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partir de ventes :Calculer le chiffre d’affaires total par pays (somme de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montant_TTC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).Calculer, pour chaque client :le CA total (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sum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montant_TTC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))le nombre de commandes (count(*))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Étape 7 – Top clients (fenêtres analytiques)Utiliser une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window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function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pour attribuer, dans chaque pays, un rang aux clients selon leur CA total (1 = meilleur client du pays).Extraire, par pays, les 3 meilleurs clients (rang &lt;= 3).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Étape 8 – Export des résultats. Exporter :le CA par pays dans output/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ca_par_pays.parquetle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top des clients par pays dans output/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top_clients.parquetMode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d’écriture :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overwrite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83E331A1-F978-E438-6647-26E4C660D53C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3E6C0D3E-FCD5-F1C7-6508-787F61EFC170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7857CBF9-5E0B-B2A4-D173-6E3B1C526119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B1184761-86E6-EF54-3A09-A501AB721C44}"/>
              </a:ext>
            </a:extLst>
          </p:cNvPr>
          <p:cNvSpPr txBox="1"/>
          <p:nvPr/>
        </p:nvSpPr>
        <p:spPr>
          <a:xfrm>
            <a:off x="824975" y="311564"/>
            <a:ext cx="7367453" cy="500137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800" b="1" dirty="0"/>
              <a:t>📘 Mini-Projet Récapitulatif</a:t>
            </a:r>
            <a:endParaRPr lang="fr-FR" sz="25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639279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F4C38-6BCD-A70E-C761-DCD43ADE2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A9761BFA-E420-801D-0F20-90876C99A82F}"/>
              </a:ext>
            </a:extLst>
          </p:cNvPr>
          <p:cNvSpPr txBox="1"/>
          <p:nvPr/>
        </p:nvSpPr>
        <p:spPr>
          <a:xfrm>
            <a:off x="702127" y="1048864"/>
            <a:ext cx="7943850" cy="1159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Scala:                                                                                                        Python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0586AE63-213F-F404-D96B-52CAC95444B4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022151EC-C97D-885A-FE36-5E73C25B478C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45CD29A7-572A-6469-EAEA-9495C792B924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39C166FA-2872-FF7A-B6E5-9EFA77000059}"/>
              </a:ext>
            </a:extLst>
          </p:cNvPr>
          <p:cNvSpPr txBox="1"/>
          <p:nvPr/>
        </p:nvSpPr>
        <p:spPr>
          <a:xfrm>
            <a:off x="824975" y="311564"/>
            <a:ext cx="7367453" cy="807913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400" b="1" dirty="0"/>
              <a:t>📘 Code Complet</a:t>
            </a:r>
            <a:endParaRPr lang="fr-FR" sz="2400" b="1" dirty="0">
              <a:solidFill>
                <a:schemeClr val="bg1"/>
              </a:solidFill>
              <a:latin typeface="+mj-lt"/>
            </a:endParaRPr>
          </a:p>
          <a:p>
            <a:endParaRPr lang="fr-FR" sz="2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F6642B-6B0B-6BE7-F13D-B661BFDA8175}"/>
              </a:ext>
            </a:extLst>
          </p:cNvPr>
          <p:cNvSpPr/>
          <p:nvPr/>
        </p:nvSpPr>
        <p:spPr>
          <a:xfrm>
            <a:off x="702127" y="1473200"/>
            <a:ext cx="3653973" cy="34099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numCol="1" rtlCol="0" anchor="ctr"/>
          <a:lstStyle/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import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org.apache.spark.sql.functions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._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import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org.apache.spark.sql.expressions.Window</a:t>
            </a:r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// Étape 1 –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Chargement</a:t>
            </a:r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clients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spark.read</a:t>
            </a:r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.option("header", "true")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.option("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inferSchema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", "true")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.csv(“/data/csv/clients.csv")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spark.read</a:t>
            </a:r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.option("header", "true")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.option("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inferSchema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", "true")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.csv(“/data/csv/commandes.csv")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clients.printSchema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commandes.printSchema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clients.show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(5)</a:t>
            </a: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commandes.show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(5)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9D6174-E5E1-42FF-2E0C-548408811C0F}"/>
              </a:ext>
            </a:extLst>
          </p:cNvPr>
          <p:cNvSpPr/>
          <p:nvPr/>
        </p:nvSpPr>
        <p:spPr>
          <a:xfrm>
            <a:off x="4787900" y="1447386"/>
            <a:ext cx="3653973" cy="34099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numCol="1" rtlCol="0" anchor="ctr"/>
          <a:lstStyle/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from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pyspark.sql.functions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import col, year, month, sum, count, round,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row_number</a:t>
            </a:r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from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pyspark.sql.window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import Window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# Étape 1 –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Chargement</a:t>
            </a:r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spark.read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\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.option("header", "true") \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.option("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inferSchema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", "true") \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.</a:t>
            </a:r>
            <a:r>
              <a:rPr lang="en-US" sz="100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csv(“/data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/csv/clients.csv")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spark.read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\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.option("header", "true") \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.option("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inferSchema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", "true") \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.csv(“/data/csv/commandes.csv")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clients.printSchema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commandes.printSchema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clients.show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(5)</a:t>
            </a: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commandes.show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(5)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3332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F29FA-8349-3597-FD7A-DD539AC67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AF73C01B-8C2B-3D87-FAFE-3566188519DC}"/>
              </a:ext>
            </a:extLst>
          </p:cNvPr>
          <p:cNvSpPr txBox="1"/>
          <p:nvPr/>
        </p:nvSpPr>
        <p:spPr>
          <a:xfrm>
            <a:off x="702127" y="1048864"/>
            <a:ext cx="7943850" cy="1159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Scala:                                                                                                        Python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DE83F0B8-3977-D4CA-96C9-7E2DBC5135E5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1B2B993D-9901-291E-B224-ED283CF0AEF4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9D539B13-9838-5AE4-017A-B85D0165F032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3A46DC1D-B000-5CD6-A475-0E395D395AE4}"/>
              </a:ext>
            </a:extLst>
          </p:cNvPr>
          <p:cNvSpPr txBox="1"/>
          <p:nvPr/>
        </p:nvSpPr>
        <p:spPr>
          <a:xfrm>
            <a:off x="824975" y="311564"/>
            <a:ext cx="7367453" cy="807913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400" b="1" dirty="0"/>
              <a:t>📘 Code Complet</a:t>
            </a:r>
            <a:endParaRPr lang="fr-FR" sz="2400" b="1" dirty="0">
              <a:solidFill>
                <a:schemeClr val="bg1"/>
              </a:solidFill>
              <a:latin typeface="+mj-lt"/>
            </a:endParaRPr>
          </a:p>
          <a:p>
            <a:endParaRPr lang="fr-FR" sz="2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D301DE-DEA5-167B-E3C8-DDEA8D3B0FE3}"/>
              </a:ext>
            </a:extLst>
          </p:cNvPr>
          <p:cNvSpPr/>
          <p:nvPr/>
        </p:nvSpPr>
        <p:spPr>
          <a:xfrm>
            <a:off x="702127" y="1473200"/>
            <a:ext cx="3869873" cy="2717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numCol="1" rtlCol="0" anchor="ctr"/>
          <a:lstStyle/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// Étape 2 –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Nettoyage</a:t>
            </a:r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clientsBefore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clients.count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clientsClean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clients.filter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(col("age").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isNotNull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)</a:t>
            </a: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clientsAfter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clientsClean.count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println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s"Clients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avant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nettoyage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: $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clientsBefore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, après : $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clientsAfter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commandesBefore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commandes.count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commandesClean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commandes.na.fill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(Map("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montant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 -&gt; 0.0))</a:t>
            </a: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commandesAfter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commandesClean.count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println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s"Commandes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avant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nettoyage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: $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commandesBefore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, après : $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commandesAfter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3A3AE7-38F7-D700-2086-64BFD00901A0}"/>
              </a:ext>
            </a:extLst>
          </p:cNvPr>
          <p:cNvSpPr/>
          <p:nvPr/>
        </p:nvSpPr>
        <p:spPr>
          <a:xfrm>
            <a:off x="4787900" y="1447386"/>
            <a:ext cx="3653973" cy="274361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numCol="1" rtlCol="0" anchor="ctr"/>
          <a:lstStyle/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# Étape 2 –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Nettoyage</a:t>
            </a:r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clients_before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clients.count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clients_clean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clients.filter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(col("age").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isNotNull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())</a:t>
            </a: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clients_after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clients_clean.count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print(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f"Clients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avant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nettoyage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: {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clients_before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}, après : {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clients_after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}")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commandes_before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commandes.count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commandes_clean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commandes.na.fill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({"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montant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": 0.0})</a:t>
            </a: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commandes_after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commandes_clean.count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print(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f"Commandes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avant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nettoyage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: {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commandes_before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}, après : {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commandes_after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}")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6163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7BD32-6F34-2F4C-BB70-D86F711E3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BA893274-B14A-9901-5CBE-804403148615}"/>
              </a:ext>
            </a:extLst>
          </p:cNvPr>
          <p:cNvSpPr txBox="1"/>
          <p:nvPr/>
        </p:nvSpPr>
        <p:spPr>
          <a:xfrm>
            <a:off x="702127" y="1048864"/>
            <a:ext cx="7943850" cy="1159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Scala:                                                                                                        Python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38937F9D-B4B1-FD35-DD52-76C1D4A768F9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A581DA11-857C-EAC6-DF7A-73D201D07994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1CAFDFA4-DC98-FA12-DDA6-BC7AB2D5C516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30721BB0-FA58-B240-34EA-B4908357D1C3}"/>
              </a:ext>
            </a:extLst>
          </p:cNvPr>
          <p:cNvSpPr txBox="1"/>
          <p:nvPr/>
        </p:nvSpPr>
        <p:spPr>
          <a:xfrm>
            <a:off x="824975" y="311564"/>
            <a:ext cx="7367453" cy="807913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400" b="1" dirty="0"/>
              <a:t>📘 Code Complet</a:t>
            </a:r>
            <a:endParaRPr lang="fr-FR" sz="2400" b="1" dirty="0">
              <a:solidFill>
                <a:schemeClr val="bg1"/>
              </a:solidFill>
              <a:latin typeface="+mj-lt"/>
            </a:endParaRPr>
          </a:p>
          <a:p>
            <a:endParaRPr lang="fr-FR" sz="2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34054B-186A-D51D-3B50-00484E855BF6}"/>
              </a:ext>
            </a:extLst>
          </p:cNvPr>
          <p:cNvSpPr/>
          <p:nvPr/>
        </p:nvSpPr>
        <p:spPr>
          <a:xfrm>
            <a:off x="498023" y="1406997"/>
            <a:ext cx="4136573" cy="326641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numCol="1" rtlCol="0" anchor="ctr"/>
          <a:lstStyle/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// Étape 3 –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Filtrer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les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pertinentes</a:t>
            </a:r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commandesValide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commandesClean</a:t>
            </a:r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.filter(col("status") === "LIVREE")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.filter(col("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montant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 &gt; 0)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println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s"Nombre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de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valides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: ${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commandesValide.count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()}")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// Étape 4 – Jointure</a:t>
            </a: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ventes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clientsClean.join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commandesValide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, Seq("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client_id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"), "inner")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.select(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col("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client_id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"),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col("nom"),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col("pays"),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col("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date_commande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"),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col("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montant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ventes.show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70B0F5-2328-41E6-B7DB-FD500D248CFA}"/>
              </a:ext>
            </a:extLst>
          </p:cNvPr>
          <p:cNvSpPr/>
          <p:nvPr/>
        </p:nvSpPr>
        <p:spPr>
          <a:xfrm>
            <a:off x="4787900" y="1406996"/>
            <a:ext cx="3937000" cy="326641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numCol="1" rtlCol="0" anchor="ctr"/>
          <a:lstStyle/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# Étape 3 –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Filtrer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les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pertinentes</a:t>
            </a:r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commandes_valide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commandes_clean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\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.filter(col("status") == "LIVREE") \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.filter(col("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montant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 &gt; 0)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print("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Nombre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de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valides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:",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commandes_valide.count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# Étape 4 – Jointure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ventes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clients_clean.join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commandes_valide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, ["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client_id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"], "inner") \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.select(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    col("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client_id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"),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    col("nom"),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    col("pays"),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    col("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date_commande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"),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    col("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montant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ventes.show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704345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CED44-D7B7-6DB2-B4A4-8F1B3872F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A5F7DBE7-6C6F-9494-70F4-E8D249E645E5}"/>
              </a:ext>
            </a:extLst>
          </p:cNvPr>
          <p:cNvSpPr txBox="1"/>
          <p:nvPr/>
        </p:nvSpPr>
        <p:spPr>
          <a:xfrm>
            <a:off x="702127" y="1048864"/>
            <a:ext cx="7943850" cy="1159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Scala:                                                                                                        Python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7EAC4A4C-143E-2E45-B147-2B7E36B54158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EED24F43-2753-62F0-78AF-2F39B6371739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274A4667-A3DF-BAA0-FF99-A019E149C192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5F3DA1BC-FA8A-C9EE-9FD0-ABD05BEBD3CA}"/>
              </a:ext>
            </a:extLst>
          </p:cNvPr>
          <p:cNvSpPr txBox="1"/>
          <p:nvPr/>
        </p:nvSpPr>
        <p:spPr>
          <a:xfrm>
            <a:off x="824975" y="311564"/>
            <a:ext cx="7367453" cy="807913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400" b="1" dirty="0"/>
              <a:t>📘 Code Complet</a:t>
            </a:r>
            <a:endParaRPr lang="fr-FR" sz="2400" b="1" dirty="0">
              <a:solidFill>
                <a:schemeClr val="bg1"/>
              </a:solidFill>
              <a:latin typeface="+mj-lt"/>
            </a:endParaRPr>
          </a:p>
          <a:p>
            <a:endParaRPr lang="fr-FR" sz="2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DF0056-A60E-327D-EA29-9CDD09694168}"/>
              </a:ext>
            </a:extLst>
          </p:cNvPr>
          <p:cNvSpPr/>
          <p:nvPr/>
        </p:nvSpPr>
        <p:spPr>
          <a:xfrm>
            <a:off x="702127" y="1473200"/>
            <a:ext cx="3577773" cy="2717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numCol="1" rtlCol="0" anchor="ctr"/>
          <a:lstStyle/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// Étape 5 –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Enrichissement</a:t>
            </a:r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ventesEnrichies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ventes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.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withColumn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montant_TTC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", col("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montant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 * 1.20)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.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withColumn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annee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", year(col("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date_commande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")))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.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withColumn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mois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", month(col("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date_commande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")))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ventesEnrichies.show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E530C7-1974-A5C1-16C8-AB6FADC4BA5D}"/>
              </a:ext>
            </a:extLst>
          </p:cNvPr>
          <p:cNvSpPr/>
          <p:nvPr/>
        </p:nvSpPr>
        <p:spPr>
          <a:xfrm>
            <a:off x="4787900" y="1473199"/>
            <a:ext cx="3937000" cy="271780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numCol="1" rtlCol="0" anchor="ctr"/>
          <a:lstStyle/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# Étape 5 –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Enrichissement</a:t>
            </a:r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ventes_enrichies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ventes \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.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withColumn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montant_TTC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", col("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montant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 * 1.20) \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.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withColumn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annee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", year(col("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date_commande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"))) \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.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withColumn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mois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", month(col("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date_commande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")))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ventes_enrichies.show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0015393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87C3B-9A6C-B9F4-1BBD-E4B6CC4B7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DC46237F-988A-7846-F943-5D733202A6D5}"/>
              </a:ext>
            </a:extLst>
          </p:cNvPr>
          <p:cNvSpPr txBox="1"/>
          <p:nvPr/>
        </p:nvSpPr>
        <p:spPr>
          <a:xfrm>
            <a:off x="702127" y="1048864"/>
            <a:ext cx="7943850" cy="1159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Scala:                                                                                                        Python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E0CC317F-A0FB-6072-7981-D3680A367836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2467F0E1-8578-1F7B-1279-104F0F774BC8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B7CD290A-1FD7-D607-EBAF-EE0BD6B6DF83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AA56801C-6133-6D94-8EE7-3D8842F0DFE0}"/>
              </a:ext>
            </a:extLst>
          </p:cNvPr>
          <p:cNvSpPr txBox="1"/>
          <p:nvPr/>
        </p:nvSpPr>
        <p:spPr>
          <a:xfrm>
            <a:off x="824975" y="311564"/>
            <a:ext cx="7367453" cy="807913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400" b="1" dirty="0"/>
              <a:t>📘 Code Complet</a:t>
            </a:r>
            <a:endParaRPr lang="fr-FR" sz="2400" b="1" dirty="0">
              <a:solidFill>
                <a:schemeClr val="bg1"/>
              </a:solidFill>
              <a:latin typeface="+mj-lt"/>
            </a:endParaRPr>
          </a:p>
          <a:p>
            <a:endParaRPr lang="fr-FR" sz="2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E5D6C0-3DF9-4228-731E-CEA3D5D9427D}"/>
              </a:ext>
            </a:extLst>
          </p:cNvPr>
          <p:cNvSpPr/>
          <p:nvPr/>
        </p:nvSpPr>
        <p:spPr>
          <a:xfrm>
            <a:off x="702127" y="1473200"/>
            <a:ext cx="3711123" cy="3429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numCol="1" rtlCol="0" anchor="ctr"/>
          <a:lstStyle/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// Étape 6 – KPI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// 6.1 CA par pays</a:t>
            </a: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caParPays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ventesEnrichies</a:t>
            </a:r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.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groupBy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("pays")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.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agg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round(sum("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montant_TTC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"), 2).alias("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ca_total_TTC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caParPays.show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// 6.2 KPI par client</a:t>
            </a: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kpiClients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ventesEnrichies</a:t>
            </a:r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.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groupBy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client_id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", "nom", "pays")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.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agg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round(sum("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montant_TTC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"), 2).alias("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ca_client_TTC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"),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count("*").alias("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nb_commandes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kpiClients.show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ED6645-4F55-6BD0-98DD-F01CAA118DE2}"/>
              </a:ext>
            </a:extLst>
          </p:cNvPr>
          <p:cNvSpPr/>
          <p:nvPr/>
        </p:nvSpPr>
        <p:spPr>
          <a:xfrm>
            <a:off x="4735374" y="1473200"/>
            <a:ext cx="3937000" cy="3429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numCol="1" rtlCol="0" anchor="ctr"/>
          <a:lstStyle/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# Étape 6 – KPI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# 6.1 CA par pays</a:t>
            </a: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ca_par_pays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ventes_enrichies.groupBy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("pays") \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.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agg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(round(sum("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montant_TTC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"), 2).alias("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ca_total_TTC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ca_par_pays.show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# 6.2 KPI par client</a:t>
            </a: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kpi_clients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ventes_enrichies.groupBy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client_id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", "nom", "pays") \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.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agg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    round(sum("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montant_TTC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"), 2).alias("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ca_client_TTC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"),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    count("*").alias("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nb_commandes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kpi_clients.show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0685956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6C101-2CE8-CCFF-2993-708353852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4D5C21D0-D80E-B9A9-A32A-2CFA9989F46B}"/>
              </a:ext>
            </a:extLst>
          </p:cNvPr>
          <p:cNvSpPr txBox="1"/>
          <p:nvPr/>
        </p:nvSpPr>
        <p:spPr>
          <a:xfrm>
            <a:off x="702127" y="1048864"/>
            <a:ext cx="7943850" cy="1159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Scala:                                                                                                        Python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4009B010-3AC3-FD73-C565-818E3ADDD19E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46F398AD-9A14-17C4-52C2-5045E4270E78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C09AB163-1A4B-32C1-78A6-6C36402325C9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A79017BF-96BD-4B26-8683-21F64CBA7483}"/>
              </a:ext>
            </a:extLst>
          </p:cNvPr>
          <p:cNvSpPr txBox="1"/>
          <p:nvPr/>
        </p:nvSpPr>
        <p:spPr>
          <a:xfrm>
            <a:off x="824975" y="311564"/>
            <a:ext cx="7367453" cy="807913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400" b="1" dirty="0"/>
              <a:t>📘 Code Complet</a:t>
            </a:r>
            <a:endParaRPr lang="fr-FR" sz="2400" b="1" dirty="0">
              <a:solidFill>
                <a:schemeClr val="bg1"/>
              </a:solidFill>
              <a:latin typeface="+mj-lt"/>
            </a:endParaRPr>
          </a:p>
          <a:p>
            <a:endParaRPr lang="fr-FR" sz="2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3060C7-58A8-1F59-D509-1268DF65F024}"/>
              </a:ext>
            </a:extLst>
          </p:cNvPr>
          <p:cNvSpPr/>
          <p:nvPr/>
        </p:nvSpPr>
        <p:spPr>
          <a:xfrm>
            <a:off x="702127" y="1372247"/>
            <a:ext cx="3869873" cy="30226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numCol="1" rtlCol="0" anchor="ctr"/>
          <a:lstStyle/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// Étape 7 – Top clients par pays (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fenêtres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)</a:t>
            </a: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windowPays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Window.partitionBy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("pays").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orderBy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(col("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ca_client_TTC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").desc)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kpiClientsRanked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kpiClients</a:t>
            </a:r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.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withColumn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rang_pays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",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row_number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().over(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windowPays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))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val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topClientsParPays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kpiClientsRanked</a:t>
            </a:r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.filter(col("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rang_pays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 &lt;= 3)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topClientsParPays.show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// Étape 8 – Export</a:t>
            </a: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caParPays.write.mode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("overwrite").parquet("output/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ca_par_pays.parquet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</a:t>
            </a: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topClientsParPays.write.mode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("overwrite").parquet("output/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top_clients.parquet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A3ACF0-3EAC-D516-3119-5F1194931BCC}"/>
              </a:ext>
            </a:extLst>
          </p:cNvPr>
          <p:cNvSpPr/>
          <p:nvPr/>
        </p:nvSpPr>
        <p:spPr>
          <a:xfrm>
            <a:off x="4735374" y="1372248"/>
            <a:ext cx="3937000" cy="30226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numCol="1" rtlCol="0" anchor="ctr"/>
          <a:lstStyle/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# Étape 7 – Top clients par pays (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fenêtres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)</a:t>
            </a: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window_pays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Window.partitionBy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("pays").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orderBy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(col("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ca_client_TTC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").desc())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kpi_clients_ranked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kpi_clients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\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.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withColumn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rang_pays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",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row_number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().over(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window_pays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))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top_clients_par_pays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kpi_clients_ranked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\</a:t>
            </a: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.filter(col("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rang_pays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 &lt;= 3)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top_clients_par_pays.show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  <a:p>
            <a:endParaRPr lang="en-US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# Étape 8 – Export</a:t>
            </a: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ca_par_pays.write.mode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("overwrite").parquet("output/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ca_par_pays.parquet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</a:t>
            </a:r>
          </a:p>
          <a:p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top_clients_par_pays.write.mode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("overwrite").parquet("output/</a:t>
            </a:r>
            <a:r>
              <a:rPr lang="en-US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top_clients.parquet</a:t>
            </a:r>
            <a:r>
              <a:rPr lang="en-US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9937698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35" t="869" r="11671"/>
          <a:stretch/>
        </p:blipFill>
        <p:spPr>
          <a:xfrm>
            <a:off x="4431282" y="-7974"/>
            <a:ext cx="4718608" cy="5135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11625" y="932"/>
            <a:ext cx="8138265" cy="5143500"/>
          </a:xfrm>
          <a:prstGeom prst="rect">
            <a:avLst/>
          </a:prstGeom>
          <a:solidFill>
            <a:srgbClr val="676D7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bg1"/>
              </a:solidFill>
            </a:endParaRPr>
          </a:p>
        </p:txBody>
      </p:sp>
      <p:sp>
        <p:nvSpPr>
          <p:cNvPr id="7" name="Parallélogramme 6"/>
          <p:cNvSpPr/>
          <p:nvPr/>
        </p:nvSpPr>
        <p:spPr>
          <a:xfrm>
            <a:off x="-1634180" y="-5770"/>
            <a:ext cx="7690701" cy="5135525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124" y="2162390"/>
            <a:ext cx="3304125" cy="2579399"/>
          </a:xfrm>
          <a:prstGeom prst="rect">
            <a:avLst/>
          </a:prstGeom>
        </p:spPr>
      </p:pic>
      <p:sp>
        <p:nvSpPr>
          <p:cNvPr id="12" name="Titre 1"/>
          <p:cNvSpPr>
            <a:spLocks noGrp="1"/>
          </p:cNvSpPr>
          <p:nvPr>
            <p:ph type="ctrTitle" idx="4294967295"/>
          </p:nvPr>
        </p:nvSpPr>
        <p:spPr>
          <a:xfrm>
            <a:off x="5971273" y="2636568"/>
            <a:ext cx="2393946" cy="1751965"/>
          </a:xfrm>
        </p:spPr>
        <p:txBody>
          <a:bodyPr>
            <a:normAutofit fontScale="90000"/>
          </a:bodyPr>
          <a:lstStyle/>
          <a:p>
            <a:pPr algn="ctr"/>
            <a:r>
              <a:rPr lang="fr-FR" sz="2700">
                <a:solidFill>
                  <a:schemeClr val="bg1"/>
                </a:solidFill>
                <a:latin typeface="Agency FB" panose="020B0503020202020204" pitchFamily="34" charset="0"/>
                <a:ea typeface="+mn-ea"/>
                <a:cs typeface="+mn-cs"/>
              </a:rPr>
              <a:t>Suivez-Nous</a:t>
            </a:r>
            <a:br>
              <a:rPr lang="fr-FR">
                <a:solidFill>
                  <a:schemeClr val="bg1"/>
                </a:solidFill>
              </a:rPr>
            </a:br>
            <a:br>
              <a:rPr lang="fr-FR">
                <a:solidFill>
                  <a:schemeClr val="bg1"/>
                </a:solidFill>
              </a:rPr>
            </a:br>
            <a:br>
              <a:rPr lang="fr-FR" sz="1500">
                <a:solidFill>
                  <a:schemeClr val="bg1"/>
                </a:solidFill>
              </a:rPr>
            </a:br>
            <a:r>
              <a:rPr lang="fr-FR" sz="1500">
                <a:solidFill>
                  <a:schemeClr val="bg1"/>
                </a:solidFill>
                <a:hlinkClick r:id="rId5"/>
              </a:rPr>
              <a:t>www.mgt-conseils.com</a:t>
            </a:r>
            <a:br>
              <a:rPr lang="fr-FR" sz="1500">
                <a:solidFill>
                  <a:schemeClr val="bg1"/>
                </a:solidFill>
              </a:rPr>
            </a:br>
            <a:r>
              <a:rPr lang="fr-FR" sz="1500">
                <a:solidFill>
                  <a:schemeClr val="bg1"/>
                </a:solidFill>
              </a:rPr>
              <a:t>contact@mgt-conseils.com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8619" y="496808"/>
            <a:ext cx="3489311" cy="300082"/>
          </a:xfrm>
          <a:prstGeom prst="rect">
            <a:avLst/>
          </a:prstGeom>
        </p:spPr>
        <p:txBody>
          <a:bodyPr wrap="square" lIns="68580" tIns="34290" rIns="68580" bIns="34290" anchor="t">
            <a:spAutoFit/>
          </a:bodyPr>
          <a:lstStyle/>
          <a:p>
            <a:r>
              <a:rPr lang="fr-FR" sz="1500" b="1">
                <a:solidFill>
                  <a:srgbClr val="0070C0"/>
                </a:solidFill>
                <a:latin typeface="Agency FB"/>
              </a:rPr>
              <a:t> </a:t>
            </a:r>
            <a:r>
              <a:rPr lang="fr-FR" sz="1500" b="1">
                <a:solidFill>
                  <a:srgbClr val="F89A33"/>
                </a:solidFill>
                <a:latin typeface="Agency FB"/>
              </a:rPr>
              <a:t>| Direction Commerciale</a:t>
            </a:r>
            <a:endParaRPr lang="fr-FR" sz="1500">
              <a:latin typeface="Agency FB"/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450011" y="794581"/>
            <a:ext cx="2639741" cy="300082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/>
              </a:rPr>
              <a:t>business@mgt-conseils.com </a:t>
            </a:r>
            <a:endParaRPr lang="fr-FR" sz="1500">
              <a:solidFill>
                <a:srgbClr val="676D72"/>
              </a:solidFill>
              <a:latin typeface="Agency FB" panose="020B0503020202020204" pitchFamily="34" charset="0"/>
            </a:endParaRPr>
          </a:p>
        </p:txBody>
      </p:sp>
      <p:sp>
        <p:nvSpPr>
          <p:cNvPr id="25" name="Titre 1"/>
          <p:cNvSpPr txBox="1">
            <a:spLocks/>
          </p:cNvSpPr>
          <p:nvPr/>
        </p:nvSpPr>
        <p:spPr>
          <a:xfrm>
            <a:off x="4667449" y="4706090"/>
            <a:ext cx="5001596" cy="549984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825">
                <a:solidFill>
                  <a:schemeClr val="bg1"/>
                </a:solidFill>
              </a:rPr>
              <a:t>SARL au capital de 50 300 € - SIRET 479 638 462 00032 </a:t>
            </a:r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24" y="871474"/>
            <a:ext cx="146399" cy="146399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59972" y="1314543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Paris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32" name="ZoneTexte 31"/>
          <p:cNvSpPr txBox="1"/>
          <p:nvPr/>
        </p:nvSpPr>
        <p:spPr>
          <a:xfrm>
            <a:off x="451364" y="1626848"/>
            <a:ext cx="26397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+331 47 20 67 63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Les Champs Elysées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104 Rue du Faubourg Saint - Honoré, 75008 Paris</a:t>
            </a:r>
          </a:p>
        </p:txBody>
      </p:sp>
      <p:pic>
        <p:nvPicPr>
          <p:cNvPr id="34" name="Image 3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79" y="1699834"/>
            <a:ext cx="146399" cy="146399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245868" y="2674542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Abidjan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40" name="ZoneTexte 39"/>
          <p:cNvSpPr txBox="1"/>
          <p:nvPr/>
        </p:nvSpPr>
        <p:spPr>
          <a:xfrm>
            <a:off x="437260" y="2986846"/>
            <a:ext cx="280687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+225 05 06 75 01 01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Résidence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Palazzo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Posillipo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 Cocody - Danga, 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BP 10 367, Abidjan 01</a:t>
            </a:r>
          </a:p>
        </p:txBody>
      </p:sp>
      <p:pic>
        <p:nvPicPr>
          <p:cNvPr id="41" name="Image 4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75" y="3059832"/>
            <a:ext cx="146399" cy="146399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242717" y="3838560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Bénin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43" name="ZoneTexte 42"/>
          <p:cNvSpPr txBox="1"/>
          <p:nvPr/>
        </p:nvSpPr>
        <p:spPr>
          <a:xfrm>
            <a:off x="434109" y="4150864"/>
            <a:ext cx="305456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+229 90 55 10 55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Akpakpa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Rés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. JR d’Adèle, 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Cotonou</a:t>
            </a:r>
          </a:p>
        </p:txBody>
      </p:sp>
      <p:pic>
        <p:nvPicPr>
          <p:cNvPr id="44" name="Image 4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24" y="4223850"/>
            <a:ext cx="146399" cy="146399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32" y="1946622"/>
            <a:ext cx="141499" cy="141499"/>
          </a:xfrm>
          <a:prstGeom prst="rect">
            <a:avLst/>
          </a:prstGeom>
        </p:spPr>
      </p:pic>
      <p:pic>
        <p:nvPicPr>
          <p:cNvPr id="45" name="Image 4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71" y="4460988"/>
            <a:ext cx="141499" cy="141499"/>
          </a:xfrm>
          <a:prstGeom prst="rect">
            <a:avLst/>
          </a:prstGeom>
        </p:spPr>
      </p:pic>
      <p:pic>
        <p:nvPicPr>
          <p:cNvPr id="46" name="Image 4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71" y="3343186"/>
            <a:ext cx="141499" cy="141499"/>
          </a:xfrm>
          <a:prstGeom prst="rect">
            <a:avLst/>
          </a:prstGeom>
        </p:spPr>
      </p:pic>
      <p:grpSp>
        <p:nvGrpSpPr>
          <p:cNvPr id="16" name="Groupe 15"/>
          <p:cNvGrpSpPr/>
          <p:nvPr/>
        </p:nvGrpSpPr>
        <p:grpSpPr>
          <a:xfrm>
            <a:off x="5935935" y="3045995"/>
            <a:ext cx="2471907" cy="660017"/>
            <a:chOff x="7953078" y="4393803"/>
            <a:chExt cx="3295876" cy="880023"/>
          </a:xfrm>
        </p:grpSpPr>
        <p:grpSp>
          <p:nvGrpSpPr>
            <p:cNvPr id="13" name="Groupe 12"/>
            <p:cNvGrpSpPr/>
            <p:nvPr/>
          </p:nvGrpSpPr>
          <p:grpSpPr>
            <a:xfrm>
              <a:off x="7953078" y="4393803"/>
              <a:ext cx="1235024" cy="880023"/>
              <a:chOff x="7708552" y="4387991"/>
              <a:chExt cx="1235024" cy="880023"/>
            </a:xfrm>
          </p:grpSpPr>
          <p:pic>
            <p:nvPicPr>
              <p:cNvPr id="4" name="Image 3"/>
              <p:cNvPicPr>
                <a:picLocks noChangeAspect="1"/>
              </p:cNvPicPr>
              <p:nvPr/>
            </p:nvPicPr>
            <p:blipFill>
              <a:blip r:embed="rId9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53043" y="4387991"/>
                <a:ext cx="346041" cy="346041"/>
              </a:xfrm>
              <a:prstGeom prst="rect">
                <a:avLst/>
              </a:prstGeom>
            </p:spPr>
          </p:pic>
          <p:sp>
            <p:nvSpPr>
              <p:cNvPr id="47" name="Titre 1"/>
              <p:cNvSpPr txBox="1">
                <a:spLocks/>
              </p:cNvSpPr>
              <p:nvPr/>
            </p:nvSpPr>
            <p:spPr>
              <a:xfrm>
                <a:off x="7708552" y="4534702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/</a:t>
                </a:r>
                <a:r>
                  <a:rPr lang="fr-FR" sz="825" err="1">
                    <a:solidFill>
                      <a:schemeClr val="bg1"/>
                    </a:solidFill>
                  </a:rPr>
                  <a:t>MGT.Conseils</a:t>
                </a:r>
                <a:endParaRPr lang="fr-FR" sz="825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" name="Groupe 13"/>
            <p:cNvGrpSpPr/>
            <p:nvPr/>
          </p:nvGrpSpPr>
          <p:grpSpPr>
            <a:xfrm>
              <a:off x="8943789" y="4426916"/>
              <a:ext cx="1235024" cy="840134"/>
              <a:chOff x="8704148" y="4427880"/>
              <a:chExt cx="1235024" cy="840134"/>
            </a:xfrm>
          </p:grpSpPr>
          <p:pic>
            <p:nvPicPr>
              <p:cNvPr id="6" name="Image 5"/>
              <p:cNvPicPr>
                <a:picLocks noChangeAspect="1"/>
              </p:cNvPicPr>
              <p:nvPr/>
            </p:nvPicPr>
            <p:blipFill>
              <a:blip r:embed="rId10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43910" y="4427880"/>
                <a:ext cx="349810" cy="349810"/>
              </a:xfrm>
              <a:prstGeom prst="rect">
                <a:avLst/>
              </a:prstGeom>
            </p:spPr>
          </p:pic>
          <p:sp>
            <p:nvSpPr>
              <p:cNvPr id="49" name="Titre 1"/>
              <p:cNvSpPr txBox="1">
                <a:spLocks/>
              </p:cNvSpPr>
              <p:nvPr/>
            </p:nvSpPr>
            <p:spPr>
              <a:xfrm>
                <a:off x="8704148" y="4534702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/</a:t>
                </a:r>
                <a:r>
                  <a:rPr lang="fr-FR" sz="825" err="1">
                    <a:solidFill>
                      <a:schemeClr val="bg1"/>
                    </a:solidFill>
                  </a:rPr>
                  <a:t>mgt</a:t>
                </a:r>
                <a:r>
                  <a:rPr lang="fr-FR" sz="825">
                    <a:solidFill>
                      <a:schemeClr val="bg1"/>
                    </a:solidFill>
                  </a:rPr>
                  <a:t>-conseils</a:t>
                </a:r>
              </a:p>
            </p:txBody>
          </p:sp>
        </p:grpSp>
        <p:grpSp>
          <p:nvGrpSpPr>
            <p:cNvPr id="15" name="Groupe 14"/>
            <p:cNvGrpSpPr/>
            <p:nvPr/>
          </p:nvGrpSpPr>
          <p:grpSpPr>
            <a:xfrm>
              <a:off x="10013930" y="4426197"/>
              <a:ext cx="1235024" cy="840853"/>
              <a:chOff x="9613248" y="4415593"/>
              <a:chExt cx="1235024" cy="840853"/>
            </a:xfrm>
          </p:grpSpPr>
          <p:pic>
            <p:nvPicPr>
              <p:cNvPr id="9" name="Image 8"/>
              <p:cNvPicPr>
                <a:picLocks noChangeAspect="1"/>
              </p:cNvPicPr>
              <p:nvPr/>
            </p:nvPicPr>
            <p:blipFill>
              <a:blip r:embed="rId11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153" y="4415593"/>
                <a:ext cx="347214" cy="347214"/>
              </a:xfrm>
              <a:prstGeom prst="rect">
                <a:avLst/>
              </a:prstGeom>
            </p:spPr>
          </p:pic>
          <p:sp>
            <p:nvSpPr>
              <p:cNvPr id="51" name="Titre 1"/>
              <p:cNvSpPr txBox="1">
                <a:spLocks/>
              </p:cNvSpPr>
              <p:nvPr/>
            </p:nvSpPr>
            <p:spPr>
              <a:xfrm>
                <a:off x="9613248" y="4523134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@</a:t>
                </a:r>
                <a:r>
                  <a:rPr lang="fr-FR" sz="825" err="1">
                    <a:solidFill>
                      <a:schemeClr val="bg1"/>
                    </a:solidFill>
                  </a:rPr>
                  <a:t>MGTConseils</a:t>
                </a:r>
                <a:endParaRPr lang="fr-FR" sz="825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10192631-2D34-469C-A952-3B55768F581D}"/>
              </a:ext>
            </a:extLst>
          </p:cNvPr>
          <p:cNvSpPr txBox="1"/>
          <p:nvPr/>
        </p:nvSpPr>
        <p:spPr>
          <a:xfrm>
            <a:off x="6020136" y="501821"/>
            <a:ext cx="2784985" cy="1569660"/>
          </a:xfrm>
          <a:prstGeom prst="rect">
            <a:avLst/>
          </a:prstGeom>
          <a:noFill/>
        </p:spPr>
        <p:txBody>
          <a:bodyPr vert="horz" wrap="square" rtlCol="0" anchor="ctr" anchorCtr="0">
            <a:spAutoFit/>
          </a:bodyPr>
          <a:lstStyle/>
          <a:p>
            <a:pPr algn="ctr"/>
            <a:r>
              <a:rPr lang="fr-FR" sz="3200" b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Merci pour votre attention </a:t>
            </a:r>
          </a:p>
        </p:txBody>
      </p:sp>
    </p:spTree>
    <p:extLst>
      <p:ext uri="{BB962C8B-B14F-4D97-AF65-F5344CB8AC3E}">
        <p14:creationId xmlns:p14="http://schemas.microsoft.com/office/powerpoint/2010/main" val="782514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419B1710D3DF4A9DAA9ADF73C802B5" ma:contentTypeVersion="14" ma:contentTypeDescription="Crée un document." ma:contentTypeScope="" ma:versionID="d45f398bd182fafaec1e6b20d8a38b6f">
  <xsd:schema xmlns:xsd="http://www.w3.org/2001/XMLSchema" xmlns:xs="http://www.w3.org/2001/XMLSchema" xmlns:p="http://schemas.microsoft.com/office/2006/metadata/properties" xmlns:ns3="6f1b3788-58c0-46a5-9604-64d97c7fc47c" xmlns:ns4="73eca01c-4ea5-40c8-83fd-b296bd340025" targetNamespace="http://schemas.microsoft.com/office/2006/metadata/properties" ma:root="true" ma:fieldsID="de746a5257d740f042749d495693305b" ns3:_="" ns4:_="">
    <xsd:import namespace="6f1b3788-58c0-46a5-9604-64d97c7fc47c"/>
    <xsd:import namespace="73eca01c-4ea5-40c8-83fd-b296bd34002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1b3788-58c0-46a5-9604-64d97c7fc4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eca01c-4ea5-40c8-83fd-b296bd34002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3eca01c-4ea5-40c8-83fd-b296bd340025">
      <UserInfo>
        <DisplayName>Abir GUENICH - Ingénieure d’affaire</DisplayName>
        <AccountId>246</AccountId>
        <AccountType/>
      </UserInfo>
    </SharedWithUsers>
    <_activity xmlns="6f1b3788-58c0-46a5-9604-64d97c7fc47c" xsi:nil="true"/>
  </documentManagement>
</p:properties>
</file>

<file path=customXml/itemProps1.xml><?xml version="1.0" encoding="utf-8"?>
<ds:datastoreItem xmlns:ds="http://schemas.openxmlformats.org/officeDocument/2006/customXml" ds:itemID="{13D40C7A-64C6-4B3B-A1B6-9CB64BC756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1b3788-58c0-46a5-9604-64d97c7fc47c"/>
    <ds:schemaRef ds:uri="73eca01c-4ea5-40c8-83fd-b296bd3400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BAA46D8-DF31-4768-AD82-8F485C82E64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0C00205-F11F-4D61-9572-D162BE7CE022}">
  <ds:schemaRefs>
    <ds:schemaRef ds:uri="http://schemas.microsoft.com/office/infopath/2007/PartnerControls"/>
    <ds:schemaRef ds:uri="http://purl.org/dc/terms/"/>
    <ds:schemaRef ds:uri="http://purl.org/dc/elements/1.1/"/>
    <ds:schemaRef ds:uri="6f1b3788-58c0-46a5-9604-64d97c7fc47c"/>
    <ds:schemaRef ds:uri="73eca01c-4ea5-40c8-83fd-b296bd340025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4593</TotalTime>
  <Words>4809</Words>
  <Application>Microsoft Office PowerPoint</Application>
  <PresentationFormat>Affichage à l'écran (16:9)</PresentationFormat>
  <Paragraphs>704</Paragraphs>
  <Slides>47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47</vt:i4>
      </vt:variant>
    </vt:vector>
  </HeadingPairs>
  <TitlesOfParts>
    <vt:vector size="62" baseType="lpstr">
      <vt:lpstr>Abadi Extra Light</vt:lpstr>
      <vt:lpstr>Arial UNICODE MS</vt:lpstr>
      <vt:lpstr>Arial UNICODE MS</vt:lpstr>
      <vt:lpstr>FUTURA MEDIUM</vt:lpstr>
      <vt:lpstr>Agency FB</vt:lpstr>
      <vt:lpstr>Aptos</vt:lpstr>
      <vt:lpstr>Arial</vt:lpstr>
      <vt:lpstr>Calibri</vt:lpstr>
      <vt:lpstr>Consolas</vt:lpstr>
      <vt:lpstr>Ebrima</vt:lpstr>
      <vt:lpstr>Roboto</vt:lpstr>
      <vt:lpstr>Trebuchet MS</vt:lpstr>
      <vt:lpstr>Verdana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Suivez-Nous   www.mgt-conseils.com contact@mgt-conseils.com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Groupe  DataValue Consulting</dc:title>
  <dc:creator>Conrad GBAGUIDI</dc:creator>
  <cp:lastModifiedBy>Denis ARGOUARCH</cp:lastModifiedBy>
  <cp:revision>199</cp:revision>
  <dcterms:created xsi:type="dcterms:W3CDTF">2021-01-18T11:01:50Z</dcterms:created>
  <dcterms:modified xsi:type="dcterms:W3CDTF">2026-09-28T15:10:46Z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2020-03-16T00:00:00Z</vt:filetime>
  </property>
  <property fmtid="{D5CDD505-2E9C-101B-9397-08002B2CF9AE}" pid="3" name="LastSaved">
    <vt:filetime>2021-01-18T00:00:00Z</vt:filetime>
  </property>
  <property fmtid="{D5CDD505-2E9C-101B-9397-08002B2CF9AE}" pid="4" name="ContentTypeId">
    <vt:lpwstr>0x01010058419B1710D3DF4A9DAA9ADF73C802B5</vt:lpwstr>
  </property>
  <property fmtid="{D5CDD505-2E9C-101B-9397-08002B2CF9AE}" pid="5" name="MediaServiceImageTags">
    <vt:lpwstr/>
  </property>
</Properties>
</file>