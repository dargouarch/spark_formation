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3"/>
  </p:notesMasterIdLst>
  <p:sldIdLst>
    <p:sldId id="263" r:id="rId5"/>
    <p:sldId id="2134807190" r:id="rId6"/>
    <p:sldId id="2134807213" r:id="rId7"/>
    <p:sldId id="2134807193" r:id="rId8"/>
    <p:sldId id="2134807214" r:id="rId9"/>
    <p:sldId id="2134807215" r:id="rId10"/>
    <p:sldId id="2134807216" r:id="rId11"/>
    <p:sldId id="2134807217" r:id="rId12"/>
    <p:sldId id="2134807218" r:id="rId13"/>
    <p:sldId id="2134807219" r:id="rId14"/>
    <p:sldId id="2134807220" r:id="rId15"/>
    <p:sldId id="2134807221" r:id="rId16"/>
    <p:sldId id="2134807222" r:id="rId17"/>
    <p:sldId id="2134807223" r:id="rId18"/>
    <p:sldId id="2134807224" r:id="rId19"/>
    <p:sldId id="2134807225" r:id="rId20"/>
    <p:sldId id="2134807226" r:id="rId21"/>
    <p:sldId id="269" r:id="rId22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69" y="77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20/12/2025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20/12/2025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5000/invocation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2.png"/><Relationship Id="rId4" Type="http://schemas.openxmlformats.org/officeDocument/2006/relationships/image" Target="../media/image7.emf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Gestion de version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9971AD4C-61B2-E54F-348A-AD68E0D8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2" y="208193"/>
            <a:ext cx="1679880" cy="872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44E8C-FF63-EB5D-711A-6086A65C9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2E51009-1B59-508E-EE88-490B5898FDD7}"/>
              </a:ext>
            </a:extLst>
          </p:cNvPr>
          <p:cNvSpPr txBox="1"/>
          <p:nvPr/>
        </p:nvSpPr>
        <p:spPr>
          <a:xfrm>
            <a:off x="702127" y="1048864"/>
            <a:ext cx="7943850" cy="3744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200"/>
              </a:spcBef>
              <a:spcAft>
                <a:spcPts val="200"/>
              </a:spcAft>
            </a:pPr>
            <a:r>
              <a:rPr lang="fr-FR" sz="1200" b="1" dirty="0" err="1"/>
              <a:t>MLflow</a:t>
            </a:r>
            <a:r>
              <a:rPr lang="fr-FR" sz="1200" dirty="0"/>
              <a:t> est une plateforme open source qui aide à </a:t>
            </a:r>
            <a:r>
              <a:rPr lang="fr-FR" sz="1200" b="1" dirty="0"/>
              <a:t>gérer le cycle de vie des projets de Machine Learning</a:t>
            </a:r>
            <a:r>
              <a:rPr lang="fr-FR" sz="1200" dirty="0"/>
              <a:t>.</a:t>
            </a:r>
          </a:p>
          <a:p>
            <a:pPr algn="just">
              <a:spcBef>
                <a:spcPts val="200"/>
              </a:spcBef>
              <a:spcAft>
                <a:spcPts val="200"/>
              </a:spcAft>
            </a:pPr>
            <a:r>
              <a:rPr lang="fr-FR" sz="1200" dirty="0"/>
              <a:t>Les trois composants principaux  : </a:t>
            </a:r>
            <a:r>
              <a:rPr lang="fr-FR" sz="1200" b="1" dirty="0" err="1"/>
              <a:t>Tracking</a:t>
            </a:r>
            <a:r>
              <a:rPr lang="fr-FR" sz="1200" dirty="0"/>
              <a:t>, </a:t>
            </a:r>
            <a:r>
              <a:rPr lang="fr-FR" sz="1200" b="1" dirty="0" err="1"/>
              <a:t>Models</a:t>
            </a:r>
            <a:r>
              <a:rPr lang="fr-FR" sz="1200" dirty="0"/>
              <a:t> et </a:t>
            </a:r>
            <a:r>
              <a:rPr lang="fr-FR" sz="1200" b="1" dirty="0" err="1"/>
              <a:t>Projects</a:t>
            </a:r>
            <a:r>
              <a:rPr lang="fr-FR" sz="1200" dirty="0"/>
              <a:t>.</a:t>
            </a:r>
          </a:p>
          <a:p>
            <a:pPr marL="342900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 err="1"/>
              <a:t>MLflow</a:t>
            </a:r>
            <a:r>
              <a:rPr lang="fr-FR" sz="1200" dirty="0"/>
              <a:t> </a:t>
            </a:r>
            <a:r>
              <a:rPr lang="fr-FR" sz="1200" dirty="0" err="1"/>
              <a:t>Tracking</a:t>
            </a:r>
            <a:r>
              <a:rPr lang="fr-FR" sz="1200" dirty="0"/>
              <a:t> – </a:t>
            </a:r>
            <a:r>
              <a:rPr lang="fr-FR" sz="1200" i="1" dirty="0"/>
              <a:t>Suivre et comparer les expériences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Stock: Les paramètres (hyperparamètres : </a:t>
            </a:r>
            <a:r>
              <a:rPr lang="fr-FR" sz="1200" i="1" dirty="0" err="1"/>
              <a:t>learning</a:t>
            </a:r>
            <a:r>
              <a:rPr lang="fr-FR" sz="1200" i="1" dirty="0"/>
              <a:t> rate, nombre d’arbres, etc.), Les métriques (</a:t>
            </a:r>
            <a:r>
              <a:rPr lang="fr-FR" sz="1200" i="1" dirty="0" err="1"/>
              <a:t>accuracy</a:t>
            </a:r>
            <a:r>
              <a:rPr lang="fr-FR" sz="1200" i="1" dirty="0"/>
              <a:t>, RMSE, AUC, </a:t>
            </a:r>
            <a:r>
              <a:rPr lang="fr-FR" sz="1200" i="1" dirty="0" err="1"/>
              <a:t>loss</a:t>
            </a:r>
            <a:r>
              <a:rPr lang="fr-FR" sz="1200" i="1" dirty="0"/>
              <a:t>…), Les artefacts (modèles entraînés, graphiques, fichiers, logs), Le code et l’environnement (optionnel)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Comparer facilement plusieurs </a:t>
            </a:r>
            <a:r>
              <a:rPr lang="fr-FR" sz="1200" i="1" dirty="0" err="1"/>
              <a:t>runsReproduire</a:t>
            </a:r>
            <a:r>
              <a:rPr lang="fr-FR" sz="1200" i="1" dirty="0"/>
              <a:t> une </a:t>
            </a:r>
            <a:r>
              <a:rPr lang="fr-FR" sz="1200" i="1" dirty="0" err="1"/>
              <a:t>expérienceComprendre</a:t>
            </a:r>
            <a:r>
              <a:rPr lang="fr-FR" sz="1200" i="1" dirty="0"/>
              <a:t> pourquoi un modèle est meilleur qu’un </a:t>
            </a:r>
            <a:r>
              <a:rPr lang="fr-FR" sz="1200" i="1" dirty="0" err="1"/>
              <a:t>autreCollaborer</a:t>
            </a:r>
            <a:r>
              <a:rPr lang="fr-FR" sz="1200" i="1" dirty="0"/>
              <a:t> avec d’autres data </a:t>
            </a:r>
            <a:r>
              <a:rPr lang="fr-FR" sz="1200" i="1" dirty="0" err="1"/>
              <a:t>scientists</a:t>
            </a:r>
            <a:r>
              <a:rPr lang="fr-FR" sz="1200" i="1" dirty="0"/>
              <a:t>.</a:t>
            </a:r>
          </a:p>
          <a:p>
            <a:pPr marL="342900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 err="1"/>
              <a:t>MLflow</a:t>
            </a:r>
            <a:r>
              <a:rPr lang="fr-FR" sz="1200" dirty="0"/>
              <a:t> </a:t>
            </a:r>
            <a:r>
              <a:rPr lang="fr-FR" sz="1200" dirty="0" err="1"/>
              <a:t>Models</a:t>
            </a:r>
            <a:r>
              <a:rPr lang="fr-FR" sz="1200" dirty="0"/>
              <a:t> – </a:t>
            </a:r>
            <a:r>
              <a:rPr lang="fr-FR" sz="1200" i="1" dirty="0"/>
              <a:t>Standardiser et déployer les modèles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Le modèle entraîné, Les métadonnées, Les dépendances nécessaires pour l’exécuter, Une ou plusieurs saveurs (</a:t>
            </a:r>
            <a:r>
              <a:rPr lang="fr-FR" sz="1200" i="1" dirty="0" err="1"/>
              <a:t>flavors</a:t>
            </a:r>
            <a:r>
              <a:rPr lang="fr-FR" sz="1200" i="1" dirty="0"/>
              <a:t>)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Déployer un modèle facilement (API REST, batch, cloud…) .Changer de </a:t>
            </a:r>
            <a:r>
              <a:rPr lang="fr-FR" sz="1200" dirty="0" err="1">
                <a:ea typeface="Arial Unicode MS"/>
              </a:rPr>
              <a:t>framework</a:t>
            </a:r>
            <a:r>
              <a:rPr lang="fr-FR" sz="1200" dirty="0">
                <a:ea typeface="Arial Unicode MS"/>
              </a:rPr>
              <a:t> sans changer tout le pipeline. Garantir la portabilité et la reproductibilité</a:t>
            </a:r>
            <a:endParaRPr lang="fr-FR" sz="1200" i="1" dirty="0"/>
          </a:p>
          <a:p>
            <a:pPr marL="342900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 err="1"/>
              <a:t>MLflow</a:t>
            </a:r>
            <a:r>
              <a:rPr lang="fr-FR" sz="1200" dirty="0"/>
              <a:t> </a:t>
            </a:r>
            <a:r>
              <a:rPr lang="fr-FR" sz="1200" dirty="0" err="1"/>
              <a:t>Projects</a:t>
            </a:r>
            <a:endParaRPr lang="fr-FR" sz="1200" i="1" dirty="0"/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/>
              <a:t>Un dépôt de code</a:t>
            </a:r>
            <a:r>
              <a:rPr lang="fr-FR" sz="1200" i="1" dirty="0"/>
              <a:t>: Le point d’entrée (script à exécuter)Les </a:t>
            </a:r>
            <a:r>
              <a:rPr lang="fr-FR" sz="1200" i="1" dirty="0" err="1"/>
              <a:t>paramètresL’environnement</a:t>
            </a:r>
            <a:r>
              <a:rPr lang="fr-FR" sz="1200" i="1" dirty="0"/>
              <a:t> (</a:t>
            </a:r>
            <a:r>
              <a:rPr lang="fr-FR" sz="1200" i="1" dirty="0" err="1"/>
              <a:t>conda</a:t>
            </a:r>
            <a:r>
              <a:rPr lang="fr-FR" sz="1200" i="1" dirty="0"/>
              <a:t>, </a:t>
            </a:r>
            <a:r>
              <a:rPr lang="fr-FR" sz="1200" i="1" dirty="0" err="1"/>
              <a:t>virtualenv</a:t>
            </a:r>
            <a:r>
              <a:rPr lang="fr-FR" sz="1200" i="1" dirty="0"/>
              <a:t>, Docker…)</a:t>
            </a:r>
          </a:p>
          <a:p>
            <a:pPr marL="800100" lvl="1" indent="-342900" algn="just">
              <a:spcBef>
                <a:spcPts val="200"/>
              </a:spcBef>
              <a:spcAft>
                <a:spcPts val="2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i="1" dirty="0"/>
              <a:t>Exécuter un projet ML de façon identique sur différentes machines. Lancer des expériences automatiquement. Faciliter le travail en équipe et l’industrialisation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FAD48F6-693F-2622-3A81-9EB739E1FAE1}"/>
              </a:ext>
            </a:extLst>
          </p:cNvPr>
          <p:cNvSpPr/>
          <p:nvPr/>
        </p:nvSpPr>
        <p:spPr>
          <a:xfrm>
            <a:off x="728524" y="58794"/>
            <a:ext cx="7917453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0D9CCF9-1D84-8CAB-14AA-852A9C488A1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48009D3-EA59-E5AE-135C-175643DDE2E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63F5CE2-D767-542F-6AE1-D430F5295645}"/>
              </a:ext>
            </a:extLst>
          </p:cNvPr>
          <p:cNvSpPr txBox="1"/>
          <p:nvPr/>
        </p:nvSpPr>
        <p:spPr>
          <a:xfrm>
            <a:off x="824976" y="311564"/>
            <a:ext cx="7501268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Objectif: les composants 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Tracking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,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et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Projects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72954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E786A-BCFD-113C-D993-11C7BCF84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6BE59BD-048C-163D-B2D5-6DA9C3A61444}"/>
              </a:ext>
            </a:extLst>
          </p:cNvPr>
          <p:cNvSpPr txBox="1"/>
          <p:nvPr/>
        </p:nvSpPr>
        <p:spPr>
          <a:xfrm>
            <a:off x="702127" y="1048864"/>
            <a:ext cx="79438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r>
              <a:rPr lang="fr-FR" sz="1200" dirty="0"/>
              <a:t>Installation des librairies: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3253066-8C13-FDEB-8C4B-BF012C305493}"/>
              </a:ext>
            </a:extLst>
          </p:cNvPr>
          <p:cNvSpPr/>
          <p:nvPr/>
        </p:nvSpPr>
        <p:spPr>
          <a:xfrm>
            <a:off x="728524" y="58794"/>
            <a:ext cx="6537895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F7FE5E4-1FBF-ACAB-AE5E-C00017CA926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97C2A40-B5D9-833C-3124-E31E1489B2C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563E6A2-935F-4218-9981-A6CCFC5EA2DE}"/>
              </a:ext>
            </a:extLst>
          </p:cNvPr>
          <p:cNvSpPr txBox="1"/>
          <p:nvPr/>
        </p:nvSpPr>
        <p:spPr>
          <a:xfrm>
            <a:off x="824976" y="311564"/>
            <a:ext cx="691397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Configuration du notebook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79F68A-5ACA-85FF-4CB4-82D7C0120706}"/>
              </a:ext>
            </a:extLst>
          </p:cNvPr>
          <p:cNvSpPr/>
          <p:nvPr/>
        </p:nvSpPr>
        <p:spPr>
          <a:xfrm>
            <a:off x="1220399" y="1363013"/>
            <a:ext cx="5969621" cy="7928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#exécuter puis redémarrer le kernel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uninstall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pyOpenSSL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cryptography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&gt;=43,&lt;47"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check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5A3A97-A933-40FA-013D-F88BEEAE6C76}"/>
              </a:ext>
            </a:extLst>
          </p:cNvPr>
          <p:cNvSpPr/>
          <p:nvPr/>
        </p:nvSpPr>
        <p:spPr>
          <a:xfrm>
            <a:off x="1220398" y="2655674"/>
            <a:ext cx="5969621" cy="6227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#exécuter puis redémarrer le kernel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q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scikit</a:t>
            </a: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learn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pandas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19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6A276-C86B-AEC6-E308-7C35D787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4FC19BC-C6B9-D52F-E863-AD6083E93ACD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6349C9E-C420-7C34-4DD2-52C33A6B4D81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0582AC9-8C69-D855-1A0C-0F50865CBFF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874184-002C-4561-082F-4DD97903B14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14BFC62-F8D1-5667-BDE3-640CA60E25DC}"/>
              </a:ext>
            </a:extLst>
          </p:cNvPr>
          <p:cNvSpPr txBox="1"/>
          <p:nvPr/>
        </p:nvSpPr>
        <p:spPr>
          <a:xfrm>
            <a:off x="824975" y="311564"/>
            <a:ext cx="8162387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en-US" sz="2500" b="1" dirty="0">
                <a:solidFill>
                  <a:schemeClr val="bg1"/>
                </a:solidFill>
                <a:latin typeface="+mj-lt"/>
              </a:rPr>
              <a:t>1 – Configuration DB Tracking (backend SQLite + experiment)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34E2AC-97D8-C610-7C7D-B07AAAAECF12}"/>
              </a:ext>
            </a:extLst>
          </p:cNvPr>
          <p:cNvSpPr/>
          <p:nvPr/>
        </p:nvSpPr>
        <p:spPr>
          <a:xfrm>
            <a:off x="1220399" y="1363012"/>
            <a:ext cx="5969621" cy="346892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Backend SQLite local (robuste)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db_path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gettempdir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mlflow_demo.db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"sqlite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:///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db_path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set_tracking_uri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-notebook"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set_experiment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que `!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run` log au même endroit que Python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"MLFLOW_TRACKING_URI"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"MLFLOW_EXPERIMENT_NAME"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Tracking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URI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tracking_uri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Experiment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 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2686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56756-93DE-11A9-BB5C-E2BC0505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39B2E6C-505A-AAD5-3286-AD45AD540D3C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6A7724E7-2686-B58B-E29C-3C1572511D41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3B3667F-3664-AEB9-79C4-F8AD0E79950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8FA7654-8C64-12C1-72A2-07067CADFB5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A960945-DCEB-379F-B212-547311C356DC}"/>
              </a:ext>
            </a:extLst>
          </p:cNvPr>
          <p:cNvSpPr txBox="1"/>
          <p:nvPr/>
        </p:nvSpPr>
        <p:spPr>
          <a:xfrm>
            <a:off x="824976" y="311564"/>
            <a:ext cx="7943850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2 - Préparer les données (Iris)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F2450A-9B52-0B22-B413-29DF0E6A2A3B}"/>
              </a:ext>
            </a:extLst>
          </p:cNvPr>
          <p:cNvSpPr/>
          <p:nvPr/>
        </p:nvSpPr>
        <p:spPr>
          <a:xfrm>
            <a:off x="1220399" y="1363012"/>
            <a:ext cx="5969621" cy="253991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datasets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model_selection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train_test_split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.target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train_test_split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test_size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0.25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stratify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331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5D6B2-DC11-1B4C-3DFE-0579966C4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38AA356-21C9-0DF8-C15B-69EAF1C63022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Configuration du notebook: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FDDB59E-A947-0F61-F792-5FD4443ACCE2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E74384E-87EA-59A4-8378-1967329CFEB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629A702-D8D4-7030-3F6F-81B6A0EDEC4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ACEFFEB8-BDB0-57C5-F1E3-19DD19DA0E9F}"/>
              </a:ext>
            </a:extLst>
          </p:cNvPr>
          <p:cNvSpPr txBox="1"/>
          <p:nvPr/>
        </p:nvSpPr>
        <p:spPr>
          <a:xfrm>
            <a:off x="824976" y="311564"/>
            <a:ext cx="7943850" cy="62324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=== 3 - TRACKING : entraîner + loguer params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metrics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artifact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C27C4F-27CF-23B3-75CA-24E2ECC5645B}"/>
              </a:ext>
            </a:extLst>
          </p:cNvPr>
          <p:cNvSpPr/>
          <p:nvPr/>
        </p:nvSpPr>
        <p:spPr>
          <a:xfrm>
            <a:off x="1220399" y="1363012"/>
            <a:ext cx="5969621" cy="253991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datasets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model_selection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train_test_split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.target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train_test_split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test_size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0.25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stratify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010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9B77-970F-DDA2-3152-BF17EBFF4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E258972-3D2C-30F1-339F-EDAF628CCE69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05596A7-2C94-582E-A80C-B5DF0FF3DBB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8E9E09E-C141-C2FE-2B76-1512549554D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F6BEF38-F792-A2E1-15B6-E11169301B76}"/>
              </a:ext>
            </a:extLst>
          </p:cNvPr>
          <p:cNvSpPr txBox="1"/>
          <p:nvPr/>
        </p:nvSpPr>
        <p:spPr>
          <a:xfrm>
            <a:off x="824976" y="311564"/>
            <a:ext cx="7943850" cy="62324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=== 3 - TRACKING : entraîner + loguer params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metrics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artifact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/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001C00-2A6A-C540-7087-25402A51C66E}"/>
              </a:ext>
            </a:extLst>
          </p:cNvPr>
          <p:cNvSpPr/>
          <p:nvPr/>
        </p:nvSpPr>
        <p:spPr>
          <a:xfrm>
            <a:off x="1033626" y="1264484"/>
            <a:ext cx="7526550" cy="37073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pandas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ensemble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RandomForestClassifier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metrics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.sklearn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start_run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run_name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tracking-rf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RandomForestClassifier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(**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log_metric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Series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feature_importances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.columns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sort_values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to_csv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"feature_importances.csv"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log_artifact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"feature_importances.csv"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.sklearn.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artifact_path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.info.run_id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acc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84980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F36D8-0CB7-D235-BFFC-BF876EEE8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8EEF9CE9-7307-2D39-6DA9-DCD0887A703D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Stockage des versions de modèles: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1798A5A-268A-5317-C413-800B851E8EFA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5E10848-F27E-42A4-86EF-B9BDC31C934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B0BAC0E-F438-FFFC-6C99-00DA98A30F0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54B6EF6-968D-323E-9D59-908C54DBDC4D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Trackings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4 - TRACKING : lister les runs dans l’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experiment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8E49C9-4650-D2F6-2FD2-8A5A84FB5087}"/>
              </a:ext>
            </a:extLst>
          </p:cNvPr>
          <p:cNvSpPr/>
          <p:nvPr/>
        </p:nvSpPr>
        <p:spPr>
          <a:xfrm>
            <a:off x="1033626" y="1405730"/>
            <a:ext cx="7526550" cy="114417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get_experiment_by_name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"MLFLOW_EXPERIMENT_NAME"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search_runs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experiment_ids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.experiment_id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order_by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start_time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DESC"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metrics.accuracy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BAAEF9E-A979-EDC3-75DB-D89D01C66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449" y="2735236"/>
            <a:ext cx="3329102" cy="228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617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F74A6-D047-35FA-6CE8-A5632098D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3F8F80B1-F166-CD56-14D0-FCFB17E77662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1C7B22A-2B7D-09D4-7242-94BA861B2AB8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ABD9F7F-B8F1-4160-CCCE-20E51EF8AA7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397D72B-6D42-45D3-FE56-5E47DFEE908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9298A51-071B-DCEA-C252-95FAAFC33F36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4A7787-5A84-0868-A8C0-1DA745C52353}"/>
              </a:ext>
            </a:extLst>
          </p:cNvPr>
          <p:cNvSpPr/>
          <p:nvPr/>
        </p:nvSpPr>
        <p:spPr>
          <a:xfrm>
            <a:off x="1033626" y="1382752"/>
            <a:ext cx="7526550" cy="35014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textwrap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pathlib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tempfile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gettempdir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mlflow_project_demo_notebook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"train.py"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write_text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textwrap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dedent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\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argparse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mlflow.sklearn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import pandas as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sklearn.datasets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sklearn.model_selection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train_test_split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sklearn.metrics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accuracy_score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sklearn.ensemble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import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RandomForestClassifier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… Suite page suivante</a:t>
            </a:r>
          </a:p>
        </p:txBody>
      </p:sp>
    </p:spTree>
    <p:extLst>
      <p:ext uri="{BB962C8B-B14F-4D97-AF65-F5344CB8AC3E}">
        <p14:creationId xmlns:p14="http://schemas.microsoft.com/office/powerpoint/2010/main" val="3037187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637F6-D12F-5D72-BF4A-D26D50474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828F9659-29CD-FEB7-09BB-9277F01CE3F4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DD843D1-73C3-11DE-C6E8-35B04D439714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62B6674-4499-0CB3-63A8-351C4AB1D2D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35CF0A1-CC48-DECF-5D16-4ADF3D2630C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CAB03C0-95FA-E746-644A-F061791CD869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9AC6CB-DDBC-53F5-E474-8C1E1FB68DA3}"/>
              </a:ext>
            </a:extLst>
          </p:cNvPr>
          <p:cNvSpPr/>
          <p:nvPr/>
        </p:nvSpPr>
        <p:spPr>
          <a:xfrm>
            <a:off x="1033626" y="1405730"/>
            <a:ext cx="7735200" cy="34262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):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# IMPORTANT 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Projects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):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# -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run crée déjà un run et fournit MLFLOW_RUN_ID / MLFLOW_EXPERIMENT_ID via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env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# - On ne relance pas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mlflow.start_run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() ici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iris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X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iris.data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y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iris.target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train_test_split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    X, y,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test_size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=0.25,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=42,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stratify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=y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params = {"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":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": 42}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model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RandomForestClassifier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(**params)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model.fit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y_train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acc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accuracy_score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y_test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model.predict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dirty="0">
                <a:solidFill>
                  <a:srgbClr val="ABB2BF"/>
                </a:solidFill>
                <a:latin typeface="Consolas" panose="020B0609020204030204" pitchFamily="49" charset="0"/>
              </a:rPr>
              <a:t>… suite page suivante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746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4D126-A058-0F6B-31C8-890D23D31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C6C8722-C1B5-DE2D-8D0F-95493384C307}"/>
              </a:ext>
            </a:extLst>
          </p:cNvPr>
          <p:cNvSpPr txBox="1"/>
          <p:nvPr/>
        </p:nvSpPr>
        <p:spPr>
          <a:xfrm>
            <a:off x="702127" y="1048864"/>
            <a:ext cx="79438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(</a:t>
            </a:r>
            <a:r>
              <a:rPr lang="fr-FR" sz="1200" dirty="0" err="1"/>
              <a:t>MLproject</a:t>
            </a:r>
            <a:r>
              <a:rPr lang="fr-FR" sz="1200" dirty="0"/>
              <a:t> + train.py):</a:t>
            </a:r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  <a:p>
            <a:endParaRPr lang="fr-FR" sz="1200" dirty="0"/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1107C47-A405-139E-BD00-F31C7AA2FE75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CEE3EDE-E056-48BA-0A84-4B9C297DD87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9CBBE73-1461-3A6F-F4C1-AF8B2320D05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2C4B711-5B21-C34C-7C57-1331D845B165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Projects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5 - Créer un dossier “Project”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F17F43-5524-DC8A-E704-AA817DAC83A6}"/>
              </a:ext>
            </a:extLst>
          </p:cNvPr>
          <p:cNvSpPr/>
          <p:nvPr/>
        </p:nvSpPr>
        <p:spPr>
          <a:xfrm>
            <a:off x="1033626" y="1405730"/>
            <a:ext cx="7526550" cy="3597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mlflow.log_params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(params)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mlflow.log_metric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accuracy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", acc)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fi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pd.Series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model.feature_importances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_, index=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X.columns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sort_values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ascending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=False)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fi.to_csv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("feature_importances.csv")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mlflow.log_artifact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("feature_importances.csv")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mlflow.sklearn.log_model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(model,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artifact_path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="model")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if __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__ == "__main__":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p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argparse.ArgumentParser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p.add_argument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("--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", type=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default=200)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p.add_argument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("--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", type=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default=5)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args =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p.parse_args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    main(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args.n_estimators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args.max_depth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"train.py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updated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project_dir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"train.py"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52316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65CED-24B5-4A1D-B7A8-DA2B873F5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EBD0445-4FF3-0BB8-06D9-BF497ED62967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B5F9739-2042-50DD-DB16-09D177DB388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BCBF6F1-5CAE-C315-8619-35D4DA35104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55DB31F-D0CE-DFD0-7F89-2C005BA0D107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7 -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retrouver le dernier run et charger le modèle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 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767341-D80B-56E2-BB2B-099D718E3E1C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.pyfunc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get_experiment_by_name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-notebook"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search_runs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.experiment_id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order_by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start_time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DESC"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max_results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.iloc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.pyfunc.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"runs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:/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/model"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73892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477B4-AF9D-4DE1-120C-72FEA7BDD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463147D-BE07-5FFB-4042-3FD05DCF7A3E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8B6D7C3-F698-85E8-B380-F4ECA64744F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C93AB01-5D89-DE3E-2453-147601B4120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2933913-6DE9-D1F9-8912-7902F109B95B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7 -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recharger un modèle</a:t>
            </a:r>
            <a:r>
              <a:rPr lang="en-US" sz="2000" b="1" dirty="0">
                <a:solidFill>
                  <a:schemeClr val="bg1"/>
                </a:solidFill>
                <a:latin typeface="+mj-lt"/>
              </a:rPr>
              <a:t> </a:t>
            </a:r>
            <a:endParaRPr lang="fr-FR" sz="20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617927-8A1A-AC9E-255F-7852243FD758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.pyfunc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get_experiment_by_name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-notebook"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search_runs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.experiment_id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order_by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start_time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DESC"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max_results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.iloc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mlflow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.pyfunc.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"runs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:/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/model"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67661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AA8C5-6914-A012-DAB7-150B5C7CC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9B4C815-5257-6578-6CBC-F21471C37F90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31F71B8-6498-5EB7-CDE6-D6C3C2DEFCF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98DA5D0-0B75-23CB-41F6-843267F3D78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5E3E415-03B3-8C4A-E1C1-C5C37DE0D072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8 – Faire une prédiction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EE2800-D222-2318-55E6-398B184E9AEE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datasets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as_frame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tail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871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AEC74-F4B9-2BAA-9ED2-86E01872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0FB7C39-5FEE-4C5D-658C-DFC37B878A18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4B7942-6CC0-6FF5-E22F-D86C246C872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317A032-DD85-F80C-0B26-98A09D89508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B860420-A43A-6AA8-002B-8E960C2A0B8A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9 – Afficher la précision du modèle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0A018-27B5-0B1B-B0B2-82A2745D63C9}"/>
              </a:ext>
            </a:extLst>
          </p:cNvPr>
          <p:cNvSpPr/>
          <p:nvPr/>
        </p:nvSpPr>
        <p:spPr>
          <a:xfrm>
            <a:off x="1033626" y="1405730"/>
            <a:ext cx="7526550" cy="182069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metrics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.target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accuracy_score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y_pred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0350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C9DC2-1297-BE69-2D5E-1CD5BC4C0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95152A7-E111-E6DB-594D-8DCA0BCC1B35}"/>
              </a:ext>
            </a:extLst>
          </p:cNvPr>
          <p:cNvSpPr/>
          <p:nvPr/>
        </p:nvSpPr>
        <p:spPr>
          <a:xfrm>
            <a:off x="728524" y="58794"/>
            <a:ext cx="8162387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5F8D35E-6B40-998C-6A1D-62FD6C10872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F3BF508-B1D4-92C8-043D-8AA358B19B6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D99F032-7120-3064-91FE-18FBC6B7A41D}"/>
              </a:ext>
            </a:extLst>
          </p:cNvPr>
          <p:cNvSpPr txBox="1"/>
          <p:nvPr/>
        </p:nvSpPr>
        <p:spPr>
          <a:xfrm>
            <a:off x="824976" y="311564"/>
            <a:ext cx="7943850" cy="37702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000" b="1" dirty="0">
                <a:solidFill>
                  <a:schemeClr val="bg1"/>
                </a:solidFill>
                <a:latin typeface="+mj-lt"/>
              </a:rPr>
              <a:t> ===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MLflow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2000" b="1" dirty="0" err="1">
                <a:solidFill>
                  <a:schemeClr val="bg1"/>
                </a:solidFill>
                <a:latin typeface="+mj-lt"/>
              </a:rPr>
              <a:t>Models</a:t>
            </a:r>
            <a:r>
              <a:rPr lang="fr-FR" sz="2000" b="1" dirty="0">
                <a:solidFill>
                  <a:schemeClr val="bg1"/>
                </a:solidFill>
                <a:latin typeface="+mj-lt"/>
              </a:rPr>
              <a:t> === 11 – Générer le webservice et le consommer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DB7888-7B76-2770-5645-EDC472AC2643}"/>
              </a:ext>
            </a:extLst>
          </p:cNvPr>
          <p:cNvSpPr/>
          <p:nvPr/>
        </p:nvSpPr>
        <p:spPr>
          <a:xfrm>
            <a:off x="1033626" y="1405730"/>
            <a:ext cx="7526550" cy="103267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'mlflow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serve -m "runs:/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run_id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/model" -p 5001 --no-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conda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2D0BB3-B362-0AB3-015A-161852D47B5B}"/>
              </a:ext>
            </a:extLst>
          </p:cNvPr>
          <p:cNvSpPr/>
          <p:nvPr/>
        </p:nvSpPr>
        <p:spPr>
          <a:xfrm>
            <a:off x="1033626" y="2985486"/>
            <a:ext cx="7526550" cy="103267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dirty="0" err="1"/>
              <a:t>curl</a:t>
            </a:r>
            <a:r>
              <a:rPr lang="fr-FR" sz="1000" dirty="0"/>
              <a:t> </a:t>
            </a:r>
            <a:r>
              <a:rPr lang="fr-FR" sz="1000" dirty="0">
                <a:hlinkClick r:id="rId2" tooltip="http://127.0.0.1:5000/invocations"/>
              </a:rPr>
              <a:t>http://127.0.0.1:5000/invocations</a:t>
            </a:r>
            <a:r>
              <a:rPr lang="fr-FR" sz="1000" dirty="0"/>
              <a:t> -H "</a:t>
            </a:r>
            <a:r>
              <a:rPr lang="fr-FR" sz="1000" dirty="0" err="1"/>
              <a:t>Content-Type:application</a:t>
            </a:r>
            <a:r>
              <a:rPr lang="fr-FR" sz="1000" dirty="0"/>
              <a:t>/</a:t>
            </a:r>
            <a:r>
              <a:rPr lang="fr-FR" sz="1000" dirty="0" err="1"/>
              <a:t>json</a:t>
            </a:r>
            <a:r>
              <a:rPr lang="fr-FR" sz="1000" dirty="0"/>
              <a:t>"  --data '{"inputs": [[1, 2, 3,4]]}'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3974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Props1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4175</TotalTime>
  <Words>2100</Words>
  <Application>Microsoft Office PowerPoint</Application>
  <PresentationFormat>Affichage à l'écran (16:9)</PresentationFormat>
  <Paragraphs>237</Paragraphs>
  <Slides>18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32" baseType="lpstr">
      <vt:lpstr>Abadi Extra Light</vt:lpstr>
      <vt:lpstr>Arial UNICODE MS</vt:lpstr>
      <vt:lpstr>Arial UNICODE MS</vt:lpstr>
      <vt:lpstr>FUTURA MEDIUM</vt:lpstr>
      <vt:lpstr>Agency FB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185</cp:revision>
  <dcterms:created xsi:type="dcterms:W3CDTF">2021-01-18T11:01:50Z</dcterms:created>
  <dcterms:modified xsi:type="dcterms:W3CDTF">2025-12-20T11:42:36Z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