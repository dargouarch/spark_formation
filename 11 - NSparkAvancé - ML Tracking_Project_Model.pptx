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3"/>
  </p:notesMasterIdLst>
  <p:sldIdLst>
    <p:sldId id="263" r:id="rId5"/>
    <p:sldId id="2134807190" r:id="rId6"/>
    <p:sldId id="2134807213" r:id="rId7"/>
    <p:sldId id="2134807193" r:id="rId8"/>
    <p:sldId id="2134807214" r:id="rId9"/>
    <p:sldId id="2134807215" r:id="rId10"/>
    <p:sldId id="2134807216" r:id="rId11"/>
    <p:sldId id="2134807217" r:id="rId12"/>
    <p:sldId id="2134807218" r:id="rId13"/>
    <p:sldId id="2134807219" r:id="rId14"/>
    <p:sldId id="2134807220" r:id="rId15"/>
    <p:sldId id="2134807221" r:id="rId16"/>
    <p:sldId id="2134807222" r:id="rId17"/>
    <p:sldId id="2134807223" r:id="rId18"/>
    <p:sldId id="2134807224" r:id="rId19"/>
    <p:sldId id="2134807225" r:id="rId20"/>
    <p:sldId id="2134807226" r:id="rId21"/>
    <p:sldId id="269" r:id="rId22"/>
  </p:sldIdLst>
  <p:sldSz cx="9144000" cy="5143500" type="screen16x9"/>
  <p:notesSz cx="9144000" cy="51435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8200"/>
    <a:srgbClr val="E89D06"/>
    <a:srgbClr val="606A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Style moyen 1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Style léger 2 - Accentuation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78" autoAdjust="0"/>
    <p:restoredTop sz="94660"/>
  </p:normalViewPr>
  <p:slideViewPr>
    <p:cSldViewPr snapToGrid="0">
      <p:cViewPr varScale="1">
        <p:scale>
          <a:sx n="199" d="100"/>
          <a:sy n="199" d="100"/>
        </p:scale>
        <p:origin x="672" y="15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3371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EFCF4C-C656-4173-9B19-E1AF5C686E36}" type="datetimeFigureOut">
              <a:rPr lang="fr-FR" smtClean="0"/>
              <a:t>30/09/2026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E481D4-7198-485D-BC3A-9DB0AF6D6A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9205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481D4-7198-485D-BC3A-9DB0AF6D6A6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4745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8B0EE-DB74-4337-9E39-4F4401AC088C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9741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597370" y="4578722"/>
            <a:ext cx="429860" cy="2832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>
          <a:xfrm>
            <a:off x="457200" y="4783455"/>
            <a:ext cx="2103120" cy="276999"/>
          </a:xfrm>
        </p:spPr>
        <p:txBody>
          <a:bodyPr/>
          <a:lstStyle/>
          <a:p>
            <a:fld id="{FE69C2FC-FDFD-4827-B361-612217FFD460}" type="datetimeFigureOut">
              <a:rPr lang="fr-FR" smtClean="0"/>
              <a:t>30/09/2026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108960" y="4783455"/>
            <a:ext cx="2926080" cy="276999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874741" y="4894851"/>
            <a:ext cx="215900" cy="307777"/>
          </a:xfrm>
        </p:spPr>
        <p:txBody>
          <a:bodyPr/>
          <a:lstStyle/>
          <a:p>
            <a:fld id="{145EDAB0-9B87-4A61-82A7-24EB9E95EB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2946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876384" y="2592654"/>
            <a:ext cx="4569441" cy="1384995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965951" y="3982528"/>
            <a:ext cx="4390307" cy="276999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6830C2E-4564-4B17-8002-21FAB13655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0999" r="11596"/>
          <a:stretch/>
        </p:blipFill>
        <p:spPr>
          <a:xfrm>
            <a:off x="-2024" y="0"/>
            <a:ext cx="7077950" cy="51753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C26AB9D-2720-48E7-9F02-9FF73EC7320C}"/>
              </a:ext>
            </a:extLst>
          </p:cNvPr>
          <p:cNvSpPr/>
          <p:nvPr userDrawn="1"/>
        </p:nvSpPr>
        <p:spPr>
          <a:xfrm>
            <a:off x="5272" y="1"/>
            <a:ext cx="8138265" cy="5159408"/>
          </a:xfrm>
          <a:prstGeom prst="rect">
            <a:avLst/>
          </a:prstGeom>
          <a:solidFill>
            <a:srgbClr val="676D7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solidFill>
                <a:schemeClr val="bg1"/>
              </a:solidFill>
            </a:endParaRPr>
          </a:p>
        </p:txBody>
      </p:sp>
      <p:sp>
        <p:nvSpPr>
          <p:cNvPr id="11" name="Parallélogramme 10">
            <a:extLst>
              <a:ext uri="{FF2B5EF4-FFF2-40B4-BE49-F238E27FC236}">
                <a16:creationId xmlns:a16="http://schemas.microsoft.com/office/drawing/2014/main" id="{89BE8FA3-37AB-4349-895E-C9147FFA4740}"/>
              </a:ext>
            </a:extLst>
          </p:cNvPr>
          <p:cNvSpPr/>
          <p:nvPr userDrawn="1"/>
        </p:nvSpPr>
        <p:spPr>
          <a:xfrm>
            <a:off x="4348264" y="-15909"/>
            <a:ext cx="5287890" cy="5175317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</p:spTree>
    <p:extLst>
      <p:ext uri="{BB962C8B-B14F-4D97-AF65-F5344CB8AC3E}">
        <p14:creationId xmlns:p14="http://schemas.microsoft.com/office/powerpoint/2010/main" val="1869992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8158" y="790177"/>
            <a:ext cx="7865109" cy="144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74741" y="4894851"/>
            <a:ext cx="215900" cy="18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7" r:id="rId6"/>
    <p:sldLayoutId id="2147483668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127.0.0.1:5000/invocations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hyperlink" Target="http://www.mgt-conseils.com/" TargetMode="External"/><Relationship Id="rId10" Type="http://schemas.openxmlformats.org/officeDocument/2006/relationships/image" Target="../media/image12.png"/><Relationship Id="rId4" Type="http://schemas.openxmlformats.org/officeDocument/2006/relationships/image" Target="../media/image7.emf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ZoneTexte 13">
            <a:extLst>
              <a:ext uri="{FF2B5EF4-FFF2-40B4-BE49-F238E27FC236}">
                <a16:creationId xmlns:a16="http://schemas.microsoft.com/office/drawing/2014/main" id="{6645293F-0238-41E2-AE61-25FF444A98FA}"/>
              </a:ext>
            </a:extLst>
          </p:cNvPr>
          <p:cNvSpPr txBox="1"/>
          <p:nvPr/>
        </p:nvSpPr>
        <p:spPr>
          <a:xfrm>
            <a:off x="5241241" y="2668269"/>
            <a:ext cx="33179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 b="1">
                <a:solidFill>
                  <a:srgbClr val="EE8200"/>
                </a:solidFill>
                <a:latin typeface="Arial UNICODE MS"/>
              </a:rPr>
              <a:t>L’accélérateur </a:t>
            </a:r>
            <a:br>
              <a:rPr lang="fr-FR" sz="2000" b="1">
                <a:solidFill>
                  <a:srgbClr val="EE8200"/>
                </a:solidFill>
                <a:latin typeface="Arial UNICODE MS"/>
              </a:rPr>
            </a:br>
            <a:r>
              <a:rPr lang="fr-FR" sz="2000" b="1">
                <a:solidFill>
                  <a:srgbClr val="EE8200"/>
                </a:solidFill>
                <a:latin typeface="Arial UNICODE MS"/>
              </a:rPr>
              <a:t>de vos Performances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27EBDE4-AF21-46CC-A637-A8E445A354FC}"/>
              </a:ext>
            </a:extLst>
          </p:cNvPr>
          <p:cNvSpPr txBox="1"/>
          <p:nvPr/>
        </p:nvSpPr>
        <p:spPr>
          <a:xfrm>
            <a:off x="5425360" y="3454631"/>
            <a:ext cx="30479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204020104020204" pitchFamily="34" charset="0"/>
              </a:rPr>
              <a:t>Cabinet de Conseil et Formation spécialisé dans l’Amélioration des Performances des Entreprises</a:t>
            </a:r>
          </a:p>
        </p:txBody>
      </p:sp>
      <p:grpSp>
        <p:nvGrpSpPr>
          <p:cNvPr id="4" name="Google Shape;1211;p42">
            <a:extLst>
              <a:ext uri="{FF2B5EF4-FFF2-40B4-BE49-F238E27FC236}">
                <a16:creationId xmlns:a16="http://schemas.microsoft.com/office/drawing/2014/main" id="{0805AA11-DDF0-28CE-7329-E9ABB8802C46}"/>
              </a:ext>
            </a:extLst>
          </p:cNvPr>
          <p:cNvGrpSpPr/>
          <p:nvPr/>
        </p:nvGrpSpPr>
        <p:grpSpPr>
          <a:xfrm>
            <a:off x="866124" y="1529312"/>
            <a:ext cx="2906404" cy="2211684"/>
            <a:chOff x="4743450" y="1116900"/>
            <a:chExt cx="2486100" cy="1690800"/>
          </a:xfrm>
        </p:grpSpPr>
        <p:sp>
          <p:nvSpPr>
            <p:cNvPr id="5" name="Google Shape;1212;p42">
              <a:extLst>
                <a:ext uri="{FF2B5EF4-FFF2-40B4-BE49-F238E27FC236}">
                  <a16:creationId xmlns:a16="http://schemas.microsoft.com/office/drawing/2014/main" id="{19E28FA2-BA25-9760-C0E3-7AB39B1EEB5E}"/>
                </a:ext>
              </a:extLst>
            </p:cNvPr>
            <p:cNvSpPr/>
            <p:nvPr/>
          </p:nvSpPr>
          <p:spPr>
            <a:xfrm>
              <a:off x="4743450" y="1116900"/>
              <a:ext cx="2486100" cy="1690800"/>
            </a:xfrm>
            <a:prstGeom prst="roundRect">
              <a:avLst>
                <a:gd name="adj" fmla="val 16667"/>
              </a:avLst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213;p42">
              <a:extLst>
                <a:ext uri="{FF2B5EF4-FFF2-40B4-BE49-F238E27FC236}">
                  <a16:creationId xmlns:a16="http://schemas.microsoft.com/office/drawing/2014/main" id="{F4C6AACD-E2C4-85E5-CF68-119723003E9E}"/>
                </a:ext>
              </a:extLst>
            </p:cNvPr>
            <p:cNvSpPr/>
            <p:nvPr/>
          </p:nvSpPr>
          <p:spPr>
            <a:xfrm>
              <a:off x="4743450" y="1708870"/>
              <a:ext cx="2486100" cy="729400"/>
            </a:xfrm>
            <a:prstGeom prst="rect">
              <a:avLst/>
            </a:prstGeom>
            <a:gradFill>
              <a:gsLst>
                <a:gs pos="83000">
                  <a:srgbClr val="E89D06"/>
                </a:gs>
                <a:gs pos="38000">
                  <a:srgbClr val="E89D06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just"/>
              <a:endParaRPr lang="fr-FR" sz="2400" b="1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endParaRPr>
            </a:p>
          </p:txBody>
        </p:sp>
        <p:sp>
          <p:nvSpPr>
            <p:cNvPr id="7" name="Google Shape;1214;p42">
              <a:extLst>
                <a:ext uri="{FF2B5EF4-FFF2-40B4-BE49-F238E27FC236}">
                  <a16:creationId xmlns:a16="http://schemas.microsoft.com/office/drawing/2014/main" id="{10DB14C9-1189-F962-9C46-48F2025E5D4E}"/>
                </a:ext>
              </a:extLst>
            </p:cNvPr>
            <p:cNvSpPr txBox="1"/>
            <p:nvPr/>
          </p:nvSpPr>
          <p:spPr>
            <a:xfrm>
              <a:off x="4754902" y="2510233"/>
              <a:ext cx="2283900" cy="2620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oboto"/>
                  <a:ea typeface="Roboto"/>
                  <a:cs typeface="Roboto"/>
                  <a:sym typeface="Roboto"/>
                </a:rPr>
                <a:t>18/11/2025</a:t>
              </a:r>
            </a:p>
          </p:txBody>
        </p:sp>
        <p:grpSp>
          <p:nvGrpSpPr>
            <p:cNvPr id="8" name="Google Shape;1215;p42">
              <a:extLst>
                <a:ext uri="{FF2B5EF4-FFF2-40B4-BE49-F238E27FC236}">
                  <a16:creationId xmlns:a16="http://schemas.microsoft.com/office/drawing/2014/main" id="{6C607AC6-5841-D5C0-CDC0-064B9E45A8F0}"/>
                </a:ext>
              </a:extLst>
            </p:cNvPr>
            <p:cNvGrpSpPr/>
            <p:nvPr/>
          </p:nvGrpSpPr>
          <p:grpSpPr>
            <a:xfrm>
              <a:off x="5790959" y="1236253"/>
              <a:ext cx="394134" cy="394090"/>
              <a:chOff x="-64764500" y="2280550"/>
              <a:chExt cx="316650" cy="319800"/>
            </a:xfrm>
          </p:grpSpPr>
          <p:sp>
            <p:nvSpPr>
              <p:cNvPr id="9" name="Google Shape;1216;p42">
                <a:extLst>
                  <a:ext uri="{FF2B5EF4-FFF2-40B4-BE49-F238E27FC236}">
                    <a16:creationId xmlns:a16="http://schemas.microsoft.com/office/drawing/2014/main" id="{185FED04-2E27-BE7C-9209-400D4E0C0465}"/>
                  </a:ext>
                </a:extLst>
              </p:cNvPr>
              <p:cNvSpPr/>
              <p:nvPr/>
            </p:nvSpPr>
            <p:spPr>
              <a:xfrm>
                <a:off x="-64764500" y="2280550"/>
                <a:ext cx="316650" cy="319800"/>
              </a:xfrm>
              <a:custGeom>
                <a:avLst/>
                <a:gdLst/>
                <a:ahLst/>
                <a:cxnLst/>
                <a:rect l="l" t="t" r="r" b="b"/>
                <a:pathLst>
                  <a:path w="12666" h="12792" extrusionOk="0">
                    <a:moveTo>
                      <a:pt x="11405" y="820"/>
                    </a:moveTo>
                    <a:cubicBezTo>
                      <a:pt x="11657" y="820"/>
                      <a:pt x="11815" y="1009"/>
                      <a:pt x="11815" y="1261"/>
                    </a:cubicBezTo>
                    <a:cubicBezTo>
                      <a:pt x="11815" y="1481"/>
                      <a:pt x="11657" y="1670"/>
                      <a:pt x="11405" y="1670"/>
                    </a:cubicBezTo>
                    <a:lnTo>
                      <a:pt x="1229" y="1670"/>
                    </a:lnTo>
                    <a:cubicBezTo>
                      <a:pt x="977" y="1670"/>
                      <a:pt x="788" y="1481"/>
                      <a:pt x="788" y="1261"/>
                    </a:cubicBezTo>
                    <a:cubicBezTo>
                      <a:pt x="788" y="1009"/>
                      <a:pt x="977" y="820"/>
                      <a:pt x="1229" y="820"/>
                    </a:cubicBezTo>
                    <a:close/>
                    <a:moveTo>
                      <a:pt x="10996" y="2521"/>
                    </a:moveTo>
                    <a:lnTo>
                      <a:pt x="10996" y="8286"/>
                    </a:lnTo>
                    <a:lnTo>
                      <a:pt x="1607" y="8286"/>
                    </a:lnTo>
                    <a:lnTo>
                      <a:pt x="1607" y="2521"/>
                    </a:lnTo>
                    <a:close/>
                    <a:moveTo>
                      <a:pt x="6302" y="11027"/>
                    </a:moveTo>
                    <a:cubicBezTo>
                      <a:pt x="6554" y="11027"/>
                      <a:pt x="6743" y="11216"/>
                      <a:pt x="6743" y="11437"/>
                    </a:cubicBezTo>
                    <a:cubicBezTo>
                      <a:pt x="6743" y="11689"/>
                      <a:pt x="6522" y="11878"/>
                      <a:pt x="6302" y="11878"/>
                    </a:cubicBezTo>
                    <a:cubicBezTo>
                      <a:pt x="6050" y="11878"/>
                      <a:pt x="5892" y="11689"/>
                      <a:pt x="5892" y="11437"/>
                    </a:cubicBezTo>
                    <a:cubicBezTo>
                      <a:pt x="5892" y="11216"/>
                      <a:pt x="6113" y="11027"/>
                      <a:pt x="6302" y="11027"/>
                    </a:cubicBezTo>
                    <a:close/>
                    <a:moveTo>
                      <a:pt x="1229" y="1"/>
                    </a:moveTo>
                    <a:cubicBezTo>
                      <a:pt x="536" y="1"/>
                      <a:pt x="1" y="536"/>
                      <a:pt x="1" y="1261"/>
                    </a:cubicBezTo>
                    <a:cubicBezTo>
                      <a:pt x="1" y="1797"/>
                      <a:pt x="347" y="2238"/>
                      <a:pt x="820" y="2427"/>
                    </a:cubicBezTo>
                    <a:lnTo>
                      <a:pt x="820" y="8286"/>
                    </a:lnTo>
                    <a:lnTo>
                      <a:pt x="442" y="8286"/>
                    </a:lnTo>
                    <a:cubicBezTo>
                      <a:pt x="190" y="8286"/>
                      <a:pt x="32" y="8507"/>
                      <a:pt x="32" y="8728"/>
                    </a:cubicBezTo>
                    <a:cubicBezTo>
                      <a:pt x="32" y="8980"/>
                      <a:pt x="221" y="9169"/>
                      <a:pt x="442" y="9169"/>
                    </a:cubicBezTo>
                    <a:lnTo>
                      <a:pt x="5955" y="9169"/>
                    </a:lnTo>
                    <a:lnTo>
                      <a:pt x="5955" y="10334"/>
                    </a:lnTo>
                    <a:cubicBezTo>
                      <a:pt x="5483" y="10492"/>
                      <a:pt x="5104" y="10964"/>
                      <a:pt x="5104" y="11531"/>
                    </a:cubicBezTo>
                    <a:cubicBezTo>
                      <a:pt x="5104" y="12193"/>
                      <a:pt x="5672" y="12792"/>
                      <a:pt x="6333" y="12792"/>
                    </a:cubicBezTo>
                    <a:cubicBezTo>
                      <a:pt x="6995" y="12792"/>
                      <a:pt x="7593" y="12225"/>
                      <a:pt x="7593" y="11531"/>
                    </a:cubicBezTo>
                    <a:cubicBezTo>
                      <a:pt x="7593" y="10964"/>
                      <a:pt x="7247" y="10555"/>
                      <a:pt x="6774" y="10334"/>
                    </a:cubicBezTo>
                    <a:lnTo>
                      <a:pt x="6774" y="9169"/>
                    </a:lnTo>
                    <a:lnTo>
                      <a:pt x="12288" y="9169"/>
                    </a:lnTo>
                    <a:cubicBezTo>
                      <a:pt x="12508" y="9169"/>
                      <a:pt x="12666" y="8980"/>
                      <a:pt x="12666" y="8728"/>
                    </a:cubicBezTo>
                    <a:cubicBezTo>
                      <a:pt x="12666" y="8507"/>
                      <a:pt x="12477" y="8286"/>
                      <a:pt x="12288" y="8286"/>
                    </a:cubicBezTo>
                    <a:lnTo>
                      <a:pt x="11847" y="8286"/>
                    </a:lnTo>
                    <a:lnTo>
                      <a:pt x="11847" y="2427"/>
                    </a:lnTo>
                    <a:cubicBezTo>
                      <a:pt x="12319" y="2238"/>
                      <a:pt x="12634" y="1797"/>
                      <a:pt x="12634" y="1261"/>
                    </a:cubicBezTo>
                    <a:cubicBezTo>
                      <a:pt x="12634" y="568"/>
                      <a:pt x="12099" y="1"/>
                      <a:pt x="11405" y="1"/>
                    </a:cubicBezTo>
                    <a:close/>
                  </a:path>
                </a:pathLst>
              </a:custGeom>
              <a:solidFill>
                <a:srgbClr val="EE82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1217;p42">
                <a:extLst>
                  <a:ext uri="{FF2B5EF4-FFF2-40B4-BE49-F238E27FC236}">
                    <a16:creationId xmlns:a16="http://schemas.microsoft.com/office/drawing/2014/main" id="{3604447A-576F-6388-A6B4-EAB22FCF3F94}"/>
                  </a:ext>
                </a:extLst>
              </p:cNvPr>
              <p:cNvSpPr/>
              <p:nvPr/>
            </p:nvSpPr>
            <p:spPr>
              <a:xfrm>
                <a:off x="-64679425" y="2364825"/>
                <a:ext cx="146500" cy="102450"/>
              </a:xfrm>
              <a:custGeom>
                <a:avLst/>
                <a:gdLst/>
                <a:ahLst/>
                <a:cxnLst/>
                <a:rect l="l" t="t" r="r" b="b"/>
                <a:pathLst>
                  <a:path w="5860" h="4098" extrusionOk="0">
                    <a:moveTo>
                      <a:pt x="3749" y="1"/>
                    </a:moveTo>
                    <a:cubicBezTo>
                      <a:pt x="3529" y="1"/>
                      <a:pt x="3371" y="190"/>
                      <a:pt x="3371" y="442"/>
                    </a:cubicBezTo>
                    <a:cubicBezTo>
                      <a:pt x="3371" y="662"/>
                      <a:pt x="3560" y="820"/>
                      <a:pt x="3749" y="820"/>
                    </a:cubicBezTo>
                    <a:lnTo>
                      <a:pt x="4442" y="820"/>
                    </a:lnTo>
                    <a:lnTo>
                      <a:pt x="2930" y="2332"/>
                    </a:lnTo>
                    <a:lnTo>
                      <a:pt x="2395" y="1765"/>
                    </a:lnTo>
                    <a:cubicBezTo>
                      <a:pt x="2316" y="1686"/>
                      <a:pt x="2206" y="1647"/>
                      <a:pt x="2095" y="1647"/>
                    </a:cubicBezTo>
                    <a:cubicBezTo>
                      <a:pt x="1985" y="1647"/>
                      <a:pt x="1875" y="1686"/>
                      <a:pt x="1796" y="1765"/>
                    </a:cubicBezTo>
                    <a:lnTo>
                      <a:pt x="126" y="3435"/>
                    </a:lnTo>
                    <a:cubicBezTo>
                      <a:pt x="0" y="3592"/>
                      <a:pt x="0" y="3844"/>
                      <a:pt x="126" y="4033"/>
                    </a:cubicBezTo>
                    <a:cubicBezTo>
                      <a:pt x="195" y="4075"/>
                      <a:pt x="288" y="4098"/>
                      <a:pt x="384" y="4098"/>
                    </a:cubicBezTo>
                    <a:cubicBezTo>
                      <a:pt x="507" y="4098"/>
                      <a:pt x="636" y="4059"/>
                      <a:pt x="725" y="3970"/>
                    </a:cubicBezTo>
                    <a:lnTo>
                      <a:pt x="2111" y="2616"/>
                    </a:lnTo>
                    <a:lnTo>
                      <a:pt x="2647" y="3151"/>
                    </a:lnTo>
                    <a:cubicBezTo>
                      <a:pt x="2725" y="3230"/>
                      <a:pt x="2836" y="3269"/>
                      <a:pt x="2946" y="3269"/>
                    </a:cubicBezTo>
                    <a:cubicBezTo>
                      <a:pt x="3056" y="3269"/>
                      <a:pt x="3166" y="3230"/>
                      <a:pt x="3245" y="3151"/>
                    </a:cubicBezTo>
                    <a:lnTo>
                      <a:pt x="5009" y="1387"/>
                    </a:lnTo>
                    <a:lnTo>
                      <a:pt x="5009" y="2049"/>
                    </a:lnTo>
                    <a:cubicBezTo>
                      <a:pt x="5009" y="2269"/>
                      <a:pt x="5230" y="2490"/>
                      <a:pt x="5451" y="2490"/>
                    </a:cubicBezTo>
                    <a:cubicBezTo>
                      <a:pt x="5703" y="2490"/>
                      <a:pt x="5860" y="2269"/>
                      <a:pt x="5860" y="2049"/>
                    </a:cubicBezTo>
                    <a:lnTo>
                      <a:pt x="5860" y="410"/>
                    </a:lnTo>
                    <a:cubicBezTo>
                      <a:pt x="5860" y="158"/>
                      <a:pt x="5640" y="1"/>
                      <a:pt x="5419" y="1"/>
                    </a:cubicBezTo>
                    <a:close/>
                  </a:path>
                </a:pathLst>
              </a:custGeom>
              <a:solidFill>
                <a:srgbClr val="E89D0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ED8FED94-221E-D61F-429C-874B96C41C0C}"/>
              </a:ext>
            </a:extLst>
          </p:cNvPr>
          <p:cNvSpPr txBox="1"/>
          <p:nvPr/>
        </p:nvSpPr>
        <p:spPr>
          <a:xfrm>
            <a:off x="866123" y="2426759"/>
            <a:ext cx="29064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b="1" dirty="0">
                <a:solidFill>
                  <a:srgbClr val="17375E"/>
                </a:solidFill>
                <a:effectLst/>
                <a:latin typeface="Trebuchet MS" panose="020B0603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Spark Avancé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rgbClr val="17375E"/>
                </a:solidFill>
                <a:uLnTx/>
                <a:uFillTx/>
                <a:latin typeface="Trebuchet MS" panose="020B0603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Gestion de version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pic>
        <p:nvPicPr>
          <p:cNvPr id="12" name="Image 11" descr="Une image contenant Police, logo, Graphique, symbole&#10;&#10;Description générée automatiquement">
            <a:extLst>
              <a:ext uri="{FF2B5EF4-FFF2-40B4-BE49-F238E27FC236}">
                <a16:creationId xmlns:a16="http://schemas.microsoft.com/office/drawing/2014/main" id="{2E6698BC-47B7-0035-A30B-07E4D74BEF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696" y="1422768"/>
            <a:ext cx="1833563" cy="1033463"/>
          </a:xfrm>
          <a:prstGeom prst="rect">
            <a:avLst/>
          </a:prstGeom>
        </p:spPr>
      </p:pic>
      <p:pic>
        <p:nvPicPr>
          <p:cNvPr id="2" name="Picture 3">
            <a:extLst>
              <a:ext uri="{FF2B5EF4-FFF2-40B4-BE49-F238E27FC236}">
                <a16:creationId xmlns:a16="http://schemas.microsoft.com/office/drawing/2014/main" id="{9971AD4C-61B2-E54F-348A-AD68E0D814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642" y="208193"/>
            <a:ext cx="1679880" cy="872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599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510A95A0-53DE-E2CE-4E14-43866D0C249D}"/>
              </a:ext>
            </a:extLst>
          </p:cNvPr>
          <p:cNvSpPr txBox="1"/>
          <p:nvPr/>
        </p:nvSpPr>
        <p:spPr>
          <a:xfrm>
            <a:off x="702127" y="1048864"/>
            <a:ext cx="7943850" cy="2482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Tout le support d’exercice est constitué de la même manière: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Les objectifs de l’exercice: quel est l’intérêt de l’exercice ?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Un descriptif global des étapes à réaliser qui doit permettre de faire l’exercice en connaissant les notions abordées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Le résultat de l’exercice sous forme de copies d’’écran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La correction de l’exercice étape par étape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</p:txBody>
      </p:sp>
      <p:grpSp>
        <p:nvGrpSpPr>
          <p:cNvPr id="43" name="Google Shape;229;p17">
            <a:extLst>
              <a:ext uri="{FF2B5EF4-FFF2-40B4-BE49-F238E27FC236}">
                <a16:creationId xmlns:a16="http://schemas.microsoft.com/office/drawing/2014/main" id="{8050A46D-E5DF-230C-1D3D-C45C7E91D88C}"/>
              </a:ext>
            </a:extLst>
          </p:cNvPr>
          <p:cNvGrpSpPr/>
          <p:nvPr/>
        </p:nvGrpSpPr>
        <p:grpSpPr>
          <a:xfrm>
            <a:off x="253089" y="58794"/>
            <a:ext cx="3073828" cy="952920"/>
            <a:chOff x="457200" y="3624815"/>
            <a:chExt cx="3073828" cy="952920"/>
          </a:xfrm>
          <a:solidFill>
            <a:srgbClr val="E89D06"/>
          </a:solidFill>
        </p:grpSpPr>
        <p:sp>
          <p:nvSpPr>
            <p:cNvPr id="46" name="Google Shape;230;p17">
              <a:extLst>
                <a:ext uri="{FF2B5EF4-FFF2-40B4-BE49-F238E27FC236}">
                  <a16:creationId xmlns:a16="http://schemas.microsoft.com/office/drawing/2014/main" id="{15404E31-4A3C-09C1-2702-844D6EC923CB}"/>
                </a:ext>
              </a:extLst>
            </p:cNvPr>
            <p:cNvSpPr/>
            <p:nvPr/>
          </p:nvSpPr>
          <p:spPr>
            <a:xfrm>
              <a:off x="932635" y="3624815"/>
              <a:ext cx="2598393" cy="952920"/>
            </a:xfrm>
            <a:custGeom>
              <a:avLst/>
              <a:gdLst/>
              <a:ahLst/>
              <a:cxnLst/>
              <a:rect l="l" t="t" r="r" b="b"/>
              <a:pathLst>
                <a:path w="12451" h="8780" extrusionOk="0">
                  <a:moveTo>
                    <a:pt x="0" y="0"/>
                  </a:moveTo>
                  <a:lnTo>
                    <a:pt x="0" y="8780"/>
                  </a:lnTo>
                  <a:lnTo>
                    <a:pt x="12101" y="8780"/>
                  </a:lnTo>
                  <a:cubicBezTo>
                    <a:pt x="12289" y="8780"/>
                    <a:pt x="12451" y="8618"/>
                    <a:pt x="12451" y="8428"/>
                  </a:cubicBezTo>
                  <a:lnTo>
                    <a:pt x="12451" y="378"/>
                  </a:lnTo>
                  <a:cubicBezTo>
                    <a:pt x="12451" y="162"/>
                    <a:pt x="12289" y="0"/>
                    <a:pt x="12101" y="0"/>
                  </a:cubicBezTo>
                  <a:close/>
                </a:path>
              </a:pathLst>
            </a:custGeom>
            <a:grpFill/>
            <a:ln>
              <a:noFill/>
            </a:ln>
            <a:effectLst>
              <a:outerShdw blurRad="85725" dist="57150" dir="12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31;p17">
              <a:extLst>
                <a:ext uri="{FF2B5EF4-FFF2-40B4-BE49-F238E27FC236}">
                  <a16:creationId xmlns:a16="http://schemas.microsoft.com/office/drawing/2014/main" id="{9721E7DF-0628-6CA8-3F7B-6A37732AFEBB}"/>
                </a:ext>
              </a:extLst>
            </p:cNvPr>
            <p:cNvSpPr/>
            <p:nvPr/>
          </p:nvSpPr>
          <p:spPr>
            <a:xfrm>
              <a:off x="457200" y="3624815"/>
              <a:ext cx="530346" cy="952920"/>
            </a:xfrm>
            <a:custGeom>
              <a:avLst/>
              <a:gdLst/>
              <a:ahLst/>
              <a:cxnLst/>
              <a:rect l="l" t="t" r="r" b="b"/>
              <a:pathLst>
                <a:path w="3325" h="6646" extrusionOk="0">
                  <a:moveTo>
                    <a:pt x="3324" y="1"/>
                  </a:moveTo>
                  <a:cubicBezTo>
                    <a:pt x="1488" y="1"/>
                    <a:pt x="1" y="1487"/>
                    <a:pt x="1" y="3324"/>
                  </a:cubicBezTo>
                  <a:cubicBezTo>
                    <a:pt x="1" y="5161"/>
                    <a:pt x="1488" y="6645"/>
                    <a:pt x="3324" y="6645"/>
                  </a:cubicBezTo>
                  <a:lnTo>
                    <a:pt x="3324" y="1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71438" dist="57150" dir="114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32;p17">
              <a:extLst>
                <a:ext uri="{FF2B5EF4-FFF2-40B4-BE49-F238E27FC236}">
                  <a16:creationId xmlns:a16="http://schemas.microsoft.com/office/drawing/2014/main" id="{64BC68AD-6A69-B568-F712-AF19EEB78275}"/>
                </a:ext>
              </a:extLst>
            </p:cNvPr>
            <p:cNvSpPr txBox="1"/>
            <p:nvPr/>
          </p:nvSpPr>
          <p:spPr>
            <a:xfrm>
              <a:off x="602635" y="3912335"/>
              <a:ext cx="330000" cy="3873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+</a:t>
              </a:r>
              <a:endParaRPr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0EC7B5A5-E640-1B4A-17B0-914F60AD1A58}"/>
              </a:ext>
            </a:extLst>
          </p:cNvPr>
          <p:cNvSpPr txBox="1"/>
          <p:nvPr/>
        </p:nvSpPr>
        <p:spPr>
          <a:xfrm>
            <a:off x="824976" y="311564"/>
            <a:ext cx="2977376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Organisation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4C3097B-0D2C-CB46-8829-E0A26E71B7D5}"/>
              </a:ext>
            </a:extLst>
          </p:cNvPr>
          <p:cNvSpPr txBox="1"/>
          <p:nvPr/>
        </p:nvSpPr>
        <p:spPr>
          <a:xfrm>
            <a:off x="3363493" y="335199"/>
            <a:ext cx="5607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900"/>
              </a:spcBef>
            </a:pPr>
            <a:r>
              <a:rPr lang="fr-FR" sz="2000" b="1" dirty="0">
                <a:solidFill>
                  <a:srgbClr val="ED7D31"/>
                </a:solidFill>
                <a:latin typeface="Arial Unicode MS"/>
              </a:rPr>
              <a:t>Organisation des exercices</a:t>
            </a:r>
          </a:p>
        </p:txBody>
      </p:sp>
    </p:spTree>
    <p:extLst>
      <p:ext uri="{BB962C8B-B14F-4D97-AF65-F5344CB8AC3E}">
        <p14:creationId xmlns:p14="http://schemas.microsoft.com/office/powerpoint/2010/main" val="1764122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44E8C-FF63-EB5D-711A-6086A65C9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92E51009-1B59-508E-EE88-490B5898FDD7}"/>
              </a:ext>
            </a:extLst>
          </p:cNvPr>
          <p:cNvSpPr txBox="1"/>
          <p:nvPr/>
        </p:nvSpPr>
        <p:spPr>
          <a:xfrm>
            <a:off x="702127" y="1048864"/>
            <a:ext cx="7943850" cy="3744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fr-FR" sz="1200" b="1" dirty="0" err="1"/>
              <a:t>MLflow</a:t>
            </a:r>
            <a:r>
              <a:rPr lang="fr-FR" sz="1200" dirty="0"/>
              <a:t> est une plateforme open source qui aide à </a:t>
            </a:r>
            <a:r>
              <a:rPr lang="fr-FR" sz="1200" b="1" dirty="0"/>
              <a:t>gérer le cycle de vie des projets de Machine Learning</a:t>
            </a:r>
            <a:r>
              <a:rPr lang="fr-FR" sz="1200" dirty="0"/>
              <a:t>.</a:t>
            </a: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fr-FR" sz="1200" dirty="0"/>
              <a:t>Les trois composants principaux  : </a:t>
            </a:r>
            <a:r>
              <a:rPr lang="fr-FR" sz="1200" b="1" dirty="0" err="1"/>
              <a:t>Tracking</a:t>
            </a:r>
            <a:r>
              <a:rPr lang="fr-FR" sz="1200" dirty="0"/>
              <a:t>, </a:t>
            </a:r>
            <a:r>
              <a:rPr lang="fr-FR" sz="1200" b="1" dirty="0" err="1"/>
              <a:t>Models</a:t>
            </a:r>
            <a:r>
              <a:rPr lang="fr-FR" sz="1200" dirty="0"/>
              <a:t> et </a:t>
            </a:r>
            <a:r>
              <a:rPr lang="fr-FR" sz="1200" b="1" dirty="0" err="1"/>
              <a:t>Projects</a:t>
            </a:r>
            <a:r>
              <a:rPr lang="fr-FR" sz="1200" dirty="0"/>
              <a:t>.</a:t>
            </a:r>
          </a:p>
          <a:p>
            <a:pPr marL="342900" indent="-342900" algn="just">
              <a:spcBef>
                <a:spcPts val="200"/>
              </a:spcBef>
              <a:spcAft>
                <a:spcPts val="2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 err="1"/>
              <a:t>MLflow</a:t>
            </a:r>
            <a:r>
              <a:rPr lang="fr-FR" sz="1200" dirty="0"/>
              <a:t> </a:t>
            </a:r>
            <a:r>
              <a:rPr lang="fr-FR" sz="1200" dirty="0" err="1"/>
              <a:t>Tracking</a:t>
            </a:r>
            <a:r>
              <a:rPr lang="fr-FR" sz="1200" dirty="0"/>
              <a:t> – </a:t>
            </a:r>
            <a:r>
              <a:rPr lang="fr-FR" sz="1200" i="1" dirty="0"/>
              <a:t>Suivre et comparer les expériences</a:t>
            </a:r>
          </a:p>
          <a:p>
            <a:pPr marL="800100" lvl="1" indent="-342900" algn="just">
              <a:spcBef>
                <a:spcPts val="200"/>
              </a:spcBef>
              <a:spcAft>
                <a:spcPts val="200"/>
              </a:spcAft>
              <a:buClr>
                <a:srgbClr val="ED7D31"/>
              </a:buClr>
              <a:buFont typeface="Arial" panose="020B0604020202020204" pitchFamily="34" charset="0"/>
              <a:buChar char="•"/>
            </a:pPr>
            <a:r>
              <a:rPr lang="fr-FR" sz="1200" i="1" dirty="0"/>
              <a:t>Stock: Les paramètres (hyperparamètres : </a:t>
            </a:r>
            <a:r>
              <a:rPr lang="fr-FR" sz="1200" i="1" dirty="0" err="1"/>
              <a:t>learning</a:t>
            </a:r>
            <a:r>
              <a:rPr lang="fr-FR" sz="1200" i="1" dirty="0"/>
              <a:t> rate, nombre d’arbres, etc.), Les métriques (</a:t>
            </a:r>
            <a:r>
              <a:rPr lang="fr-FR" sz="1200" i="1" dirty="0" err="1"/>
              <a:t>accuracy</a:t>
            </a:r>
            <a:r>
              <a:rPr lang="fr-FR" sz="1200" i="1" dirty="0"/>
              <a:t>, RMSE, AUC, </a:t>
            </a:r>
            <a:r>
              <a:rPr lang="fr-FR" sz="1200" i="1" dirty="0" err="1"/>
              <a:t>loss</a:t>
            </a:r>
            <a:r>
              <a:rPr lang="fr-FR" sz="1200" i="1" dirty="0"/>
              <a:t>…), Les artefacts (modèles entraînés, graphiques, fichiers, logs), Le code et l’environnement (optionnel)</a:t>
            </a:r>
          </a:p>
          <a:p>
            <a:pPr marL="800100" lvl="1" indent="-342900" algn="just">
              <a:spcBef>
                <a:spcPts val="200"/>
              </a:spcBef>
              <a:spcAft>
                <a:spcPts val="200"/>
              </a:spcAft>
              <a:buClr>
                <a:srgbClr val="ED7D31"/>
              </a:buClr>
              <a:buFont typeface="Arial" panose="020B0604020202020204" pitchFamily="34" charset="0"/>
              <a:buChar char="•"/>
            </a:pPr>
            <a:r>
              <a:rPr lang="fr-FR" sz="1200" i="1" dirty="0"/>
              <a:t>Comparer facilement plusieurs </a:t>
            </a:r>
            <a:r>
              <a:rPr lang="fr-FR" sz="1200" i="1" dirty="0" err="1"/>
              <a:t>runsReproduire</a:t>
            </a:r>
            <a:r>
              <a:rPr lang="fr-FR" sz="1200" i="1" dirty="0"/>
              <a:t> une </a:t>
            </a:r>
            <a:r>
              <a:rPr lang="fr-FR" sz="1200" i="1" dirty="0" err="1"/>
              <a:t>expérienceComprendre</a:t>
            </a:r>
            <a:r>
              <a:rPr lang="fr-FR" sz="1200" i="1" dirty="0"/>
              <a:t> pourquoi un modèle est meilleur qu’un </a:t>
            </a:r>
            <a:r>
              <a:rPr lang="fr-FR" sz="1200" i="1" dirty="0" err="1"/>
              <a:t>autreCollaborer</a:t>
            </a:r>
            <a:r>
              <a:rPr lang="fr-FR" sz="1200" i="1" dirty="0"/>
              <a:t> avec d’autres data </a:t>
            </a:r>
            <a:r>
              <a:rPr lang="fr-FR" sz="1200" i="1" dirty="0" err="1"/>
              <a:t>scientists</a:t>
            </a:r>
            <a:r>
              <a:rPr lang="fr-FR" sz="1200" i="1" dirty="0"/>
              <a:t>.</a:t>
            </a:r>
          </a:p>
          <a:p>
            <a:pPr marL="342900" indent="-342900" algn="just">
              <a:spcBef>
                <a:spcPts val="200"/>
              </a:spcBef>
              <a:spcAft>
                <a:spcPts val="2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 err="1"/>
              <a:t>MLflow</a:t>
            </a:r>
            <a:r>
              <a:rPr lang="fr-FR" sz="1200" dirty="0"/>
              <a:t> </a:t>
            </a:r>
            <a:r>
              <a:rPr lang="fr-FR" sz="1200" dirty="0" err="1"/>
              <a:t>Models</a:t>
            </a:r>
            <a:r>
              <a:rPr lang="fr-FR" sz="1200" dirty="0"/>
              <a:t> – </a:t>
            </a:r>
            <a:r>
              <a:rPr lang="fr-FR" sz="1200" i="1" dirty="0"/>
              <a:t>Standardiser et déployer les modèles</a:t>
            </a:r>
          </a:p>
          <a:p>
            <a:pPr marL="800100" lvl="1" indent="-342900" algn="just">
              <a:spcBef>
                <a:spcPts val="200"/>
              </a:spcBef>
              <a:spcAft>
                <a:spcPts val="200"/>
              </a:spcAft>
              <a:buClr>
                <a:srgbClr val="ED7D31"/>
              </a:buClr>
              <a:buFont typeface="Arial" panose="020B0604020202020204" pitchFamily="34" charset="0"/>
              <a:buChar char="•"/>
            </a:pPr>
            <a:r>
              <a:rPr lang="fr-FR" sz="1200" i="1" dirty="0"/>
              <a:t>Le modèle entraîné, Les métadonnées, Les dépendances nécessaires pour l’exécuter, Une ou plusieurs saveurs (</a:t>
            </a:r>
            <a:r>
              <a:rPr lang="fr-FR" sz="1200" i="1" dirty="0" err="1"/>
              <a:t>flavors</a:t>
            </a:r>
            <a:r>
              <a:rPr lang="fr-FR" sz="1200" i="1" dirty="0"/>
              <a:t>)</a:t>
            </a:r>
          </a:p>
          <a:p>
            <a:pPr marL="800100" lvl="1" indent="-342900" algn="just">
              <a:spcBef>
                <a:spcPts val="200"/>
              </a:spcBef>
              <a:spcAft>
                <a:spcPts val="200"/>
              </a:spcAft>
              <a:buClr>
                <a:srgbClr val="ED7D31"/>
              </a:buClr>
              <a:buFont typeface="Arial" panose="020B0604020202020204" pitchFamily="34" charset="0"/>
              <a:buChar char="•"/>
            </a:pPr>
            <a:r>
              <a:rPr lang="fr-FR" sz="1200" dirty="0">
                <a:ea typeface="Arial Unicode MS"/>
              </a:rPr>
              <a:t>Déployer un modèle facilement (API REST, batch, cloud…) .Changer de </a:t>
            </a:r>
            <a:r>
              <a:rPr lang="fr-FR" sz="1200" dirty="0" err="1">
                <a:ea typeface="Arial Unicode MS"/>
              </a:rPr>
              <a:t>framework</a:t>
            </a:r>
            <a:r>
              <a:rPr lang="fr-FR" sz="1200" dirty="0">
                <a:ea typeface="Arial Unicode MS"/>
              </a:rPr>
              <a:t> sans changer tout le pipeline. Garantir la portabilité et la reproductibilité</a:t>
            </a:r>
            <a:endParaRPr lang="fr-FR" sz="1200" i="1" dirty="0"/>
          </a:p>
          <a:p>
            <a:pPr marL="342900" indent="-342900" algn="just">
              <a:spcBef>
                <a:spcPts val="200"/>
              </a:spcBef>
              <a:spcAft>
                <a:spcPts val="2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 err="1"/>
              <a:t>MLflow</a:t>
            </a:r>
            <a:r>
              <a:rPr lang="fr-FR" sz="1200" dirty="0"/>
              <a:t> </a:t>
            </a:r>
            <a:r>
              <a:rPr lang="fr-FR" sz="1200" dirty="0" err="1"/>
              <a:t>Projects</a:t>
            </a:r>
            <a:endParaRPr lang="fr-FR" sz="1200" i="1" dirty="0"/>
          </a:p>
          <a:p>
            <a:pPr marL="800100" lvl="1" indent="-342900" algn="just">
              <a:spcBef>
                <a:spcPts val="200"/>
              </a:spcBef>
              <a:spcAft>
                <a:spcPts val="200"/>
              </a:spcAft>
              <a:buClr>
                <a:srgbClr val="ED7D31"/>
              </a:buClr>
              <a:buFont typeface="Arial" panose="020B0604020202020204" pitchFamily="34" charset="0"/>
              <a:buChar char="•"/>
            </a:pPr>
            <a:r>
              <a:rPr lang="fr-FR" sz="1200" dirty="0"/>
              <a:t>Un dépôt de code</a:t>
            </a:r>
            <a:r>
              <a:rPr lang="fr-FR" sz="1200" i="1" dirty="0"/>
              <a:t>: Le point d’entrée (script à exécuter)Les </a:t>
            </a:r>
            <a:r>
              <a:rPr lang="fr-FR" sz="1200" i="1" dirty="0" err="1"/>
              <a:t>paramètresL’environnement</a:t>
            </a:r>
            <a:r>
              <a:rPr lang="fr-FR" sz="1200" i="1" dirty="0"/>
              <a:t> (</a:t>
            </a:r>
            <a:r>
              <a:rPr lang="fr-FR" sz="1200" i="1" dirty="0" err="1"/>
              <a:t>conda</a:t>
            </a:r>
            <a:r>
              <a:rPr lang="fr-FR" sz="1200" i="1" dirty="0"/>
              <a:t>, </a:t>
            </a:r>
            <a:r>
              <a:rPr lang="fr-FR" sz="1200" i="1" dirty="0" err="1"/>
              <a:t>virtualenv</a:t>
            </a:r>
            <a:r>
              <a:rPr lang="fr-FR" sz="1200" i="1" dirty="0"/>
              <a:t>, Docker…)</a:t>
            </a:r>
          </a:p>
          <a:p>
            <a:pPr marL="800100" lvl="1" indent="-342900" algn="just">
              <a:spcBef>
                <a:spcPts val="200"/>
              </a:spcBef>
              <a:spcAft>
                <a:spcPts val="200"/>
              </a:spcAft>
              <a:buClr>
                <a:srgbClr val="ED7D31"/>
              </a:buClr>
              <a:buFont typeface="Arial" panose="020B0604020202020204" pitchFamily="34" charset="0"/>
              <a:buChar char="•"/>
            </a:pPr>
            <a:r>
              <a:rPr lang="fr-FR" sz="1200" i="1" dirty="0"/>
              <a:t>Exécuter un projet ML de façon identique sur différentes machines. Lancer des expériences automatiquement. Faciliter le travail en équipe et l’industrialisation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CFAD48F6-693F-2622-3A81-9EB739E1FAE1}"/>
              </a:ext>
            </a:extLst>
          </p:cNvPr>
          <p:cNvSpPr/>
          <p:nvPr/>
        </p:nvSpPr>
        <p:spPr>
          <a:xfrm>
            <a:off x="728524" y="58794"/>
            <a:ext cx="7917453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00D9CCF9-1D84-8CAB-14AA-852A9C488A13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E48009D3-EA59-E5AE-135C-175643DDE2EC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F63F5CE2-D767-542F-6AE1-D430F5295645}"/>
              </a:ext>
            </a:extLst>
          </p:cNvPr>
          <p:cNvSpPr txBox="1"/>
          <p:nvPr/>
        </p:nvSpPr>
        <p:spPr>
          <a:xfrm>
            <a:off x="824976" y="311564"/>
            <a:ext cx="7501268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Objectif: les composants  </a:t>
            </a:r>
            <a:r>
              <a:rPr lang="fr-FR" sz="2500" b="1" dirty="0" err="1">
                <a:solidFill>
                  <a:schemeClr val="bg1"/>
                </a:solidFill>
                <a:latin typeface="+mj-lt"/>
              </a:rPr>
              <a:t>Tracking</a:t>
            </a:r>
            <a:r>
              <a:rPr lang="fr-FR" sz="2500" b="1" dirty="0">
                <a:solidFill>
                  <a:schemeClr val="bg1"/>
                </a:solidFill>
                <a:latin typeface="+mj-lt"/>
              </a:rPr>
              <a:t>, </a:t>
            </a:r>
            <a:r>
              <a:rPr lang="fr-FR" sz="2500" b="1" dirty="0" err="1">
                <a:solidFill>
                  <a:schemeClr val="bg1"/>
                </a:solidFill>
                <a:latin typeface="+mj-lt"/>
              </a:rPr>
              <a:t>Models</a:t>
            </a:r>
            <a:r>
              <a:rPr lang="fr-FR" sz="2500" b="1" dirty="0">
                <a:solidFill>
                  <a:schemeClr val="bg1"/>
                </a:solidFill>
                <a:latin typeface="+mj-lt"/>
              </a:rPr>
              <a:t> et </a:t>
            </a:r>
            <a:r>
              <a:rPr lang="fr-FR" sz="2500" b="1" dirty="0" err="1">
                <a:solidFill>
                  <a:schemeClr val="bg1"/>
                </a:solidFill>
                <a:latin typeface="+mj-lt"/>
              </a:rPr>
              <a:t>Projects</a:t>
            </a:r>
            <a:endParaRPr lang="fr-FR" sz="250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72954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E786A-BCFD-113C-D993-11C7BCF84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E6BE59BD-048C-163D-B2D5-6DA9C3A61444}"/>
              </a:ext>
            </a:extLst>
          </p:cNvPr>
          <p:cNvSpPr txBox="1"/>
          <p:nvPr/>
        </p:nvSpPr>
        <p:spPr>
          <a:xfrm>
            <a:off x="702127" y="1048864"/>
            <a:ext cx="79438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Configuration du notebook:</a:t>
            </a:r>
          </a:p>
          <a:p>
            <a:endParaRPr lang="fr-FR" sz="1200" dirty="0"/>
          </a:p>
          <a:p>
            <a:endParaRPr lang="fr-FR" sz="1200" dirty="0"/>
          </a:p>
          <a:p>
            <a:endParaRPr lang="fr-FR" sz="1200" dirty="0"/>
          </a:p>
          <a:p>
            <a:endParaRPr lang="fr-FR" sz="1200" dirty="0"/>
          </a:p>
          <a:p>
            <a:endParaRPr lang="fr-FR" sz="1200" dirty="0"/>
          </a:p>
          <a:p>
            <a:endParaRPr lang="fr-FR" sz="1200" dirty="0"/>
          </a:p>
          <a:p>
            <a:r>
              <a:rPr lang="fr-FR" sz="1200" dirty="0"/>
              <a:t>Installation des librairies: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03253066-8C13-FDEB-8C4B-BF012C305493}"/>
              </a:ext>
            </a:extLst>
          </p:cNvPr>
          <p:cNvSpPr/>
          <p:nvPr/>
        </p:nvSpPr>
        <p:spPr>
          <a:xfrm>
            <a:off x="728524" y="58794"/>
            <a:ext cx="6537895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4F7FE5E4-1FBF-ACAB-AE5E-C00017CA9260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A97C2A40-B5D9-833C-3124-E31E1489B2C3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3563E6A2-935F-4218-9981-A6CCFC5EA2DE}"/>
              </a:ext>
            </a:extLst>
          </p:cNvPr>
          <p:cNvSpPr txBox="1"/>
          <p:nvPr/>
        </p:nvSpPr>
        <p:spPr>
          <a:xfrm>
            <a:off x="824976" y="311564"/>
            <a:ext cx="6913970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Configuration du notebook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79F68A-5ACA-85FF-4CB4-82D7C0120706}"/>
              </a:ext>
            </a:extLst>
          </p:cNvPr>
          <p:cNvSpPr/>
          <p:nvPr/>
        </p:nvSpPr>
        <p:spPr>
          <a:xfrm>
            <a:off x="1220399" y="1363013"/>
            <a:ext cx="5969621" cy="79288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#exécuter puis redémarrer le kernel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dirty="0">
                <a:solidFill>
                  <a:srgbClr val="FFFFFF"/>
                </a:solidFill>
                <a:latin typeface="Consolas" panose="020B0609020204030204" pitchFamily="49" charset="0"/>
              </a:rPr>
              <a:t>%</a:t>
            </a:r>
            <a:r>
              <a:rPr lang="fr-FR" sz="1000" dirty="0" err="1">
                <a:solidFill>
                  <a:srgbClr val="FFFFFF"/>
                </a:solidFill>
                <a:latin typeface="Consolas" panose="020B0609020204030204" pitchFamily="49" charset="0"/>
              </a:rPr>
              <a:t>pip</a:t>
            </a:r>
            <a:r>
              <a:rPr lang="fr-FR" sz="10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fr-FR" sz="1000" dirty="0" err="1">
                <a:solidFill>
                  <a:srgbClr val="FFFFFF"/>
                </a:solidFill>
                <a:latin typeface="Consolas" panose="020B0609020204030204" pitchFamily="49" charset="0"/>
              </a:rPr>
              <a:t>install</a:t>
            </a:r>
            <a:r>
              <a:rPr lang="fr-FR" sz="1000" dirty="0">
                <a:solidFill>
                  <a:srgbClr val="FFFFFF"/>
                </a:solidFill>
                <a:latin typeface="Consolas" panose="020B0609020204030204" pitchFamily="49" charset="0"/>
              </a:rPr>
              <a:t> "py4j==0.10.9.7" "</a:t>
            </a:r>
            <a:r>
              <a:rPr lang="fr-FR" sz="1000" dirty="0" err="1">
                <a:solidFill>
                  <a:srgbClr val="FFFFFF"/>
                </a:solidFill>
                <a:latin typeface="Consolas" panose="020B0609020204030204" pitchFamily="49" charset="0"/>
              </a:rPr>
              <a:t>pyOpenSSL</a:t>
            </a:r>
            <a:r>
              <a:rPr lang="fr-FR" sz="1000" dirty="0">
                <a:solidFill>
                  <a:srgbClr val="FFFFFF"/>
                </a:solidFill>
                <a:latin typeface="Consolas" panose="020B0609020204030204" pitchFamily="49" charset="0"/>
              </a:rPr>
              <a:t>==25.3.0" "</a:t>
            </a:r>
            <a:r>
              <a:rPr lang="fr-FR" sz="1000" dirty="0" err="1">
                <a:solidFill>
                  <a:srgbClr val="FFFFFF"/>
                </a:solidFill>
                <a:latin typeface="Consolas" panose="020B0609020204030204" pitchFamily="49" charset="0"/>
              </a:rPr>
              <a:t>cryptography</a:t>
            </a:r>
            <a:r>
              <a:rPr lang="fr-FR" sz="1000" dirty="0">
                <a:solidFill>
                  <a:srgbClr val="FFFFFF"/>
                </a:solidFill>
                <a:latin typeface="Consolas" panose="020B0609020204030204" pitchFamily="49" charset="0"/>
              </a:rPr>
              <a:t>&gt;=43,&lt;47"</a:t>
            </a:r>
          </a:p>
          <a:p>
            <a:pPr>
              <a:lnSpc>
                <a:spcPts val="1425"/>
              </a:lnSpc>
            </a:pPr>
            <a:r>
              <a:rPr lang="fr-FR" sz="1000" dirty="0">
                <a:solidFill>
                  <a:srgbClr val="FFFFFF"/>
                </a:solidFill>
                <a:latin typeface="Consolas" panose="020B0609020204030204" pitchFamily="49" charset="0"/>
              </a:rPr>
              <a:t>%</a:t>
            </a:r>
            <a:r>
              <a:rPr lang="fr-FR" sz="1000" dirty="0" err="1">
                <a:solidFill>
                  <a:srgbClr val="FFFFFF"/>
                </a:solidFill>
                <a:latin typeface="Consolas" panose="020B0609020204030204" pitchFamily="49" charset="0"/>
              </a:rPr>
              <a:t>pip</a:t>
            </a:r>
            <a:r>
              <a:rPr lang="fr-FR" sz="1000">
                <a:solidFill>
                  <a:srgbClr val="FFFFFF"/>
                </a:solidFill>
                <a:latin typeface="Consolas" panose="020B0609020204030204" pitchFamily="49" charset="0"/>
              </a:rPr>
              <a:t> check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5A3A97-A933-40FA-013D-F88BEEAE6C76}"/>
              </a:ext>
            </a:extLst>
          </p:cNvPr>
          <p:cNvSpPr/>
          <p:nvPr/>
        </p:nvSpPr>
        <p:spPr>
          <a:xfrm>
            <a:off x="1220398" y="2655674"/>
            <a:ext cx="5969621" cy="62278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#exécuter puis redémarrer le kernel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pip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q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install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mlflow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scikit</a:t>
            </a:r>
            <a:r>
              <a:rPr lang="fr-FR" sz="1000" b="0" dirty="0" err="1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learn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pandas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numpy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196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6A276-C86B-AEC6-E308-7C35D7871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E4FC19BC-C6B9-D52F-E863-AD6083E93ACD}"/>
              </a:ext>
            </a:extLst>
          </p:cNvPr>
          <p:cNvSpPr txBox="1"/>
          <p:nvPr/>
        </p:nvSpPr>
        <p:spPr>
          <a:xfrm>
            <a:off x="702127" y="1048864"/>
            <a:ext cx="79438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Configuration du notebook:</a:t>
            </a:r>
          </a:p>
          <a:p>
            <a:endParaRPr lang="fr-FR" sz="1200" dirty="0"/>
          </a:p>
          <a:p>
            <a:endParaRPr lang="fr-FR" sz="1200" dirty="0"/>
          </a:p>
          <a:p>
            <a:endParaRPr lang="fr-FR" sz="1200" dirty="0"/>
          </a:p>
          <a:p>
            <a:endParaRPr lang="fr-FR" sz="1200" dirty="0"/>
          </a:p>
          <a:p>
            <a:endParaRPr lang="fr-FR" sz="1200" dirty="0"/>
          </a:p>
          <a:p>
            <a:endParaRPr lang="fr-FR" sz="1200" dirty="0"/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36349C9E-C420-7C34-4DD2-52C33A6B4D81}"/>
              </a:ext>
            </a:extLst>
          </p:cNvPr>
          <p:cNvSpPr/>
          <p:nvPr/>
        </p:nvSpPr>
        <p:spPr>
          <a:xfrm>
            <a:off x="728524" y="58794"/>
            <a:ext cx="8162387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E0582AC9-8C69-D855-1A0C-0F50865CBFF2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8B874184-002C-4561-082F-4DD97903B145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914BFC62-F8D1-5667-BDE3-640CA60E25DC}"/>
              </a:ext>
            </a:extLst>
          </p:cNvPr>
          <p:cNvSpPr txBox="1"/>
          <p:nvPr/>
        </p:nvSpPr>
        <p:spPr>
          <a:xfrm>
            <a:off x="824975" y="311564"/>
            <a:ext cx="8162387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en-US" sz="2500" b="1" dirty="0">
                <a:solidFill>
                  <a:schemeClr val="bg1"/>
                </a:solidFill>
                <a:latin typeface="+mj-lt"/>
              </a:rPr>
              <a:t>1 – Configuration DB Tracking (backend SQLite + experiment)</a:t>
            </a:r>
            <a:endParaRPr lang="fr-FR" sz="25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34E2AC-97D8-C610-7C7D-B07AAAAECF12}"/>
              </a:ext>
            </a:extLst>
          </p:cNvPr>
          <p:cNvSpPr/>
          <p:nvPr/>
        </p:nvSpPr>
        <p:spPr>
          <a:xfrm>
            <a:off x="1220399" y="1363012"/>
            <a:ext cx="5969621" cy="346892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pathlib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tempfile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mlflow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Backend SQLite local (robuste)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db_path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pathlib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tempfile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gettempdir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())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mlflow_demo.db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tracking_uri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"sqlite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:///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db_path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mlflow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set_tracking_uri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tracking_uri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experiment_name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demo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mlflow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-notebook"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mlflow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set_experiment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experiment_name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Pour que `!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mlflow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run` log au même endroit que Python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environ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"MLFLOW_TRACKING_URI"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tracking_uri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environ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"MLFLOW_EXPERIMENT_NAME"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experiment_name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Tracking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URI ="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tracking_uri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Experiment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 ="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experiment_name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42686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56756-93DE-11A9-BB5C-E2BC05055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039B2E6C-505A-AAD5-3286-AD45AD540D3C}"/>
              </a:ext>
            </a:extLst>
          </p:cNvPr>
          <p:cNvSpPr txBox="1"/>
          <p:nvPr/>
        </p:nvSpPr>
        <p:spPr>
          <a:xfrm>
            <a:off x="702127" y="1048864"/>
            <a:ext cx="79438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Configuration du notebook:</a:t>
            </a:r>
          </a:p>
          <a:p>
            <a:endParaRPr lang="fr-FR" sz="1200" dirty="0"/>
          </a:p>
          <a:p>
            <a:endParaRPr lang="fr-FR" sz="1200" dirty="0"/>
          </a:p>
          <a:p>
            <a:endParaRPr lang="fr-FR" sz="1200" dirty="0"/>
          </a:p>
          <a:p>
            <a:endParaRPr lang="fr-FR" sz="1200" dirty="0"/>
          </a:p>
          <a:p>
            <a:endParaRPr lang="fr-FR" sz="1200" dirty="0"/>
          </a:p>
          <a:p>
            <a:endParaRPr lang="fr-FR" sz="1200" dirty="0"/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6A7724E7-2686-B58B-E29C-3C1572511D41}"/>
              </a:ext>
            </a:extLst>
          </p:cNvPr>
          <p:cNvSpPr/>
          <p:nvPr/>
        </p:nvSpPr>
        <p:spPr>
          <a:xfrm>
            <a:off x="728524" y="58794"/>
            <a:ext cx="8162387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F3B3667F-3664-AEB9-79C4-F8AD0E799506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E8FA7654-8C64-12C1-72A2-07067CADFB54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0A960945-DCEB-379F-B212-547311C356DC}"/>
              </a:ext>
            </a:extLst>
          </p:cNvPr>
          <p:cNvSpPr txBox="1"/>
          <p:nvPr/>
        </p:nvSpPr>
        <p:spPr>
          <a:xfrm>
            <a:off x="824976" y="311564"/>
            <a:ext cx="7943850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2 - Préparer les données (Iris)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F2450A-9B52-0B22-B413-29DF0E6A2A3B}"/>
              </a:ext>
            </a:extLst>
          </p:cNvPr>
          <p:cNvSpPr/>
          <p:nvPr/>
        </p:nvSpPr>
        <p:spPr>
          <a:xfrm>
            <a:off x="1220399" y="1363012"/>
            <a:ext cx="5969621" cy="253991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datasets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load_iris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model_selection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train_test_split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iris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load_iris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as_frame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 err="1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iris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.data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iris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.target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X_test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train_test_split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test_size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random_state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stratify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y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.shape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X_test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.shape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331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5D6B2-DC11-1B4C-3DFE-0579966C4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A38AA356-21C9-0DF8-C15B-69EAF1C63022}"/>
              </a:ext>
            </a:extLst>
          </p:cNvPr>
          <p:cNvSpPr txBox="1"/>
          <p:nvPr/>
        </p:nvSpPr>
        <p:spPr>
          <a:xfrm>
            <a:off x="702127" y="1048864"/>
            <a:ext cx="79438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Configuration du notebook:</a:t>
            </a:r>
          </a:p>
          <a:p>
            <a:endParaRPr lang="fr-FR" sz="1200" dirty="0"/>
          </a:p>
          <a:p>
            <a:endParaRPr lang="fr-FR" sz="1200" dirty="0"/>
          </a:p>
          <a:p>
            <a:endParaRPr lang="fr-FR" sz="1200" dirty="0"/>
          </a:p>
          <a:p>
            <a:endParaRPr lang="fr-FR" sz="1200" dirty="0"/>
          </a:p>
          <a:p>
            <a:endParaRPr lang="fr-FR" sz="1200" dirty="0"/>
          </a:p>
          <a:p>
            <a:endParaRPr lang="fr-FR" sz="1200" dirty="0"/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0FDDB59E-A947-0F61-F792-5FD4443ACCE2}"/>
              </a:ext>
            </a:extLst>
          </p:cNvPr>
          <p:cNvSpPr/>
          <p:nvPr/>
        </p:nvSpPr>
        <p:spPr>
          <a:xfrm>
            <a:off x="728524" y="58794"/>
            <a:ext cx="8162387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0E74384E-87EA-59A4-8378-1967329CFEBF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3629A702-D8D4-7030-3F6F-81B6A0EDEC4B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ACEFFEB8-BDB0-57C5-F1E3-19DD19DA0E9F}"/>
              </a:ext>
            </a:extLst>
          </p:cNvPr>
          <p:cNvSpPr txBox="1"/>
          <p:nvPr/>
        </p:nvSpPr>
        <p:spPr>
          <a:xfrm>
            <a:off x="824976" y="311564"/>
            <a:ext cx="7943850" cy="623248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b="1" dirty="0">
                <a:solidFill>
                  <a:schemeClr val="bg1"/>
                </a:solidFill>
                <a:latin typeface="+mj-lt"/>
              </a:rPr>
              <a:t>=== </a:t>
            </a:r>
            <a:r>
              <a:rPr lang="fr-FR" b="1" dirty="0" err="1">
                <a:solidFill>
                  <a:schemeClr val="bg1"/>
                </a:solidFill>
                <a:latin typeface="+mj-lt"/>
              </a:rPr>
              <a:t>MLflow</a:t>
            </a:r>
            <a:r>
              <a:rPr lang="fr-FR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fr-FR" b="1" dirty="0" err="1">
                <a:solidFill>
                  <a:schemeClr val="bg1"/>
                </a:solidFill>
                <a:latin typeface="+mj-lt"/>
              </a:rPr>
              <a:t>Trackings</a:t>
            </a:r>
            <a:r>
              <a:rPr lang="fr-FR" b="1" dirty="0">
                <a:solidFill>
                  <a:schemeClr val="bg1"/>
                </a:solidFill>
                <a:latin typeface="+mj-lt"/>
              </a:rPr>
              <a:t> === 3 - TRACKING : entraîner + loguer params / </a:t>
            </a:r>
            <a:r>
              <a:rPr lang="fr-FR" b="1" dirty="0" err="1">
                <a:solidFill>
                  <a:schemeClr val="bg1"/>
                </a:solidFill>
                <a:latin typeface="+mj-lt"/>
              </a:rPr>
              <a:t>metrics</a:t>
            </a:r>
            <a:r>
              <a:rPr lang="fr-FR" b="1" dirty="0">
                <a:solidFill>
                  <a:schemeClr val="bg1"/>
                </a:solidFill>
                <a:latin typeface="+mj-lt"/>
              </a:rPr>
              <a:t> / </a:t>
            </a:r>
            <a:r>
              <a:rPr lang="fr-FR" b="1" dirty="0" err="1">
                <a:solidFill>
                  <a:schemeClr val="bg1"/>
                </a:solidFill>
                <a:latin typeface="+mj-lt"/>
              </a:rPr>
              <a:t>artifact</a:t>
            </a:r>
            <a:r>
              <a:rPr lang="fr-FR" b="1" dirty="0">
                <a:solidFill>
                  <a:schemeClr val="bg1"/>
                </a:solidFill>
                <a:latin typeface="+mj-lt"/>
              </a:rPr>
              <a:t> /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C27C4F-27CF-23B3-75CA-24E2ECC5645B}"/>
              </a:ext>
            </a:extLst>
          </p:cNvPr>
          <p:cNvSpPr/>
          <p:nvPr/>
        </p:nvSpPr>
        <p:spPr>
          <a:xfrm>
            <a:off x="1220399" y="1363012"/>
            <a:ext cx="5969621" cy="253991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datasets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load_iris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model_selection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train_test_split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iris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load_iris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as_frame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 err="1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iris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.data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iris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.target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X_test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train_test_split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test_size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random_state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stratify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y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.shape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X_test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.shape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010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89B77-970F-DDA2-3152-BF17EBFF4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3E258972-3D2C-30F1-339F-EDAF628CCE69}"/>
              </a:ext>
            </a:extLst>
          </p:cNvPr>
          <p:cNvSpPr/>
          <p:nvPr/>
        </p:nvSpPr>
        <p:spPr>
          <a:xfrm>
            <a:off x="728524" y="58794"/>
            <a:ext cx="8162387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705596A7-2C94-582E-A80C-B5DF0FF3DBB3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F8E9E09E-C141-C2FE-2B76-1512549554DD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FF6BEF38-F792-A2E1-15B6-E11169301B76}"/>
              </a:ext>
            </a:extLst>
          </p:cNvPr>
          <p:cNvSpPr txBox="1"/>
          <p:nvPr/>
        </p:nvSpPr>
        <p:spPr>
          <a:xfrm>
            <a:off x="824976" y="311564"/>
            <a:ext cx="7943850" cy="623248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b="1" dirty="0">
                <a:solidFill>
                  <a:schemeClr val="bg1"/>
                </a:solidFill>
                <a:latin typeface="+mj-lt"/>
              </a:rPr>
              <a:t>=== </a:t>
            </a:r>
            <a:r>
              <a:rPr lang="fr-FR" b="1" dirty="0" err="1">
                <a:solidFill>
                  <a:schemeClr val="bg1"/>
                </a:solidFill>
                <a:latin typeface="+mj-lt"/>
              </a:rPr>
              <a:t>MLflow</a:t>
            </a:r>
            <a:r>
              <a:rPr lang="fr-FR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fr-FR" b="1" dirty="0" err="1">
                <a:solidFill>
                  <a:schemeClr val="bg1"/>
                </a:solidFill>
                <a:latin typeface="+mj-lt"/>
              </a:rPr>
              <a:t>Trackings</a:t>
            </a:r>
            <a:r>
              <a:rPr lang="fr-FR" b="1" dirty="0">
                <a:solidFill>
                  <a:schemeClr val="bg1"/>
                </a:solidFill>
                <a:latin typeface="+mj-lt"/>
              </a:rPr>
              <a:t> === 3 - TRACKING : entraîner + loguer params / </a:t>
            </a:r>
            <a:r>
              <a:rPr lang="fr-FR" b="1" dirty="0" err="1">
                <a:solidFill>
                  <a:schemeClr val="bg1"/>
                </a:solidFill>
                <a:latin typeface="+mj-lt"/>
              </a:rPr>
              <a:t>metrics</a:t>
            </a:r>
            <a:r>
              <a:rPr lang="fr-FR" b="1" dirty="0">
                <a:solidFill>
                  <a:schemeClr val="bg1"/>
                </a:solidFill>
                <a:latin typeface="+mj-lt"/>
              </a:rPr>
              <a:t> / </a:t>
            </a:r>
            <a:r>
              <a:rPr lang="fr-FR" b="1" dirty="0" err="1">
                <a:solidFill>
                  <a:schemeClr val="bg1"/>
                </a:solidFill>
                <a:latin typeface="+mj-lt"/>
              </a:rPr>
              <a:t>artifact</a:t>
            </a:r>
            <a:r>
              <a:rPr lang="fr-FR" b="1" dirty="0">
                <a:solidFill>
                  <a:schemeClr val="bg1"/>
                </a:solidFill>
                <a:latin typeface="+mj-lt"/>
              </a:rPr>
              <a:t> /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001C00-2A6A-C540-7087-25402A51C66E}"/>
              </a:ext>
            </a:extLst>
          </p:cNvPr>
          <p:cNvSpPr/>
          <p:nvPr/>
        </p:nvSpPr>
        <p:spPr>
          <a:xfrm>
            <a:off x="1033626" y="1264484"/>
            <a:ext cx="7526550" cy="370732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pandas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pd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ensemble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RandomForestClassifier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metrics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accuracy_score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mlflow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mlflow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.sklearn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params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n_estimators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max_depth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random_state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mlflow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start_run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run_name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tracking-rf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RandomForestClassifier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(**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params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fit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acc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accuracy_score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predict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X_test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mlflow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log_params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params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mlflow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log_metric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accuracy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acc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fi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Series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feature_importances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.columns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sort_values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ascending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fi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to_csv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"feature_importances.csv"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mlflow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log_artifact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"feature_importances.csv"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mlflow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.sklearn.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log_model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artifact_path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"model"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run_id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="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.info.run_id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accuracy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="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acc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84980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F36D8-0CB7-D235-BFFC-BF876EEE8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8EEF9CE9-7307-2D39-6DA9-DCD0887A703D}"/>
              </a:ext>
            </a:extLst>
          </p:cNvPr>
          <p:cNvSpPr txBox="1"/>
          <p:nvPr/>
        </p:nvSpPr>
        <p:spPr>
          <a:xfrm>
            <a:off x="702127" y="1048864"/>
            <a:ext cx="79438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Stockage des versions de modèles:</a:t>
            </a:r>
          </a:p>
          <a:p>
            <a:endParaRPr lang="fr-FR" sz="1200" dirty="0"/>
          </a:p>
          <a:p>
            <a:endParaRPr lang="fr-FR" sz="1200" dirty="0"/>
          </a:p>
          <a:p>
            <a:endParaRPr lang="fr-FR" sz="1200" dirty="0"/>
          </a:p>
          <a:p>
            <a:endParaRPr lang="fr-FR" sz="1200" dirty="0"/>
          </a:p>
          <a:p>
            <a:endParaRPr lang="fr-FR" sz="1200" dirty="0"/>
          </a:p>
          <a:p>
            <a:endParaRPr lang="fr-FR" sz="1200" dirty="0"/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C1798A5A-268A-5317-C413-800B851E8EFA}"/>
              </a:ext>
            </a:extLst>
          </p:cNvPr>
          <p:cNvSpPr/>
          <p:nvPr/>
        </p:nvSpPr>
        <p:spPr>
          <a:xfrm>
            <a:off x="728524" y="58794"/>
            <a:ext cx="8162387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A5E10848-F27E-42A4-86EF-B9BDC31C9346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3B0BAC0E-F438-FFFC-6C99-00DA98A30F02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C54B6EF6-968D-323E-9D59-908C54DBDC4D}"/>
              </a:ext>
            </a:extLst>
          </p:cNvPr>
          <p:cNvSpPr txBox="1"/>
          <p:nvPr/>
        </p:nvSpPr>
        <p:spPr>
          <a:xfrm>
            <a:off x="824976" y="311564"/>
            <a:ext cx="7943850" cy="377026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+mj-lt"/>
              </a:rPr>
              <a:t>=== </a:t>
            </a:r>
            <a:r>
              <a:rPr lang="fr-FR" sz="2000" b="1" dirty="0" err="1">
                <a:solidFill>
                  <a:schemeClr val="bg1"/>
                </a:solidFill>
                <a:latin typeface="+mj-lt"/>
              </a:rPr>
              <a:t>MLflow</a:t>
            </a:r>
            <a:r>
              <a:rPr lang="fr-FR" sz="20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chemeClr val="bg1"/>
                </a:solidFill>
                <a:latin typeface="+mj-lt"/>
              </a:rPr>
              <a:t>Trackings</a:t>
            </a:r>
            <a:r>
              <a:rPr lang="fr-FR" sz="2000" b="1" dirty="0">
                <a:solidFill>
                  <a:schemeClr val="bg1"/>
                </a:solidFill>
                <a:latin typeface="+mj-lt"/>
              </a:rPr>
              <a:t> === 4 - TRACKING : lister les runs dans l’</a:t>
            </a:r>
            <a:r>
              <a:rPr lang="fr-FR" sz="2000" b="1" dirty="0" err="1">
                <a:solidFill>
                  <a:schemeClr val="bg1"/>
                </a:solidFill>
                <a:latin typeface="+mj-lt"/>
              </a:rPr>
              <a:t>experiment</a:t>
            </a:r>
            <a:endParaRPr lang="fr-FR" sz="2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8E49C9-4650-D2F6-2FD2-8A5A84FB5087}"/>
              </a:ext>
            </a:extLst>
          </p:cNvPr>
          <p:cNvSpPr/>
          <p:nvPr/>
        </p:nvSpPr>
        <p:spPr>
          <a:xfrm>
            <a:off x="1033626" y="1405730"/>
            <a:ext cx="7526550" cy="114417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mlflow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exp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mlflow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get_experiment_by_name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environ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"MLFLOW_EXPERIMENT_NAME"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runs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mlflow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search_runs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experiment_ids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exp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.experiment_id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order_by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start_time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DESC"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runs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[[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run_id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metrics.accuracy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]].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BAAEF9E-A979-EDC3-75DB-D89D01C66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449" y="2735236"/>
            <a:ext cx="3329102" cy="2287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617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F74A6-D047-35FA-6CE8-A5632098D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3F8F80B1-F166-CD56-14D0-FCFB17E77662}"/>
              </a:ext>
            </a:extLst>
          </p:cNvPr>
          <p:cNvSpPr txBox="1"/>
          <p:nvPr/>
        </p:nvSpPr>
        <p:spPr>
          <a:xfrm>
            <a:off x="702127" y="1048864"/>
            <a:ext cx="79438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(</a:t>
            </a:r>
            <a:r>
              <a:rPr lang="fr-FR" sz="1200" dirty="0" err="1"/>
              <a:t>MLproject</a:t>
            </a:r>
            <a:r>
              <a:rPr lang="fr-FR" sz="1200" dirty="0"/>
              <a:t> + train.py):</a:t>
            </a:r>
          </a:p>
          <a:p>
            <a:endParaRPr lang="fr-FR" sz="1200" dirty="0"/>
          </a:p>
          <a:p>
            <a:endParaRPr lang="fr-FR" sz="1200" dirty="0"/>
          </a:p>
          <a:p>
            <a:endParaRPr lang="fr-FR" sz="1200" dirty="0"/>
          </a:p>
          <a:p>
            <a:endParaRPr lang="fr-FR" sz="1200" dirty="0"/>
          </a:p>
          <a:p>
            <a:endParaRPr lang="fr-FR" sz="1200" dirty="0"/>
          </a:p>
          <a:p>
            <a:endParaRPr lang="fr-FR" sz="1200" dirty="0"/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B1C7B22A-2B7D-09D4-7242-94BA861B2AB8}"/>
              </a:ext>
            </a:extLst>
          </p:cNvPr>
          <p:cNvSpPr/>
          <p:nvPr/>
        </p:nvSpPr>
        <p:spPr>
          <a:xfrm>
            <a:off x="728524" y="58794"/>
            <a:ext cx="8162387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CABD9F7F-B8F1-4160-CCCE-20E51EF8AA7B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C397D72B-6D42-45D3-FE56-5E47DFEE908A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59298A51-071B-DCEA-C252-95FAAFC33F36}"/>
              </a:ext>
            </a:extLst>
          </p:cNvPr>
          <p:cNvSpPr txBox="1"/>
          <p:nvPr/>
        </p:nvSpPr>
        <p:spPr>
          <a:xfrm>
            <a:off x="824976" y="311564"/>
            <a:ext cx="7943850" cy="377026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+mj-lt"/>
              </a:rPr>
              <a:t> === </a:t>
            </a:r>
            <a:r>
              <a:rPr lang="fr-FR" sz="2000" b="1" dirty="0" err="1">
                <a:solidFill>
                  <a:schemeClr val="bg1"/>
                </a:solidFill>
                <a:latin typeface="+mj-lt"/>
              </a:rPr>
              <a:t>MLflow</a:t>
            </a:r>
            <a:r>
              <a:rPr lang="fr-FR" sz="20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chemeClr val="bg1"/>
                </a:solidFill>
                <a:latin typeface="+mj-lt"/>
              </a:rPr>
              <a:t>Projects</a:t>
            </a:r>
            <a:r>
              <a:rPr lang="fr-FR" sz="2000" b="1" dirty="0">
                <a:solidFill>
                  <a:schemeClr val="bg1"/>
                </a:solidFill>
                <a:latin typeface="+mj-lt"/>
              </a:rPr>
              <a:t> === 5 - Créer un dossier “Project”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4A7787-5A84-0868-A8C0-1DA745C52353}"/>
              </a:ext>
            </a:extLst>
          </p:cNvPr>
          <p:cNvSpPr/>
          <p:nvPr/>
        </p:nvSpPr>
        <p:spPr>
          <a:xfrm>
            <a:off x="1033626" y="1382752"/>
            <a:ext cx="7526550" cy="350148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textwrap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pathlib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tempfile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project_dir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pathlib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tempfile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gettempdir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())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mlflow_project_demo_notebook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project_dir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"train.py"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write_text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textwrap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dedent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"""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\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import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argparse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import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mlflow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import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mlflow.sklearn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import pandas as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pd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sklearn.datasets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import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load_iris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sklearn.model_selection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import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train_test_split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sklearn.metrics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import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accuracy_score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sklearn.ensemble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import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RandomForestClassifier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… Suite page suivante</a:t>
            </a:r>
          </a:p>
        </p:txBody>
      </p:sp>
    </p:spTree>
    <p:extLst>
      <p:ext uri="{BB962C8B-B14F-4D97-AF65-F5344CB8AC3E}">
        <p14:creationId xmlns:p14="http://schemas.microsoft.com/office/powerpoint/2010/main" val="3037187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637F6-D12F-5D72-BF4A-D26D50474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828F9659-29CD-FEB7-09BB-9277F01CE3F4}"/>
              </a:ext>
            </a:extLst>
          </p:cNvPr>
          <p:cNvSpPr txBox="1"/>
          <p:nvPr/>
        </p:nvSpPr>
        <p:spPr>
          <a:xfrm>
            <a:off x="702127" y="1048864"/>
            <a:ext cx="79438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(</a:t>
            </a:r>
            <a:r>
              <a:rPr lang="fr-FR" sz="1200" dirty="0" err="1"/>
              <a:t>MLproject</a:t>
            </a:r>
            <a:r>
              <a:rPr lang="fr-FR" sz="1200" dirty="0"/>
              <a:t> + train.py):</a:t>
            </a:r>
          </a:p>
          <a:p>
            <a:endParaRPr lang="fr-FR" sz="1200" dirty="0"/>
          </a:p>
          <a:p>
            <a:endParaRPr lang="fr-FR" sz="1200" dirty="0"/>
          </a:p>
          <a:p>
            <a:endParaRPr lang="fr-FR" sz="1200" dirty="0"/>
          </a:p>
          <a:p>
            <a:endParaRPr lang="fr-FR" sz="1200" dirty="0"/>
          </a:p>
          <a:p>
            <a:endParaRPr lang="fr-FR" sz="1200" dirty="0"/>
          </a:p>
          <a:p>
            <a:endParaRPr lang="fr-FR" sz="1200" dirty="0"/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1DD843D1-73C3-11DE-C6E8-35B04D439714}"/>
              </a:ext>
            </a:extLst>
          </p:cNvPr>
          <p:cNvSpPr/>
          <p:nvPr/>
        </p:nvSpPr>
        <p:spPr>
          <a:xfrm>
            <a:off x="728524" y="58794"/>
            <a:ext cx="8162387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662B6674-4499-0CB3-63A8-351C4AB1D2DB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535CF0A1-CC48-DECF-5D16-4ADF3D2630C0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5CAB03C0-95FA-E746-644A-F061791CD869}"/>
              </a:ext>
            </a:extLst>
          </p:cNvPr>
          <p:cNvSpPr txBox="1"/>
          <p:nvPr/>
        </p:nvSpPr>
        <p:spPr>
          <a:xfrm>
            <a:off x="824976" y="311564"/>
            <a:ext cx="7943850" cy="377026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+mj-lt"/>
              </a:rPr>
              <a:t> === </a:t>
            </a:r>
            <a:r>
              <a:rPr lang="fr-FR" sz="2000" b="1" dirty="0" err="1">
                <a:solidFill>
                  <a:schemeClr val="bg1"/>
                </a:solidFill>
                <a:latin typeface="+mj-lt"/>
              </a:rPr>
              <a:t>MLflow</a:t>
            </a:r>
            <a:r>
              <a:rPr lang="fr-FR" sz="20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chemeClr val="bg1"/>
                </a:solidFill>
                <a:latin typeface="+mj-lt"/>
              </a:rPr>
              <a:t>Projects</a:t>
            </a:r>
            <a:r>
              <a:rPr lang="fr-FR" sz="2000" b="1" dirty="0">
                <a:solidFill>
                  <a:schemeClr val="bg1"/>
                </a:solidFill>
                <a:latin typeface="+mj-lt"/>
              </a:rPr>
              <a:t> === 5 - Créer un dossier “Project”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9AC6CB-DDBC-53F5-E474-8C1E1FB68DA3}"/>
              </a:ext>
            </a:extLst>
          </p:cNvPr>
          <p:cNvSpPr/>
          <p:nvPr/>
        </p:nvSpPr>
        <p:spPr>
          <a:xfrm>
            <a:off x="1033626" y="1405730"/>
            <a:ext cx="7735200" cy="342620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n_estimators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max_depth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):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    # IMPORTANT (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MLflow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Projects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):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    # -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mlflow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run crée déjà un run et fournit MLFLOW_RUN_ID / MLFLOW_EXPERIMENT_ID via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env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    # - On ne relance pas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mlflow.start_run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() ici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    iris =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load_iris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as_frame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)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    X =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iris.data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    y =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iris.target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X_test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train_test_split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(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        X, y,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test_size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=0.25,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random_state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=42,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stratify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=y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    )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    params = {"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n_estimators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":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n_estimators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, 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max_depth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":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max_depth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, 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random_state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": 42}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    model =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RandomForestClassifier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(**params)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model.fit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)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    acc =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accuracy_score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model.predict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X_test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))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dirty="0">
                <a:solidFill>
                  <a:srgbClr val="ABB2BF"/>
                </a:solidFill>
                <a:latin typeface="Consolas" panose="020B0609020204030204" pitchFamily="49" charset="0"/>
              </a:rPr>
              <a:t>… suite page suivante</a:t>
            </a: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   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746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4D126-A058-0F6B-31C8-890D23D31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CC6C8722-C1B5-DE2D-8D0F-95493384C307}"/>
              </a:ext>
            </a:extLst>
          </p:cNvPr>
          <p:cNvSpPr txBox="1"/>
          <p:nvPr/>
        </p:nvSpPr>
        <p:spPr>
          <a:xfrm>
            <a:off x="702127" y="1048864"/>
            <a:ext cx="79438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(</a:t>
            </a:r>
            <a:r>
              <a:rPr lang="fr-FR" sz="1200" dirty="0" err="1"/>
              <a:t>MLproject</a:t>
            </a:r>
            <a:r>
              <a:rPr lang="fr-FR" sz="1200" dirty="0"/>
              <a:t> + train.py):</a:t>
            </a:r>
          </a:p>
          <a:p>
            <a:endParaRPr lang="fr-FR" sz="1200" dirty="0"/>
          </a:p>
          <a:p>
            <a:endParaRPr lang="fr-FR" sz="1200" dirty="0"/>
          </a:p>
          <a:p>
            <a:endParaRPr lang="fr-FR" sz="1200" dirty="0"/>
          </a:p>
          <a:p>
            <a:endParaRPr lang="fr-FR" sz="1200" dirty="0"/>
          </a:p>
          <a:p>
            <a:endParaRPr lang="fr-FR" sz="1200" dirty="0"/>
          </a:p>
          <a:p>
            <a:endParaRPr lang="fr-FR" sz="1200" dirty="0"/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81107C47-A405-139E-BD00-F31C7AA2FE75}"/>
              </a:ext>
            </a:extLst>
          </p:cNvPr>
          <p:cNvSpPr/>
          <p:nvPr/>
        </p:nvSpPr>
        <p:spPr>
          <a:xfrm>
            <a:off x="728524" y="58794"/>
            <a:ext cx="8162387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ECEE3EDE-E056-48BA-0A84-4B9C297DD87C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19CBBE73-1461-3A6F-F4C1-AF8B2320D054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52C4B711-5B21-C34C-7C57-1331D845B165}"/>
              </a:ext>
            </a:extLst>
          </p:cNvPr>
          <p:cNvSpPr txBox="1"/>
          <p:nvPr/>
        </p:nvSpPr>
        <p:spPr>
          <a:xfrm>
            <a:off x="824976" y="311564"/>
            <a:ext cx="7943850" cy="377026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+mj-lt"/>
              </a:rPr>
              <a:t> === </a:t>
            </a:r>
            <a:r>
              <a:rPr lang="fr-FR" sz="2000" b="1" dirty="0" err="1">
                <a:solidFill>
                  <a:schemeClr val="bg1"/>
                </a:solidFill>
                <a:latin typeface="+mj-lt"/>
              </a:rPr>
              <a:t>MLflow</a:t>
            </a:r>
            <a:r>
              <a:rPr lang="fr-FR" sz="20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chemeClr val="bg1"/>
                </a:solidFill>
                <a:latin typeface="+mj-lt"/>
              </a:rPr>
              <a:t>Projects</a:t>
            </a:r>
            <a:r>
              <a:rPr lang="fr-FR" sz="2000" b="1" dirty="0">
                <a:solidFill>
                  <a:schemeClr val="bg1"/>
                </a:solidFill>
                <a:latin typeface="+mj-lt"/>
              </a:rPr>
              <a:t> === 5 - Créer un dossier “Project”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F17F43-5524-DC8A-E704-AA817DAC83A6}"/>
              </a:ext>
            </a:extLst>
          </p:cNvPr>
          <p:cNvSpPr/>
          <p:nvPr/>
        </p:nvSpPr>
        <p:spPr>
          <a:xfrm>
            <a:off x="1033626" y="1405730"/>
            <a:ext cx="7526550" cy="359745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mlflow.log_params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(params)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mlflow.log_metric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accuracy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", acc)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    fi =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pd.Series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model.feature_importances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_, index=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X.columns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sort_values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ascending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=False)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fi.to_csv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("feature_importances.csv")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mlflow.log_artifact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("feature_importances.csv")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mlflow.sklearn.log_model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(model,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artifact_path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="model")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if __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__ == "__main__":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    p =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argparse.ArgumentParser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()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p.add_argument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("--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n_estimators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", type=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, default=200)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p.add_argument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("--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max_depth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", type=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, default=5)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    args =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p.parse_args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()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    main(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args.n_estimators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args.max_depth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)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"""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"train.py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updated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project_dir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"train.py"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52316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65CED-24B5-4A1D-B7A8-DA2B873F5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0EBD0445-4FF3-0BB8-06D9-BF497ED62967}"/>
              </a:ext>
            </a:extLst>
          </p:cNvPr>
          <p:cNvSpPr/>
          <p:nvPr/>
        </p:nvSpPr>
        <p:spPr>
          <a:xfrm>
            <a:off x="728524" y="58794"/>
            <a:ext cx="8162387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0B5F9739-2042-50DD-DB16-09D177DB3888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EBCBF6F1-5CAE-C315-8619-35D4DA35104C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E55DB31F-D0CE-DFD0-7F89-2C005BA0D107}"/>
              </a:ext>
            </a:extLst>
          </p:cNvPr>
          <p:cNvSpPr txBox="1"/>
          <p:nvPr/>
        </p:nvSpPr>
        <p:spPr>
          <a:xfrm>
            <a:off x="824976" y="311564"/>
            <a:ext cx="7943850" cy="377026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+mj-lt"/>
              </a:rPr>
              <a:t> === </a:t>
            </a:r>
            <a:r>
              <a:rPr lang="fr-FR" sz="2000" b="1" dirty="0" err="1">
                <a:solidFill>
                  <a:schemeClr val="bg1"/>
                </a:solidFill>
                <a:latin typeface="+mj-lt"/>
              </a:rPr>
              <a:t>MLflow</a:t>
            </a:r>
            <a:r>
              <a:rPr lang="fr-FR" sz="20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chemeClr val="bg1"/>
                </a:solidFill>
                <a:latin typeface="+mj-lt"/>
              </a:rPr>
              <a:t>Models</a:t>
            </a:r>
            <a:r>
              <a:rPr lang="fr-FR" sz="2000" b="1" dirty="0">
                <a:solidFill>
                  <a:schemeClr val="bg1"/>
                </a:solidFill>
                <a:latin typeface="+mj-lt"/>
              </a:rPr>
              <a:t> === </a:t>
            </a:r>
            <a:r>
              <a:rPr lang="en-US" sz="2000" b="1" dirty="0">
                <a:solidFill>
                  <a:schemeClr val="bg1"/>
                </a:solidFill>
                <a:latin typeface="+mj-lt"/>
              </a:rPr>
              <a:t>7 -</a:t>
            </a:r>
            <a:r>
              <a:rPr lang="fr-FR" sz="2000" b="1" dirty="0">
                <a:solidFill>
                  <a:schemeClr val="bg1"/>
                </a:solidFill>
                <a:latin typeface="+mj-lt"/>
              </a:rPr>
              <a:t> retrouver le dernier run et charger le modèle</a:t>
            </a:r>
            <a:r>
              <a:rPr lang="en-US" sz="2000" b="1" dirty="0">
                <a:solidFill>
                  <a:schemeClr val="bg1"/>
                </a:solidFill>
                <a:latin typeface="+mj-lt"/>
              </a:rPr>
              <a:t> </a:t>
            </a:r>
            <a:endParaRPr lang="fr-FR" sz="2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767341-D80B-56E2-BB2B-099D718E3E1C}"/>
              </a:ext>
            </a:extLst>
          </p:cNvPr>
          <p:cNvSpPr/>
          <p:nvPr/>
        </p:nvSpPr>
        <p:spPr>
          <a:xfrm>
            <a:off x="1033626" y="1405730"/>
            <a:ext cx="7526550" cy="182069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mlflow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mlflow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.pyfunc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exp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mlflow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get_experiment_by_name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demo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mlflow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-notebook"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last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mlflow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search_runs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exp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.experiment_id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order_by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start_time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DESC"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max_results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run_id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last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.iloc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run_id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mlflow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.pyfunc.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load_model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"runs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:/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run_id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/model"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73892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477B4-AF9D-4DE1-120C-72FEA7BDD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9463147D-BE07-5FFB-4042-3FD05DCF7A3E}"/>
              </a:ext>
            </a:extLst>
          </p:cNvPr>
          <p:cNvSpPr/>
          <p:nvPr/>
        </p:nvSpPr>
        <p:spPr>
          <a:xfrm>
            <a:off x="728524" y="58794"/>
            <a:ext cx="8162387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E8B6D7C3-F698-85E8-B380-F4ECA64744F8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5C93AB01-5D89-DE3E-2453-147601B41206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52933913-6DE9-D1F9-8912-7902F109B95B}"/>
              </a:ext>
            </a:extLst>
          </p:cNvPr>
          <p:cNvSpPr txBox="1"/>
          <p:nvPr/>
        </p:nvSpPr>
        <p:spPr>
          <a:xfrm>
            <a:off x="824976" y="311564"/>
            <a:ext cx="7943850" cy="377026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+mj-lt"/>
              </a:rPr>
              <a:t> === </a:t>
            </a:r>
            <a:r>
              <a:rPr lang="fr-FR" sz="2000" b="1" dirty="0" err="1">
                <a:solidFill>
                  <a:schemeClr val="bg1"/>
                </a:solidFill>
                <a:latin typeface="+mj-lt"/>
              </a:rPr>
              <a:t>MLflow</a:t>
            </a:r>
            <a:r>
              <a:rPr lang="fr-FR" sz="20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chemeClr val="bg1"/>
                </a:solidFill>
                <a:latin typeface="+mj-lt"/>
              </a:rPr>
              <a:t>Models</a:t>
            </a:r>
            <a:r>
              <a:rPr lang="fr-FR" sz="2000" b="1" dirty="0">
                <a:solidFill>
                  <a:schemeClr val="bg1"/>
                </a:solidFill>
                <a:latin typeface="+mj-lt"/>
              </a:rPr>
              <a:t> === </a:t>
            </a:r>
            <a:r>
              <a:rPr lang="en-US" sz="2000" b="1" dirty="0">
                <a:solidFill>
                  <a:schemeClr val="bg1"/>
                </a:solidFill>
                <a:latin typeface="+mj-lt"/>
              </a:rPr>
              <a:t>7 -</a:t>
            </a:r>
            <a:r>
              <a:rPr lang="fr-FR" sz="2000" b="1" dirty="0">
                <a:solidFill>
                  <a:schemeClr val="bg1"/>
                </a:solidFill>
                <a:latin typeface="+mj-lt"/>
              </a:rPr>
              <a:t> recharger un modèle</a:t>
            </a:r>
            <a:r>
              <a:rPr lang="en-US" sz="2000" b="1" dirty="0">
                <a:solidFill>
                  <a:schemeClr val="bg1"/>
                </a:solidFill>
                <a:latin typeface="+mj-lt"/>
              </a:rPr>
              <a:t> </a:t>
            </a:r>
            <a:endParaRPr lang="fr-FR" sz="2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617927-8A1A-AC9E-255F-7852243FD758}"/>
              </a:ext>
            </a:extLst>
          </p:cNvPr>
          <p:cNvSpPr/>
          <p:nvPr/>
        </p:nvSpPr>
        <p:spPr>
          <a:xfrm>
            <a:off x="1033626" y="1405730"/>
            <a:ext cx="7526550" cy="182069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mlflow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mlflow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.pyfunc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exp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mlflow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get_experiment_by_name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demo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mlflow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-notebook"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last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mlflow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search_runs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exp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.experiment_id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order_by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start_time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DESC"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max_results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run_id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last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.iloc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run_id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mlflow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.pyfunc.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load_model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"runs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:/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run_id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/model"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676612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AA8C5-6914-A012-DAB7-150B5C7CC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C9B4C815-5257-6578-6CBC-F21471C37F90}"/>
              </a:ext>
            </a:extLst>
          </p:cNvPr>
          <p:cNvSpPr/>
          <p:nvPr/>
        </p:nvSpPr>
        <p:spPr>
          <a:xfrm>
            <a:off x="728524" y="58794"/>
            <a:ext cx="8162387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431F71B8-6498-5EB7-CDE6-D6C3C2DEFCFD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D98DA5D0-0B75-23CB-41F6-843267F3D78C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75E3E415-03B3-8C4A-E1C1-C5C37DE0D072}"/>
              </a:ext>
            </a:extLst>
          </p:cNvPr>
          <p:cNvSpPr txBox="1"/>
          <p:nvPr/>
        </p:nvSpPr>
        <p:spPr>
          <a:xfrm>
            <a:off x="824976" y="311564"/>
            <a:ext cx="7943850" cy="377026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+mj-lt"/>
              </a:rPr>
              <a:t> === </a:t>
            </a:r>
            <a:r>
              <a:rPr lang="fr-FR" sz="2000" b="1" dirty="0" err="1">
                <a:solidFill>
                  <a:schemeClr val="bg1"/>
                </a:solidFill>
                <a:latin typeface="+mj-lt"/>
              </a:rPr>
              <a:t>MLflow</a:t>
            </a:r>
            <a:r>
              <a:rPr lang="fr-FR" sz="20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chemeClr val="bg1"/>
                </a:solidFill>
                <a:latin typeface="+mj-lt"/>
              </a:rPr>
              <a:t>Models</a:t>
            </a:r>
            <a:r>
              <a:rPr lang="fr-FR" sz="2000" b="1" dirty="0">
                <a:solidFill>
                  <a:schemeClr val="bg1"/>
                </a:solidFill>
                <a:latin typeface="+mj-lt"/>
              </a:rPr>
              <a:t> === 8 – Faire une prédiction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EE2800-D222-2318-55E6-398B184E9AEE}"/>
              </a:ext>
            </a:extLst>
          </p:cNvPr>
          <p:cNvSpPr/>
          <p:nvPr/>
        </p:nvSpPr>
        <p:spPr>
          <a:xfrm>
            <a:off x="1033626" y="1405730"/>
            <a:ext cx="7526550" cy="182069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datasets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load_iris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iris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load_iris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as_frame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 err="1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iris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.data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pred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predict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pred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88716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AEC74-F4B9-2BAA-9ED2-86E018723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B0FB7C39-5FEE-4C5D-658C-DFC37B878A18}"/>
              </a:ext>
            </a:extLst>
          </p:cNvPr>
          <p:cNvSpPr/>
          <p:nvPr/>
        </p:nvSpPr>
        <p:spPr>
          <a:xfrm>
            <a:off x="728524" y="58794"/>
            <a:ext cx="8162387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514B7942-6CC0-6FF5-E22F-D86C246C8720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8317A032-DD85-F80C-0B26-98A09D895089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7B860420-A43A-6AA8-002B-8E960C2A0B8A}"/>
              </a:ext>
            </a:extLst>
          </p:cNvPr>
          <p:cNvSpPr txBox="1"/>
          <p:nvPr/>
        </p:nvSpPr>
        <p:spPr>
          <a:xfrm>
            <a:off x="824976" y="311564"/>
            <a:ext cx="7943850" cy="377026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+mj-lt"/>
              </a:rPr>
              <a:t> === </a:t>
            </a:r>
            <a:r>
              <a:rPr lang="fr-FR" sz="2000" b="1" dirty="0" err="1">
                <a:solidFill>
                  <a:schemeClr val="bg1"/>
                </a:solidFill>
                <a:latin typeface="+mj-lt"/>
              </a:rPr>
              <a:t>MLflow</a:t>
            </a:r>
            <a:r>
              <a:rPr lang="fr-FR" sz="20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chemeClr val="bg1"/>
                </a:solidFill>
                <a:latin typeface="+mj-lt"/>
              </a:rPr>
              <a:t>Models</a:t>
            </a:r>
            <a:r>
              <a:rPr lang="fr-FR" sz="2000" b="1" dirty="0">
                <a:solidFill>
                  <a:schemeClr val="bg1"/>
                </a:solidFill>
                <a:latin typeface="+mj-lt"/>
              </a:rPr>
              <a:t> === 9 – Afficher la précision du modèle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A0A018-27B5-0B1B-B0B2-82A2745D63C9}"/>
              </a:ext>
            </a:extLst>
          </p:cNvPr>
          <p:cNvSpPr/>
          <p:nvPr/>
        </p:nvSpPr>
        <p:spPr>
          <a:xfrm>
            <a:off x="1033626" y="1405730"/>
            <a:ext cx="7526550" cy="182069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metrics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accuracy_score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y_true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iris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.target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predict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accuracy_score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y_true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203503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C9DC2-1297-BE69-2D5E-1CD5BC4C0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B95152A7-E111-E6DB-594D-8DCA0BCC1B35}"/>
              </a:ext>
            </a:extLst>
          </p:cNvPr>
          <p:cNvSpPr/>
          <p:nvPr/>
        </p:nvSpPr>
        <p:spPr>
          <a:xfrm>
            <a:off x="728524" y="58794"/>
            <a:ext cx="8162387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E5F8D35E-6B40-998C-6A1D-62FD6C108725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8F3BF508-B1D4-92C8-043D-8AA358B19B6F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7D99F032-7120-3064-91FE-18FBC6B7A41D}"/>
              </a:ext>
            </a:extLst>
          </p:cNvPr>
          <p:cNvSpPr txBox="1"/>
          <p:nvPr/>
        </p:nvSpPr>
        <p:spPr>
          <a:xfrm>
            <a:off x="824976" y="311564"/>
            <a:ext cx="7943850" cy="377026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+mj-lt"/>
              </a:rPr>
              <a:t> === </a:t>
            </a:r>
            <a:r>
              <a:rPr lang="fr-FR" sz="2000" b="1" dirty="0" err="1">
                <a:solidFill>
                  <a:schemeClr val="bg1"/>
                </a:solidFill>
                <a:latin typeface="+mj-lt"/>
              </a:rPr>
              <a:t>MLflow</a:t>
            </a:r>
            <a:r>
              <a:rPr lang="fr-FR" sz="20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chemeClr val="bg1"/>
                </a:solidFill>
                <a:latin typeface="+mj-lt"/>
              </a:rPr>
              <a:t>Models</a:t>
            </a:r>
            <a:r>
              <a:rPr lang="fr-FR" sz="2000" b="1" dirty="0">
                <a:solidFill>
                  <a:schemeClr val="bg1"/>
                </a:solidFill>
                <a:latin typeface="+mj-lt"/>
              </a:rPr>
              <a:t> === 11 – Générer le webservice et le consommer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DB7888-7B76-2770-5645-EDC472AC2643}"/>
              </a:ext>
            </a:extLst>
          </p:cNvPr>
          <p:cNvSpPr/>
          <p:nvPr/>
        </p:nvSpPr>
        <p:spPr>
          <a:xfrm>
            <a:off x="1033626" y="1405730"/>
            <a:ext cx="7526550" cy="103267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'mlflow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models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serve -m "runs:/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run_id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/model" -p 5001 --no-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conda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2D0BB3-B362-0AB3-015A-161852D47B5B}"/>
              </a:ext>
            </a:extLst>
          </p:cNvPr>
          <p:cNvSpPr/>
          <p:nvPr/>
        </p:nvSpPr>
        <p:spPr>
          <a:xfrm>
            <a:off x="1033626" y="2985486"/>
            <a:ext cx="7526550" cy="103267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dirty="0" err="1"/>
              <a:t>curl</a:t>
            </a:r>
            <a:r>
              <a:rPr lang="fr-FR" sz="1000" dirty="0"/>
              <a:t> </a:t>
            </a:r>
            <a:r>
              <a:rPr lang="fr-FR" sz="1000" dirty="0">
                <a:hlinkClick r:id="rId2" tooltip="http://127.0.0.1:5000/invocations"/>
              </a:rPr>
              <a:t>http://127.0.0.1:5000/invocations</a:t>
            </a:r>
            <a:r>
              <a:rPr lang="fr-FR" sz="1000" dirty="0"/>
              <a:t> -H "</a:t>
            </a:r>
            <a:r>
              <a:rPr lang="fr-FR" sz="1000" dirty="0" err="1"/>
              <a:t>Content-Type:application</a:t>
            </a:r>
            <a:r>
              <a:rPr lang="fr-FR" sz="1000" dirty="0"/>
              <a:t>/</a:t>
            </a:r>
            <a:r>
              <a:rPr lang="fr-FR" sz="1000" dirty="0" err="1"/>
              <a:t>json</a:t>
            </a:r>
            <a:r>
              <a:rPr lang="fr-FR" sz="1000" dirty="0"/>
              <a:t>"  --data '{"inputs": [[1, 2, 3,4]]}'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39748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35" t="869" r="11671"/>
          <a:stretch/>
        </p:blipFill>
        <p:spPr>
          <a:xfrm>
            <a:off x="4431282" y="-7974"/>
            <a:ext cx="4718608" cy="51355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11625" y="932"/>
            <a:ext cx="8138265" cy="5143500"/>
          </a:xfrm>
          <a:prstGeom prst="rect">
            <a:avLst/>
          </a:prstGeom>
          <a:solidFill>
            <a:srgbClr val="676D7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solidFill>
                <a:schemeClr val="bg1"/>
              </a:solidFill>
            </a:endParaRPr>
          </a:p>
        </p:txBody>
      </p:sp>
      <p:sp>
        <p:nvSpPr>
          <p:cNvPr id="7" name="Parallélogramme 6"/>
          <p:cNvSpPr/>
          <p:nvPr/>
        </p:nvSpPr>
        <p:spPr>
          <a:xfrm>
            <a:off x="-1634180" y="-5770"/>
            <a:ext cx="7690701" cy="5135525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9124" y="2162390"/>
            <a:ext cx="3304125" cy="2579399"/>
          </a:xfrm>
          <a:prstGeom prst="rect">
            <a:avLst/>
          </a:prstGeom>
        </p:spPr>
      </p:pic>
      <p:sp>
        <p:nvSpPr>
          <p:cNvPr id="12" name="Titre 1"/>
          <p:cNvSpPr>
            <a:spLocks noGrp="1"/>
          </p:cNvSpPr>
          <p:nvPr>
            <p:ph type="ctrTitle" idx="4294967295"/>
          </p:nvPr>
        </p:nvSpPr>
        <p:spPr>
          <a:xfrm>
            <a:off x="5971273" y="2636568"/>
            <a:ext cx="2393946" cy="1751965"/>
          </a:xfrm>
        </p:spPr>
        <p:txBody>
          <a:bodyPr>
            <a:normAutofit fontScale="90000"/>
          </a:bodyPr>
          <a:lstStyle/>
          <a:p>
            <a:pPr algn="ctr"/>
            <a:r>
              <a:rPr lang="fr-FR" sz="2700">
                <a:solidFill>
                  <a:schemeClr val="bg1"/>
                </a:solidFill>
                <a:latin typeface="Agency FB" panose="020B0503020202020204" pitchFamily="34" charset="0"/>
                <a:ea typeface="+mn-ea"/>
                <a:cs typeface="+mn-cs"/>
              </a:rPr>
              <a:t>Suivez-Nous</a:t>
            </a:r>
            <a:br>
              <a:rPr lang="fr-FR">
                <a:solidFill>
                  <a:schemeClr val="bg1"/>
                </a:solidFill>
              </a:rPr>
            </a:br>
            <a:br>
              <a:rPr lang="fr-FR">
                <a:solidFill>
                  <a:schemeClr val="bg1"/>
                </a:solidFill>
              </a:rPr>
            </a:br>
            <a:br>
              <a:rPr lang="fr-FR" sz="1500">
                <a:solidFill>
                  <a:schemeClr val="bg1"/>
                </a:solidFill>
              </a:rPr>
            </a:br>
            <a:r>
              <a:rPr lang="fr-FR" sz="1500">
                <a:solidFill>
                  <a:schemeClr val="bg1"/>
                </a:solidFill>
                <a:hlinkClick r:id="rId5"/>
              </a:rPr>
              <a:t>www.mgt-conseils.com</a:t>
            </a:r>
            <a:br>
              <a:rPr lang="fr-FR" sz="1500">
                <a:solidFill>
                  <a:schemeClr val="bg1"/>
                </a:solidFill>
              </a:rPr>
            </a:br>
            <a:r>
              <a:rPr lang="fr-FR" sz="1500">
                <a:solidFill>
                  <a:schemeClr val="bg1"/>
                </a:solidFill>
              </a:rPr>
              <a:t>contact@mgt-conseils.com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8619" y="496808"/>
            <a:ext cx="3489311" cy="300082"/>
          </a:xfrm>
          <a:prstGeom prst="rect">
            <a:avLst/>
          </a:prstGeom>
        </p:spPr>
        <p:txBody>
          <a:bodyPr wrap="square" lIns="68580" tIns="34290" rIns="68580" bIns="34290" anchor="t">
            <a:spAutoFit/>
          </a:bodyPr>
          <a:lstStyle/>
          <a:p>
            <a:r>
              <a:rPr lang="fr-FR" sz="1500" b="1">
                <a:solidFill>
                  <a:srgbClr val="0070C0"/>
                </a:solidFill>
                <a:latin typeface="Agency FB"/>
              </a:rPr>
              <a:t> </a:t>
            </a:r>
            <a:r>
              <a:rPr lang="fr-FR" sz="1500" b="1">
                <a:solidFill>
                  <a:srgbClr val="F89A33"/>
                </a:solidFill>
                <a:latin typeface="Agency FB"/>
              </a:rPr>
              <a:t>| Direction Commerciale</a:t>
            </a:r>
            <a:endParaRPr lang="fr-FR" sz="1500">
              <a:latin typeface="Agency FB"/>
            </a:endParaRPr>
          </a:p>
        </p:txBody>
      </p:sp>
      <p:sp>
        <p:nvSpPr>
          <p:cNvPr id="22" name="ZoneTexte 21"/>
          <p:cNvSpPr txBox="1"/>
          <p:nvPr/>
        </p:nvSpPr>
        <p:spPr>
          <a:xfrm>
            <a:off x="450011" y="794581"/>
            <a:ext cx="2639741" cy="300082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/>
              </a:rPr>
              <a:t>business@mgt-conseils.com </a:t>
            </a:r>
            <a:endParaRPr lang="fr-FR" sz="1500">
              <a:solidFill>
                <a:srgbClr val="676D72"/>
              </a:solidFill>
              <a:latin typeface="Agency FB" panose="020B0503020202020204" pitchFamily="34" charset="0"/>
            </a:endParaRPr>
          </a:p>
        </p:txBody>
      </p:sp>
      <p:sp>
        <p:nvSpPr>
          <p:cNvPr id="25" name="Titre 1"/>
          <p:cNvSpPr txBox="1">
            <a:spLocks/>
          </p:cNvSpPr>
          <p:nvPr/>
        </p:nvSpPr>
        <p:spPr>
          <a:xfrm>
            <a:off x="4667449" y="4706090"/>
            <a:ext cx="5001596" cy="549984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825">
                <a:solidFill>
                  <a:schemeClr val="bg1"/>
                </a:solidFill>
              </a:rPr>
              <a:t>SARL au capital de 50 300 € - SIRET 479 638 462 00032 </a:t>
            </a:r>
          </a:p>
        </p:txBody>
      </p:sp>
      <p:pic>
        <p:nvPicPr>
          <p:cNvPr id="26" name="Image 2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24" y="871474"/>
            <a:ext cx="146399" cy="146399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59972" y="1314543"/>
            <a:ext cx="322870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500" b="1">
                <a:solidFill>
                  <a:srgbClr val="F89A33"/>
                </a:solidFill>
                <a:latin typeface="Agency FB" panose="020B0503020202020204" pitchFamily="34" charset="0"/>
              </a:rPr>
              <a:t>| Paris</a:t>
            </a:r>
            <a:endParaRPr lang="fr-FR" sz="1500">
              <a:latin typeface="Agency FB" panose="020B0503020202020204" pitchFamily="34" charset="0"/>
            </a:endParaRPr>
          </a:p>
        </p:txBody>
      </p:sp>
      <p:sp>
        <p:nvSpPr>
          <p:cNvPr id="32" name="ZoneTexte 31"/>
          <p:cNvSpPr txBox="1"/>
          <p:nvPr/>
        </p:nvSpPr>
        <p:spPr>
          <a:xfrm>
            <a:off x="451364" y="1626848"/>
            <a:ext cx="26397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+331 47 20 67 63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Les Champs Elysées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104 Rue du Faubourg Saint - Honoré, 75008 Paris</a:t>
            </a:r>
          </a:p>
        </p:txBody>
      </p:sp>
      <p:pic>
        <p:nvPicPr>
          <p:cNvPr id="34" name="Image 3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879" y="1699834"/>
            <a:ext cx="146399" cy="146399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245868" y="2674542"/>
            <a:ext cx="322870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500" b="1">
                <a:solidFill>
                  <a:srgbClr val="F89A33"/>
                </a:solidFill>
                <a:latin typeface="Agency FB" panose="020B0503020202020204" pitchFamily="34" charset="0"/>
              </a:rPr>
              <a:t>| Abidjan</a:t>
            </a:r>
            <a:endParaRPr lang="fr-FR" sz="1500">
              <a:latin typeface="Agency FB" panose="020B0503020202020204" pitchFamily="34" charset="0"/>
            </a:endParaRPr>
          </a:p>
        </p:txBody>
      </p:sp>
      <p:sp>
        <p:nvSpPr>
          <p:cNvPr id="40" name="ZoneTexte 39"/>
          <p:cNvSpPr txBox="1"/>
          <p:nvPr/>
        </p:nvSpPr>
        <p:spPr>
          <a:xfrm>
            <a:off x="437260" y="2986846"/>
            <a:ext cx="280687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+225 05 06 75 01 01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Résidence </a:t>
            </a:r>
            <a:r>
              <a:rPr lang="fr-FR" sz="1500" err="1">
                <a:solidFill>
                  <a:srgbClr val="676D72"/>
                </a:solidFill>
                <a:latin typeface="Agency FB" panose="020B0503020202020204" pitchFamily="34" charset="0"/>
              </a:rPr>
              <a:t>Palazzo</a:t>
            </a:r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 </a:t>
            </a:r>
            <a:r>
              <a:rPr lang="fr-FR" sz="1500" err="1">
                <a:solidFill>
                  <a:srgbClr val="676D72"/>
                </a:solidFill>
                <a:latin typeface="Agency FB" panose="020B0503020202020204" pitchFamily="34" charset="0"/>
              </a:rPr>
              <a:t>Posillipo</a:t>
            </a:r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 Cocody - Danga, 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BP 10 367, Abidjan 01</a:t>
            </a:r>
          </a:p>
        </p:txBody>
      </p:sp>
      <p:pic>
        <p:nvPicPr>
          <p:cNvPr id="41" name="Image 4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75" y="3059832"/>
            <a:ext cx="146399" cy="146399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242717" y="3838560"/>
            <a:ext cx="322870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500" b="1">
                <a:solidFill>
                  <a:srgbClr val="F89A33"/>
                </a:solidFill>
                <a:latin typeface="Agency FB" panose="020B0503020202020204" pitchFamily="34" charset="0"/>
              </a:rPr>
              <a:t>| Bénin</a:t>
            </a:r>
            <a:endParaRPr lang="fr-FR" sz="1500">
              <a:latin typeface="Agency FB" panose="020B0503020202020204" pitchFamily="34" charset="0"/>
            </a:endParaRPr>
          </a:p>
        </p:txBody>
      </p:sp>
      <p:sp>
        <p:nvSpPr>
          <p:cNvPr id="43" name="ZoneTexte 42"/>
          <p:cNvSpPr txBox="1"/>
          <p:nvPr/>
        </p:nvSpPr>
        <p:spPr>
          <a:xfrm>
            <a:off x="434109" y="4150864"/>
            <a:ext cx="305456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+229 90 55 10 55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Akpakpa </a:t>
            </a:r>
            <a:r>
              <a:rPr lang="fr-FR" sz="1500" err="1">
                <a:solidFill>
                  <a:srgbClr val="676D72"/>
                </a:solidFill>
                <a:latin typeface="Agency FB" panose="020B0503020202020204" pitchFamily="34" charset="0"/>
              </a:rPr>
              <a:t>Rés</a:t>
            </a:r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. JR d’Adèle, 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Cotonou</a:t>
            </a:r>
          </a:p>
        </p:txBody>
      </p:sp>
      <p:pic>
        <p:nvPicPr>
          <p:cNvPr id="44" name="Image 4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24" y="4223850"/>
            <a:ext cx="146399" cy="146399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32" y="1946622"/>
            <a:ext cx="141499" cy="141499"/>
          </a:xfrm>
          <a:prstGeom prst="rect">
            <a:avLst/>
          </a:prstGeom>
        </p:spPr>
      </p:pic>
      <p:pic>
        <p:nvPicPr>
          <p:cNvPr id="45" name="Image 4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71" y="4460988"/>
            <a:ext cx="141499" cy="141499"/>
          </a:xfrm>
          <a:prstGeom prst="rect">
            <a:avLst/>
          </a:prstGeom>
        </p:spPr>
      </p:pic>
      <p:pic>
        <p:nvPicPr>
          <p:cNvPr id="46" name="Image 4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71" y="3343186"/>
            <a:ext cx="141499" cy="141499"/>
          </a:xfrm>
          <a:prstGeom prst="rect">
            <a:avLst/>
          </a:prstGeom>
        </p:spPr>
      </p:pic>
      <p:grpSp>
        <p:nvGrpSpPr>
          <p:cNvPr id="16" name="Groupe 15"/>
          <p:cNvGrpSpPr/>
          <p:nvPr/>
        </p:nvGrpSpPr>
        <p:grpSpPr>
          <a:xfrm>
            <a:off x="5935935" y="3045995"/>
            <a:ext cx="2471907" cy="660017"/>
            <a:chOff x="7953078" y="4393803"/>
            <a:chExt cx="3295876" cy="880023"/>
          </a:xfrm>
        </p:grpSpPr>
        <p:grpSp>
          <p:nvGrpSpPr>
            <p:cNvPr id="13" name="Groupe 12"/>
            <p:cNvGrpSpPr/>
            <p:nvPr/>
          </p:nvGrpSpPr>
          <p:grpSpPr>
            <a:xfrm>
              <a:off x="7953078" y="4393803"/>
              <a:ext cx="1235024" cy="880023"/>
              <a:chOff x="7708552" y="4387991"/>
              <a:chExt cx="1235024" cy="880023"/>
            </a:xfrm>
          </p:grpSpPr>
          <p:pic>
            <p:nvPicPr>
              <p:cNvPr id="4" name="Image 3"/>
              <p:cNvPicPr>
                <a:picLocks noChangeAspect="1"/>
              </p:cNvPicPr>
              <p:nvPr/>
            </p:nvPicPr>
            <p:blipFill>
              <a:blip r:embed="rId9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53043" y="4387991"/>
                <a:ext cx="346041" cy="346041"/>
              </a:xfrm>
              <a:prstGeom prst="rect">
                <a:avLst/>
              </a:prstGeom>
            </p:spPr>
          </p:pic>
          <p:sp>
            <p:nvSpPr>
              <p:cNvPr id="47" name="Titre 1"/>
              <p:cNvSpPr txBox="1">
                <a:spLocks/>
              </p:cNvSpPr>
              <p:nvPr/>
            </p:nvSpPr>
            <p:spPr>
              <a:xfrm>
                <a:off x="7708552" y="4534702"/>
                <a:ext cx="1235024" cy="73331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fr-FR" sz="825">
                    <a:solidFill>
                      <a:schemeClr val="bg1"/>
                    </a:solidFill>
                  </a:rPr>
                  <a:t>/</a:t>
                </a:r>
                <a:r>
                  <a:rPr lang="fr-FR" sz="825" err="1">
                    <a:solidFill>
                      <a:schemeClr val="bg1"/>
                    </a:solidFill>
                  </a:rPr>
                  <a:t>MGT.Conseils</a:t>
                </a:r>
                <a:endParaRPr lang="fr-FR" sz="825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" name="Groupe 13"/>
            <p:cNvGrpSpPr/>
            <p:nvPr/>
          </p:nvGrpSpPr>
          <p:grpSpPr>
            <a:xfrm>
              <a:off x="8943789" y="4426916"/>
              <a:ext cx="1235024" cy="840134"/>
              <a:chOff x="8704148" y="4427880"/>
              <a:chExt cx="1235024" cy="840134"/>
            </a:xfrm>
          </p:grpSpPr>
          <p:pic>
            <p:nvPicPr>
              <p:cNvPr id="6" name="Image 5"/>
              <p:cNvPicPr>
                <a:picLocks noChangeAspect="1"/>
              </p:cNvPicPr>
              <p:nvPr/>
            </p:nvPicPr>
            <p:blipFill>
              <a:blip r:embed="rId10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43910" y="4427880"/>
                <a:ext cx="349810" cy="349810"/>
              </a:xfrm>
              <a:prstGeom prst="rect">
                <a:avLst/>
              </a:prstGeom>
            </p:spPr>
          </p:pic>
          <p:sp>
            <p:nvSpPr>
              <p:cNvPr id="49" name="Titre 1"/>
              <p:cNvSpPr txBox="1">
                <a:spLocks/>
              </p:cNvSpPr>
              <p:nvPr/>
            </p:nvSpPr>
            <p:spPr>
              <a:xfrm>
                <a:off x="8704148" y="4534702"/>
                <a:ext cx="1235024" cy="73331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fr-FR" sz="825">
                    <a:solidFill>
                      <a:schemeClr val="bg1"/>
                    </a:solidFill>
                  </a:rPr>
                  <a:t>/</a:t>
                </a:r>
                <a:r>
                  <a:rPr lang="fr-FR" sz="825" err="1">
                    <a:solidFill>
                      <a:schemeClr val="bg1"/>
                    </a:solidFill>
                  </a:rPr>
                  <a:t>mgt</a:t>
                </a:r>
                <a:r>
                  <a:rPr lang="fr-FR" sz="825">
                    <a:solidFill>
                      <a:schemeClr val="bg1"/>
                    </a:solidFill>
                  </a:rPr>
                  <a:t>-conseils</a:t>
                </a:r>
              </a:p>
            </p:txBody>
          </p:sp>
        </p:grpSp>
        <p:grpSp>
          <p:nvGrpSpPr>
            <p:cNvPr id="15" name="Groupe 14"/>
            <p:cNvGrpSpPr/>
            <p:nvPr/>
          </p:nvGrpSpPr>
          <p:grpSpPr>
            <a:xfrm>
              <a:off x="10013930" y="4426197"/>
              <a:ext cx="1235024" cy="840853"/>
              <a:chOff x="9613248" y="4415593"/>
              <a:chExt cx="1235024" cy="840853"/>
            </a:xfrm>
          </p:grpSpPr>
          <p:pic>
            <p:nvPicPr>
              <p:cNvPr id="9" name="Image 8"/>
              <p:cNvPicPr>
                <a:picLocks noChangeAspect="1"/>
              </p:cNvPicPr>
              <p:nvPr/>
            </p:nvPicPr>
            <p:blipFill>
              <a:blip r:embed="rId11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153" y="4415593"/>
                <a:ext cx="347214" cy="347214"/>
              </a:xfrm>
              <a:prstGeom prst="rect">
                <a:avLst/>
              </a:prstGeom>
            </p:spPr>
          </p:pic>
          <p:sp>
            <p:nvSpPr>
              <p:cNvPr id="51" name="Titre 1"/>
              <p:cNvSpPr txBox="1">
                <a:spLocks/>
              </p:cNvSpPr>
              <p:nvPr/>
            </p:nvSpPr>
            <p:spPr>
              <a:xfrm>
                <a:off x="9613248" y="4523134"/>
                <a:ext cx="1235024" cy="73331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fr-FR" sz="825">
                    <a:solidFill>
                      <a:schemeClr val="bg1"/>
                    </a:solidFill>
                  </a:rPr>
                  <a:t>@</a:t>
                </a:r>
                <a:r>
                  <a:rPr lang="fr-FR" sz="825" err="1">
                    <a:solidFill>
                      <a:schemeClr val="bg1"/>
                    </a:solidFill>
                  </a:rPr>
                  <a:t>MGTConseils</a:t>
                </a:r>
                <a:endParaRPr lang="fr-FR" sz="825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10192631-2D34-469C-A952-3B55768F581D}"/>
              </a:ext>
            </a:extLst>
          </p:cNvPr>
          <p:cNvSpPr txBox="1"/>
          <p:nvPr/>
        </p:nvSpPr>
        <p:spPr>
          <a:xfrm>
            <a:off x="6020136" y="501821"/>
            <a:ext cx="2784985" cy="1569660"/>
          </a:xfrm>
          <a:prstGeom prst="rect">
            <a:avLst/>
          </a:prstGeom>
          <a:noFill/>
        </p:spPr>
        <p:txBody>
          <a:bodyPr vert="horz" wrap="square" rtlCol="0" anchor="ctr" anchorCtr="0">
            <a:spAutoFit/>
          </a:bodyPr>
          <a:lstStyle/>
          <a:p>
            <a:pPr algn="ctr"/>
            <a:r>
              <a:rPr lang="fr-FR" sz="3200" b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Merci pour votre attention </a:t>
            </a:r>
          </a:p>
        </p:txBody>
      </p:sp>
    </p:spTree>
    <p:extLst>
      <p:ext uri="{BB962C8B-B14F-4D97-AF65-F5344CB8AC3E}">
        <p14:creationId xmlns:p14="http://schemas.microsoft.com/office/powerpoint/2010/main" val="782514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419B1710D3DF4A9DAA9ADF73C802B5" ma:contentTypeVersion="14" ma:contentTypeDescription="Crée un document." ma:contentTypeScope="" ma:versionID="d45f398bd182fafaec1e6b20d8a38b6f">
  <xsd:schema xmlns:xsd="http://www.w3.org/2001/XMLSchema" xmlns:xs="http://www.w3.org/2001/XMLSchema" xmlns:p="http://schemas.microsoft.com/office/2006/metadata/properties" xmlns:ns3="6f1b3788-58c0-46a5-9604-64d97c7fc47c" xmlns:ns4="73eca01c-4ea5-40c8-83fd-b296bd340025" targetNamespace="http://schemas.microsoft.com/office/2006/metadata/properties" ma:root="true" ma:fieldsID="de746a5257d740f042749d495693305b" ns3:_="" ns4:_="">
    <xsd:import namespace="6f1b3788-58c0-46a5-9604-64d97c7fc47c"/>
    <xsd:import namespace="73eca01c-4ea5-40c8-83fd-b296bd34002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1b3788-58c0-46a5-9604-64d97c7fc4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eca01c-4ea5-40c8-83fd-b296bd34002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3eca01c-4ea5-40c8-83fd-b296bd340025">
      <UserInfo>
        <DisplayName>Abir GUENICH - Ingénieure d’affaire</DisplayName>
        <AccountId>246</AccountId>
        <AccountType/>
      </UserInfo>
    </SharedWithUsers>
    <_activity xmlns="6f1b3788-58c0-46a5-9604-64d97c7fc47c" xsi:nil="true"/>
  </documentManagement>
</p:properties>
</file>

<file path=customXml/itemProps1.xml><?xml version="1.0" encoding="utf-8"?>
<ds:datastoreItem xmlns:ds="http://schemas.openxmlformats.org/officeDocument/2006/customXml" ds:itemID="{EBAA46D8-DF31-4768-AD82-8F485C82E64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3D40C7A-64C6-4B3B-A1B6-9CB64BC756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f1b3788-58c0-46a5-9604-64d97c7fc47c"/>
    <ds:schemaRef ds:uri="73eca01c-4ea5-40c8-83fd-b296bd3400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0C00205-F11F-4D61-9572-D162BE7CE022}">
  <ds:schemaRefs>
    <ds:schemaRef ds:uri="http://schemas.microsoft.com/office/infopath/2007/PartnerControls"/>
    <ds:schemaRef ds:uri="http://purl.org/dc/terms/"/>
    <ds:schemaRef ds:uri="http://purl.org/dc/elements/1.1/"/>
    <ds:schemaRef ds:uri="6f1b3788-58c0-46a5-9604-64d97c7fc47c"/>
    <ds:schemaRef ds:uri="73eca01c-4ea5-40c8-83fd-b296bd340025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4193</TotalTime>
  <Words>2102</Words>
  <Application>Microsoft Office PowerPoint</Application>
  <PresentationFormat>Affichage à l'écran (16:9)</PresentationFormat>
  <Paragraphs>236</Paragraphs>
  <Slides>18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32" baseType="lpstr">
      <vt:lpstr>Abadi Extra Light</vt:lpstr>
      <vt:lpstr>Arial Unicode MS</vt:lpstr>
      <vt:lpstr>Arial Unicode MS</vt:lpstr>
      <vt:lpstr>FUTURA MEDIUM</vt:lpstr>
      <vt:lpstr>Agency FB</vt:lpstr>
      <vt:lpstr>Arial</vt:lpstr>
      <vt:lpstr>Calibri</vt:lpstr>
      <vt:lpstr>Consolas</vt:lpstr>
      <vt:lpstr>Ebrima</vt:lpstr>
      <vt:lpstr>Roboto</vt:lpstr>
      <vt:lpstr>Trebuchet MS</vt:lpstr>
      <vt:lpstr>Verdana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Suivez-Nous   www.mgt-conseils.com contact@mgt-conseils.com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Groupe  DataValue Consulting</dc:title>
  <dc:creator>Conrad GBAGUIDI</dc:creator>
  <cp:lastModifiedBy>Denis ARGOUARCH</cp:lastModifiedBy>
  <cp:revision>186</cp:revision>
  <dcterms:created xsi:type="dcterms:W3CDTF">2021-01-18T11:01:50Z</dcterms:created>
  <dcterms:modified xsi:type="dcterms:W3CDTF">2026-09-30T08:22:18Z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2020-03-16T00:00:00Z</vt:filetime>
  </property>
  <property fmtid="{D5CDD505-2E9C-101B-9397-08002B2CF9AE}" pid="3" name="LastSaved">
    <vt:filetime>2021-01-18T00:00:00Z</vt:filetime>
  </property>
  <property fmtid="{D5CDD505-2E9C-101B-9397-08002B2CF9AE}" pid="4" name="ContentTypeId">
    <vt:lpwstr>0x01010058419B1710D3DF4A9DAA9ADF73C802B5</vt:lpwstr>
  </property>
  <property fmtid="{D5CDD505-2E9C-101B-9397-08002B2CF9AE}" pid="5" name="MediaServiceImageTags">
    <vt:lpwstr/>
  </property>
</Properties>
</file>