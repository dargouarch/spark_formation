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customXml/itemProps1.xml" ContentType="application/vnd.openxmlformats-officedocument.customXmlProperties+xml"/>
  <Override PartName="/ppt/customXml/itemProps2.xml" ContentType="application/vnd.openxmlformats-officedocument.customXmlProperties+xml"/>
  <Override PartName="/ppt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263" r:id="rId5"/>
    <p:sldId id="2134807190" r:id="rId6"/>
    <p:sldId id="2134807191" r:id="rId7"/>
    <p:sldId id="2134807201" r:id="rId8"/>
    <p:sldId id="2134807192" r:id="rId9"/>
    <p:sldId id="2134807193" r:id="rId10"/>
    <p:sldId id="2134807194" r:id="rId11"/>
    <p:sldId id="2134807195" r:id="rId12"/>
    <p:sldId id="2134807196" r:id="rId13"/>
    <p:sldId id="2134807197" r:id="rId14"/>
    <p:sldId id="2134807198" r:id="rId15"/>
    <p:sldId id="2134807202" r:id="rId16"/>
    <p:sldId id="2134807200" r:id="rId17"/>
    <p:sldId id="2134807199" r:id="rId18"/>
    <p:sldId id="2134807203" r:id="rId19"/>
    <p:sldId id="2134807204" r:id="rId20"/>
    <p:sldId id="2134807206" r:id="rId21"/>
    <p:sldId id="2134807207" r:id="rId22"/>
    <p:sldId id="2134807208" r:id="rId23"/>
    <p:sldId id="2134807209" r:id="rId24"/>
    <p:sldId id="2134807205" r:id="rId25"/>
    <p:sldId id="2134807210" r:id="rId26"/>
    <p:sldId id="2134807211" r:id="rId27"/>
    <p:sldId id="2134807213" r:id="rId28"/>
    <p:sldId id="2134807214" r:id="rId29"/>
    <p:sldId id="2134807212" r:id="rId30"/>
    <p:sldId id="1001" r:id="rIdSpark1"/>
    <p:sldId id="1002" r:id="rIdSpark2"/>
    <p:sldId id="1003" r:id="rIdSpark3"/>
    <p:sldId id="1004" r:id="rIdSpark4"/>
    <p:sldId id="1005" r:id="rIdSpark5"/>
    <p:sldId id="1006" r:id="rIdSpark6"/>
    <p:sldId id="1007" r:id="rIdSpark7"/>
    <p:sldId id="1008" r:id="rIdSpark8"/>
    <p:sldId id="1009" r:id="rIdSpark9"/>
    <p:sldId id="1010" r:id="rIdSpark10"/>
    <p:sldId id="1011" r:id="rIdSpark11"/>
    <p:sldId id="1012" r:id="rIdSpark12"/>
    <p:sldId id="1013" r:id="rIdSpark13"/>
    <p:sldId id="1014" r:id="rIdSpark14"/>
    <p:sldId id="1015" r:id="rIdSpark15"/>
    <p:sldId id="269" r:id="rId31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Spark1" Type="http://schemas.openxmlformats.org/officeDocument/2006/relationships/slide" Target="slides/slide28.xml"/><Relationship Id="rIdSpark2" Type="http://schemas.openxmlformats.org/officeDocument/2006/relationships/slide" Target="slides/slide29.xml"/><Relationship Id="rIdSpark3" Type="http://schemas.openxmlformats.org/officeDocument/2006/relationships/slide" Target="slides/slide30.xml"/><Relationship Id="rIdSpark4" Type="http://schemas.openxmlformats.org/officeDocument/2006/relationships/slide" Target="slides/slide31.xml"/><Relationship Id="rIdSpark5" Type="http://schemas.openxmlformats.org/officeDocument/2006/relationships/slide" Target="slides/slide32.xml"/><Relationship Id="rIdSpark6" Type="http://schemas.openxmlformats.org/officeDocument/2006/relationships/slide" Target="slides/slide33.xml"/><Relationship Id="rIdSpark7" Type="http://schemas.openxmlformats.org/officeDocument/2006/relationships/slide" Target="slides/slide34.xml"/><Relationship Id="rIdSpark8" Type="http://schemas.openxmlformats.org/officeDocument/2006/relationships/slide" Target="slides/slide35.xml"/><Relationship Id="rIdSpark9" Type="http://schemas.openxmlformats.org/officeDocument/2006/relationships/slide" Target="slides/slide36.xml"/><Relationship Id="rIdSpark10" Type="http://schemas.openxmlformats.org/officeDocument/2006/relationships/slide" Target="slides/slide37.xml"/><Relationship Id="rIdSpark11" Type="http://schemas.openxmlformats.org/officeDocument/2006/relationships/slide" Target="slides/slide38.xml"/><Relationship Id="rIdSpark12" Type="http://schemas.openxmlformats.org/officeDocument/2006/relationships/slide" Target="slides/slide39.xml"/><Relationship Id="rIdSpark13" Type="http://schemas.openxmlformats.org/officeDocument/2006/relationships/slide" Target="slides/slide40.xml"/><Relationship Id="rIdSpark14" Type="http://schemas.openxmlformats.org/officeDocument/2006/relationships/slide" Target="slides/slide41.xml"/><Relationship Id="rIdSpark15" Type="http://schemas.openxmlformats.org/officeDocument/2006/relationships/slide" Target="slides/slide42.xml"/></Relationships>
</file>

<file path=ppt/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ppt/customXml/itemProps1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ppt/customXml/itemProps2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ppt/customXml/itemProps3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techniques :</a:t>
            </a:r>
          </a:p>
          <a:p xmlns:a="http://schemas.openxmlformats.org/drawingml/2006/main">
            <a:r>
              <a:t>https://spark.apache.org/docs/3.5.6/structured-streaming-kafka-integration.html</a:t>
            </a:r>
          </a:p>
          <a:p xmlns:a="http://schemas.openxmlformats.org/drawingml/2006/main">
            <a:r>
              <a:t>https://spark.apache.org/docs/3.5.6/structured-streaming-programming-guide.html</a:t>
            </a:r>
          </a:p>
          <a:p xmlns:a="http://schemas.openxmlformats.org/drawingml/2006/main">
            <a:r>
              <a:t>Exemple pédagogique adapté au support fourni. Code non exécuté contre le broker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10.emf"/><Relationship Id="rId9" Type="http://schemas.openxmlformats.org/officeDocument/2006/relationships/image" Target="../media/image14.png"/></Relationships>
</file>

<file path=ppt/slides/_rels/slide28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28.xml"/></Relationships>
</file>

<file path=ppt/slides/_rels/slide29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29.xml"/></Relationships>
</file>

<file path=ppt/slides/_rels/slide30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0.xml"/></Relationships>
</file>

<file path=ppt/slides/_rels/slide31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1.xml"/></Relationships>
</file>

<file path=ppt/slides/_rels/slide32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2.xml"/></Relationships>
</file>

<file path=ppt/slides/_rels/slide33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3.xml"/></Relationships>
</file>

<file path=ppt/slides/_rels/slide34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4.xml"/></Relationships>
</file>

<file path=ppt/slides/_rels/slide35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5.xml"/></Relationships>
</file>

<file path=ppt/slides/_rels/slide36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6.xml"/></Relationships>
</file>

<file path=ppt/slides/_rels/slide37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7.xml"/></Relationships>
</file>

<file path=ppt/slides/_rels/slide38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8.xml"/></Relationships>
</file>

<file path=ppt/slides/_rels/slide39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39.xml"/></Relationships>
</file>

<file path=ppt/slides/_rels/slide40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40.xml"/></Relationships>
</file>

<file path=ppt/slides/_rels/slide41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41.xml"/></Relationships>
</file>

<file path=ppt/slides/_rels/slide42.xml.rels><Relationships xmlns="http://schemas.openxmlformats.org/package/2006/relationships"><Relationship Id="rId1" Type="http://schemas.openxmlformats.org/officeDocument/2006/relationships/slideLayout" Target="../slideLayouts/slideLayout2.xml"/><Relationship Id="rIdNewNote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Intégration </a:t>
            </a:r>
            <a:r>
              <a:rPr kumimoji="0" lang="fr-FR" b="1" i="0" u="none" strike="noStrike" kern="1200" cap="none" spc="0" normalizeH="0" baseline="0" noProof="0" dirty="0" err="1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Kaf</a:t>
            </a:r>
            <a:r>
              <a:rPr lang="fr-FR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1F5F-595C-09B5-5C35-02711E01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41A8434-F6BB-BC89-2D85-2C0FF7061EDD}"/>
              </a:ext>
            </a:extLst>
          </p:cNvPr>
          <p:cNvSpPr txBox="1"/>
          <p:nvPr/>
        </p:nvSpPr>
        <p:spPr>
          <a:xfrm>
            <a:off x="702127" y="1048864"/>
            <a:ext cx="7943850" cy="380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Objectif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Installer KAFKA (broker) avec une interface Kraft.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Installer Notebook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avec stack ML (</a:t>
            </a:r>
            <a:r>
              <a:rPr lang="fr-FR" sz="1200" dirty="0" err="1">
                <a:ea typeface="Arial Unicode MS"/>
              </a:rPr>
              <a:t>SciPy</a:t>
            </a:r>
            <a:r>
              <a:rPr lang="fr-FR" sz="1200" dirty="0">
                <a:ea typeface="Arial Unicode MS"/>
              </a:rPr>
              <a:t>, </a:t>
            </a:r>
            <a:r>
              <a:rPr lang="fr-FR" sz="1200" dirty="0" err="1">
                <a:ea typeface="Arial Unicode MS"/>
              </a:rPr>
              <a:t>scikit-learn</a:t>
            </a:r>
            <a:r>
              <a:rPr lang="fr-FR" sz="1200" dirty="0">
                <a:ea typeface="Arial Unicode MS"/>
              </a:rPr>
              <a:t>, etc.)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Produire des données KAFKA dans un topic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Consommer les données KAFKA du topic et générer un modèle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tester le modèle.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fichier python pour consommer le modèle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Démarrer un serveur </a:t>
            </a:r>
            <a:r>
              <a:rPr lang="fr-FR" sz="1200" dirty="0" err="1">
                <a:ea typeface="Arial Unicode MS"/>
              </a:rPr>
              <a:t>FastAPI</a:t>
            </a:r>
            <a:r>
              <a:rPr lang="fr-FR" sz="1200" dirty="0">
                <a:ea typeface="Arial Unicode MS"/>
              </a:rPr>
              <a:t> et exposer le modèle.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Tester le modèle à partir d’un Notebook et à partir de Postman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3BD1FA4-1DF6-4DC5-6375-25DE6F90C1F8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9E5E3E1-1B0C-F56E-7E22-B1671F48C8C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EA444D5-E6AC-6953-6D1C-710FBEAE4C1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5BEBD77-9CEA-8267-975E-3DABAFE7309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l’application</a:t>
            </a:r>
          </a:p>
        </p:txBody>
      </p:sp>
    </p:spTree>
    <p:extLst>
      <p:ext uri="{BB962C8B-B14F-4D97-AF65-F5344CB8AC3E}">
        <p14:creationId xmlns:p14="http://schemas.microsoft.com/office/powerpoint/2010/main" val="260536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DDD74-EB3B-4E96-31FA-B86675B0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8AA700B-0A6C-BAC6-BE9E-094819AB821B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5222900-237A-7D61-41E6-6A4F2B79FEF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A1D4E65-2F4A-8148-82C4-E3701EF4DD8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04D0BFA-3326-5B4A-93A0-54101226C3E0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services dans Docker</a:t>
            </a:r>
          </a:p>
        </p:txBody>
      </p:sp>
    </p:spTree>
    <p:extLst>
      <p:ext uri="{BB962C8B-B14F-4D97-AF65-F5344CB8AC3E}">
        <p14:creationId xmlns:p14="http://schemas.microsoft.com/office/powerpoint/2010/main" val="298613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69DB-D231-9918-F4F6-C0590763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385C932-B82E-BC96-1219-2B923AADF0DF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Sur le serveur Ubuntu, ouvrir un Terminal: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créer un répertoire racine </a:t>
            </a:r>
            <a:r>
              <a:rPr lang="fr-FR" sz="1200" dirty="0" err="1">
                <a:ea typeface="Arial Unicode MS"/>
              </a:rPr>
              <a:t>kafka</a:t>
            </a:r>
            <a:r>
              <a:rPr lang="fr-FR" sz="1200" dirty="0">
                <a:ea typeface="Arial Unicode MS"/>
              </a:rPr>
              <a:t> sous votre compte: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</a:t>
            </a:r>
            <a:r>
              <a:rPr lang="fr-FR" sz="1200" dirty="0" err="1">
                <a:ea typeface="Arial Unicode MS"/>
              </a:rPr>
              <a:t>mkdir</a:t>
            </a:r>
            <a:r>
              <a:rPr lang="fr-FR" sz="1200" dirty="0">
                <a:ea typeface="Arial Unicode MS"/>
              </a:rPr>
              <a:t> ~/</a:t>
            </a:r>
            <a:r>
              <a:rPr lang="fr-FR" sz="1200" dirty="0" err="1">
                <a:ea typeface="Arial Unicode MS"/>
              </a:rPr>
              <a:t>kafka</a:t>
            </a:r>
            <a:endParaRPr lang="fr-FR" sz="1200" dirty="0">
              <a:ea typeface="Arial Unicode MS"/>
            </a:endParaRP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cd ~/</a:t>
            </a:r>
            <a:r>
              <a:rPr lang="fr-FR" sz="1200" dirty="0" err="1">
                <a:ea typeface="Arial Unicode MS"/>
              </a:rPr>
              <a:t>kafka</a:t>
            </a:r>
            <a:endParaRPr lang="fr-FR" sz="1200" dirty="0">
              <a:ea typeface="Arial Unicode MS"/>
            </a:endParaRP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Code 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à la racine un fichier de configuration docker compose: docker-</a:t>
            </a:r>
            <a:r>
              <a:rPr lang="fr-FR" sz="1200" dirty="0" err="1">
                <a:ea typeface="Arial Unicode MS"/>
              </a:rPr>
              <a:t>compose.yml</a:t>
            </a:r>
            <a:r>
              <a:rPr lang="fr-FR" sz="1200" dirty="0">
                <a:ea typeface="Arial Unicode MS"/>
              </a:rPr>
              <a:t> avec l’éditeur Visual Code.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5B89FE3-9063-8DED-AF82-5462C2CA7B8A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7A02A4D-011E-FD6A-1A6D-6BFB18CCB27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3635B8E-D1A7-BAE7-8A36-6F2285E3685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AC0FDE8-4700-3937-398D-664A28BD0AF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services pour KAFKA</a:t>
            </a:r>
          </a:p>
        </p:txBody>
      </p:sp>
    </p:spTree>
    <p:extLst>
      <p:ext uri="{BB962C8B-B14F-4D97-AF65-F5344CB8AC3E}">
        <p14:creationId xmlns:p14="http://schemas.microsoft.com/office/powerpoint/2010/main" val="157421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C043-6597-6D7E-3AEF-FC8FF035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FDC01A2-9628-CDE9-3A0D-362C1C84AA63}"/>
              </a:ext>
            </a:extLst>
          </p:cNvPr>
          <p:cNvSpPr txBox="1"/>
          <p:nvPr/>
        </p:nvSpPr>
        <p:spPr>
          <a:xfrm>
            <a:off x="702127" y="1048864"/>
            <a:ext cx="7943850" cy="12228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Kafka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mode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KRaft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(broker + controller)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confluentinc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/cp-kafka:7.4.0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-broker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"9092:9092"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Kafka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depuis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l'hôte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: localhost:9092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KRaft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KAFKA_NODE_ID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KAFKA_PROCESS_ROLES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broker,controller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KAFKA_CONTROLLER_QUORUM_VOTERS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1@kafka-broker:9093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KAFKA_CONTROLLER_LISTENER_NAMES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CONTROLLER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CLUSTER_ID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MkU3OEVBNTcwNTJENDM1Tk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ID fixe,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peut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rester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tel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quel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Listeners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KAFKA_LISTENER_SECURITY_PROTOCOL_MAP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CONTROLLER:PLAINTEXT,PLAINTEXT:PLAINTEXT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KAFKA_LISTENERS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PLAINTEXT://0.0.0.0:9092,CONTROLLER://0.0.0.0:9093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KAFKA_ADVERTISED_LISTENERS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PLAINTEXT://kafka-broker:9092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KAFKA_INTER_BROKER_LISTENER_NAME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PLAINTEXT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Logs &amp; topics internes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KAFKA_LOG_DIRS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KAFKA_OFFSETS_TOPIC_REPLICATION_FACTOR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KAFKA_TRANSACTION_STATE_LOG_MIN_ISR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KAFKA_AUTO_CREATE_TOPICS_ENABLE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"true"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-data:/var/lib/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UI pour Kafka (topics,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groupes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de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consommateurs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kafka-ui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provectuslabs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"8088:8080"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http://localhost:8088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local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KAFKA_CLUSTERS_0_BOOTSTRAPSERVERS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kafka-broker:9092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KAFKA_CLUSTERS_0_READONLY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"false"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Notebook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avec stack ML (SciPy, scikit-learn,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ml-notebook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scipy-notebook:latest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ml-notebook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"8888:8888"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http://localhost:8888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"8000:8000"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JUPYTER_TOKEN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"mgt"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mot de passe simple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./notebooks:/home/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/work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-ml-net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F00CFA2-0A4E-0545-23AA-B479BB45C3E7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4B0EE21-A09E-9A2F-0BE3-3EC4C1EB0A3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3DACE8D-8421-773E-39A9-A4D63F24662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5D564A1-8A2A-FF7B-8C50-05606F83803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services pour KAFKA</a:t>
            </a:r>
          </a:p>
        </p:txBody>
      </p:sp>
    </p:spTree>
    <p:extLst>
      <p:ext uri="{BB962C8B-B14F-4D97-AF65-F5344CB8AC3E}">
        <p14:creationId xmlns:p14="http://schemas.microsoft.com/office/powerpoint/2010/main" val="422770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6478-FED9-0D0E-E45F-B1468975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5CD21AF-425F-49C2-4060-56A669E11D77}"/>
              </a:ext>
            </a:extLst>
          </p:cNvPr>
          <p:cNvSpPr txBox="1"/>
          <p:nvPr/>
        </p:nvSpPr>
        <p:spPr>
          <a:xfrm>
            <a:off x="702127" y="1048864"/>
            <a:ext cx="794385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(suite)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Logs &amp; topics internes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KAFKA_LOG_DIRS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KAFKA_OFFSETS_TOPIC_REPLICATION_FACTOR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KAFKA_TRANSACTION_STATE_LOG_MIN_ISR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KAFKA_AUTO_CREATE_TOPICS_ENABLE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"true"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-data:/var/lib/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FA07D3C-9E93-640A-54CD-9245D3A7079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A78D41E-A836-84BE-44F9-7A0461E987F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BFFAD7D7-5D9C-6E7A-CB31-5462D66F828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19C6A0D-9F8A-98F3-ECB7-ACDD0A023B7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</p:spTree>
    <p:extLst>
      <p:ext uri="{BB962C8B-B14F-4D97-AF65-F5344CB8AC3E}">
        <p14:creationId xmlns:p14="http://schemas.microsoft.com/office/powerpoint/2010/main" val="225382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AA63-F2D5-46AD-9389-637656A4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CF00BA0-9C46-B629-6414-DD786AF9BA97}"/>
              </a:ext>
            </a:extLst>
          </p:cNvPr>
          <p:cNvSpPr txBox="1"/>
          <p:nvPr/>
        </p:nvSpPr>
        <p:spPr>
          <a:xfrm>
            <a:off x="702127" y="1048864"/>
            <a:ext cx="7943850" cy="307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(suite)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UI pour Kafka (topics,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groupes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de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consommateurs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kafka-ui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provectuslabs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"8088:8080"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http://localhost:8088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local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KAFKA_CLUSTERS_0_BOOTSTRAPSERVERS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kafka-broker:9092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KAFKA_CLUSTERS_0_READONLY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"false"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F42DA4F-757F-F333-13F4-1BDD6C69938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FBA805C-DDDF-DE65-1432-C5B1103A55C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AEC9262-0F1F-8068-0706-E6A3BD8578C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4C5F5C3-8577-B2A8-2EDF-7509C16EECE0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</p:spTree>
    <p:extLst>
      <p:ext uri="{BB962C8B-B14F-4D97-AF65-F5344CB8AC3E}">
        <p14:creationId xmlns:p14="http://schemas.microsoft.com/office/powerpoint/2010/main" val="397730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59B3-3264-1909-EEBD-051B3879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30356EE-F55B-19F4-59C5-4A57C0D6C993}"/>
              </a:ext>
            </a:extLst>
          </p:cNvPr>
          <p:cNvSpPr txBox="1"/>
          <p:nvPr/>
        </p:nvSpPr>
        <p:spPr>
          <a:xfrm>
            <a:off x="702127" y="1048864"/>
            <a:ext cx="79438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(suite)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Notebook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avec stack ML (SciPy, scikit-learn,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ml-notebook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scipy-notebook:latest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ml-notebook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"8888:8888"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http://localhost:8888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"8000:8000"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: pour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pouvoir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exposer les données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calculées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JUPYTER_TOKEN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"mgt"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mot de passe simple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./notebooks:/home/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/work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-ml-net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D582E66-2EDA-92F9-A928-2E0620B1CD6D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8F836753-28D7-0141-B48B-87B9E112D8D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9A8EE78-962B-D9F6-8AC7-C6E7E3FCE57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D34248E-57DA-70AD-353D-BCC83AADBC3A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</p:spTree>
    <p:extLst>
      <p:ext uri="{BB962C8B-B14F-4D97-AF65-F5344CB8AC3E}">
        <p14:creationId xmlns:p14="http://schemas.microsoft.com/office/powerpoint/2010/main" val="383973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C1BD7-09B8-7B4E-986E-F5E81A6E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B5ACA04-005A-4C10-740A-9DF1E4B2B24A}"/>
              </a:ext>
            </a:extLst>
          </p:cNvPr>
          <p:cNvSpPr txBox="1"/>
          <p:nvPr/>
        </p:nvSpPr>
        <p:spPr>
          <a:xfrm>
            <a:off x="731374" y="1053054"/>
            <a:ext cx="7943850" cy="380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Dans le répertoire </a:t>
            </a:r>
            <a:r>
              <a:rPr lang="fr-FR" sz="1200" dirty="0" err="1">
                <a:ea typeface="Arial Unicode MS"/>
              </a:rPr>
              <a:t>kafka</a:t>
            </a:r>
            <a:r>
              <a:rPr lang="fr-FR" sz="1200" dirty="0">
                <a:ea typeface="Arial Unicode MS"/>
              </a:rPr>
              <a:t>, lancer les serveurs: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 err="1">
                <a:ea typeface="Arial Unicode MS"/>
              </a:rPr>
              <a:t>mkdir</a:t>
            </a:r>
            <a:r>
              <a:rPr lang="fr-FR" sz="1200" dirty="0">
                <a:ea typeface="Arial Unicode MS"/>
              </a:rPr>
              <a:t> -p data </a:t>
            </a:r>
            <a:r>
              <a:rPr lang="fr-FR" sz="1200" dirty="0" err="1">
                <a:ea typeface="Arial Unicode MS"/>
              </a:rPr>
              <a:t>kafka</a:t>
            </a:r>
            <a:r>
              <a:rPr lang="fr-FR" sz="1200" dirty="0">
                <a:ea typeface="Arial Unicode MS"/>
              </a:rPr>
              <a:t>-data notebooks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docker compose up –d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Vérifier que les services sont bien  démarrés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docker </a:t>
            </a:r>
            <a:r>
              <a:rPr lang="fr-FR" sz="1200" dirty="0" err="1">
                <a:ea typeface="Arial Unicode MS"/>
              </a:rPr>
              <a:t>ps</a:t>
            </a:r>
            <a:r>
              <a:rPr lang="fr-FR" sz="1200" dirty="0">
                <a:ea typeface="Arial Unicode MS"/>
              </a:rPr>
              <a:t> 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Vérifier que l’interface UI de Kafka est démarré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http://localhost:8088/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et le </a:t>
            </a:r>
            <a:r>
              <a:rPr lang="fr-FR" sz="1200" b="1" dirty="0">
                <a:ea typeface="Arial Unicode MS"/>
              </a:rPr>
              <a:t>broker</a:t>
            </a:r>
            <a:r>
              <a:rPr lang="fr-FR" sz="1200" dirty="0">
                <a:ea typeface="Arial Unicode MS"/>
              </a:rPr>
              <a:t> de Kafka: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Noter le port du broker </a:t>
            </a:r>
            <a:r>
              <a:rPr lang="fr-FR" sz="1200" b="1" dirty="0">
                <a:ea typeface="Arial Unicode MS"/>
              </a:rPr>
              <a:t>9092.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040E8C3-9265-B896-32C6-0D5C1660F5C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8F4D160-56D2-42CE-EBE9-90BCD2F7430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1C5E5DB-FE35-D516-2E7D-26FE2E74587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87BB3CF-67E1-7874-EA7C-81BF4D3E2CF2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  <p:pic>
        <p:nvPicPr>
          <p:cNvPr id="3" name="Image 2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37CA867A-069B-216F-BA66-AAD886DDD3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135" y="1053054"/>
            <a:ext cx="4929076" cy="1561079"/>
          </a:xfrm>
          <a:prstGeom prst="rect">
            <a:avLst/>
          </a:prstGeom>
        </p:spPr>
      </p:pic>
      <p:pic>
        <p:nvPicPr>
          <p:cNvPr id="5" name="Image 4" descr="Une image contenant texte, logiciel, Icône d’ordinateur, Page web&#10;&#10;Description générée automatiquement">
            <a:extLst>
              <a:ext uri="{FF2B5EF4-FFF2-40B4-BE49-F238E27FC236}">
                <a16:creationId xmlns:a16="http://schemas.microsoft.com/office/drawing/2014/main" id="{B9514C33-17C3-1579-69B5-067F3CE41A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7" y="2806203"/>
            <a:ext cx="4869484" cy="208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06B0-E407-072C-AC63-621D4EB7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5E31B82-3D5C-0D44-5431-C44137092406}"/>
              </a:ext>
            </a:extLst>
          </p:cNvPr>
          <p:cNvSpPr txBox="1"/>
          <p:nvPr/>
        </p:nvSpPr>
        <p:spPr>
          <a:xfrm>
            <a:off x="731374" y="105305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Se connecter sur le serveur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: http://localhost:8888/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Saisir le mot de passe définit dans le docker-</a:t>
            </a:r>
            <a:r>
              <a:rPr lang="fr-FR" sz="1200" dirty="0" err="1">
                <a:ea typeface="Arial Unicode MS"/>
              </a:rPr>
              <a:t>compose.yml</a:t>
            </a:r>
            <a:r>
              <a:rPr lang="fr-FR" sz="1200" dirty="0">
                <a:ea typeface="Arial Unicode MS"/>
              </a:rPr>
              <a:t> ( ici </a:t>
            </a:r>
            <a:r>
              <a:rPr lang="fr-FR" sz="1200" b="1" dirty="0" err="1">
                <a:ea typeface="Arial Unicode MS"/>
              </a:rPr>
              <a:t>mgt</a:t>
            </a:r>
            <a:r>
              <a:rPr lang="fr-FR" sz="1200" dirty="0">
                <a:ea typeface="Arial Unicode MS"/>
              </a:rPr>
              <a:t>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différents notebooks/python … peuvent être maintenant créés.  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71F051B-8601-C54B-ADE6-6B9C7A6F5D3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3C33E14-5902-2575-2B66-8902B2A6EE8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C209655-C089-7FBF-4071-D4674A4DA58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16B35D3-4F00-36A8-AE08-917DAB76FDD1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Vérification du serveur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Jupyter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339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A196B-36FA-E27F-35C4-28497520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F002397-1843-A669-93E3-28B565CCEAA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0FB7C26-A087-D118-74E4-197D141B579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1F28E28-2956-8E3B-C786-1AE70F17D2C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EE22772-0219-4600-939F-D64F731AF491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005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4725C-BA56-7D2A-A6C2-2A0F115D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B29FCD9-FCCA-E51C-14FD-F1564962D92F}"/>
              </a:ext>
            </a:extLst>
          </p:cNvPr>
          <p:cNvSpPr txBox="1"/>
          <p:nvPr/>
        </p:nvSpPr>
        <p:spPr>
          <a:xfrm>
            <a:off x="731374" y="105305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et créer un notebook: </a:t>
            </a:r>
            <a:r>
              <a:rPr lang="fr-FR" sz="1200" dirty="0" err="1">
                <a:ea typeface="Arial Unicode MS"/>
              </a:rPr>
              <a:t>Producer.ipynb</a:t>
            </a:r>
            <a:r>
              <a:rPr lang="fr-FR" sz="1200" dirty="0">
                <a:ea typeface="Arial Unicode MS"/>
              </a:rPr>
              <a:t> (exécuter au fur et à mesure les cellules: « CTRL-Entrée »)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Charger dans une première cellule les </a:t>
            </a:r>
            <a:r>
              <a:rPr lang="fr-FR" sz="1200" dirty="0" err="1">
                <a:ea typeface="Arial Unicode MS"/>
              </a:rPr>
              <a:t>libraries</a:t>
            </a:r>
            <a:r>
              <a:rPr lang="fr-FR" sz="1200" dirty="0">
                <a:ea typeface="Arial Unicode MS"/>
              </a:rPr>
              <a:t> nécessaires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Définir l’accès au broker </a:t>
            </a:r>
            <a:r>
              <a:rPr lang="fr-FR" sz="1200" dirty="0" err="1">
                <a:ea typeface="Arial Unicode MS"/>
              </a:rPr>
              <a:t>serveur:port</a:t>
            </a:r>
            <a:r>
              <a:rPr lang="fr-FR" sz="1200" dirty="0">
                <a:ea typeface="Arial Unicode MS"/>
              </a:rPr>
              <a:t> =&gt; </a:t>
            </a:r>
            <a:r>
              <a:rPr lang="fr-FR" sz="1200" dirty="0"/>
              <a:t>"kafka-broker:9092"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Et le « dossier » sous lequel seront mis les messages: TOPIC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8AD03BC-C52D-1B53-5FF3-425C87427567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E8127E4-AC6E-9B80-5DDC-87C4C49E88D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B1965557-3DC8-4B48-F951-F1336413B71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84EFCDF-131C-A36E-6471-43E2C24CEE9B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40A05A-DB44-738A-9989-E513F6740A35}"/>
              </a:ext>
            </a:extLst>
          </p:cNvPr>
          <p:cNvSpPr/>
          <p:nvPr/>
        </p:nvSpPr>
        <p:spPr>
          <a:xfrm>
            <a:off x="1718487" y="3102889"/>
            <a:ext cx="5969621" cy="18561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json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time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random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kafka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KafkaProducer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KafkaConsumer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linear_model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SGDClassifier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⚠️ Depuis le conteneur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+mj-lt"/>
              </a:rPr>
              <a:t>Jupyter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, on utilise le nom du service docker-compose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"kafka-broker:9092"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"ml-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stream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demo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2EA5BE-4772-A147-C8DE-D70907FAE6AF}"/>
              </a:ext>
            </a:extLst>
          </p:cNvPr>
          <p:cNvSpPr/>
          <p:nvPr/>
        </p:nvSpPr>
        <p:spPr>
          <a:xfrm>
            <a:off x="1718488" y="1882677"/>
            <a:ext cx="5969621" cy="2250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/>
              <a:t>!</a:t>
            </a:r>
            <a:r>
              <a:rPr lang="fr-FR" sz="1000" dirty="0" err="1"/>
              <a:t>pip</a:t>
            </a:r>
            <a:r>
              <a:rPr lang="fr-FR" sz="1000" dirty="0"/>
              <a:t> </a:t>
            </a:r>
            <a:r>
              <a:rPr lang="fr-FR" sz="1000" dirty="0" err="1"/>
              <a:t>install</a:t>
            </a:r>
            <a:r>
              <a:rPr lang="fr-FR" sz="1000" dirty="0"/>
              <a:t> </a:t>
            </a:r>
            <a:r>
              <a:rPr lang="fr-FR" sz="1000" dirty="0" err="1"/>
              <a:t>kafka</a:t>
            </a:r>
            <a:r>
              <a:rPr lang="fr-FR" sz="1000" dirty="0"/>
              <a:t>-python</a:t>
            </a:r>
          </a:p>
        </p:txBody>
      </p:sp>
    </p:spTree>
    <p:extLst>
      <p:ext uri="{BB962C8B-B14F-4D97-AF65-F5344CB8AC3E}">
        <p14:creationId xmlns:p14="http://schemas.microsoft.com/office/powerpoint/2010/main" val="325039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CA4C-81E9-3737-BE84-3B6D7292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CDFBFEE-9A1F-4589-E02C-79C8A00F64C1}"/>
              </a:ext>
            </a:extLst>
          </p:cNvPr>
          <p:cNvSpPr txBox="1"/>
          <p:nvPr/>
        </p:nvSpPr>
        <p:spPr>
          <a:xfrm>
            <a:off x="731374" y="1053054"/>
            <a:ext cx="7943850" cy="90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Ensuite un </a:t>
            </a:r>
            <a:r>
              <a:rPr lang="fr-FR" sz="1200" dirty="0" err="1">
                <a:ea typeface="Arial Unicode MS"/>
              </a:rPr>
              <a:t>producer</a:t>
            </a:r>
            <a:r>
              <a:rPr lang="fr-FR" sz="1200" dirty="0">
                <a:ea typeface="Arial Unicode MS"/>
              </a:rPr>
              <a:t> est créé est un message constitué de deux valeurs aléatoires sont générées, avec un label (supervisé)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E5FBE7E-71DC-AA79-2A89-F62AF9A538D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D46E3C3-439C-F133-C72F-AAFD3B17937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FCF0017-50A2-6202-94A5-98CD4CDBB13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B9825DD-F764-C5E1-C51E-AD7EF337221A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75CB2D-C2EC-E2F5-58FF-F00472C5DE4C}"/>
              </a:ext>
            </a:extLst>
          </p:cNvPr>
          <p:cNvSpPr/>
          <p:nvPr/>
        </p:nvSpPr>
        <p:spPr>
          <a:xfrm>
            <a:off x="1910575" y="1492621"/>
            <a:ext cx="5969621" cy="35920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producer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KafkaProducer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+mj-lt"/>
              </a:rPr>
              <a:t>bootstrap_servers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+mj-lt"/>
              </a:rPr>
              <a:t>value_serializer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lambda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+mj-lt"/>
              </a:rPr>
              <a:t>v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json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dumps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+mj-lt"/>
              </a:rPr>
              <a:t>v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).</a:t>
            </a:r>
            <a:r>
              <a:rPr lang="fr-FR" sz="1000" b="0" dirty="0">
                <a:solidFill>
                  <a:srgbClr val="61AFEF"/>
                </a:solidFill>
                <a:effectLst/>
                <a:latin typeface="+mj-lt"/>
              </a:rPr>
              <a:t>encode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"utf-8"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generate_sample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random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random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random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random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label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+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&gt;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{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 [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label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}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Envoi de N messages pour alimenter le flux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500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for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range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msg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generate_sample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producer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send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msg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%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20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"Message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i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: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msg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time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sleep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pour simuler un vrai flux (100 ms)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producer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flush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"Envoi terminé ✅"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286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6B1E-3C2C-BD07-2D53-1D9D306C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63F40EA-26B9-71DF-635C-C637E56438AF}"/>
              </a:ext>
            </a:extLst>
          </p:cNvPr>
          <p:cNvSpPr txBox="1"/>
          <p:nvPr/>
        </p:nvSpPr>
        <p:spPr>
          <a:xfrm>
            <a:off x="731374" y="1053054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Exécuter les cellules pour valider l’alimentation des données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Vérifier dans l’UI de Kafka, la création du TOPIC et des messages.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097BCE5-FE9B-F566-6B3D-B308527CA1A4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4073921-6530-91BC-9A1F-E8ED44196CB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4CB8053-9E12-AF01-C748-C5548B0C0BA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A3681F8-801A-0EE1-B37D-F22E465A228B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pic>
        <p:nvPicPr>
          <p:cNvPr id="4" name="Image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F8DB126B-F065-C7C0-546C-4212038B5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042" y="1053054"/>
            <a:ext cx="3187182" cy="2029522"/>
          </a:xfrm>
          <a:prstGeom prst="rect">
            <a:avLst/>
          </a:prstGeom>
        </p:spPr>
      </p:pic>
      <p:pic>
        <p:nvPicPr>
          <p:cNvPr id="6" name="Image 5" descr="Une image contenant texte, logiciel, capture d’écran, Page web&#10;&#10;Description générée automatiquement">
            <a:extLst>
              <a:ext uri="{FF2B5EF4-FFF2-40B4-BE49-F238E27FC236}">
                <a16:creationId xmlns:a16="http://schemas.microsoft.com/office/drawing/2014/main" id="{A8EA34E3-8410-8CFE-0DAA-5B68DEC632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03" y="3513756"/>
            <a:ext cx="4131394" cy="15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7F76-7F3B-46B6-6011-9BB1867D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DAE5B79-BCAB-E878-E49D-21C073812EE4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6170A8A-F5F9-C032-03D9-23C8A049925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E2653BB-53B5-1E4A-4D1C-DFFC9FF1265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3E47123-6C61-B631-4BB2-630C4AD36CE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 </a:t>
            </a:r>
          </a:p>
        </p:txBody>
      </p:sp>
    </p:spTree>
    <p:extLst>
      <p:ext uri="{BB962C8B-B14F-4D97-AF65-F5344CB8AC3E}">
        <p14:creationId xmlns:p14="http://schemas.microsoft.com/office/powerpoint/2010/main" val="307876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AD31122-71D1-EF8F-DC8B-93B9E33FB812}"/>
              </a:ext>
            </a:extLst>
          </p:cNvPr>
          <p:cNvSpPr txBox="1"/>
          <p:nvPr/>
        </p:nvSpPr>
        <p:spPr>
          <a:xfrm>
            <a:off x="731374" y="105305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et créer un notebook: </a:t>
            </a:r>
            <a:r>
              <a:rPr lang="fr-FR" sz="1200" dirty="0" err="1">
                <a:ea typeface="Arial Unicode MS"/>
              </a:rPr>
              <a:t>Consumer.ipynb</a:t>
            </a:r>
            <a:r>
              <a:rPr lang="fr-FR" sz="1200" dirty="0">
                <a:ea typeface="Arial Unicode MS"/>
              </a:rPr>
              <a:t> (exécuter au fur et à mesure les cellules: « CTRL-Entrée »)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Charger dans une première cellule les </a:t>
            </a:r>
            <a:r>
              <a:rPr lang="fr-FR" sz="1200" dirty="0" err="1">
                <a:ea typeface="Arial Unicode MS"/>
              </a:rPr>
              <a:t>libraries</a:t>
            </a:r>
            <a:r>
              <a:rPr lang="fr-FR" sz="1200" dirty="0">
                <a:ea typeface="Arial Unicode MS"/>
              </a:rPr>
              <a:t> nécessaires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Définir l’accès au broker </a:t>
            </a:r>
            <a:r>
              <a:rPr lang="fr-FR" sz="1200" dirty="0" err="1">
                <a:ea typeface="Arial Unicode MS"/>
              </a:rPr>
              <a:t>serveur:port</a:t>
            </a:r>
            <a:r>
              <a:rPr lang="fr-FR" sz="1200" dirty="0">
                <a:ea typeface="Arial Unicode MS"/>
              </a:rPr>
              <a:t> =&gt; </a:t>
            </a:r>
            <a:r>
              <a:rPr lang="fr-FR" sz="1200" dirty="0"/>
              <a:t>"kafka-broker:9092"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Et le « dossier » sous lequel seront mis les messages: TOPIC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F157CED-47C5-78B1-E9D9-0234386864BC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0A04B-523D-31F7-5149-E16DE3797EBC}"/>
              </a:ext>
            </a:extLst>
          </p:cNvPr>
          <p:cNvSpPr/>
          <p:nvPr/>
        </p:nvSpPr>
        <p:spPr>
          <a:xfrm>
            <a:off x="1817648" y="3162362"/>
            <a:ext cx="5969621" cy="18561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KafkaConsumer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json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linear_model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SGDClassifier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joblib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dump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⚠️ Depuis le conteneur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on utilise le nom du service docker-compose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"kafka-broker:9092"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"ml-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731DF-581D-610C-DCA2-9CE940D3890D}"/>
              </a:ext>
            </a:extLst>
          </p:cNvPr>
          <p:cNvSpPr/>
          <p:nvPr/>
        </p:nvSpPr>
        <p:spPr>
          <a:xfrm>
            <a:off x="1718488" y="1882677"/>
            <a:ext cx="5969621" cy="2250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/>
              <a:t>!</a:t>
            </a:r>
            <a:r>
              <a:rPr lang="fr-FR" sz="1000" dirty="0" err="1"/>
              <a:t>pip</a:t>
            </a:r>
            <a:r>
              <a:rPr lang="fr-FR" sz="1000" dirty="0"/>
              <a:t> </a:t>
            </a:r>
            <a:r>
              <a:rPr lang="fr-FR" sz="1000" dirty="0" err="1"/>
              <a:t>install</a:t>
            </a:r>
            <a:r>
              <a:rPr lang="fr-FR" sz="1000" dirty="0"/>
              <a:t> </a:t>
            </a:r>
            <a:r>
              <a:rPr lang="fr-FR" sz="1000" dirty="0" err="1"/>
              <a:t>kafka</a:t>
            </a:r>
            <a:r>
              <a:rPr lang="fr-FR" sz="1000" dirty="0"/>
              <a:t>-python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58DB-823D-2636-DBE6-C1D22F32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BD5137C-5310-42E3-A849-D81C9DF44114}"/>
              </a:ext>
            </a:extLst>
          </p:cNvPr>
          <p:cNvSpPr txBox="1"/>
          <p:nvPr/>
        </p:nvSpPr>
        <p:spPr>
          <a:xfrm>
            <a:off x="731374" y="1053054"/>
            <a:ext cx="7943850" cy="90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Ensuite un </a:t>
            </a:r>
            <a:r>
              <a:rPr lang="fr-FR" sz="1200" dirty="0" err="1">
                <a:ea typeface="Arial Unicode MS"/>
              </a:rPr>
              <a:t>producer</a:t>
            </a:r>
            <a:r>
              <a:rPr lang="fr-FR" sz="1200" dirty="0">
                <a:ea typeface="Arial Unicode MS"/>
              </a:rPr>
              <a:t> est créé est un message constitué de deux valeurs aléatoires sont générées, avec un label (supervisé)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7A29B05-B347-E137-A2F9-0E07675D2AE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A854209-F42E-2CC3-96DD-EBE19FD5271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7739C8B-1C6B-2961-0154-F2249A302A7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34FDB4E-2877-FECF-6D06-FA60E284416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3F51CE-8569-16E0-BAFD-2FFB910C530C}"/>
              </a:ext>
            </a:extLst>
          </p:cNvPr>
          <p:cNvSpPr/>
          <p:nvPr/>
        </p:nvSpPr>
        <p:spPr>
          <a:xfrm>
            <a:off x="1903141" y="1589266"/>
            <a:ext cx="5969621" cy="30273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KafkaConsumer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bootstrap_servers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auto_offset_reset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earliest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 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repartir du début du topic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enable_auto_commit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value_deserializer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decode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SGDClassifier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loss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log_loss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logistic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regression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online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[], []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max_messages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pour ne pas boucler à l'infini dans l'exemple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221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603C-5783-15D8-DF48-1C3947FB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F708787-5399-F223-C1A7-0B1190A17CCD}"/>
              </a:ext>
            </a:extLst>
          </p:cNvPr>
          <p:cNvSpPr txBox="1"/>
          <p:nvPr/>
        </p:nvSpPr>
        <p:spPr>
          <a:xfrm>
            <a:off x="731374" y="1053054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Boucle sur les messages pour entrainer le modèle. (non optimisé)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09B0091-4FF9-D479-BDC6-C5EFEF2098D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6F9C089-70D8-065D-9B3D-28D9CA0968B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04AF283-FA1A-F532-2FBA-8020C1F12B6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B73053D-4D9F-1016-052D-5E0DA8AB1E5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59C1DA-E98D-7870-DCAA-D4377A590984}"/>
              </a:ext>
            </a:extLst>
          </p:cNvPr>
          <p:cNvSpPr/>
          <p:nvPr/>
        </p:nvSpPr>
        <p:spPr>
          <a:xfrm>
            <a:off x="351392" y="1492619"/>
            <a:ext cx="4103321" cy="35920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.value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partial_fit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partial_fit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"Batch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entraîné (messages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31}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–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62FC4-950B-D4F2-60DD-6D7B0459780E}"/>
              </a:ext>
            </a:extLst>
          </p:cNvPr>
          <p:cNvSpPr/>
          <p:nvPr/>
        </p:nvSpPr>
        <p:spPr>
          <a:xfrm>
            <a:off x="4591477" y="1492620"/>
            <a:ext cx="4255160" cy="35920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Exemple de prédiction à la volée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test_point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test_point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(label=1 | [0.2, 0.9]) =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:.3f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[], []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max_messages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"Fin de la démo de consommation ✅"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break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43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EA972-C720-0C3F-078E-68B11DE2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60ED0AA-EE7E-371D-7537-2DFBC972C278}"/>
              </a:ext>
            </a:extLst>
          </p:cNvPr>
          <p:cNvSpPr txBox="1"/>
          <p:nvPr/>
        </p:nvSpPr>
        <p:spPr>
          <a:xfrm>
            <a:off x="731374" y="1053054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Sauvegarde du modèle pour pouvoir l’utiliser dans une application et faire des prédictions à la volée.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06E6B38-78FA-01AB-1F6C-E36C4C9E1F6B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AAEDEC4-F373-E555-7A7B-038A4EE4A2B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BAC16E3-451F-4B5D-75AD-5A7FE63EA33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3978A42-09DC-1F9F-B1C8-B5EB0B728F9C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F4C48-6D29-3A3C-F62C-ACD822214D41}"/>
              </a:ext>
            </a:extLst>
          </p:cNvPr>
          <p:cNvSpPr/>
          <p:nvPr/>
        </p:nvSpPr>
        <p:spPr>
          <a:xfrm>
            <a:off x="1676387" y="1468706"/>
            <a:ext cx="5969621" cy="1637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🔽🔽🔽 SAUVEGARDE DU MODÈLE APRÈS L'ENTRAÎNEMENT 🔽🔽🔽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"Modèle sauvegardé dans 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 ✅"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"Aucun modèle entraîné, rien à sauvegarder."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3241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F124-1A09-D9A9-8AE7-6D27FD14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7C3D020-1B4E-3206-44E9-FD15F2C2B5E8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1790B56-92DC-4481-054B-DAA702671B7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931B881-1B76-345A-4061-6B702598BD1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E9FE3E4-0B49-5981-2A72-F5DC43BEDF88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Notebook pour tester le modèle</a:t>
            </a:r>
          </a:p>
        </p:txBody>
      </p:sp>
    </p:spTree>
    <p:extLst>
      <p:ext uri="{BB962C8B-B14F-4D97-AF65-F5344CB8AC3E}">
        <p14:creationId xmlns:p14="http://schemas.microsoft.com/office/powerpoint/2010/main" val="1700431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29F5-CEA7-7787-049A-E53BEEF6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93CD1C2-F2D0-FB12-F5D2-CB1FF54CCDA6}"/>
              </a:ext>
            </a:extLst>
          </p:cNvPr>
          <p:cNvSpPr txBox="1"/>
          <p:nvPr/>
        </p:nvSpPr>
        <p:spPr>
          <a:xfrm>
            <a:off x="731374" y="971280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et créer un notebook: </a:t>
            </a:r>
            <a:r>
              <a:rPr lang="fr-FR" sz="1200" dirty="0" err="1">
                <a:ea typeface="Arial Unicode MS"/>
              </a:rPr>
              <a:t>Consumer.ipynb</a:t>
            </a:r>
            <a:r>
              <a:rPr lang="fr-FR" sz="1200" dirty="0">
                <a:ea typeface="Arial Unicode MS"/>
              </a:rPr>
              <a:t> (exécuter au fur et à mesure les cellules: « CTRL-Entrée »)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Définir le code suivant dans une cellule pour valider les résultats.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494D084-1E73-E8CB-8A21-D4F0E1B097B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028DCB9-0318-1073-5C3F-BF30DDDB65D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8F5D351-769C-4ECE-8B7A-FF08C5EE3BC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1E26516-437F-5BE7-FD9C-47668F338DD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Notebook pour tester le modèle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DF6CB6-DED7-9F5D-7FEE-886BFFECE327}"/>
              </a:ext>
            </a:extLst>
          </p:cNvPr>
          <p:cNvSpPr/>
          <p:nvPr/>
        </p:nvSpPr>
        <p:spPr>
          <a:xfrm>
            <a:off x="1676387" y="1695665"/>
            <a:ext cx="5969621" cy="33890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joblib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load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🔽🔽🔽 CHARGEMENT DU MODÈLE SAUVEGARDÉ 🔽🔽🔽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"Modèle chargé depuis 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' ✅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\n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Quelques points de test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([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0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0.9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0.3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1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0.6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0.7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1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0.4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0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])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proba_1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predict_proba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)[:,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for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yhat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zip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proba_1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"x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 -&gt; proba(label=1)=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:.3f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, prédiction=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yhat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2921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C7341-2291-61B9-29BF-B8FEB33C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D906A8A-0401-D8C9-B0C0-CEBA1257E09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E974BA2-EF48-40F1-4F61-A7DA0F26ED4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0DBA8CB-4FD1-3C24-0E02-1340748C85D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3334E26-4E61-D47E-3B78-39865258828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serveur pour exposer le résultat</a:t>
            </a:r>
          </a:p>
        </p:txBody>
      </p:sp>
    </p:spTree>
    <p:extLst>
      <p:ext uri="{BB962C8B-B14F-4D97-AF65-F5344CB8AC3E}">
        <p14:creationId xmlns:p14="http://schemas.microsoft.com/office/powerpoint/2010/main" val="1957590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CAE3-CB86-1E07-AC1C-B583D749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24F0B75-2ECC-C651-FF01-680D64879F78}"/>
              </a:ext>
            </a:extLst>
          </p:cNvPr>
          <p:cNvSpPr txBox="1"/>
          <p:nvPr/>
        </p:nvSpPr>
        <p:spPr>
          <a:xfrm>
            <a:off x="731374" y="971280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Pour pouvoir accéder aux données locales créer un fichier python dans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: </a:t>
            </a:r>
            <a:r>
              <a:rPr lang="fr-FR" sz="1200" b="1" dirty="0">
                <a:ea typeface="Arial Unicode MS"/>
              </a:rPr>
              <a:t>File\New\Python File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Nommer le fichier: Test_model_api.py. Ce script constitue une application qui permet d’évaluer les données « Postées »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0EC476B-F6EC-AABB-BF6D-3A90CF1959ED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68E6438-D8BA-90D4-9E36-93E29DC8538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F932F21-7A9C-A508-D3F1-A57F8676B7E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F1D702E-8157-5448-D7C5-83356B5F163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serveur pour exposer le résultat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478FF6-749A-C8AB-6C66-1A52D6AEF1A3}"/>
              </a:ext>
            </a:extLst>
          </p:cNvPr>
          <p:cNvSpPr/>
          <p:nvPr/>
        </p:nvSpPr>
        <p:spPr>
          <a:xfrm>
            <a:off x="1676387" y="1895171"/>
            <a:ext cx="5969621" cy="24765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FastAPI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joblib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load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"/predict"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"proba_label_1"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82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6A6B-64E8-072E-E156-58BB8063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2552313-4E2C-AF4D-FEEF-8225826C1BB3}"/>
              </a:ext>
            </a:extLst>
          </p:cNvPr>
          <p:cNvSpPr txBox="1"/>
          <p:nvPr/>
        </p:nvSpPr>
        <p:spPr>
          <a:xfrm>
            <a:off x="731374" y="971280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démarrer le serveur </a:t>
            </a:r>
            <a:r>
              <a:rPr lang="fr-FR" sz="1200" dirty="0" err="1">
                <a:ea typeface="Arial Unicode MS"/>
              </a:rPr>
              <a:t>FastAPI</a:t>
            </a:r>
            <a:r>
              <a:rPr lang="fr-FR" sz="1200" dirty="0">
                <a:ea typeface="Arial Unicode MS"/>
              </a:rPr>
              <a:t> et exposer l’application précédente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Dans une première cellule installer le bon serveur </a:t>
            </a:r>
            <a:r>
              <a:rPr lang="fr-FR" sz="1200" dirty="0" err="1">
                <a:ea typeface="Arial Unicode MS"/>
              </a:rPr>
              <a:t>FastAPI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Ajouter la </a:t>
            </a:r>
            <a:r>
              <a:rPr lang="fr-FR" sz="1200" dirty="0" err="1">
                <a:ea typeface="Arial Unicode MS"/>
              </a:rPr>
              <a:t>libraries</a:t>
            </a:r>
            <a:r>
              <a:rPr lang="fr-FR" sz="1200" dirty="0">
                <a:ea typeface="Arial Unicode MS"/>
              </a:rPr>
              <a:t> suivantes pour des problèmes de compatibilité.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Démarrer le serveur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D3AB8B0-AC55-C02E-9E62-B57532C877B7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EF5A9D3-4279-678F-4B3C-1DF6B6B4A5D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85BDC3A-9413-7875-65E0-DB27BE5C780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56666E0-25A5-35CC-BC28-C483EFEFD7C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serveur pour exposer le résultat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CB59A8-88BF-A65B-4B86-75E1CDBABB88}"/>
              </a:ext>
            </a:extLst>
          </p:cNvPr>
          <p:cNvSpPr/>
          <p:nvPr/>
        </p:nvSpPr>
        <p:spPr>
          <a:xfrm>
            <a:off x="1676387" y="1695665"/>
            <a:ext cx="5969621" cy="3189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uvicorn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B3D69C-F2E7-7496-F564-E6E1B1F939A5}"/>
              </a:ext>
            </a:extLst>
          </p:cNvPr>
          <p:cNvSpPr/>
          <p:nvPr/>
        </p:nvSpPr>
        <p:spPr>
          <a:xfrm>
            <a:off x="1676386" y="2686442"/>
            <a:ext cx="5969621" cy="3189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 install 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typing_extensions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&gt;=4.12.0"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pydantic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pydantic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D29D2-548C-3D3E-38F5-1AD5C6CB72C2}"/>
              </a:ext>
            </a:extLst>
          </p:cNvPr>
          <p:cNvSpPr/>
          <p:nvPr/>
        </p:nvSpPr>
        <p:spPr>
          <a:xfrm>
            <a:off x="1676385" y="3576168"/>
            <a:ext cx="5969621" cy="3189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uvicorn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Test_model_api:app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host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.0.0 </a:t>
            </a: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port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8000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reload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73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CFC0-A74D-96E7-1491-DCD8FB73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B6C9D7A-FC99-A6FB-3EAD-06D6DD071528}"/>
              </a:ext>
            </a:extLst>
          </p:cNvPr>
          <p:cNvSpPr txBox="1"/>
          <p:nvPr/>
        </p:nvSpPr>
        <p:spPr>
          <a:xfrm>
            <a:off x="728524" y="1172002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test le Web Service qui a été exposé: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Dans Postman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82290E9-F4D6-F231-BAA7-8030604FCBD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306538C-33C6-2FE3-D865-A1350D0D5ED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DBC8B3F-071A-0393-D6C9-E070757C689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1969FA1-9588-0705-0BE5-AB122CC95CCA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2D8DC-EFF7-CE44-E355-7DEA02BCF3F7}"/>
              </a:ext>
            </a:extLst>
          </p:cNvPr>
          <p:cNvSpPr/>
          <p:nvPr/>
        </p:nvSpPr>
        <p:spPr>
          <a:xfrm>
            <a:off x="1966319" y="1471836"/>
            <a:ext cx="5969621" cy="18289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"http://localhost:8000/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payload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97ED7E3-D3DC-7079-6898-ED76D3A42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428" y="2735684"/>
            <a:ext cx="4647197" cy="2148550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76370E2-AA01-3FA5-DDF9-874DEB9EC419}"/>
              </a:ext>
            </a:extLst>
          </p:cNvPr>
          <p:cNvCxnSpPr/>
          <p:nvPr/>
        </p:nvCxnSpPr>
        <p:spPr>
          <a:xfrm>
            <a:off x="2252546" y="3523785"/>
            <a:ext cx="1590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867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C083B0E-5334-4011-B96C-C0238569FFBF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Suite : Spark Structured Streaming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5B7F34B9-B5C8-480A-8723-15909B95D2D2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3095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Objectif : consommer le topic existant dans un notebook PySpark.</a:t>
            </a:r>
          </a:p>
          <a:p>
            <a:r>
              <a:t/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Compléter le conteneur Jupyter avec Java et Spark.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Lire le flux et décoder les messages JSON.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Afficher les données puis les sauvegarder en Parquet.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Arrêter et reprendre la lecture avec un checkpoint.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0D3270B2-7B8C-4082-9285-803FF2910088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Conserver Producer.ipynb. Créer Consumer_Spark.ipynb dans work.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27EF64F-1959-4173-A9C9-8B2BC5E6C066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Environnement du notebook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2D3DB552-B2FE-4BAB-8FB3-D051C817871B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Créer Dockerfile.spark à côté de docker-compose.yml.</a:t>
            </a:r>
          </a:p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Cette variante fixe Python 3.11, Java 17 et PySpark 3.5.6.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08A67EE6-DDAA-4103-B80F-DE3F5FBD5036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FROM jupyter/scipy-notebook:latest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RUN conda install -y python=3.11 openjdk=17 &amp;&amp; \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conda clean -afy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RUN pip install --no-cache-dir pyspark==3.5.6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ENV JAVA_HOME=/opt/conda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0CBAA70-8157-45EE-8644-1E7B712BC324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Construction avec accès Internet. Pour figer aussi la base, conserver son digest.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C7D6BBFF-E74C-49A5-9172-5C1781FA5636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Adaptation de Docker Compose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C788068B-9683-43BC-BEFA-F86514142799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Dans ml-notebook, remplacer uniquement image: par ces deux clés.</a:t>
            </a:r>
          </a:p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Conserver ports, volumes, environment, depends_on et le réseau existant.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B7D9EC78-9184-4E23-804B-00FC39410DA0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build: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  context: .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  dockerfile: Dockerfile.spark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image: mgt/scipy-spark:3.5.6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Dans le terminal du serveur, répertoire ~/kafka :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docker compose up -d --build ml-notebook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16C0FED3-9AA5-48C9-BB18-BA6BE3625B2F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Enregistrer les notebooks avant la recréation. Kafka reste sur kafka-ml-net.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CAC09F20-EC36-42CA-BF3B-859AF27F7030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Vérification dans Jupyter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6E3F999D-F4FB-4700-A4F8-0EBCA724F0A4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Ouvrir Consumer_Spark.ipynb avec un nouveau kernel Python.</a:t>
            </a:r>
          </a:p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Exécuter cette première cellule avant toute création de SparkSession.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943E9844-7FD4-46D2-AFC1-C7309C804318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import sys, subprocess, pyspark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print("Python :", sys.version)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print("PySpark :", pyspark.__version__)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subprocess.run(["java", "-version"], check=True)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BOOTSTRAP_SERVERS = "kafka-broker:9092"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TOPIC = "ml-stream-demo"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95614AC3-5695-4812-BE0B-6D8C351621BA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Attendu : Python 3.11, Java 17, PySpark 3.5.6. Le producteur doit avoir créé le topic.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F646E8C2-9746-4BE1-B37D-54A4602B2C25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Création de la session Spark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84DBC024-7C31-4075-8577-A2E8E590F285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Cellule suivante : charger le connecteur Kafka avant le premier contexte Spark.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24686A8F-2087-43A0-86DB-DFCECCAA1BFA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from pyspark.sql import SparkSession, functions as F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from pyspark.sql.types import (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StructType, StructField, ArrayType, DoubleType, IntegerType)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package = "org.apache.spark:spark-sql-kafka-0-10_2.12:3.5.6"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spark = (SparkSession.builder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.appName("Kafka-Structured-Streaming")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.master("local[2]")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.config("spark.jars.packages", package)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.config("spark.sql.shuffle.partitions", "2")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.getOrCreate())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spark.sparkContext.setLogLevel("WARN")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A4139713-36D0-4DA4-88B8-42EE5A597493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local[2] = deux threads dans Jupyter. Maven doit être accessible au premier démarrage.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CD753396-D074-4CA1-A35A-1D71B7B94B64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Lecture du flux Kafka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7A89B989-4247-46AE-808F-D0CF252AAD84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Cette cellule décrit la source. Le traitement démarrera avec writeStream.start().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C8B5639D-AA35-41A4-A6A3-67F0EDC29A0C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raw = (spark.readStream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.format("kafka")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.option("kafka.bootstrap.servers", BOOTSTRAP_SERVERS)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.option("subscribe", TOPIC)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.option("startingOffsets", "earliest")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.option("maxOffsetsPerTrigger", 1000)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.load())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print(raw.isStreaming)  # True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raw.printSchema()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204368E3-55BA-4C53-BA1C-92FFF47EEC5A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earliest lit les messages encore conservés. latest ne lit que les nouveaux messages.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EC1AD640-A85A-4AB4-A26B-D83B28DF7A29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Décodage des messages JSON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A188BD6A-9E34-4EA2-A36C-3FD547381B14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 producteur fournit {"features": [x1, x2], "label": 0 ou 1}.</a:t>
            </a:r>
          </a:p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Kafka expose value en binaire : la convertir en texte, puis appliquer le schéma.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4D5E0C99-D6D2-4EDB-BC28-6A7078C1EE8A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schema = StructType([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StructField("features", ArrayType(DoubleType()), True),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StructField("label", IntegerType(), True)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parsed = raw.select(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"topic", "partition", "offset", "timestamp",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F.from_json(F.col("value").cast("string"), schema)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 .alias("data")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DCC5EDCC-0416-48CF-956D-F5AA832FC555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Conserver topic, partition et offset permet d’identifier chaque message Kafka.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7074A6E9-4291-46E9-9E84-6CFBCBB3A988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 Sélection des données valides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64F7B6EE-585C-494B-BD00-FFEC1F203D10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Vérifier les deux valeurs numériques et le label avant de traiter les messages.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1C0B315A-6C4B-4AB5-B12B-3AF7C78E85B3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valid = parsed.where(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(F.size("data.features") == 2) &amp;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F.col("data.label").isin(0, 1) &amp;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F.col("data.features")[0].isNotNull() &amp;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F.col("data.features")[1].isNotNull()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events = valid.select(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"topic", "partition", "offset", "timestamp",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F.col("data.features")[0].alias("x1"),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F.col("data.features")[1].alias("x2"),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F.col("data.label").alias("label")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89C0E30B-28A2-4D2C-A8F0-1447F847D18F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Pour ce TP, les messages non conformes sont exclus. En production, prévoir leur suivi.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6727AA39-6598-4C8F-8F74-2E5089DD61F9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8. Affichage dans le notebook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92D12F72-D32E-469D-BA4C-7AC6BE4B3926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 sink memory crée une table SQL temporaire dans le driver.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215ED60E-C505-4E07-8F5D-ED26BEB4A812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q_mem = (events.writeStream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.format("memory")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.queryName("kafka_events")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.outputMode("append")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.trigger(processingTime="2 seconds")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.start())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B76B8610-FDA6-4D3D-BBBE-642B8AB467DB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Réservé au TP : la table grossit en mémoire et ne garantit pas de reprise durable.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A17F8A1A-6E80-49E2-8FB0-3FDC52606A22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9. Observation des résultats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6951EB86-9B21-4034-8C56-65B1DBE8FFD7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Après quelques secondes, exécuter cette cellule. Relancer la cellule pour actualiser.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90C44415-80A1-4CDA-AC8C-784521CEA78A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spark.sql("""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SELECT partition, offset, x1, x2, label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FROM kafka_events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ORDER BY partition, offset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LIMIT 20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""").show(truncate=False)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spark.sql("""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SELECT label, COUNT(*) AS nb, AVG(x1) AS moyenne_x1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FROM kafka_events GROUP BY label ORDER BY label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""").show()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927570CF-09C6-4F2D-87A6-9942C4108D8F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Ces requêtes portent sur la table mémoire. events.show() est interdit sur le flux direct.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4C896D5F-E699-481C-A917-5637E1EE1B7A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10. Test du flux et surveillance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E0696A8A-9976-46FE-BA47-ADE38CBD24A1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Dans un second notebook/kernel, relancer la boucle de Producer.ipynb.</a:t>
            </a:r>
          </a:p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 nombre de lignes doit augmenter sans recréer la requête Spark.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81607EDC-7F72-4482-832B-6AF84523FFBC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print("Active :", q_mem.isActive)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print(q_mem.status)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print(q_mem.lastProgress)  # None avant le premier progrès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print(q_mem.exception())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Une fois le test terminé :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q_mem.stop()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F07A81C5-6FE8-4A0F-A6D4-8A29A568FB9F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500 messages valides donnent 500 lignes si le topic était vide au départ.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1937F054-7519-498C-9650-C0D5B4D6C152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11. Sauvegarde durable en Parquet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E89691E2-7B49-480D-9AED-CCD228F2FC38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Cette deuxième requête relit le topic au premier lancement.</a:t>
            </a:r>
          </a:p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 volume ./notebooks conserve les données et le checkpoint côté hôte.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6E406E10-4D20-4E24-93C9-0552056EC8C9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BASE = "/home/jovyan/work/spark_stream"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DATA = BASE + "/parquet"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CHECKPOINT = BASE + "/checkpoints/parquet"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q_file = (events.writeStream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.format("parquet")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.outputMode("append")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.option("path", DATA)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.option("checkpointLocation", CHECKPOINT)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.trigger(processingTime="5 seconds")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 .start())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3606898-B041-49A7-9DCD-50D73971C958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Une requête = un checkpoint propre. Ne pas partager ce dossier avec le sink memory.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6CAE71B-36DC-43A6-9B2C-9F0E6D48D554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12. Arrêt et reprise de la lecture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15E7B30A-C94D-48F1-9D7A-DE1EE49BC91D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Après l’écriture du premier lot, arrêter puis consulter les fichiers.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DA7EF5D1-3931-4429-8A94-952163B7BB5F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7620000" cy="247650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print(q_file.lastProgress)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q_file.stop()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spark.read.parquet(DATA).show(20, truncate=False)</a:t>
            </a:r>
          </a:p>
          <a:p>
            <a:r>
              <a:t/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À la fin de la séance seulement :</a:t>
            </a:r>
          </a:p>
          <a:p>
            <a:pPr>
              <a:defRPr sz="1275" b="0">
                <a:solidFill>
                  <a:srgbClr val="EEEE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spark.stop()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CAE9F183-298F-44B6-86ED-15A366E17DF8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Reprise : recréer la session et les DataFrames si besoin, puis relancer l’étape 11</a:t>
            </a:r>
          </a:p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avec les mêmes DATA et CHECKPOINT. Ne pas supprimer leurs dossiers.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196B7EC7-7374-44BB-A792-E3887D0AD940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13. Vérification de la reprise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43C4C538-E15B-463C-AD0D-23D44F89BB00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3095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Noter le nombre de lignes Parquet après arrêt.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Envoyer 100 messages supplémentaires avec Producer.ipynb.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Relancer la requête Parquet avec le même checkpoint.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Attendre un lot terminé, arrêter et recompter.</a:t>
            </a:r>
          </a:p>
          <a:p>
            <a:r>
              <a:t/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Résultat attendu : +100 lignes valides, sans rejouer l’historique.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 checkpoint fixe la reprise, même avec startingOffsets="earliest".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669B64EE-428F-431D-9F40-76D08EE6261C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Pour rejouer tout le TP, choisir deux nouveaux dossiers : données ET checkpoint.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94515607-4AEA-468D-B505-AC6199D72966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14. Diagnostic et prolongement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276B7BAF-622B-4E92-B8DA-B6C941A07DFE}"/>
              </a:ext>
            </a:extLst>
          </p:cNvPr>
          <p:cNvSpPr>
            <a:spLocks noGrp="1"/>
          </p:cNvSpPr>
          <p:nvPr/>
        </p:nvSpPr>
        <p:spPr>
          <a:xfrm>
            <a:off x="809625" y="1171575"/>
            <a:ext cx="7620000" cy="3095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« Failed to find data source: kafka »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Vérifier le package et redémarrer le kernel avant de créer Spark.</a:t>
            </a:r>
          </a:p>
          <a:p>
            <a:r>
              <a:t/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Broker inaccessible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Vérifier kafka-broker:9092 et le réseau kafka-ml-net. localhost désigne Jupyter.</a:t>
            </a:r>
          </a:p>
          <a:p>
            <a:r>
              <a:t/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Aucune ligne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Vérifier le topic, le producteur, lastProgress et exception().</a:t>
            </a:r>
          </a:p>
          <a:p>
            <a:r>
              <a:t/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Vers le machine learning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foreachBatch permet de traiter chaque micro-lot. Un entraînement</a:t>
            </a:r>
          </a:p>
          <a:p>
            <a:pPr>
              <a:defRPr sz="157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SGDClassifier exige aussi de gérer le modèle et les lots rejoués.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3371AFEA-32AC-46D0-B2E4-4CD16420B3CD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7715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Extension multi-serveurs : remplacer local[2] et utiliser un stockage partagé pour les fichiers.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2923</TotalTime>
  <Words>2697</Words>
  <Application>Microsoft Office PowerPoint</Application>
  <PresentationFormat>Affichage à l'écran (16:9)</PresentationFormat>
  <Paragraphs>351</Paragraphs>
  <Slides>27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40" baseType="lpstr">
      <vt:lpstr>Abadi Extra Light</vt:lpstr>
      <vt:lpstr>Arial UNICODE MS</vt:lpstr>
      <vt:lpstr>Arial UNICODE MS</vt:lpstr>
      <vt:lpstr>FUTURA MEDIUM</vt:lpstr>
      <vt:lpstr>Agency FB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154</cp:revision>
  <dcterms:created xsi:type="dcterms:W3CDTF">2021-01-18T11:01:50Z</dcterms:created>
  <dcterms:modified xsi:type="dcterms:W3CDTF">2025-11-18T16:49:03Z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