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6"/>
  </p:notesMasterIdLst>
  <p:sldIdLst>
    <p:sldId id="263" r:id="rId5"/>
    <p:sldId id="2134807190" r:id="rId6"/>
    <p:sldId id="2134807191" r:id="rId7"/>
    <p:sldId id="2134807192" r:id="rId8"/>
    <p:sldId id="2134807193" r:id="rId9"/>
    <p:sldId id="2134807194" r:id="rId10"/>
    <p:sldId id="2134807195" r:id="rId11"/>
    <p:sldId id="2134807197" r:id="rId12"/>
    <p:sldId id="2134807196" r:id="rId13"/>
    <p:sldId id="2134807198" r:id="rId14"/>
    <p:sldId id="269" r:id="rId15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8200"/>
    <a:srgbClr val="E89D06"/>
    <a:srgbClr val="606A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371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FCF4C-C656-4173-9B19-E1AF5C686E36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481D4-7198-485D-BC3A-9DB0AF6D6A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9205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81D4-7198-485D-BC3A-9DB0AF6D6A6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4745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5064A-24D9-2B9D-AFEE-171D5EE0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9E38F3-8B49-53A2-B9AE-6D853DCE2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D70403-8848-3298-6583-9148E8C4A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B907BD-E715-FBB8-80B4-29B4F4D820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4E322D-64CC-F34A-90D4-13BB939FB9F2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57192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DE2F-D265-CFB0-20F1-082B715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B12EF-4861-C688-60B3-86A3B3D13D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AEE1B-352F-52E3-060D-A61C413F5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B37985-6F9F-232E-EDE5-FB6DC94BE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4E322D-64CC-F34A-90D4-13BB939FB9F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20198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0B5D3-C391-8F22-E317-C4B56AD15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800F6-B889-8C73-F51F-20C2A330D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1048B0-50C6-77AA-82A5-0C7539237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92C45-2A9D-68B8-A85B-82260A721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4E322D-64CC-F34A-90D4-13BB939FB9F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8213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F1D46-F85F-E6EE-BD4F-CB6AAEBF1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657EB0-C021-8273-CA63-9401C9DBDA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72A2A0-9032-E78D-3ACE-EF2F5192B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11413D-C5DA-170A-2906-311379537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4E322D-64CC-F34A-90D4-13BB939FB9F2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7857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DACC8-A4E6-ADEC-B4EF-C9D073EE4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2C8B63-795F-ADEC-165F-614F1FF5B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0072DD-21B3-EF5C-C199-4773C4886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FC43F-5146-677E-2CB3-B0D26BFFC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4E322D-64CC-F34A-90D4-13BB939FB9F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057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D37B4-135F-1E2D-D63E-58170C9C4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D4D2F5-553B-D908-EF20-920A1C2A3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DE221B-99B1-8A9B-B452-1B315CB38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2BE84-8034-BE31-0F88-06D21F84F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4E322D-64CC-F34A-90D4-13BB939FB9F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00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21189-9789-AFCF-CDA8-F2512C5D6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597087-7288-1E1D-B1F4-519E8F90E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AE2C1-F606-E7EF-6E8E-35B6FD64B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B3DD8-3046-AD09-E4E3-5B0AC910C5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4E322D-64CC-F34A-90D4-13BB939FB9F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89769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08835-3854-A90E-18B9-274BBB58E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B249B-395A-F4A3-EAC9-31FD32D21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68DFAD-213D-E69E-0CFF-D9FC0C2C1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5A441-0A60-1CA7-4096-1EE79DB6D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4E322D-64CC-F34A-90D4-13BB939FB9F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0139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8B0EE-DB74-4337-9E39-4F4401AC088C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741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597370" y="4578722"/>
            <a:ext cx="429860" cy="2832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E69C2FC-FDFD-4827-B361-612217FFD460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8874741" y="4894851"/>
            <a:ext cx="215900" cy="307777"/>
          </a:xfrm>
        </p:spPr>
        <p:txBody>
          <a:bodyPr/>
          <a:lstStyle/>
          <a:p>
            <a:fld id="{145EDAB0-9B87-4A61-82A7-24EB9E95EB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94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876384" y="2592654"/>
            <a:ext cx="4569441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965951" y="3982528"/>
            <a:ext cx="4390307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830C2E-4564-4B17-8002-21FAB13655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999" r="11596"/>
          <a:stretch/>
        </p:blipFill>
        <p:spPr>
          <a:xfrm>
            <a:off x="-2024" y="0"/>
            <a:ext cx="7077950" cy="5175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C26AB9D-2720-48E7-9F02-9FF73EC7320C}"/>
              </a:ext>
            </a:extLst>
          </p:cNvPr>
          <p:cNvSpPr/>
          <p:nvPr userDrawn="1"/>
        </p:nvSpPr>
        <p:spPr>
          <a:xfrm>
            <a:off x="5272" y="1"/>
            <a:ext cx="8138265" cy="5159408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11" name="Parallélogramme 10">
            <a:extLst>
              <a:ext uri="{FF2B5EF4-FFF2-40B4-BE49-F238E27FC236}">
                <a16:creationId xmlns:a16="http://schemas.microsoft.com/office/drawing/2014/main" id="{89BE8FA3-37AB-4349-895E-C9147FFA4740}"/>
              </a:ext>
            </a:extLst>
          </p:cNvPr>
          <p:cNvSpPr/>
          <p:nvPr userDrawn="1"/>
        </p:nvSpPr>
        <p:spPr>
          <a:xfrm>
            <a:off x="4348264" y="-15909"/>
            <a:ext cx="5287890" cy="5175317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869992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86986" y="270763"/>
            <a:ext cx="5970026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8158" y="790177"/>
            <a:ext cx="7865109" cy="144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74741" y="4894851"/>
            <a:ext cx="215900" cy="181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hyperlink" Target="http://www.mgt-conseils.com/" TargetMode="External"/><Relationship Id="rId10" Type="http://schemas.openxmlformats.org/officeDocument/2006/relationships/image" Target="../media/image12.png"/><Relationship Id="rId4" Type="http://schemas.openxmlformats.org/officeDocument/2006/relationships/image" Target="../media/image7.emf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6645293F-0238-41E2-AE61-25FF444A98FA}"/>
              </a:ext>
            </a:extLst>
          </p:cNvPr>
          <p:cNvSpPr txBox="1"/>
          <p:nvPr/>
        </p:nvSpPr>
        <p:spPr>
          <a:xfrm>
            <a:off x="5241241" y="2668269"/>
            <a:ext cx="331792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>
                <a:solidFill>
                  <a:srgbClr val="EE8200"/>
                </a:solidFill>
                <a:latin typeface="Arial UNICODE MS"/>
              </a:rPr>
              <a:t>L’accélérateur </a:t>
            </a:r>
            <a:br>
              <a:rPr lang="fr-FR" sz="2000" b="1">
                <a:solidFill>
                  <a:srgbClr val="EE8200"/>
                </a:solidFill>
                <a:latin typeface="Arial UNICODE MS"/>
              </a:rPr>
            </a:br>
            <a:r>
              <a:rPr lang="fr-FR" sz="2000" b="1">
                <a:solidFill>
                  <a:srgbClr val="EE8200"/>
                </a:solidFill>
                <a:latin typeface="Arial UNICODE MS"/>
              </a:rPr>
              <a:t>de vos Performances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7EBDE4-AF21-46CC-A637-A8E445A354FC}"/>
              </a:ext>
            </a:extLst>
          </p:cNvPr>
          <p:cNvSpPr txBox="1"/>
          <p:nvPr/>
        </p:nvSpPr>
        <p:spPr>
          <a:xfrm>
            <a:off x="5425360" y="3454631"/>
            <a:ext cx="30479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>
                <a:solidFill>
                  <a:schemeClr val="tx1">
                    <a:lumMod val="50000"/>
                    <a:lumOff val="50000"/>
                  </a:schemeClr>
                </a:solidFill>
                <a:latin typeface="Abadi Extra Light" panose="020B0204020104020204" pitchFamily="34" charset="0"/>
              </a:rPr>
              <a:t>Cabinet de Conseil et Formation spécialisé dans l’Amélioration des Performances des Entreprises</a:t>
            </a:r>
          </a:p>
        </p:txBody>
      </p:sp>
      <p:grpSp>
        <p:nvGrpSpPr>
          <p:cNvPr id="4" name="Google Shape;1211;p42">
            <a:extLst>
              <a:ext uri="{FF2B5EF4-FFF2-40B4-BE49-F238E27FC236}">
                <a16:creationId xmlns:a16="http://schemas.microsoft.com/office/drawing/2014/main" id="{0805AA11-DDF0-28CE-7329-E9ABB8802C46}"/>
              </a:ext>
            </a:extLst>
          </p:cNvPr>
          <p:cNvGrpSpPr/>
          <p:nvPr/>
        </p:nvGrpSpPr>
        <p:grpSpPr>
          <a:xfrm>
            <a:off x="866124" y="1529312"/>
            <a:ext cx="2906404" cy="2211684"/>
            <a:chOff x="4743450" y="1116900"/>
            <a:chExt cx="2486100" cy="1690800"/>
          </a:xfrm>
        </p:grpSpPr>
        <p:sp>
          <p:nvSpPr>
            <p:cNvPr id="5" name="Google Shape;1212;p42">
              <a:extLst>
                <a:ext uri="{FF2B5EF4-FFF2-40B4-BE49-F238E27FC236}">
                  <a16:creationId xmlns:a16="http://schemas.microsoft.com/office/drawing/2014/main" id="{19E28FA2-BA25-9760-C0E3-7AB39B1EEB5E}"/>
                </a:ext>
              </a:extLst>
            </p:cNvPr>
            <p:cNvSpPr/>
            <p:nvPr/>
          </p:nvSpPr>
          <p:spPr>
            <a:xfrm>
              <a:off x="4743450" y="1116900"/>
              <a:ext cx="2486100" cy="1690800"/>
            </a:xfrm>
            <a:prstGeom prst="roundRect">
              <a:avLst>
                <a:gd name="adj" fmla="val 16667"/>
              </a:avLst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213;p42">
              <a:extLst>
                <a:ext uri="{FF2B5EF4-FFF2-40B4-BE49-F238E27FC236}">
                  <a16:creationId xmlns:a16="http://schemas.microsoft.com/office/drawing/2014/main" id="{F4C6AACD-E2C4-85E5-CF68-119723003E9E}"/>
                </a:ext>
              </a:extLst>
            </p:cNvPr>
            <p:cNvSpPr/>
            <p:nvPr/>
          </p:nvSpPr>
          <p:spPr>
            <a:xfrm>
              <a:off x="4743450" y="1708870"/>
              <a:ext cx="2486100" cy="729400"/>
            </a:xfrm>
            <a:prstGeom prst="rect">
              <a:avLst/>
            </a:prstGeom>
            <a:gradFill>
              <a:gsLst>
                <a:gs pos="83000">
                  <a:srgbClr val="E89D06"/>
                </a:gs>
                <a:gs pos="38000">
                  <a:srgbClr val="E89D06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just"/>
              <a:endParaRPr lang="fr-FR" sz="2400" b="1">
                <a:solidFill>
                  <a:schemeClr val="bg1"/>
                </a:solidFill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endParaRPr>
            </a:p>
          </p:txBody>
        </p:sp>
        <p:sp>
          <p:nvSpPr>
            <p:cNvPr id="7" name="Google Shape;1214;p42">
              <a:extLst>
                <a:ext uri="{FF2B5EF4-FFF2-40B4-BE49-F238E27FC236}">
                  <a16:creationId xmlns:a16="http://schemas.microsoft.com/office/drawing/2014/main" id="{10DB14C9-1189-F962-9C46-48F2025E5D4E}"/>
                </a:ext>
              </a:extLst>
            </p:cNvPr>
            <p:cNvSpPr txBox="1"/>
            <p:nvPr/>
          </p:nvSpPr>
          <p:spPr>
            <a:xfrm>
              <a:off x="4754902" y="2510233"/>
              <a:ext cx="2283900" cy="2620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18/11/2025</a:t>
              </a:r>
            </a:p>
          </p:txBody>
        </p:sp>
        <p:grpSp>
          <p:nvGrpSpPr>
            <p:cNvPr id="8" name="Google Shape;1215;p42">
              <a:extLst>
                <a:ext uri="{FF2B5EF4-FFF2-40B4-BE49-F238E27FC236}">
                  <a16:creationId xmlns:a16="http://schemas.microsoft.com/office/drawing/2014/main" id="{6C607AC6-5841-D5C0-CDC0-064B9E45A8F0}"/>
                </a:ext>
              </a:extLst>
            </p:cNvPr>
            <p:cNvGrpSpPr/>
            <p:nvPr/>
          </p:nvGrpSpPr>
          <p:grpSpPr>
            <a:xfrm>
              <a:off x="5790959" y="1236253"/>
              <a:ext cx="394134" cy="394090"/>
              <a:chOff x="-64764500" y="2280550"/>
              <a:chExt cx="316650" cy="319800"/>
            </a:xfrm>
          </p:grpSpPr>
          <p:sp>
            <p:nvSpPr>
              <p:cNvPr id="9" name="Google Shape;1216;p42">
                <a:extLst>
                  <a:ext uri="{FF2B5EF4-FFF2-40B4-BE49-F238E27FC236}">
                    <a16:creationId xmlns:a16="http://schemas.microsoft.com/office/drawing/2014/main" id="{185FED04-2E27-BE7C-9209-400D4E0C0465}"/>
                  </a:ext>
                </a:extLst>
              </p:cNvPr>
              <p:cNvSpPr/>
              <p:nvPr/>
            </p:nvSpPr>
            <p:spPr>
              <a:xfrm>
                <a:off x="-64764500" y="2280550"/>
                <a:ext cx="316650" cy="319800"/>
              </a:xfrm>
              <a:custGeom>
                <a:avLst/>
                <a:gdLst/>
                <a:ahLst/>
                <a:cxnLst/>
                <a:rect l="l" t="t" r="r" b="b"/>
                <a:pathLst>
                  <a:path w="12666" h="12792" extrusionOk="0">
                    <a:moveTo>
                      <a:pt x="11405" y="820"/>
                    </a:moveTo>
                    <a:cubicBezTo>
                      <a:pt x="11657" y="820"/>
                      <a:pt x="11815" y="1009"/>
                      <a:pt x="11815" y="1261"/>
                    </a:cubicBezTo>
                    <a:cubicBezTo>
                      <a:pt x="11815" y="1481"/>
                      <a:pt x="11657" y="1670"/>
                      <a:pt x="11405" y="1670"/>
                    </a:cubicBezTo>
                    <a:lnTo>
                      <a:pt x="1229" y="1670"/>
                    </a:lnTo>
                    <a:cubicBezTo>
                      <a:pt x="977" y="1670"/>
                      <a:pt x="788" y="1481"/>
                      <a:pt x="788" y="1261"/>
                    </a:cubicBezTo>
                    <a:cubicBezTo>
                      <a:pt x="788" y="1009"/>
                      <a:pt x="977" y="820"/>
                      <a:pt x="1229" y="820"/>
                    </a:cubicBezTo>
                    <a:close/>
                    <a:moveTo>
                      <a:pt x="10996" y="2521"/>
                    </a:moveTo>
                    <a:lnTo>
                      <a:pt x="10996" y="8286"/>
                    </a:lnTo>
                    <a:lnTo>
                      <a:pt x="1607" y="8286"/>
                    </a:lnTo>
                    <a:lnTo>
                      <a:pt x="1607" y="2521"/>
                    </a:lnTo>
                    <a:close/>
                    <a:moveTo>
                      <a:pt x="6302" y="11027"/>
                    </a:moveTo>
                    <a:cubicBezTo>
                      <a:pt x="6554" y="11027"/>
                      <a:pt x="6743" y="11216"/>
                      <a:pt x="6743" y="11437"/>
                    </a:cubicBezTo>
                    <a:cubicBezTo>
                      <a:pt x="6743" y="11689"/>
                      <a:pt x="6522" y="11878"/>
                      <a:pt x="6302" y="11878"/>
                    </a:cubicBezTo>
                    <a:cubicBezTo>
                      <a:pt x="6050" y="11878"/>
                      <a:pt x="5892" y="11689"/>
                      <a:pt x="5892" y="11437"/>
                    </a:cubicBezTo>
                    <a:cubicBezTo>
                      <a:pt x="5892" y="11216"/>
                      <a:pt x="6113" y="11027"/>
                      <a:pt x="6302" y="11027"/>
                    </a:cubicBezTo>
                    <a:close/>
                    <a:moveTo>
                      <a:pt x="1229" y="1"/>
                    </a:moveTo>
                    <a:cubicBezTo>
                      <a:pt x="536" y="1"/>
                      <a:pt x="1" y="536"/>
                      <a:pt x="1" y="1261"/>
                    </a:cubicBezTo>
                    <a:cubicBezTo>
                      <a:pt x="1" y="1797"/>
                      <a:pt x="347" y="2238"/>
                      <a:pt x="820" y="2427"/>
                    </a:cubicBezTo>
                    <a:lnTo>
                      <a:pt x="820" y="8286"/>
                    </a:lnTo>
                    <a:lnTo>
                      <a:pt x="442" y="8286"/>
                    </a:lnTo>
                    <a:cubicBezTo>
                      <a:pt x="190" y="8286"/>
                      <a:pt x="32" y="8507"/>
                      <a:pt x="32" y="8728"/>
                    </a:cubicBezTo>
                    <a:cubicBezTo>
                      <a:pt x="32" y="8980"/>
                      <a:pt x="221" y="9169"/>
                      <a:pt x="442" y="9169"/>
                    </a:cubicBezTo>
                    <a:lnTo>
                      <a:pt x="5955" y="9169"/>
                    </a:lnTo>
                    <a:lnTo>
                      <a:pt x="5955" y="10334"/>
                    </a:lnTo>
                    <a:cubicBezTo>
                      <a:pt x="5483" y="10492"/>
                      <a:pt x="5104" y="10964"/>
                      <a:pt x="5104" y="11531"/>
                    </a:cubicBezTo>
                    <a:cubicBezTo>
                      <a:pt x="5104" y="12193"/>
                      <a:pt x="5672" y="12792"/>
                      <a:pt x="6333" y="12792"/>
                    </a:cubicBezTo>
                    <a:cubicBezTo>
                      <a:pt x="6995" y="12792"/>
                      <a:pt x="7593" y="12225"/>
                      <a:pt x="7593" y="11531"/>
                    </a:cubicBezTo>
                    <a:cubicBezTo>
                      <a:pt x="7593" y="10964"/>
                      <a:pt x="7247" y="10555"/>
                      <a:pt x="6774" y="10334"/>
                    </a:cubicBezTo>
                    <a:lnTo>
                      <a:pt x="6774" y="9169"/>
                    </a:lnTo>
                    <a:lnTo>
                      <a:pt x="12288" y="9169"/>
                    </a:lnTo>
                    <a:cubicBezTo>
                      <a:pt x="12508" y="9169"/>
                      <a:pt x="12666" y="8980"/>
                      <a:pt x="12666" y="8728"/>
                    </a:cubicBezTo>
                    <a:cubicBezTo>
                      <a:pt x="12666" y="8507"/>
                      <a:pt x="12477" y="8286"/>
                      <a:pt x="12288" y="8286"/>
                    </a:cubicBezTo>
                    <a:lnTo>
                      <a:pt x="11847" y="8286"/>
                    </a:lnTo>
                    <a:lnTo>
                      <a:pt x="11847" y="2427"/>
                    </a:lnTo>
                    <a:cubicBezTo>
                      <a:pt x="12319" y="2238"/>
                      <a:pt x="12634" y="1797"/>
                      <a:pt x="12634" y="1261"/>
                    </a:cubicBezTo>
                    <a:cubicBezTo>
                      <a:pt x="12634" y="568"/>
                      <a:pt x="12099" y="1"/>
                      <a:pt x="11405" y="1"/>
                    </a:cubicBezTo>
                    <a:close/>
                  </a:path>
                </a:pathLst>
              </a:custGeom>
              <a:solidFill>
                <a:srgbClr val="EE82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1217;p42">
                <a:extLst>
                  <a:ext uri="{FF2B5EF4-FFF2-40B4-BE49-F238E27FC236}">
                    <a16:creationId xmlns:a16="http://schemas.microsoft.com/office/drawing/2014/main" id="{3604447A-576F-6388-A6B4-EAB22FCF3F94}"/>
                  </a:ext>
                </a:extLst>
              </p:cNvPr>
              <p:cNvSpPr/>
              <p:nvPr/>
            </p:nvSpPr>
            <p:spPr>
              <a:xfrm>
                <a:off x="-64679425" y="2364825"/>
                <a:ext cx="146500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5860" h="4098" extrusionOk="0">
                    <a:moveTo>
                      <a:pt x="3749" y="1"/>
                    </a:moveTo>
                    <a:cubicBezTo>
                      <a:pt x="3529" y="1"/>
                      <a:pt x="3371" y="190"/>
                      <a:pt x="3371" y="442"/>
                    </a:cubicBezTo>
                    <a:cubicBezTo>
                      <a:pt x="3371" y="662"/>
                      <a:pt x="3560" y="820"/>
                      <a:pt x="3749" y="820"/>
                    </a:cubicBezTo>
                    <a:lnTo>
                      <a:pt x="4442" y="820"/>
                    </a:lnTo>
                    <a:lnTo>
                      <a:pt x="2930" y="2332"/>
                    </a:lnTo>
                    <a:lnTo>
                      <a:pt x="2395" y="1765"/>
                    </a:lnTo>
                    <a:cubicBezTo>
                      <a:pt x="2316" y="1686"/>
                      <a:pt x="2206" y="1647"/>
                      <a:pt x="2095" y="1647"/>
                    </a:cubicBezTo>
                    <a:cubicBezTo>
                      <a:pt x="1985" y="1647"/>
                      <a:pt x="1875" y="1686"/>
                      <a:pt x="1796" y="1765"/>
                    </a:cubicBezTo>
                    <a:lnTo>
                      <a:pt x="126" y="3435"/>
                    </a:lnTo>
                    <a:cubicBezTo>
                      <a:pt x="0" y="3592"/>
                      <a:pt x="0" y="3844"/>
                      <a:pt x="126" y="4033"/>
                    </a:cubicBezTo>
                    <a:cubicBezTo>
                      <a:pt x="195" y="4075"/>
                      <a:pt x="288" y="4098"/>
                      <a:pt x="384" y="4098"/>
                    </a:cubicBezTo>
                    <a:cubicBezTo>
                      <a:pt x="507" y="4098"/>
                      <a:pt x="636" y="4059"/>
                      <a:pt x="725" y="3970"/>
                    </a:cubicBezTo>
                    <a:lnTo>
                      <a:pt x="2111" y="2616"/>
                    </a:lnTo>
                    <a:lnTo>
                      <a:pt x="2647" y="3151"/>
                    </a:lnTo>
                    <a:cubicBezTo>
                      <a:pt x="2725" y="3230"/>
                      <a:pt x="2836" y="3269"/>
                      <a:pt x="2946" y="3269"/>
                    </a:cubicBezTo>
                    <a:cubicBezTo>
                      <a:pt x="3056" y="3269"/>
                      <a:pt x="3166" y="3230"/>
                      <a:pt x="3245" y="3151"/>
                    </a:cubicBezTo>
                    <a:lnTo>
                      <a:pt x="5009" y="1387"/>
                    </a:lnTo>
                    <a:lnTo>
                      <a:pt x="5009" y="2049"/>
                    </a:lnTo>
                    <a:cubicBezTo>
                      <a:pt x="5009" y="2269"/>
                      <a:pt x="5230" y="2490"/>
                      <a:pt x="5451" y="2490"/>
                    </a:cubicBezTo>
                    <a:cubicBezTo>
                      <a:pt x="5703" y="2490"/>
                      <a:pt x="5860" y="2269"/>
                      <a:pt x="5860" y="2049"/>
                    </a:cubicBezTo>
                    <a:lnTo>
                      <a:pt x="5860" y="410"/>
                    </a:lnTo>
                    <a:cubicBezTo>
                      <a:pt x="5860" y="158"/>
                      <a:pt x="5640" y="1"/>
                      <a:pt x="5419" y="1"/>
                    </a:cubicBezTo>
                    <a:close/>
                  </a:path>
                </a:pathLst>
              </a:custGeom>
              <a:solidFill>
                <a:srgbClr val="E89D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ED8FED94-221E-D61F-429C-874B96C41C0C}"/>
              </a:ext>
            </a:extLst>
          </p:cNvPr>
          <p:cNvSpPr txBox="1"/>
          <p:nvPr/>
        </p:nvSpPr>
        <p:spPr>
          <a:xfrm>
            <a:off x="866123" y="2426759"/>
            <a:ext cx="29064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Spark Avancé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Analyse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pic>
        <p:nvPicPr>
          <p:cNvPr id="12" name="Image 11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2E6698BC-47B7-0035-A30B-07E4D74BE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696" y="1422768"/>
            <a:ext cx="1833563" cy="1033463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9971AD4C-61B2-E54F-348A-AD68E0D8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42" y="208193"/>
            <a:ext cx="1679880" cy="872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99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10A95A0-53DE-E2CE-4E14-43866D0C249D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Tout le support d’exercice est constitué de la même manière: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objectifs de l’exercice: quel est l’intérêt de l’exercice ?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Un descriptif global des étapes à réaliser qui doit permettre de faire l’exercice en connaissant les notions abordées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 résultat de l’exercice sous forme de copies d’’écran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La correction de l’exercice étape par étape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grpSp>
        <p:nvGrpSpPr>
          <p:cNvPr id="43" name="Google Shape;229;p17">
            <a:extLst>
              <a:ext uri="{FF2B5EF4-FFF2-40B4-BE49-F238E27FC236}">
                <a16:creationId xmlns:a16="http://schemas.microsoft.com/office/drawing/2014/main" id="{8050A46D-E5DF-230C-1D3D-C45C7E91D88C}"/>
              </a:ext>
            </a:extLst>
          </p:cNvPr>
          <p:cNvGrpSpPr/>
          <p:nvPr/>
        </p:nvGrpSpPr>
        <p:grpSpPr>
          <a:xfrm>
            <a:off x="253089" y="58794"/>
            <a:ext cx="3073828" cy="952920"/>
            <a:chOff x="457200" y="3624815"/>
            <a:chExt cx="3073828" cy="952920"/>
          </a:xfrm>
          <a:solidFill>
            <a:srgbClr val="E89D06"/>
          </a:solidFill>
        </p:grpSpPr>
        <p:sp>
          <p:nvSpPr>
            <p:cNvPr id="46" name="Google Shape;230;p17">
              <a:extLst>
                <a:ext uri="{FF2B5EF4-FFF2-40B4-BE49-F238E27FC236}">
                  <a16:creationId xmlns:a16="http://schemas.microsoft.com/office/drawing/2014/main" id="{15404E31-4A3C-09C1-2702-844D6EC923CB}"/>
                </a:ext>
              </a:extLst>
            </p:cNvPr>
            <p:cNvSpPr/>
            <p:nvPr/>
          </p:nvSpPr>
          <p:spPr>
            <a:xfrm>
              <a:off x="932635" y="3624815"/>
              <a:ext cx="2598393" cy="952920"/>
            </a:xfrm>
            <a:custGeom>
              <a:avLst/>
              <a:gdLst/>
              <a:ahLst/>
              <a:cxnLst/>
              <a:rect l="l" t="t" r="r" b="b"/>
              <a:pathLst>
                <a:path w="12451" h="8780" extrusionOk="0">
                  <a:moveTo>
                    <a:pt x="0" y="0"/>
                  </a:moveTo>
                  <a:lnTo>
                    <a:pt x="0" y="8780"/>
                  </a:lnTo>
                  <a:lnTo>
                    <a:pt x="12101" y="8780"/>
                  </a:lnTo>
                  <a:cubicBezTo>
                    <a:pt x="12289" y="8780"/>
                    <a:pt x="12451" y="8618"/>
                    <a:pt x="12451" y="8428"/>
                  </a:cubicBezTo>
                  <a:lnTo>
                    <a:pt x="12451" y="378"/>
                  </a:lnTo>
                  <a:cubicBezTo>
                    <a:pt x="12451" y="162"/>
                    <a:pt x="12289" y="0"/>
                    <a:pt x="12101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85725" dist="57150" dir="1200000" algn="bl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31;p17">
              <a:extLst>
                <a:ext uri="{FF2B5EF4-FFF2-40B4-BE49-F238E27FC236}">
                  <a16:creationId xmlns:a16="http://schemas.microsoft.com/office/drawing/2014/main" id="{9721E7DF-0628-6CA8-3F7B-6A37732AFEBB}"/>
                </a:ext>
              </a:extLst>
            </p:cNvPr>
            <p:cNvSpPr/>
            <p:nvPr/>
          </p:nvSpPr>
          <p:spPr>
            <a:xfrm>
              <a:off x="457200" y="3624815"/>
              <a:ext cx="530346" cy="952920"/>
            </a:xfrm>
            <a:custGeom>
              <a:avLst/>
              <a:gdLst/>
              <a:ahLst/>
              <a:cxnLst/>
              <a:rect l="l" t="t" r="r" b="b"/>
              <a:pathLst>
                <a:path w="3325" h="6646" extrusionOk="0">
                  <a:moveTo>
                    <a:pt x="3324" y="1"/>
                  </a:moveTo>
                  <a:cubicBezTo>
                    <a:pt x="1488" y="1"/>
                    <a:pt x="1" y="1487"/>
                    <a:pt x="1" y="3324"/>
                  </a:cubicBezTo>
                  <a:cubicBezTo>
                    <a:pt x="1" y="5161"/>
                    <a:pt x="1488" y="6645"/>
                    <a:pt x="3324" y="6645"/>
                  </a:cubicBezTo>
                  <a:lnTo>
                    <a:pt x="3324" y="1"/>
                  </a:lnTo>
                  <a:close/>
                </a:path>
              </a:pathLst>
            </a:custGeom>
            <a:grpFill/>
            <a:ln>
              <a:noFill/>
            </a:ln>
            <a:effectLst>
              <a:outerShdw blurRad="71438" dist="57150" dir="114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32;p17">
              <a:extLst>
                <a:ext uri="{FF2B5EF4-FFF2-40B4-BE49-F238E27FC236}">
                  <a16:creationId xmlns:a16="http://schemas.microsoft.com/office/drawing/2014/main" id="{64BC68AD-6A69-B568-F712-AF19EEB78275}"/>
                </a:ext>
              </a:extLst>
            </p:cNvPr>
            <p:cNvSpPr txBox="1"/>
            <p:nvPr/>
          </p:nvSpPr>
          <p:spPr>
            <a:xfrm>
              <a:off x="602635" y="3912335"/>
              <a:ext cx="330000" cy="387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+</a:t>
              </a:r>
              <a:endParaRPr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0EC7B5A5-E640-1B4A-17B0-914F60AD1A58}"/>
              </a:ext>
            </a:extLst>
          </p:cNvPr>
          <p:cNvSpPr txBox="1"/>
          <p:nvPr/>
        </p:nvSpPr>
        <p:spPr>
          <a:xfrm>
            <a:off x="824976" y="311564"/>
            <a:ext cx="2977376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Organisation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4C3097B-0D2C-CB46-8829-E0A26E71B7D5}"/>
              </a:ext>
            </a:extLst>
          </p:cNvPr>
          <p:cNvSpPr txBox="1"/>
          <p:nvPr/>
        </p:nvSpPr>
        <p:spPr>
          <a:xfrm>
            <a:off x="3363493" y="335199"/>
            <a:ext cx="560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900"/>
              </a:spcBef>
            </a:pPr>
            <a:r>
              <a:rPr lang="fr-FR" sz="2000" b="1" dirty="0">
                <a:solidFill>
                  <a:srgbClr val="ED7D31"/>
                </a:solidFill>
                <a:latin typeface="Arial Unicode MS"/>
              </a:rPr>
              <a:t>Organisation des exercices</a:t>
            </a:r>
          </a:p>
        </p:txBody>
      </p:sp>
    </p:spTree>
    <p:extLst>
      <p:ext uri="{BB962C8B-B14F-4D97-AF65-F5344CB8AC3E}">
        <p14:creationId xmlns:p14="http://schemas.microsoft.com/office/powerpoint/2010/main" val="1764122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285A8-1E79-2C5E-AB8F-0B2EB25CE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70931-77E8-608B-9FE2-E3846FA9E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0501"/>
            <a:ext cx="5898832" cy="1915909"/>
          </a:xfrm>
        </p:spPr>
        <p:txBody>
          <a:bodyPr/>
          <a:lstStyle/>
          <a:p>
            <a:pPr>
              <a:spcBef>
                <a:spcPts val="900"/>
              </a:spcBef>
            </a:pPr>
            <a:r>
              <a:rPr lang="fr-FR" dirty="0"/>
              <a:t>Etapes</a:t>
            </a:r>
          </a:p>
          <a:p>
            <a:pPr>
              <a:spcBef>
                <a:spcPts val="900"/>
              </a:spcBef>
            </a:pPr>
            <a:r>
              <a:rPr lang="fr-FR" dirty="0"/>
              <a:t>Affecter 2g à l’</a:t>
            </a:r>
            <a:r>
              <a:rPr lang="fr-FR" dirty="0" err="1"/>
              <a:t>executor</a:t>
            </a:r>
            <a:endParaRPr lang="fr-FR" dirty="0"/>
          </a:p>
          <a:p>
            <a:pPr>
              <a:spcBef>
                <a:spcPts val="900"/>
              </a:spcBef>
            </a:pPr>
            <a:endParaRPr lang="fr-FR" sz="1350" b="1" dirty="0">
              <a:latin typeface="Calibri Light" panose="020F0302020204030204" pitchFamily="34" charset="0"/>
              <a:ea typeface="DengXian Light" panose="0201060003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900"/>
              </a:spcBef>
            </a:pPr>
            <a:endParaRPr lang="fr-FR" sz="1350" b="1" dirty="0">
              <a:latin typeface="Calibri Light" panose="020F0302020204030204" pitchFamily="34" charset="0"/>
              <a:ea typeface="DengXian Light" panose="0201060003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900"/>
              </a:spcBef>
            </a:pPr>
            <a:endParaRPr lang="fr-FR" sz="13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fr-FR" dirty="0"/>
              <a:t>Importer les fonctions nécessaires</a:t>
            </a:r>
          </a:p>
        </p:txBody>
      </p:sp>
      <p:sp>
        <p:nvSpPr>
          <p:cNvPr id="5" name="Google Shape;230;p17">
            <a:extLst>
              <a:ext uri="{FF2B5EF4-FFF2-40B4-BE49-F238E27FC236}">
                <a16:creationId xmlns:a16="http://schemas.microsoft.com/office/drawing/2014/main" id="{DD6F651F-15BB-509E-D1A1-8CD0B9447F7D}"/>
              </a:ext>
            </a:extLst>
          </p:cNvPr>
          <p:cNvSpPr/>
          <p:nvPr/>
        </p:nvSpPr>
        <p:spPr>
          <a:xfrm>
            <a:off x="728524" y="58794"/>
            <a:ext cx="7657193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31;p17">
            <a:extLst>
              <a:ext uri="{FF2B5EF4-FFF2-40B4-BE49-F238E27FC236}">
                <a16:creationId xmlns:a16="http://schemas.microsoft.com/office/drawing/2014/main" id="{59AE2D03-A289-6A59-8346-20620520A76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32;p17">
            <a:extLst>
              <a:ext uri="{FF2B5EF4-FFF2-40B4-BE49-F238E27FC236}">
                <a16:creationId xmlns:a16="http://schemas.microsoft.com/office/drawing/2014/main" id="{941DA010-58A4-3A9C-67F4-C0DD9AA22A2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9437B7F-1D5A-D768-00F2-EFE097443237}"/>
              </a:ext>
            </a:extLst>
          </p:cNvPr>
          <p:cNvSpPr txBox="1"/>
          <p:nvPr/>
        </p:nvSpPr>
        <p:spPr>
          <a:xfrm>
            <a:off x="824976" y="311564"/>
            <a:ext cx="5048000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TP : Analyse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CE4F6D-476D-F615-2B76-7E352FA85778}"/>
              </a:ext>
            </a:extLst>
          </p:cNvPr>
          <p:cNvSpPr/>
          <p:nvPr/>
        </p:nvSpPr>
        <p:spPr>
          <a:xfrm>
            <a:off x="1348430" y="1810362"/>
            <a:ext cx="6957370" cy="66520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#Incrémenter la taille mémoire de l'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executeur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, car nous traitons un volume important de données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spark.sparkContext.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setSystemProperty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spark.executor.memory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"2g"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025DB1-FCFB-DA4C-C742-23A8DE29150D}"/>
              </a:ext>
            </a:extLst>
          </p:cNvPr>
          <p:cNvSpPr/>
          <p:nvPr/>
        </p:nvSpPr>
        <p:spPr>
          <a:xfrm>
            <a:off x="1348429" y="3061062"/>
            <a:ext cx="6957369" cy="101193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pyspark.sql.functions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pyspark.ml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seaborn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sns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pyspark.sql.types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*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matplotlib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pyplot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plt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8049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3071B-E2A4-DF6A-BAAC-AF9C31F4D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F61C5-5EFF-204B-93EC-74598436F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0501"/>
            <a:ext cx="5898832" cy="669414"/>
          </a:xfrm>
        </p:spPr>
        <p:txBody>
          <a:bodyPr/>
          <a:lstStyle/>
          <a:p>
            <a:pPr>
              <a:spcBef>
                <a:spcPts val="900"/>
              </a:spcBef>
            </a:pPr>
            <a:r>
              <a:rPr lang="fr-FR" dirty="0"/>
              <a:t>Etapes</a:t>
            </a:r>
          </a:p>
          <a:p>
            <a:pPr>
              <a:spcBef>
                <a:spcPts val="900"/>
              </a:spcBef>
            </a:pPr>
            <a:r>
              <a:rPr lang="fr-FR" dirty="0"/>
              <a:t>Définir un modèle ML de régression linéaire. </a:t>
            </a:r>
          </a:p>
        </p:txBody>
      </p:sp>
      <p:sp>
        <p:nvSpPr>
          <p:cNvPr id="5" name="Google Shape;230;p17">
            <a:extLst>
              <a:ext uri="{FF2B5EF4-FFF2-40B4-BE49-F238E27FC236}">
                <a16:creationId xmlns:a16="http://schemas.microsoft.com/office/drawing/2014/main" id="{A06A8040-A150-E5B5-7EF3-839316545B4A}"/>
              </a:ext>
            </a:extLst>
          </p:cNvPr>
          <p:cNvSpPr/>
          <p:nvPr/>
        </p:nvSpPr>
        <p:spPr>
          <a:xfrm>
            <a:off x="728524" y="58794"/>
            <a:ext cx="7657193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31;p17">
            <a:extLst>
              <a:ext uri="{FF2B5EF4-FFF2-40B4-BE49-F238E27FC236}">
                <a16:creationId xmlns:a16="http://schemas.microsoft.com/office/drawing/2014/main" id="{70CC148B-AF85-3BE9-21BD-5E2CB2582C49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32;p17">
            <a:extLst>
              <a:ext uri="{FF2B5EF4-FFF2-40B4-BE49-F238E27FC236}">
                <a16:creationId xmlns:a16="http://schemas.microsoft.com/office/drawing/2014/main" id="{49DDFC89-2B29-2461-40F8-2BDB1608E8B3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638B771-EB4F-5D26-B340-2EB5AE1AC41B}"/>
              </a:ext>
            </a:extLst>
          </p:cNvPr>
          <p:cNvSpPr txBox="1"/>
          <p:nvPr/>
        </p:nvSpPr>
        <p:spPr>
          <a:xfrm>
            <a:off x="824976" y="311564"/>
            <a:ext cx="5048000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TP : Analyse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89C440-C141-1911-C010-ED3CF5F542EA}"/>
              </a:ext>
            </a:extLst>
          </p:cNvPr>
          <p:cNvSpPr/>
          <p:nvPr/>
        </p:nvSpPr>
        <p:spPr>
          <a:xfrm>
            <a:off x="818547" y="1798702"/>
            <a:ext cx="7816022" cy="32588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C678DD"/>
                </a:solidFill>
                <a:effectLst/>
                <a:latin typeface="+mj-lt"/>
              </a:rPr>
              <a:t>def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train_prime_auto_model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feature_cols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show_dist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= </a:t>
            </a:r>
            <a:r>
              <a:rPr lang="fr-FR" sz="1200" b="0" dirty="0" err="1">
                <a:solidFill>
                  <a:srgbClr val="D19A66"/>
                </a:solidFill>
                <a:effectLst/>
                <a:latin typeface="+mj-lt"/>
              </a:rPr>
              <a:t>False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label_col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+mj-lt"/>
              </a:rPr>
              <a:t>prime_tot_ttc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+mj-lt"/>
              </a:rPr>
              <a:t>va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+mj-lt"/>
              </a:rPr>
              <a:t>ml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.feature.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VectorAssembler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().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setInputCols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feature_cols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setOutputCol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+mj-lt"/>
              </a:rPr>
              <a:t>features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data_v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va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transform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(data)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train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,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test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data_v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randomSplit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([</a:t>
            </a:r>
            <a:r>
              <a:rPr lang="fr-FR" sz="1200" b="0" dirty="0">
                <a:solidFill>
                  <a:srgbClr val="D19A66"/>
                </a:solidFill>
                <a:effectLst/>
                <a:latin typeface="+mj-lt"/>
              </a:rPr>
              <a:t>0.70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,</a:t>
            </a:r>
            <a:r>
              <a:rPr lang="fr-FR" sz="1200" b="0" dirty="0">
                <a:solidFill>
                  <a:srgbClr val="D19A66"/>
                </a:solidFill>
                <a:effectLst/>
                <a:latin typeface="+mj-lt"/>
              </a:rPr>
              <a:t>0.30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],</a:t>
            </a:r>
            <a:r>
              <a:rPr lang="fr-FR" sz="1200" b="0" dirty="0">
                <a:solidFill>
                  <a:srgbClr val="D19A66"/>
                </a:solidFill>
                <a:effectLst/>
                <a:latin typeface="+mj-lt"/>
              </a:rPr>
              <a:t>10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model_trainer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+mj-lt"/>
              </a:rPr>
              <a:t>ml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.regression.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LinearRegression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featuresCol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+mj-lt"/>
              </a:rPr>
              <a:t>features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labelCol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label_col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predictionCol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+mj-lt"/>
              </a:rPr>
              <a:t>predictions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 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model_trainer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fit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>
                <a:solidFill>
                  <a:srgbClr val="E06C75"/>
                </a:solidFill>
                <a:effectLst/>
                <a:latin typeface="+mj-lt"/>
              </a:rPr>
              <a:t>train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predictions_train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transform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>
                <a:solidFill>
                  <a:srgbClr val="E06C75"/>
                </a:solidFill>
                <a:effectLst/>
                <a:latin typeface="+mj-lt"/>
              </a:rPr>
              <a:t>train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predictions_test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transform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>
                <a:solidFill>
                  <a:srgbClr val="E06C75"/>
                </a:solidFill>
                <a:effectLst/>
                <a:latin typeface="+mj-lt"/>
              </a:rPr>
              <a:t>test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evaluator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+mj-lt"/>
              </a:rPr>
              <a:t>ml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.evaluation.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RegressionEvaluator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predictionCol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+mj-lt"/>
              </a:rPr>
              <a:t>predictions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labelCol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label_col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metricName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+mj-lt"/>
              </a:rPr>
              <a:t>mae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train_score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evaluator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evaluate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predictions_train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test_score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evaluator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evaluate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predictions_test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>
                <a:solidFill>
                  <a:srgbClr val="C678DD"/>
                </a:solidFill>
                <a:effectLst/>
                <a:latin typeface="+mj-lt"/>
              </a:rPr>
              <a:t>if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show_dist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errorsdf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predictions_test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select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+mj-lt"/>
              </a:rPr>
              <a:t>f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abs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+mj-lt"/>
              </a:rPr>
              <a:t>f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col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+mj-lt"/>
              </a:rPr>
              <a:t>label_col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-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+mj-lt"/>
              </a:rPr>
              <a:t>f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col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+mj-lt"/>
              </a:rPr>
              <a:t>predictions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))).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toPandas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   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+mj-lt"/>
              </a:rPr>
              <a:t>sns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histplot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errorsdf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+mj-lt"/>
              </a:rPr>
              <a:t>print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"Train 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+mj-lt"/>
              </a:rPr>
              <a:t>error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D19A66"/>
                </a:solidFill>
                <a:effectLst/>
                <a:latin typeface="+mj-lt"/>
              </a:rPr>
              <a:t>%f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. Test 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+mj-lt"/>
              </a:rPr>
              <a:t>error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=</a:t>
            </a:r>
            <a:r>
              <a:rPr lang="fr-FR" sz="1200" b="0" dirty="0">
                <a:solidFill>
                  <a:srgbClr val="D19A66"/>
                </a:solidFill>
                <a:effectLst/>
                <a:latin typeface="+mj-lt"/>
              </a:rPr>
              <a:t>%f</a:t>
            </a:r>
            <a:r>
              <a:rPr lang="fr-FR" sz="12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200" b="0" dirty="0">
                <a:solidFill>
                  <a:srgbClr val="56B6C2"/>
                </a:solidFill>
                <a:effectLst/>
                <a:latin typeface="+mj-lt"/>
              </a:rPr>
              <a:t>%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train_score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+mj-lt"/>
              </a:rPr>
              <a:t>,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+mj-lt"/>
              </a:rPr>
              <a:t>test_score</a:t>
            </a:r>
            <a:r>
              <a:rPr lang="fr-FR" sz="1200" b="0" dirty="0">
                <a:solidFill>
                  <a:srgbClr val="ABB2BF"/>
                </a:solidFill>
                <a:effectLst/>
                <a:latin typeface="+mj-lt"/>
              </a:rPr>
              <a:t>))    </a:t>
            </a:r>
          </a:p>
        </p:txBody>
      </p:sp>
    </p:spTree>
    <p:extLst>
      <p:ext uri="{BB962C8B-B14F-4D97-AF65-F5344CB8AC3E}">
        <p14:creationId xmlns:p14="http://schemas.microsoft.com/office/powerpoint/2010/main" val="2271411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45AA-EBEF-5C32-5460-23F0B58BF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2DAF2-0ED7-F875-FE5D-116054C70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0501"/>
            <a:ext cx="7718502" cy="4201150"/>
          </a:xfrm>
        </p:spPr>
        <p:txBody>
          <a:bodyPr/>
          <a:lstStyle/>
          <a:p>
            <a:pPr>
              <a:spcBef>
                <a:spcPts val="900"/>
              </a:spcBef>
            </a:pPr>
            <a:r>
              <a:rPr lang="fr-FR" dirty="0"/>
              <a:t>Etapes</a:t>
            </a:r>
          </a:p>
          <a:p>
            <a:pPr>
              <a:spcBef>
                <a:spcPts val="900"/>
              </a:spcBef>
            </a:pPr>
            <a:r>
              <a:rPr lang="fr-FR" dirty="0"/>
              <a:t>Récupérer le modèle sauvegardé lors de l’exploration</a:t>
            </a:r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r>
              <a:rPr lang="fr-FR" dirty="0"/>
              <a:t>Extraire le département:</a:t>
            </a:r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r>
              <a:rPr lang="fr-FR" dirty="0"/>
              <a:t>Créer des classes [0..5000], [5000..10000] … sur le kilométrage annuel</a:t>
            </a:r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r>
              <a:rPr lang="fr-FR" dirty="0"/>
              <a:t>Même chose sur l’ancienne du véhicule</a:t>
            </a:r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r>
              <a:rPr lang="fr-FR" dirty="0"/>
              <a:t>. </a:t>
            </a:r>
          </a:p>
        </p:txBody>
      </p:sp>
      <p:sp>
        <p:nvSpPr>
          <p:cNvPr id="5" name="Google Shape;230;p17">
            <a:extLst>
              <a:ext uri="{FF2B5EF4-FFF2-40B4-BE49-F238E27FC236}">
                <a16:creationId xmlns:a16="http://schemas.microsoft.com/office/drawing/2014/main" id="{F9324E7F-EA5C-79C8-E039-87D2A63E0C93}"/>
              </a:ext>
            </a:extLst>
          </p:cNvPr>
          <p:cNvSpPr/>
          <p:nvPr/>
        </p:nvSpPr>
        <p:spPr>
          <a:xfrm>
            <a:off x="728524" y="58794"/>
            <a:ext cx="7657193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31;p17">
            <a:extLst>
              <a:ext uri="{FF2B5EF4-FFF2-40B4-BE49-F238E27FC236}">
                <a16:creationId xmlns:a16="http://schemas.microsoft.com/office/drawing/2014/main" id="{DFE47764-3327-8DB1-7FC2-77FC5B3A46F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32;p17">
            <a:extLst>
              <a:ext uri="{FF2B5EF4-FFF2-40B4-BE49-F238E27FC236}">
                <a16:creationId xmlns:a16="http://schemas.microsoft.com/office/drawing/2014/main" id="{239E1E9F-D371-931A-7B12-41CF3D646F8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17E783E-C1F3-85E0-05D2-42E42810ECC2}"/>
              </a:ext>
            </a:extLst>
          </p:cNvPr>
          <p:cNvSpPr txBox="1"/>
          <p:nvPr/>
        </p:nvSpPr>
        <p:spPr>
          <a:xfrm>
            <a:off x="824976" y="311564"/>
            <a:ext cx="5048000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TP : Analyse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C29431-8A99-13C9-70BD-6992E0D1278D}"/>
              </a:ext>
            </a:extLst>
          </p:cNvPr>
          <p:cNvSpPr/>
          <p:nvPr/>
        </p:nvSpPr>
        <p:spPr>
          <a:xfrm>
            <a:off x="818547" y="1737743"/>
            <a:ext cx="7974932" cy="4105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récupérer le modèle sauvegardé précédemment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spark.read.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parquet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"file:///data/data_prime_auto_propre"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A40010-7F17-A76D-5050-C2F4A45A209F}"/>
              </a:ext>
            </a:extLst>
          </p:cNvPr>
          <p:cNvSpPr/>
          <p:nvPr/>
        </p:nvSpPr>
        <p:spPr>
          <a:xfrm>
            <a:off x="818546" y="2522748"/>
            <a:ext cx="7974933" cy="4105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withColumn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departement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,(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codepostal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codepostal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08F097-CE28-F90D-312F-2AF9780A28DE}"/>
              </a:ext>
            </a:extLst>
          </p:cNvPr>
          <p:cNvSpPr/>
          <p:nvPr/>
        </p:nvSpPr>
        <p:spPr>
          <a:xfrm>
            <a:off x="774244" y="3307753"/>
            <a:ext cx="7974932" cy="6622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.feature.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Bucketizer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inputCol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"kmage_annuel"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outputCol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"kmage_annuel_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bkt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splits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15000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500000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E78746-EB67-E4A8-2EA4-F1EC23DC5753}"/>
              </a:ext>
            </a:extLst>
          </p:cNvPr>
          <p:cNvSpPr/>
          <p:nvPr/>
        </p:nvSpPr>
        <p:spPr>
          <a:xfrm>
            <a:off x="774244" y="4489502"/>
            <a:ext cx="7974933" cy="5952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.feature.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Bucketizer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inputCol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"anc_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veh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outputCol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"anc_veh_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bkt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splits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8787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0C3AA-E7EF-7AC3-5E98-0E1F21D86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285E3-CDAE-FB3E-61DA-821EBF8E8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0501"/>
            <a:ext cx="7718502" cy="1846659"/>
          </a:xfrm>
        </p:spPr>
        <p:txBody>
          <a:bodyPr/>
          <a:lstStyle/>
          <a:p>
            <a:pPr>
              <a:spcBef>
                <a:spcPts val="900"/>
              </a:spcBef>
            </a:pPr>
            <a:r>
              <a:rPr lang="fr-FR" dirty="0"/>
              <a:t>Etapes</a:t>
            </a:r>
          </a:p>
          <a:p>
            <a:pPr>
              <a:spcBef>
                <a:spcPts val="900"/>
              </a:spcBef>
            </a:pPr>
            <a:r>
              <a:rPr lang="fr-FR" dirty="0"/>
              <a:t>Index et Encode </a:t>
            </a:r>
            <a:r>
              <a:rPr lang="fr-FR" dirty="0" err="1"/>
              <a:t>OneHotEncode</a:t>
            </a:r>
            <a:r>
              <a:rPr lang="fr-FR" dirty="0"/>
              <a:t> sur les colonnes </a:t>
            </a:r>
          </a:p>
          <a:p>
            <a:pPr>
              <a:spcBef>
                <a:spcPts val="900"/>
              </a:spcBef>
            </a:pPr>
            <a:r>
              <a:rPr lang="fr-FR" dirty="0"/>
              <a:t>["</a:t>
            </a:r>
            <a:r>
              <a:rPr lang="fr-FR" dirty="0" err="1"/>
              <a:t>codepostal</a:t>
            </a:r>
            <a:r>
              <a:rPr lang="fr-FR" dirty="0"/>
              <a:t>","energie_</a:t>
            </a:r>
            <a:r>
              <a:rPr lang="fr-FR" dirty="0" err="1"/>
              <a:t>veh</a:t>
            </a:r>
            <a:r>
              <a:rPr lang="fr-FR" dirty="0"/>
              <a:t>","marque","pays","</a:t>
            </a:r>
            <a:r>
              <a:rPr lang="fr-FR" dirty="0" err="1"/>
              <a:t>departement</a:t>
            </a:r>
            <a:r>
              <a:rPr lang="fr-FR" dirty="0"/>
              <a:t>"]</a:t>
            </a:r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r>
              <a:rPr lang="fr-FR" dirty="0"/>
              <a:t>. </a:t>
            </a:r>
          </a:p>
        </p:txBody>
      </p:sp>
      <p:sp>
        <p:nvSpPr>
          <p:cNvPr id="5" name="Google Shape;230;p17">
            <a:extLst>
              <a:ext uri="{FF2B5EF4-FFF2-40B4-BE49-F238E27FC236}">
                <a16:creationId xmlns:a16="http://schemas.microsoft.com/office/drawing/2014/main" id="{E2143DBC-EAF8-05F7-A85F-FA04227F4441}"/>
              </a:ext>
            </a:extLst>
          </p:cNvPr>
          <p:cNvSpPr/>
          <p:nvPr/>
        </p:nvSpPr>
        <p:spPr>
          <a:xfrm>
            <a:off x="728524" y="58794"/>
            <a:ext cx="7657193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31;p17">
            <a:extLst>
              <a:ext uri="{FF2B5EF4-FFF2-40B4-BE49-F238E27FC236}">
                <a16:creationId xmlns:a16="http://schemas.microsoft.com/office/drawing/2014/main" id="{187EFD29-E7C6-DA88-1AA4-731F4B6EA4A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32;p17">
            <a:extLst>
              <a:ext uri="{FF2B5EF4-FFF2-40B4-BE49-F238E27FC236}">
                <a16:creationId xmlns:a16="http://schemas.microsoft.com/office/drawing/2014/main" id="{7F036BE1-8597-F48A-A76A-984ECE70B28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DC591C0-59E7-9D12-8F12-F973CCA27B42}"/>
              </a:ext>
            </a:extLst>
          </p:cNvPr>
          <p:cNvSpPr txBox="1"/>
          <p:nvPr/>
        </p:nvSpPr>
        <p:spPr>
          <a:xfrm>
            <a:off x="824976" y="311564"/>
            <a:ext cx="5048000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TP : Analyse des données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8AC584F-EE7C-7563-5E14-78BD2766071A}"/>
              </a:ext>
            </a:extLst>
          </p:cNvPr>
          <p:cNvSpPr/>
          <p:nvPr/>
        </p:nvSpPr>
        <p:spPr>
          <a:xfrm>
            <a:off x="824976" y="2286955"/>
            <a:ext cx="7974932" cy="201650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cat_cols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codepostal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"energie_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veh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"marque"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"pays"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departement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cc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cat_cols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indexer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.feature.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StringIndexer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inputCol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cc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outputCol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cc</a:t>
            </a:r>
            <a:r>
              <a:rPr lang="fr-FR" sz="1200" b="0" dirty="0" err="1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"_i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indexer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fit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cc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cat_cols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indexer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.feature.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OneHotEncoder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inputCol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cc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"_i"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outputCol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cc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"_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ohe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indexer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fit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49517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21DC6-2D84-3873-C624-774A08FE0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A028A-8B13-96E5-1F4D-89A39618D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0501"/>
            <a:ext cx="7718502" cy="2239074"/>
          </a:xfrm>
        </p:spPr>
        <p:txBody>
          <a:bodyPr/>
          <a:lstStyle/>
          <a:p>
            <a:pPr>
              <a:spcBef>
                <a:spcPts val="900"/>
              </a:spcBef>
            </a:pPr>
            <a:r>
              <a:rPr lang="fr-FR" dirty="0"/>
              <a:t>Etapes</a:t>
            </a:r>
          </a:p>
          <a:p>
            <a:pPr>
              <a:spcBef>
                <a:spcPts val="900"/>
              </a:spcBef>
            </a:pPr>
            <a:r>
              <a:rPr lang="fr-FR" dirty="0"/>
              <a:t>Créer un ensemble pour stocker les résultats</a:t>
            </a:r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r>
              <a:rPr lang="fr-FR" dirty="0"/>
              <a:t>Entraine le modèle sur les colonnes suivantes:</a:t>
            </a:r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r>
              <a:rPr lang="fr-FR" dirty="0"/>
              <a:t>. </a:t>
            </a:r>
          </a:p>
        </p:txBody>
      </p:sp>
      <p:sp>
        <p:nvSpPr>
          <p:cNvPr id="5" name="Google Shape;230;p17">
            <a:extLst>
              <a:ext uri="{FF2B5EF4-FFF2-40B4-BE49-F238E27FC236}">
                <a16:creationId xmlns:a16="http://schemas.microsoft.com/office/drawing/2014/main" id="{02D49094-695C-86F6-9FF7-73EA83BF13F2}"/>
              </a:ext>
            </a:extLst>
          </p:cNvPr>
          <p:cNvSpPr/>
          <p:nvPr/>
        </p:nvSpPr>
        <p:spPr>
          <a:xfrm>
            <a:off x="728524" y="58794"/>
            <a:ext cx="7657193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31;p17">
            <a:extLst>
              <a:ext uri="{FF2B5EF4-FFF2-40B4-BE49-F238E27FC236}">
                <a16:creationId xmlns:a16="http://schemas.microsoft.com/office/drawing/2014/main" id="{98D4CF1B-4174-5035-9575-FB77A2D8B07F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32;p17">
            <a:extLst>
              <a:ext uri="{FF2B5EF4-FFF2-40B4-BE49-F238E27FC236}">
                <a16:creationId xmlns:a16="http://schemas.microsoft.com/office/drawing/2014/main" id="{3E0BE38D-6F30-51E8-5A8C-20BACF40B84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55E4742-A75F-9E29-E9E4-3C1629109C95}"/>
              </a:ext>
            </a:extLst>
          </p:cNvPr>
          <p:cNvSpPr txBox="1"/>
          <p:nvPr/>
        </p:nvSpPr>
        <p:spPr>
          <a:xfrm>
            <a:off x="824976" y="311564"/>
            <a:ext cx="5048000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TP : Analyse des données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AC19F7-5FE6-B2D6-8C39-95FBEBC941D1}"/>
              </a:ext>
            </a:extLst>
          </p:cNvPr>
          <p:cNvSpPr/>
          <p:nvPr/>
        </p:nvSpPr>
        <p:spPr>
          <a:xfrm>
            <a:off x="838200" y="1797623"/>
            <a:ext cx="7974932" cy="26758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{}</a:t>
            </a:r>
          </a:p>
        </p:txBody>
      </p:sp>
    </p:spTree>
    <p:extLst>
      <p:ext uri="{BB962C8B-B14F-4D97-AF65-F5344CB8AC3E}">
        <p14:creationId xmlns:p14="http://schemas.microsoft.com/office/powerpoint/2010/main" val="2906603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B6A43-D2A2-B2DD-6299-FFE5CC1E5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DB5B3-3C35-24D4-FB79-551F32D0D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0501"/>
            <a:ext cx="7718502" cy="1454244"/>
          </a:xfrm>
        </p:spPr>
        <p:txBody>
          <a:bodyPr/>
          <a:lstStyle/>
          <a:p>
            <a:pPr>
              <a:spcBef>
                <a:spcPts val="900"/>
              </a:spcBef>
            </a:pPr>
            <a:r>
              <a:rPr lang="fr-FR" dirty="0"/>
              <a:t>Entrainement du modèle</a:t>
            </a:r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r>
              <a:rPr lang="fr-FR" dirty="0"/>
              <a:t>. </a:t>
            </a:r>
          </a:p>
        </p:txBody>
      </p:sp>
      <p:sp>
        <p:nvSpPr>
          <p:cNvPr id="5" name="Google Shape;230;p17">
            <a:extLst>
              <a:ext uri="{FF2B5EF4-FFF2-40B4-BE49-F238E27FC236}">
                <a16:creationId xmlns:a16="http://schemas.microsoft.com/office/drawing/2014/main" id="{FDCD3EF5-3895-F4A5-129F-EA7906F74C56}"/>
              </a:ext>
            </a:extLst>
          </p:cNvPr>
          <p:cNvSpPr/>
          <p:nvPr/>
        </p:nvSpPr>
        <p:spPr>
          <a:xfrm>
            <a:off x="728524" y="58794"/>
            <a:ext cx="7657193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31;p17">
            <a:extLst>
              <a:ext uri="{FF2B5EF4-FFF2-40B4-BE49-F238E27FC236}">
                <a16:creationId xmlns:a16="http://schemas.microsoft.com/office/drawing/2014/main" id="{42A214F7-C494-5AA1-1B4F-EEBC5A9C291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32;p17">
            <a:extLst>
              <a:ext uri="{FF2B5EF4-FFF2-40B4-BE49-F238E27FC236}">
                <a16:creationId xmlns:a16="http://schemas.microsoft.com/office/drawing/2014/main" id="{E040C07B-ABE0-20BF-0DF9-3325024C7D0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1696186-AD0A-DFFF-E420-FE5F13C77317}"/>
              </a:ext>
            </a:extLst>
          </p:cNvPr>
          <p:cNvSpPr txBox="1"/>
          <p:nvPr/>
        </p:nvSpPr>
        <p:spPr>
          <a:xfrm>
            <a:off x="824976" y="311564"/>
            <a:ext cx="5048000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TP : Analyse des données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D40919-1D10-1590-E422-66CB46DBBCAF}"/>
              </a:ext>
            </a:extLst>
          </p:cNvPr>
          <p:cNvSpPr/>
          <p:nvPr/>
        </p:nvSpPr>
        <p:spPr>
          <a:xfrm>
            <a:off x="0" y="1398342"/>
            <a:ext cx="9165974" cy="356766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"String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Indexing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train_prime_auto_model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'annee_naissance'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'annee_permis'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'puis_fiscale'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'anc_veh'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'kmage_annuel'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'crm'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'var1'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'codepostal_i'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'energie_veh_i'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marque_i</a:t>
            </a:r>
            <a:r>
              <a:rPr lang="fr-FR" sz="1000" dirty="0">
                <a:solidFill>
                  <a:srgbClr val="98C379"/>
                </a:solidFill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"String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Indexing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- sans var1"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train_prime_auto_model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'annee_naissance'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'annee_permis'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'puis_fiscale'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'anc_veh'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'kmage_annuel'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'crm'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#var1,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   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'codepostal_i'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'energie_veh_i'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marque_i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"String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Indexing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- Remplacement de marque par pays"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train_prime_auto_model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'annee_naissance'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'annee_permis'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'puis_fiscale'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'anc_veh'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'kmage_annuel'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'crm'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#'var1',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'codepostal_i'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'energie_veh_i'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marque_i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pays_i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"String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Indexing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- One hot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encoding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- pas de code postal"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train_prime_auto_model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'annee_naissance'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'annee_permis'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'puis_fiscale'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'anc_veh'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'kmage_annuel'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'crm'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#'var1',#'codepostal_i',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'energie_veh_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ohe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marque_i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pays_ohe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dirty="0">
                <a:solidFill>
                  <a:srgbClr val="ABB2BF"/>
                </a:solidFill>
                <a:latin typeface="Consolas" panose="020B0609020204030204" pitchFamily="49" charset="0"/>
              </a:rPr>
              <a:t>… suite page suivante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69351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56E4C-D525-C9D2-E28E-68B2A918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9BE7D-6CDF-1D74-0A1D-D1FBDEC9B6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0501"/>
            <a:ext cx="7718502" cy="1454244"/>
          </a:xfrm>
        </p:spPr>
        <p:txBody>
          <a:bodyPr/>
          <a:lstStyle/>
          <a:p>
            <a:pPr>
              <a:spcBef>
                <a:spcPts val="900"/>
              </a:spcBef>
            </a:pPr>
            <a:r>
              <a:rPr lang="fr-FR" dirty="0"/>
              <a:t>Suite …</a:t>
            </a:r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r>
              <a:rPr lang="fr-FR" dirty="0"/>
              <a:t>. </a:t>
            </a:r>
          </a:p>
        </p:txBody>
      </p:sp>
      <p:sp>
        <p:nvSpPr>
          <p:cNvPr id="5" name="Google Shape;230;p17">
            <a:extLst>
              <a:ext uri="{FF2B5EF4-FFF2-40B4-BE49-F238E27FC236}">
                <a16:creationId xmlns:a16="http://schemas.microsoft.com/office/drawing/2014/main" id="{240012EE-6F60-4508-4BFD-CE855A88DFB8}"/>
              </a:ext>
            </a:extLst>
          </p:cNvPr>
          <p:cNvSpPr/>
          <p:nvPr/>
        </p:nvSpPr>
        <p:spPr>
          <a:xfrm>
            <a:off x="728524" y="58794"/>
            <a:ext cx="7657193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31;p17">
            <a:extLst>
              <a:ext uri="{FF2B5EF4-FFF2-40B4-BE49-F238E27FC236}">
                <a16:creationId xmlns:a16="http://schemas.microsoft.com/office/drawing/2014/main" id="{379A544B-BF94-D818-4B70-19ED750B20E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32;p17">
            <a:extLst>
              <a:ext uri="{FF2B5EF4-FFF2-40B4-BE49-F238E27FC236}">
                <a16:creationId xmlns:a16="http://schemas.microsoft.com/office/drawing/2014/main" id="{15A6E024-AFE6-6B61-D9B9-15E64F2CD79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638F616-38D3-6761-B279-B2F9725EE4CF}"/>
              </a:ext>
            </a:extLst>
          </p:cNvPr>
          <p:cNvSpPr txBox="1"/>
          <p:nvPr/>
        </p:nvSpPr>
        <p:spPr>
          <a:xfrm>
            <a:off x="824976" y="311564"/>
            <a:ext cx="5048000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TP : Analyse des données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ADC394-0F94-7654-AC92-36C4CB07CB08}"/>
              </a:ext>
            </a:extLst>
          </p:cNvPr>
          <p:cNvSpPr/>
          <p:nvPr/>
        </p:nvSpPr>
        <p:spPr>
          <a:xfrm>
            <a:off x="253089" y="1336706"/>
            <a:ext cx="8764531" cy="363673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"String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Indexing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- One hot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encoding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departement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ohe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train_prime_auto_model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'annee_naissance'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'annee_permis'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'puis_fiscale'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'anc_veh'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'kmage_annuel'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'crm'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#'var1',#'codepostal_i',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'departement_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ohe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'energie_veh_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ohe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marque_i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pays_ohe</a:t>
            </a:r>
            <a:r>
              <a:rPr lang="fr-FR" sz="1000" dirty="0">
                <a:solidFill>
                  <a:srgbClr val="98C379"/>
                </a:solidFill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endParaRPr lang="fr-FR" sz="1000" b="0" dirty="0">
              <a:solidFill>
                <a:srgbClr val="E06C75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"String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Indexing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Kmage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Annuel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Bkt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train_prime_auto_model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'annee_naissance'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'annee_permis'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'puis_fiscale'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'anc_veh'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#'kmage_annuel',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'kmage_annuel_bkt'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'crm'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#'var1',#'codepostal_i',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'departement_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ohe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'energie_veh_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ohe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marque_i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pays_ohe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"String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Indexing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anc_veh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BKT"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train_prime_auto_model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'annee_naissance'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'annee_permis'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'puis_fiscale'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anc_veh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'anc_veh_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bkt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kmage_annuel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'kmage_annuel_bkt'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'crm'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#'var1',#'codepostal_i',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'departement_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ohe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'energie_veh_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ohe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#'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marque_i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',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                                       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pays_ohe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118418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ACBB6-3298-03B7-2B47-94B224D11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9259D-FD85-CB11-219A-A6C84CC5CD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0501"/>
            <a:ext cx="7718502" cy="1454244"/>
          </a:xfrm>
        </p:spPr>
        <p:txBody>
          <a:bodyPr/>
          <a:lstStyle/>
          <a:p>
            <a:pPr>
              <a:spcBef>
                <a:spcPts val="900"/>
              </a:spcBef>
            </a:pPr>
            <a:r>
              <a:rPr lang="fr-FR" dirty="0"/>
              <a:t>Résultat:</a:t>
            </a:r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endParaRPr lang="fr-FR" dirty="0"/>
          </a:p>
          <a:p>
            <a:pPr>
              <a:spcBef>
                <a:spcPts val="900"/>
              </a:spcBef>
            </a:pPr>
            <a:r>
              <a:rPr lang="fr-FR" dirty="0"/>
              <a:t>. </a:t>
            </a:r>
          </a:p>
        </p:txBody>
      </p:sp>
      <p:sp>
        <p:nvSpPr>
          <p:cNvPr id="5" name="Google Shape;230;p17">
            <a:extLst>
              <a:ext uri="{FF2B5EF4-FFF2-40B4-BE49-F238E27FC236}">
                <a16:creationId xmlns:a16="http://schemas.microsoft.com/office/drawing/2014/main" id="{B583D2E7-DD50-A57A-8AB0-3CE4EBD49A2F}"/>
              </a:ext>
            </a:extLst>
          </p:cNvPr>
          <p:cNvSpPr/>
          <p:nvPr/>
        </p:nvSpPr>
        <p:spPr>
          <a:xfrm>
            <a:off x="728524" y="58794"/>
            <a:ext cx="7657193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31;p17">
            <a:extLst>
              <a:ext uri="{FF2B5EF4-FFF2-40B4-BE49-F238E27FC236}">
                <a16:creationId xmlns:a16="http://schemas.microsoft.com/office/drawing/2014/main" id="{AB0F695F-60BC-FE3C-82F4-7BE5EB2FD4D9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32;p17">
            <a:extLst>
              <a:ext uri="{FF2B5EF4-FFF2-40B4-BE49-F238E27FC236}">
                <a16:creationId xmlns:a16="http://schemas.microsoft.com/office/drawing/2014/main" id="{BF5E4B41-1BC2-1931-5C05-5B7C53BB3DD2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C0D7B62-F4C4-07FA-9A5E-2144C92D229F}"/>
              </a:ext>
            </a:extLst>
          </p:cNvPr>
          <p:cNvSpPr txBox="1"/>
          <p:nvPr/>
        </p:nvSpPr>
        <p:spPr>
          <a:xfrm>
            <a:off x="824976" y="311564"/>
            <a:ext cx="5048000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TP : Analyse des données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C0B44C6-31B9-5472-F1E7-A8CB8E562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37" y="1512560"/>
            <a:ext cx="7565480" cy="3319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304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5" t="869" r="11671"/>
          <a:stretch/>
        </p:blipFill>
        <p:spPr>
          <a:xfrm>
            <a:off x="4431282" y="-7974"/>
            <a:ext cx="4718608" cy="51355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11625" y="932"/>
            <a:ext cx="8138265" cy="5143500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7" name="Parallélogramme 6"/>
          <p:cNvSpPr/>
          <p:nvPr/>
        </p:nvSpPr>
        <p:spPr>
          <a:xfrm>
            <a:off x="-1634180" y="-5770"/>
            <a:ext cx="7690701" cy="5135525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124" y="2162390"/>
            <a:ext cx="3304125" cy="2579399"/>
          </a:xfrm>
          <a:prstGeom prst="rect">
            <a:avLst/>
          </a:prstGeom>
        </p:spPr>
      </p:pic>
      <p:sp>
        <p:nvSpPr>
          <p:cNvPr id="12" name="Titre 1"/>
          <p:cNvSpPr>
            <a:spLocks noGrp="1"/>
          </p:cNvSpPr>
          <p:nvPr>
            <p:ph type="ctrTitle" idx="4294967295"/>
          </p:nvPr>
        </p:nvSpPr>
        <p:spPr>
          <a:xfrm>
            <a:off x="5971273" y="2636568"/>
            <a:ext cx="2393946" cy="1751965"/>
          </a:xfrm>
        </p:spPr>
        <p:txBody>
          <a:bodyPr>
            <a:normAutofit fontScale="90000"/>
          </a:bodyPr>
          <a:lstStyle/>
          <a:p>
            <a:pPr algn="ctr"/>
            <a:r>
              <a:rPr lang="fr-FR" sz="2700">
                <a:solidFill>
                  <a:schemeClr val="bg1"/>
                </a:solidFill>
                <a:latin typeface="Agency FB" panose="020B0503020202020204" pitchFamily="34" charset="0"/>
                <a:ea typeface="+mn-ea"/>
                <a:cs typeface="+mn-cs"/>
              </a:rPr>
              <a:t>Suivez-Nous</a:t>
            </a:r>
            <a:br>
              <a:rPr lang="fr-FR">
                <a:solidFill>
                  <a:schemeClr val="bg1"/>
                </a:solidFill>
              </a:rPr>
            </a:br>
            <a:br>
              <a:rPr lang="fr-FR">
                <a:solidFill>
                  <a:schemeClr val="bg1"/>
                </a:solidFill>
              </a:rPr>
            </a:b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  <a:hlinkClick r:id="rId5"/>
              </a:rPr>
              <a:t>www.mgt-conseils.com</a:t>
            </a: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</a:rPr>
              <a:t>contact@mgt-conseils.com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619" y="496808"/>
            <a:ext cx="3489311" cy="300082"/>
          </a:xfrm>
          <a:prstGeom prst="rect">
            <a:avLst/>
          </a:prstGeom>
        </p:spPr>
        <p:txBody>
          <a:bodyPr wrap="square" lIns="68580" tIns="34290" rIns="68580" bIns="34290" anchor="t">
            <a:spAutoFit/>
          </a:bodyPr>
          <a:lstStyle/>
          <a:p>
            <a:r>
              <a:rPr lang="fr-FR" sz="1500" b="1">
                <a:solidFill>
                  <a:srgbClr val="0070C0"/>
                </a:solidFill>
                <a:latin typeface="Agency FB"/>
              </a:rPr>
              <a:t> </a:t>
            </a:r>
            <a:r>
              <a:rPr lang="fr-FR" sz="1500" b="1">
                <a:solidFill>
                  <a:srgbClr val="F89A33"/>
                </a:solidFill>
                <a:latin typeface="Agency FB"/>
              </a:rPr>
              <a:t>| Direction Commerciale</a:t>
            </a:r>
            <a:endParaRPr lang="fr-FR" sz="1500">
              <a:latin typeface="Agency FB"/>
            </a:endParaRPr>
          </a:p>
        </p:txBody>
      </p:sp>
      <p:sp>
        <p:nvSpPr>
          <p:cNvPr id="22" name="ZoneTexte 21"/>
          <p:cNvSpPr txBox="1"/>
          <p:nvPr/>
        </p:nvSpPr>
        <p:spPr>
          <a:xfrm>
            <a:off x="450011" y="794581"/>
            <a:ext cx="2639741" cy="300082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/>
              </a:rPr>
              <a:t>business@mgt-conseils.com </a:t>
            </a:r>
            <a:endParaRPr lang="fr-FR" sz="1500">
              <a:solidFill>
                <a:srgbClr val="676D72"/>
              </a:solidFill>
              <a:latin typeface="Agency FB" panose="020B0503020202020204" pitchFamily="34" charset="0"/>
            </a:endParaRPr>
          </a:p>
        </p:txBody>
      </p:sp>
      <p:sp>
        <p:nvSpPr>
          <p:cNvPr id="25" name="Titre 1"/>
          <p:cNvSpPr txBox="1">
            <a:spLocks/>
          </p:cNvSpPr>
          <p:nvPr/>
        </p:nvSpPr>
        <p:spPr>
          <a:xfrm>
            <a:off x="4667449" y="4706090"/>
            <a:ext cx="5001596" cy="549984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825">
                <a:solidFill>
                  <a:schemeClr val="bg1"/>
                </a:solidFill>
              </a:rPr>
              <a:t>SARL au capital de 50 300 € - SIRET 479 638 462 00032 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871474"/>
            <a:ext cx="146399" cy="14639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59972" y="1314543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Paris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451364" y="1626848"/>
            <a:ext cx="26397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+331 47 20 67 63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Les Champs Elysées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104 Rue du Faubourg Saint - Honoré, 75008 Paris</a:t>
            </a:r>
          </a:p>
        </p:txBody>
      </p:sp>
      <p:pic>
        <p:nvPicPr>
          <p:cNvPr id="34" name="Image 3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79" y="1699834"/>
            <a:ext cx="146399" cy="146399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45868" y="2674542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Abidjan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0" name="ZoneTexte 39"/>
          <p:cNvSpPr txBox="1"/>
          <p:nvPr/>
        </p:nvSpPr>
        <p:spPr>
          <a:xfrm>
            <a:off x="437260" y="2986846"/>
            <a:ext cx="280687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+225 05 06 75 01 01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Résidence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Palazzo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Posillipo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Cocody - Danga,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BP 10 367, Abidjan 01</a:t>
            </a:r>
          </a:p>
        </p:txBody>
      </p:sp>
      <p:pic>
        <p:nvPicPr>
          <p:cNvPr id="41" name="Image 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75" y="3059832"/>
            <a:ext cx="146399" cy="14639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42717" y="3838560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Bénin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3" name="ZoneTexte 42"/>
          <p:cNvSpPr txBox="1"/>
          <p:nvPr/>
        </p:nvSpPr>
        <p:spPr>
          <a:xfrm>
            <a:off x="434109" y="4150864"/>
            <a:ext cx="305456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+229 90 55 10 55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Akpakpa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Rés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. JR d’Adèle,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Cotonou</a:t>
            </a:r>
          </a:p>
        </p:txBody>
      </p:sp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4223850"/>
            <a:ext cx="146399" cy="146399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2" y="1946622"/>
            <a:ext cx="141499" cy="141499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4460988"/>
            <a:ext cx="141499" cy="141499"/>
          </a:xfrm>
          <a:prstGeom prst="rect">
            <a:avLst/>
          </a:prstGeom>
        </p:spPr>
      </p:pic>
      <p:pic>
        <p:nvPicPr>
          <p:cNvPr id="46" name="Image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3343186"/>
            <a:ext cx="141499" cy="141499"/>
          </a:xfrm>
          <a:prstGeom prst="rect">
            <a:avLst/>
          </a:prstGeom>
        </p:spPr>
      </p:pic>
      <p:grpSp>
        <p:nvGrpSpPr>
          <p:cNvPr id="16" name="Groupe 15"/>
          <p:cNvGrpSpPr/>
          <p:nvPr/>
        </p:nvGrpSpPr>
        <p:grpSpPr>
          <a:xfrm>
            <a:off x="5935935" y="3045995"/>
            <a:ext cx="2471907" cy="660017"/>
            <a:chOff x="7953078" y="4393803"/>
            <a:chExt cx="3295876" cy="880023"/>
          </a:xfrm>
        </p:grpSpPr>
        <p:grpSp>
          <p:nvGrpSpPr>
            <p:cNvPr id="13" name="Groupe 12"/>
            <p:cNvGrpSpPr/>
            <p:nvPr/>
          </p:nvGrpSpPr>
          <p:grpSpPr>
            <a:xfrm>
              <a:off x="7953078" y="4393803"/>
              <a:ext cx="1235024" cy="880023"/>
              <a:chOff x="7708552" y="4387991"/>
              <a:chExt cx="1235024" cy="880023"/>
            </a:xfrm>
          </p:grpSpPr>
          <p:pic>
            <p:nvPicPr>
              <p:cNvPr id="4" name="Image 3"/>
              <p:cNvPicPr>
                <a:picLocks noChangeAspect="1"/>
              </p:cNvPicPr>
              <p:nvPr/>
            </p:nvPicPr>
            <p:blipFill>
              <a:blip r:embed="rId9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53043" y="4387991"/>
                <a:ext cx="346041" cy="346041"/>
              </a:xfrm>
              <a:prstGeom prst="rect">
                <a:avLst/>
              </a:prstGeom>
            </p:spPr>
          </p:pic>
          <p:sp>
            <p:nvSpPr>
              <p:cNvPr id="47" name="Titre 1"/>
              <p:cNvSpPr txBox="1">
                <a:spLocks/>
              </p:cNvSpPr>
              <p:nvPr/>
            </p:nvSpPr>
            <p:spPr>
              <a:xfrm>
                <a:off x="7708552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MGT.Conseils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" name="Groupe 13"/>
            <p:cNvGrpSpPr/>
            <p:nvPr/>
          </p:nvGrpSpPr>
          <p:grpSpPr>
            <a:xfrm>
              <a:off x="8943789" y="4426916"/>
              <a:ext cx="1235024" cy="840134"/>
              <a:chOff x="8704148" y="4427880"/>
              <a:chExt cx="1235024" cy="840134"/>
            </a:xfrm>
          </p:grpSpPr>
          <p:pic>
            <p:nvPicPr>
              <p:cNvPr id="6" name="Image 5"/>
              <p:cNvPicPr>
                <a:picLocks noChangeAspect="1"/>
              </p:cNvPicPr>
              <p:nvPr/>
            </p:nvPicPr>
            <p:blipFill>
              <a:blip r:embed="rId10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3910" y="4427880"/>
                <a:ext cx="349810" cy="349810"/>
              </a:xfrm>
              <a:prstGeom prst="rect">
                <a:avLst/>
              </a:prstGeom>
            </p:spPr>
          </p:pic>
          <p:sp>
            <p:nvSpPr>
              <p:cNvPr id="49" name="Titre 1"/>
              <p:cNvSpPr txBox="1">
                <a:spLocks/>
              </p:cNvSpPr>
              <p:nvPr/>
            </p:nvSpPr>
            <p:spPr>
              <a:xfrm>
                <a:off x="8704148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</a:t>
                </a:r>
                <a:r>
                  <a:rPr lang="fr-FR" sz="825">
                    <a:solidFill>
                      <a:schemeClr val="bg1"/>
                    </a:solidFill>
                  </a:rPr>
                  <a:t>-conseils</a:t>
                </a:r>
              </a:p>
            </p:txBody>
          </p:sp>
        </p:grpSp>
        <p:grpSp>
          <p:nvGrpSpPr>
            <p:cNvPr id="15" name="Groupe 14"/>
            <p:cNvGrpSpPr/>
            <p:nvPr/>
          </p:nvGrpSpPr>
          <p:grpSpPr>
            <a:xfrm>
              <a:off x="10013930" y="4426197"/>
              <a:ext cx="1235024" cy="840853"/>
              <a:chOff x="9613248" y="4415593"/>
              <a:chExt cx="1235024" cy="840853"/>
            </a:xfrm>
          </p:grpSpPr>
          <p:pic>
            <p:nvPicPr>
              <p:cNvPr id="9" name="Image 8"/>
              <p:cNvPicPr>
                <a:picLocks noChangeAspect="1"/>
              </p:cNvPicPr>
              <p:nvPr/>
            </p:nvPicPr>
            <p:blipFill>
              <a:blip r:embed="rId11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153" y="4415593"/>
                <a:ext cx="347214" cy="347214"/>
              </a:xfrm>
              <a:prstGeom prst="rect">
                <a:avLst/>
              </a:prstGeom>
            </p:spPr>
          </p:pic>
          <p:sp>
            <p:nvSpPr>
              <p:cNvPr id="51" name="Titre 1"/>
              <p:cNvSpPr txBox="1">
                <a:spLocks/>
              </p:cNvSpPr>
              <p:nvPr/>
            </p:nvSpPr>
            <p:spPr>
              <a:xfrm>
                <a:off x="9613248" y="4523134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@</a:t>
                </a:r>
                <a:r>
                  <a:rPr lang="fr-FR" sz="825" err="1">
                    <a:solidFill>
                      <a:schemeClr val="bg1"/>
                    </a:solidFill>
                  </a:rPr>
                  <a:t>MGTConseils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10192631-2D34-469C-A952-3B55768F581D}"/>
              </a:ext>
            </a:extLst>
          </p:cNvPr>
          <p:cNvSpPr txBox="1"/>
          <p:nvPr/>
        </p:nvSpPr>
        <p:spPr>
          <a:xfrm>
            <a:off x="6020136" y="501821"/>
            <a:ext cx="2784985" cy="1569660"/>
          </a:xfrm>
          <a:prstGeom prst="rect">
            <a:avLst/>
          </a:prstGeom>
          <a:noFill/>
        </p:spPr>
        <p:txBody>
          <a:bodyPr vert="horz" wrap="square" rtlCol="0" anchor="ctr" anchorCtr="0">
            <a:spAutoFit/>
          </a:bodyPr>
          <a:lstStyle/>
          <a:p>
            <a:pPr algn="ctr"/>
            <a:r>
              <a:rPr lang="fr-FR" sz="3200" b="1">
                <a:solidFill>
                  <a:schemeClr val="bg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Merci pour votre attention </a:t>
            </a:r>
          </a:p>
        </p:txBody>
      </p:sp>
    </p:spTree>
    <p:extLst>
      <p:ext uri="{BB962C8B-B14F-4D97-AF65-F5344CB8AC3E}">
        <p14:creationId xmlns:p14="http://schemas.microsoft.com/office/powerpoint/2010/main" val="78251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eca01c-4ea5-40c8-83fd-b296bd340025">
      <UserInfo>
        <DisplayName>Abir GUENICH - Ingénieure d’affaire</DisplayName>
        <AccountId>246</AccountId>
        <AccountType/>
      </UserInfo>
    </SharedWithUsers>
    <_activity xmlns="6f1b3788-58c0-46a5-9604-64d97c7fc47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419B1710D3DF4A9DAA9ADF73C802B5" ma:contentTypeVersion="14" ma:contentTypeDescription="Crée un document." ma:contentTypeScope="" ma:versionID="d45f398bd182fafaec1e6b20d8a38b6f">
  <xsd:schema xmlns:xsd="http://www.w3.org/2001/XMLSchema" xmlns:xs="http://www.w3.org/2001/XMLSchema" xmlns:p="http://schemas.microsoft.com/office/2006/metadata/properties" xmlns:ns3="6f1b3788-58c0-46a5-9604-64d97c7fc47c" xmlns:ns4="73eca01c-4ea5-40c8-83fd-b296bd340025" targetNamespace="http://schemas.microsoft.com/office/2006/metadata/properties" ma:root="true" ma:fieldsID="de746a5257d740f042749d495693305b" ns3:_="" ns4:_="">
    <xsd:import namespace="6f1b3788-58c0-46a5-9604-64d97c7fc47c"/>
    <xsd:import namespace="73eca01c-4ea5-40c8-83fd-b296bd34002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b3788-58c0-46a5-9604-64d97c7fc4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eca01c-4ea5-40c8-83fd-b296bd3400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BAA46D8-DF31-4768-AD82-8F485C82E64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0C00205-F11F-4D61-9572-D162BE7CE022}">
  <ds:schemaRefs>
    <ds:schemaRef ds:uri="http://schemas.microsoft.com/office/infopath/2007/PartnerControls"/>
    <ds:schemaRef ds:uri="http://purl.org/dc/terms/"/>
    <ds:schemaRef ds:uri="http://purl.org/dc/elements/1.1/"/>
    <ds:schemaRef ds:uri="6f1b3788-58c0-46a5-9604-64d97c7fc47c"/>
    <ds:schemaRef ds:uri="73eca01c-4ea5-40c8-83fd-b296bd340025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13D40C7A-64C6-4B3B-A1B6-9CB64BC75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b3788-58c0-46a5-9604-64d97c7fc47c"/>
    <ds:schemaRef ds:uri="73eca01c-4ea5-40c8-83fd-b296bd3400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3515</TotalTime>
  <Words>1335</Words>
  <Application>Microsoft Office PowerPoint</Application>
  <PresentationFormat>Affichage à l'écran (16:9)</PresentationFormat>
  <Paragraphs>160</Paragraphs>
  <Slides>11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13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25" baseType="lpstr">
      <vt:lpstr>Abadi Extra Light</vt:lpstr>
      <vt:lpstr>Arial UNICODE MS</vt:lpstr>
      <vt:lpstr>Arial UNICODE MS</vt:lpstr>
      <vt:lpstr>FUTURA MEDIUM</vt:lpstr>
      <vt:lpstr>Agency FB</vt:lpstr>
      <vt:lpstr>Calibri</vt:lpstr>
      <vt:lpstr>Calibri Light</vt:lpstr>
      <vt:lpstr>Consolas</vt:lpstr>
      <vt:lpstr>Ebrima</vt:lpstr>
      <vt:lpstr>Roboto</vt:lpstr>
      <vt:lpstr>Trebuchet MS</vt:lpstr>
      <vt:lpstr>Verdana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Suivez-Nous   www.mgt-conseils.com contact@mgt-conseils.com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Groupe  DataValue Consulting</dc:title>
  <dc:creator>Conrad GBAGUIDI</dc:creator>
  <cp:lastModifiedBy>Denis ARGOUARCH</cp:lastModifiedBy>
  <cp:revision>183</cp:revision>
  <dcterms:created xsi:type="dcterms:W3CDTF">2021-01-18T11:01:50Z</dcterms:created>
  <dcterms:modified xsi:type="dcterms:W3CDTF">2026-09-29T13:25:02Z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2020-03-16T00:00:00Z</vt:filetime>
  </property>
  <property fmtid="{D5CDD505-2E9C-101B-9397-08002B2CF9AE}" pid="3" name="LastSaved">
    <vt:filetime>2021-01-18T00:00:00Z</vt:filetime>
  </property>
  <property fmtid="{D5CDD505-2E9C-101B-9397-08002B2CF9AE}" pid="4" name="ContentTypeId">
    <vt:lpwstr>0x01010058419B1710D3DF4A9DAA9ADF73C802B5</vt:lpwstr>
  </property>
  <property fmtid="{D5CDD505-2E9C-101B-9397-08002B2CF9AE}" pid="5" name="MediaServiceImageTags">
    <vt:lpwstr/>
  </property>
</Properties>
</file>