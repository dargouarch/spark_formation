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sldIdLst>
    <p:sldId id="263" r:id="rId5"/>
    <p:sldId id="2134807190" r:id="rId6"/>
    <p:sldId id="2134807191" r:id="rId7"/>
    <p:sldId id="2134807192" r:id="rId8"/>
    <p:sldId id="2134807193" r:id="rId9"/>
    <p:sldId id="2134807194" r:id="rId10"/>
    <p:sldId id="2134807195" r:id="rId11"/>
    <p:sldId id="2134807197" r:id="rId12"/>
    <p:sldId id="2134807196" r:id="rId13"/>
    <p:sldId id="2134807198" r:id="rId14"/>
    <p:sldId id="269" r:id="rId15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20/12/2025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5064A-24D9-2B9D-AFEE-171D5EE06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E38F3-8B49-53A2-B9AE-6D853DCE2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70403-8848-3298-6583-9148E8C4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907BD-E715-FBB8-80B4-29B4F4D82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5719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DE2F-D265-CFB0-20F1-082B7154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B12EF-4861-C688-60B3-86A3B3D13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AEE1B-352F-52E3-060D-A61C413F5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37985-6F9F-232E-EDE5-FB6DC94BE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2019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B5D3-C391-8F22-E317-C4B56AD15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800F6-B889-8C73-F51F-20C2A330D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048B0-50C6-77AA-82A5-0C7539237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2C45-2A9D-68B8-A85B-82260A721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213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1D46-F85F-E6EE-BD4F-CB6AAEBF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57EB0-C021-8273-CA63-9401C9DBD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2A2A0-9032-E78D-3ACE-EF2F5192B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1413D-C5DA-170A-2906-311379537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85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DACC8-A4E6-ADEC-B4EF-C9D073EE4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2C8B63-795F-ADEC-165F-614F1FF5B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072DD-21B3-EF5C-C199-4773C4886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FC43F-5146-677E-2CB3-B0D26BFFC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0057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37B4-135F-1E2D-D63E-58170C9C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4D2F5-553B-D908-EF20-920A1C2A3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E221B-99B1-8A9B-B452-1B315CB38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2BE84-8034-BE31-0F88-06D21F84F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067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21189-9789-AFCF-CDA8-F2512C5D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97087-7288-1E1D-B1F4-519E8F90E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AE2C1-F606-E7EF-6E8E-35B6FD64B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B3DD8-3046-AD09-E4E3-5B0AC910C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976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08835-3854-A90E-18B9-274BBB58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B249B-395A-F4A3-EAC9-31FD32D21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8DFAD-213D-E69E-0CFF-D9FC0C2C1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5A441-0A60-1CA7-4096-1EE79DB6D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E322D-64CC-F34A-90D4-13BB939FB9F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013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20/12/2025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12.png"/><Relationship Id="rId4" Type="http://schemas.openxmlformats.org/officeDocument/2006/relationships/image" Target="../media/image7.emf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Intégration </a:t>
            </a:r>
            <a:r>
              <a:rPr kumimoji="0" lang="fr-FR" b="1" i="0" u="none" strike="noStrike" kern="1200" cap="none" spc="0" normalizeH="0" baseline="0" noProof="0" dirty="0" err="1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Kaf</a:t>
            </a:r>
            <a:r>
              <a:rPr lang="fr-FR" b="1" dirty="0">
                <a:solidFill>
                  <a:srgbClr val="17375E"/>
                </a:solidFill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9971AD4C-61B2-E54F-348A-AD68E0D81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42" y="208193"/>
            <a:ext cx="1679880" cy="8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285A8-1E79-2C5E-AB8F-0B2EB25C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0931-77E8-608B-9FE2-E3846FA9E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501"/>
            <a:ext cx="5898832" cy="1915909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fr-FR" dirty="0"/>
              <a:t>Etapes</a:t>
            </a:r>
          </a:p>
          <a:p>
            <a:pPr>
              <a:spcBef>
                <a:spcPts val="900"/>
              </a:spcBef>
            </a:pPr>
            <a:r>
              <a:rPr lang="fr-FR" dirty="0"/>
              <a:t>Affecter 2g à l’</a:t>
            </a:r>
            <a:r>
              <a:rPr lang="fr-FR" dirty="0" err="1"/>
              <a:t>executor</a:t>
            </a:r>
            <a:endParaRPr lang="fr-FR" dirty="0"/>
          </a:p>
          <a:p>
            <a:pPr>
              <a:spcBef>
                <a:spcPts val="900"/>
              </a:spcBef>
            </a:pPr>
            <a:endParaRPr lang="fr-FR" sz="1350" b="1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</a:pPr>
            <a:endParaRPr lang="fr-FR" sz="1350" b="1" dirty="0">
              <a:latin typeface="Calibri Light" panose="020F03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</a:pPr>
            <a:endParaRPr lang="fr-FR" sz="13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dirty="0"/>
              <a:t>Importer les fonctions nécessaires</a:t>
            </a:r>
          </a:p>
        </p:txBody>
      </p:sp>
      <p:sp>
        <p:nvSpPr>
          <p:cNvPr id="5" name="Google Shape;230;p17">
            <a:extLst>
              <a:ext uri="{FF2B5EF4-FFF2-40B4-BE49-F238E27FC236}">
                <a16:creationId xmlns:a16="http://schemas.microsoft.com/office/drawing/2014/main" id="{DD6F651F-15BB-509E-D1A1-8CD0B9447F7D}"/>
              </a:ext>
            </a:extLst>
          </p:cNvPr>
          <p:cNvSpPr/>
          <p:nvPr/>
        </p:nvSpPr>
        <p:spPr>
          <a:xfrm>
            <a:off x="728524" y="58794"/>
            <a:ext cx="7657193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1;p17">
            <a:extLst>
              <a:ext uri="{FF2B5EF4-FFF2-40B4-BE49-F238E27FC236}">
                <a16:creationId xmlns:a16="http://schemas.microsoft.com/office/drawing/2014/main" id="{59AE2D03-A289-6A59-8346-20620520A76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32;p17">
            <a:extLst>
              <a:ext uri="{FF2B5EF4-FFF2-40B4-BE49-F238E27FC236}">
                <a16:creationId xmlns:a16="http://schemas.microsoft.com/office/drawing/2014/main" id="{941DA010-58A4-3A9C-67F4-C0DD9AA22A2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9437B7F-1D5A-D768-00F2-EFE097443237}"/>
              </a:ext>
            </a:extLst>
          </p:cNvPr>
          <p:cNvSpPr txBox="1"/>
          <p:nvPr/>
        </p:nvSpPr>
        <p:spPr>
          <a:xfrm>
            <a:off x="824976" y="311564"/>
            <a:ext cx="504800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Analyse des données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CE4F6D-476D-F615-2B76-7E352FA85778}"/>
              </a:ext>
            </a:extLst>
          </p:cNvPr>
          <p:cNvSpPr/>
          <p:nvPr/>
        </p:nvSpPr>
        <p:spPr>
          <a:xfrm>
            <a:off x="1348430" y="1810362"/>
            <a:ext cx="6957370" cy="6652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#Incrémenter la taille mémoire de l'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executeur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, car nous traitons un volume important de données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spark.sparkContext.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setSystemProperty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spark.executor.memory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"2g"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025DB1-FCFB-DA4C-C742-23A8DE29150D}"/>
              </a:ext>
            </a:extLst>
          </p:cNvPr>
          <p:cNvSpPr/>
          <p:nvPr/>
        </p:nvSpPr>
        <p:spPr>
          <a:xfrm>
            <a:off x="1348429" y="3061062"/>
            <a:ext cx="6957369" cy="10119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pyspark.sql.functions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f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pyspark.ml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seaborn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sns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pyspark.sql.types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*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plt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04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3071B-E2A4-DF6A-BAAC-AF9C31F4D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61C5-5EFF-204B-93EC-74598436F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501"/>
            <a:ext cx="5898832" cy="669414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fr-FR" dirty="0"/>
              <a:t>Etapes</a:t>
            </a:r>
          </a:p>
          <a:p>
            <a:pPr>
              <a:spcBef>
                <a:spcPts val="900"/>
              </a:spcBef>
            </a:pPr>
            <a:r>
              <a:rPr lang="fr-FR" dirty="0"/>
              <a:t>Définir un modèle ML de régression linéaire. </a:t>
            </a:r>
          </a:p>
        </p:txBody>
      </p:sp>
      <p:sp>
        <p:nvSpPr>
          <p:cNvPr id="5" name="Google Shape;230;p17">
            <a:extLst>
              <a:ext uri="{FF2B5EF4-FFF2-40B4-BE49-F238E27FC236}">
                <a16:creationId xmlns:a16="http://schemas.microsoft.com/office/drawing/2014/main" id="{A06A8040-A150-E5B5-7EF3-839316545B4A}"/>
              </a:ext>
            </a:extLst>
          </p:cNvPr>
          <p:cNvSpPr/>
          <p:nvPr/>
        </p:nvSpPr>
        <p:spPr>
          <a:xfrm>
            <a:off x="728524" y="58794"/>
            <a:ext cx="7657193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1;p17">
            <a:extLst>
              <a:ext uri="{FF2B5EF4-FFF2-40B4-BE49-F238E27FC236}">
                <a16:creationId xmlns:a16="http://schemas.microsoft.com/office/drawing/2014/main" id="{70CC148B-AF85-3BE9-21BD-5E2CB2582C4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32;p17">
            <a:extLst>
              <a:ext uri="{FF2B5EF4-FFF2-40B4-BE49-F238E27FC236}">
                <a16:creationId xmlns:a16="http://schemas.microsoft.com/office/drawing/2014/main" id="{49DDFC89-2B29-2461-40F8-2BDB1608E8B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638B771-EB4F-5D26-B340-2EB5AE1AC41B}"/>
              </a:ext>
            </a:extLst>
          </p:cNvPr>
          <p:cNvSpPr txBox="1"/>
          <p:nvPr/>
        </p:nvSpPr>
        <p:spPr>
          <a:xfrm>
            <a:off x="824976" y="311564"/>
            <a:ext cx="504800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Analyse des données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89C440-C141-1911-C010-ED3CF5F542EA}"/>
              </a:ext>
            </a:extLst>
          </p:cNvPr>
          <p:cNvSpPr/>
          <p:nvPr/>
        </p:nvSpPr>
        <p:spPr>
          <a:xfrm>
            <a:off x="818547" y="1798702"/>
            <a:ext cx="7816022" cy="32588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C678DD"/>
                </a:solidFill>
                <a:effectLst/>
                <a:latin typeface="+mj-lt"/>
              </a:rPr>
              <a:t>def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train_prime_auto_model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feature_cols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show_dist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= </a:t>
            </a:r>
            <a:r>
              <a:rPr lang="fr-FR" sz="1200" b="0" dirty="0" err="1">
                <a:solidFill>
                  <a:srgbClr val="D19A66"/>
                </a:solidFill>
                <a:effectLst/>
                <a:latin typeface="+mj-lt"/>
              </a:rPr>
              <a:t>False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label_col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+mj-lt"/>
              </a:rPr>
              <a:t>prime_tot_ttc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+mj-lt"/>
              </a:rPr>
              <a:t>va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+mj-lt"/>
              </a:rPr>
              <a:t>ml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.feature.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VectorAssembler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().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setInputCols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feature_cols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setOutputCol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+mj-lt"/>
              </a:rPr>
              <a:t>features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data_v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va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transform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(data)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train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,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test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data_v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randomSplit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([</a:t>
            </a:r>
            <a:r>
              <a:rPr lang="fr-FR" sz="1200" b="0" dirty="0">
                <a:solidFill>
                  <a:srgbClr val="D19A66"/>
                </a:solidFill>
                <a:effectLst/>
                <a:latin typeface="+mj-lt"/>
              </a:rPr>
              <a:t>0.70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,</a:t>
            </a:r>
            <a:r>
              <a:rPr lang="fr-FR" sz="1200" b="0" dirty="0">
                <a:solidFill>
                  <a:srgbClr val="D19A66"/>
                </a:solidFill>
                <a:effectLst/>
                <a:latin typeface="+mj-lt"/>
              </a:rPr>
              <a:t>0.30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],</a:t>
            </a:r>
            <a:r>
              <a:rPr lang="fr-FR" sz="1200" b="0" dirty="0">
                <a:solidFill>
                  <a:srgbClr val="D19A66"/>
                </a:solidFill>
                <a:effectLst/>
                <a:latin typeface="+mj-lt"/>
              </a:rPr>
              <a:t>10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model_trainer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+mj-lt"/>
              </a:rPr>
              <a:t>ml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.regression.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LinearRegression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featuresCol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+mj-lt"/>
              </a:rPr>
              <a:t>features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labelCol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label_col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predictionCol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+mj-lt"/>
              </a:rPr>
              <a:t>predictions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 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+mj-lt"/>
              </a:rPr>
              <a:t>model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model_trainer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fit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>
                <a:solidFill>
                  <a:srgbClr val="E06C75"/>
                </a:solidFill>
                <a:effectLst/>
                <a:latin typeface="+mj-lt"/>
              </a:rPr>
              <a:t>train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predictions_train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model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transform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>
                <a:solidFill>
                  <a:srgbClr val="E06C75"/>
                </a:solidFill>
                <a:effectLst/>
                <a:latin typeface="+mj-lt"/>
              </a:rPr>
              <a:t>train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predictions_test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model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transform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>
                <a:solidFill>
                  <a:srgbClr val="E06C75"/>
                </a:solidFill>
                <a:effectLst/>
                <a:latin typeface="+mj-lt"/>
              </a:rPr>
              <a:t>test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evaluator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+mj-lt"/>
              </a:rPr>
              <a:t>ml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.evaluation.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RegressionEvaluator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predictionCol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+mj-lt"/>
              </a:rPr>
              <a:t>predictions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labelCol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label_col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metricName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+mj-lt"/>
              </a:rPr>
              <a:t>mae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train_score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evaluator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evaluate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predictions_train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test_score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evaluator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evaluate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predictions_test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>
                <a:solidFill>
                  <a:srgbClr val="C678DD"/>
                </a:solidFill>
                <a:effectLst/>
                <a:latin typeface="+mj-lt"/>
              </a:rPr>
              <a:t>if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show_dist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   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errorsdf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predictions_test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select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+mj-lt"/>
              </a:rPr>
              <a:t>f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abs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+mj-lt"/>
              </a:rPr>
              <a:t>f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col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+mj-lt"/>
              </a:rPr>
              <a:t>label_col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-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+mj-lt"/>
              </a:rPr>
              <a:t>f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col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+mj-lt"/>
              </a:rPr>
              <a:t>predictions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))).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toPandas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   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+mj-lt"/>
              </a:rPr>
              <a:t>sns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histplot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errorsdf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+mj-lt"/>
              </a:rPr>
              <a:t>print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"Train 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+mj-lt"/>
              </a:rPr>
              <a:t>error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D19A66"/>
                </a:solidFill>
                <a:effectLst/>
                <a:latin typeface="+mj-lt"/>
              </a:rPr>
              <a:t>%f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. Test 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+mj-lt"/>
              </a:rPr>
              <a:t>error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=</a:t>
            </a:r>
            <a:r>
              <a:rPr lang="fr-FR" sz="1200" b="0" dirty="0">
                <a:solidFill>
                  <a:srgbClr val="D19A66"/>
                </a:solidFill>
                <a:effectLst/>
                <a:latin typeface="+mj-lt"/>
              </a:rPr>
              <a:t>%f</a:t>
            </a:r>
            <a:r>
              <a:rPr lang="fr-FR" sz="12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200" b="0" dirty="0">
                <a:solidFill>
                  <a:srgbClr val="56B6C2"/>
                </a:solidFill>
                <a:effectLst/>
                <a:latin typeface="+mj-lt"/>
              </a:rPr>
              <a:t>%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train_score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+mj-lt"/>
              </a:rPr>
              <a:t>,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+mj-lt"/>
              </a:rPr>
              <a:t>test_score</a:t>
            </a:r>
            <a:r>
              <a:rPr lang="fr-FR" sz="1200" b="0" dirty="0">
                <a:solidFill>
                  <a:srgbClr val="ABB2BF"/>
                </a:solidFill>
                <a:effectLst/>
                <a:latin typeface="+mj-lt"/>
              </a:rPr>
              <a:t>))    </a:t>
            </a:r>
          </a:p>
        </p:txBody>
      </p:sp>
    </p:spTree>
    <p:extLst>
      <p:ext uri="{BB962C8B-B14F-4D97-AF65-F5344CB8AC3E}">
        <p14:creationId xmlns:p14="http://schemas.microsoft.com/office/powerpoint/2010/main" val="2271411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45AA-EBEF-5C32-5460-23F0B58B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2DAF2-0ED7-F875-FE5D-116054C70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501"/>
            <a:ext cx="7718502" cy="4201150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fr-FR" dirty="0"/>
              <a:t>Etapes</a:t>
            </a:r>
          </a:p>
          <a:p>
            <a:pPr>
              <a:spcBef>
                <a:spcPts val="900"/>
              </a:spcBef>
            </a:pPr>
            <a:r>
              <a:rPr lang="fr-FR" dirty="0"/>
              <a:t>Récupérer le modèle sauvegardé lors de l’exploration</a:t>
            </a:r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r>
              <a:rPr lang="fr-FR" dirty="0"/>
              <a:t>Extraire le département:</a:t>
            </a:r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r>
              <a:rPr lang="fr-FR" dirty="0"/>
              <a:t>Créer des classes [0..5000], [5000..10000] … sur le kilométrage annuel</a:t>
            </a:r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r>
              <a:rPr lang="fr-FR" dirty="0"/>
              <a:t>Même chose sur l’ancienne du véhicule</a:t>
            </a:r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r>
              <a:rPr lang="fr-FR" dirty="0"/>
              <a:t>. </a:t>
            </a:r>
          </a:p>
        </p:txBody>
      </p:sp>
      <p:sp>
        <p:nvSpPr>
          <p:cNvPr id="5" name="Google Shape;230;p17">
            <a:extLst>
              <a:ext uri="{FF2B5EF4-FFF2-40B4-BE49-F238E27FC236}">
                <a16:creationId xmlns:a16="http://schemas.microsoft.com/office/drawing/2014/main" id="{F9324E7F-EA5C-79C8-E039-87D2A63E0C93}"/>
              </a:ext>
            </a:extLst>
          </p:cNvPr>
          <p:cNvSpPr/>
          <p:nvPr/>
        </p:nvSpPr>
        <p:spPr>
          <a:xfrm>
            <a:off x="728524" y="58794"/>
            <a:ext cx="7657193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1;p17">
            <a:extLst>
              <a:ext uri="{FF2B5EF4-FFF2-40B4-BE49-F238E27FC236}">
                <a16:creationId xmlns:a16="http://schemas.microsoft.com/office/drawing/2014/main" id="{DFE47764-3327-8DB1-7FC2-77FC5B3A46F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32;p17">
            <a:extLst>
              <a:ext uri="{FF2B5EF4-FFF2-40B4-BE49-F238E27FC236}">
                <a16:creationId xmlns:a16="http://schemas.microsoft.com/office/drawing/2014/main" id="{239E1E9F-D371-931A-7B12-41CF3D646F8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17E783E-C1F3-85E0-05D2-42E42810ECC2}"/>
              </a:ext>
            </a:extLst>
          </p:cNvPr>
          <p:cNvSpPr txBox="1"/>
          <p:nvPr/>
        </p:nvSpPr>
        <p:spPr>
          <a:xfrm>
            <a:off x="824976" y="311564"/>
            <a:ext cx="504800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Analyse des données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C29431-8A99-13C9-70BD-6992E0D1278D}"/>
              </a:ext>
            </a:extLst>
          </p:cNvPr>
          <p:cNvSpPr/>
          <p:nvPr/>
        </p:nvSpPr>
        <p:spPr>
          <a:xfrm>
            <a:off x="818547" y="1737743"/>
            <a:ext cx="7974932" cy="4105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récupérer le modèle sauvegardé précédemment</a:t>
            </a:r>
            <a:endParaRPr lang="fr-FR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spark.read.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parquet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"file:///data/data_prime_auto_propre"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A40010-7F17-A76D-5050-C2F4A45A209F}"/>
              </a:ext>
            </a:extLst>
          </p:cNvPr>
          <p:cNvSpPr/>
          <p:nvPr/>
        </p:nvSpPr>
        <p:spPr>
          <a:xfrm>
            <a:off x="818546" y="2522748"/>
            <a:ext cx="7974933" cy="4105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withColumn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,(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codepostal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codepostal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08F097-CE28-F90D-312F-2AF9780A28DE}"/>
              </a:ext>
            </a:extLst>
          </p:cNvPr>
          <p:cNvSpPr/>
          <p:nvPr/>
        </p:nvSpPr>
        <p:spPr>
          <a:xfrm>
            <a:off x="774244" y="3307753"/>
            <a:ext cx="7974932" cy="66226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.feature.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Bucketizer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inputCol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"kmage_annuel"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outputCol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"kmage_annuel_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bkt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splits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15000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500000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E78746-EB67-E4A8-2EA4-F1EC23DC5753}"/>
              </a:ext>
            </a:extLst>
          </p:cNvPr>
          <p:cNvSpPr/>
          <p:nvPr/>
        </p:nvSpPr>
        <p:spPr>
          <a:xfrm>
            <a:off x="774244" y="4489502"/>
            <a:ext cx="7974933" cy="59520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.feature.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Bucketizer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inputCol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"anc_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veh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outputCol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"anc_veh_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bkt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splits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8787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0C3AA-E7EF-7AC3-5E98-0E1F21D8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285E3-CDAE-FB3E-61DA-821EBF8E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501"/>
            <a:ext cx="7718502" cy="1846659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fr-FR" dirty="0"/>
              <a:t>Etapes</a:t>
            </a:r>
          </a:p>
          <a:p>
            <a:pPr>
              <a:spcBef>
                <a:spcPts val="900"/>
              </a:spcBef>
            </a:pPr>
            <a:r>
              <a:rPr lang="fr-FR" dirty="0"/>
              <a:t>Index et Encode </a:t>
            </a:r>
            <a:r>
              <a:rPr lang="fr-FR" dirty="0" err="1"/>
              <a:t>OneHotEncode</a:t>
            </a:r>
            <a:r>
              <a:rPr lang="fr-FR" dirty="0"/>
              <a:t> sur les colonnes </a:t>
            </a:r>
          </a:p>
          <a:p>
            <a:pPr>
              <a:spcBef>
                <a:spcPts val="900"/>
              </a:spcBef>
            </a:pPr>
            <a:r>
              <a:rPr lang="fr-FR" dirty="0"/>
              <a:t>["</a:t>
            </a:r>
            <a:r>
              <a:rPr lang="fr-FR" dirty="0" err="1"/>
              <a:t>codepostal</a:t>
            </a:r>
            <a:r>
              <a:rPr lang="fr-FR" dirty="0"/>
              <a:t>","energie_</a:t>
            </a:r>
            <a:r>
              <a:rPr lang="fr-FR" dirty="0" err="1"/>
              <a:t>veh</a:t>
            </a:r>
            <a:r>
              <a:rPr lang="fr-FR" dirty="0"/>
              <a:t>","marque","pays","</a:t>
            </a:r>
            <a:r>
              <a:rPr lang="fr-FR" dirty="0" err="1"/>
              <a:t>departement</a:t>
            </a:r>
            <a:r>
              <a:rPr lang="fr-FR" dirty="0"/>
              <a:t>"]</a:t>
            </a:r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r>
              <a:rPr lang="fr-FR" dirty="0"/>
              <a:t>. </a:t>
            </a:r>
          </a:p>
        </p:txBody>
      </p:sp>
      <p:sp>
        <p:nvSpPr>
          <p:cNvPr id="5" name="Google Shape;230;p17">
            <a:extLst>
              <a:ext uri="{FF2B5EF4-FFF2-40B4-BE49-F238E27FC236}">
                <a16:creationId xmlns:a16="http://schemas.microsoft.com/office/drawing/2014/main" id="{E2143DBC-EAF8-05F7-A85F-FA04227F4441}"/>
              </a:ext>
            </a:extLst>
          </p:cNvPr>
          <p:cNvSpPr/>
          <p:nvPr/>
        </p:nvSpPr>
        <p:spPr>
          <a:xfrm>
            <a:off x="728524" y="58794"/>
            <a:ext cx="7657193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1;p17">
            <a:extLst>
              <a:ext uri="{FF2B5EF4-FFF2-40B4-BE49-F238E27FC236}">
                <a16:creationId xmlns:a16="http://schemas.microsoft.com/office/drawing/2014/main" id="{187EFD29-E7C6-DA88-1AA4-731F4B6EA4A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32;p17">
            <a:extLst>
              <a:ext uri="{FF2B5EF4-FFF2-40B4-BE49-F238E27FC236}">
                <a16:creationId xmlns:a16="http://schemas.microsoft.com/office/drawing/2014/main" id="{7F036BE1-8597-F48A-A76A-984ECE70B28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DC591C0-59E7-9D12-8F12-F973CCA27B42}"/>
              </a:ext>
            </a:extLst>
          </p:cNvPr>
          <p:cNvSpPr txBox="1"/>
          <p:nvPr/>
        </p:nvSpPr>
        <p:spPr>
          <a:xfrm>
            <a:off x="824976" y="311564"/>
            <a:ext cx="504800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Analyse des données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AC584F-EE7C-7563-5E14-78BD2766071A}"/>
              </a:ext>
            </a:extLst>
          </p:cNvPr>
          <p:cNvSpPr/>
          <p:nvPr/>
        </p:nvSpPr>
        <p:spPr>
          <a:xfrm>
            <a:off x="824976" y="2286955"/>
            <a:ext cx="7974932" cy="201650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cat_cols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codepostal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"energie_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veh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"marque"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"pays"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cc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cat_cols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indexer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.feature.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StringIndexer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inputCol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cc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outputCol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cc</a:t>
            </a:r>
            <a:r>
              <a:rPr lang="fr-FR" sz="1200" b="0" dirty="0" err="1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"_i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indexer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cc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cat_cols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indexer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ml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.feature.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OneHotEncoder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inputCol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cc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"_i"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2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outputCol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cc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"_</a:t>
            </a:r>
            <a:r>
              <a:rPr lang="fr-FR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ohe</a:t>
            </a:r>
            <a:r>
              <a:rPr lang="fr-FR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indexer</a:t>
            </a:r>
            <a:r>
              <a:rPr lang="fr-FR" sz="12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r-FR" sz="12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49517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21DC6-2D84-3873-C624-774A08FE0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A028A-8B13-96E5-1F4D-89A39618D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501"/>
            <a:ext cx="7718502" cy="2239074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fr-FR" dirty="0"/>
              <a:t>Etapes</a:t>
            </a:r>
          </a:p>
          <a:p>
            <a:pPr>
              <a:spcBef>
                <a:spcPts val="900"/>
              </a:spcBef>
            </a:pPr>
            <a:r>
              <a:rPr lang="fr-FR" dirty="0"/>
              <a:t>Créer un ensemble pour stocker les résultats</a:t>
            </a:r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r>
              <a:rPr lang="fr-FR" dirty="0"/>
              <a:t>Entraine le modèle sur les colonnes suivantes:</a:t>
            </a:r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r>
              <a:rPr lang="fr-FR" dirty="0"/>
              <a:t>. </a:t>
            </a:r>
          </a:p>
        </p:txBody>
      </p:sp>
      <p:sp>
        <p:nvSpPr>
          <p:cNvPr id="5" name="Google Shape;230;p17">
            <a:extLst>
              <a:ext uri="{FF2B5EF4-FFF2-40B4-BE49-F238E27FC236}">
                <a16:creationId xmlns:a16="http://schemas.microsoft.com/office/drawing/2014/main" id="{02D49094-695C-86F6-9FF7-73EA83BF13F2}"/>
              </a:ext>
            </a:extLst>
          </p:cNvPr>
          <p:cNvSpPr/>
          <p:nvPr/>
        </p:nvSpPr>
        <p:spPr>
          <a:xfrm>
            <a:off x="728524" y="58794"/>
            <a:ext cx="7657193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1;p17">
            <a:extLst>
              <a:ext uri="{FF2B5EF4-FFF2-40B4-BE49-F238E27FC236}">
                <a16:creationId xmlns:a16="http://schemas.microsoft.com/office/drawing/2014/main" id="{98D4CF1B-4174-5035-9575-FB77A2D8B07F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32;p17">
            <a:extLst>
              <a:ext uri="{FF2B5EF4-FFF2-40B4-BE49-F238E27FC236}">
                <a16:creationId xmlns:a16="http://schemas.microsoft.com/office/drawing/2014/main" id="{3E0BE38D-6F30-51E8-5A8C-20BACF40B84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5E4742-A75F-9E29-E9E4-3C1629109C95}"/>
              </a:ext>
            </a:extLst>
          </p:cNvPr>
          <p:cNvSpPr txBox="1"/>
          <p:nvPr/>
        </p:nvSpPr>
        <p:spPr>
          <a:xfrm>
            <a:off x="824976" y="311564"/>
            <a:ext cx="504800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Analyse des données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AC19F7-5FE6-B2D6-8C39-95FBEBC941D1}"/>
              </a:ext>
            </a:extLst>
          </p:cNvPr>
          <p:cNvSpPr/>
          <p:nvPr/>
        </p:nvSpPr>
        <p:spPr>
          <a:xfrm>
            <a:off x="838200" y="1797623"/>
            <a:ext cx="7974932" cy="2675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2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{}</a:t>
            </a:r>
          </a:p>
        </p:txBody>
      </p:sp>
    </p:spTree>
    <p:extLst>
      <p:ext uri="{BB962C8B-B14F-4D97-AF65-F5344CB8AC3E}">
        <p14:creationId xmlns:p14="http://schemas.microsoft.com/office/powerpoint/2010/main" val="2906603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B6A43-D2A2-B2DD-6299-FFE5CC1E5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DB5B3-3C35-24D4-FB79-551F32D0D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501"/>
            <a:ext cx="7718502" cy="1454244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fr-FR" dirty="0"/>
              <a:t>Entrainement du modèle</a:t>
            </a:r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r>
              <a:rPr lang="fr-FR" dirty="0"/>
              <a:t>. </a:t>
            </a:r>
          </a:p>
        </p:txBody>
      </p:sp>
      <p:sp>
        <p:nvSpPr>
          <p:cNvPr id="5" name="Google Shape;230;p17">
            <a:extLst>
              <a:ext uri="{FF2B5EF4-FFF2-40B4-BE49-F238E27FC236}">
                <a16:creationId xmlns:a16="http://schemas.microsoft.com/office/drawing/2014/main" id="{FDCD3EF5-3895-F4A5-129F-EA7906F74C56}"/>
              </a:ext>
            </a:extLst>
          </p:cNvPr>
          <p:cNvSpPr/>
          <p:nvPr/>
        </p:nvSpPr>
        <p:spPr>
          <a:xfrm>
            <a:off x="728524" y="58794"/>
            <a:ext cx="7657193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1;p17">
            <a:extLst>
              <a:ext uri="{FF2B5EF4-FFF2-40B4-BE49-F238E27FC236}">
                <a16:creationId xmlns:a16="http://schemas.microsoft.com/office/drawing/2014/main" id="{42A214F7-C494-5AA1-1B4F-EEBC5A9C291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32;p17">
            <a:extLst>
              <a:ext uri="{FF2B5EF4-FFF2-40B4-BE49-F238E27FC236}">
                <a16:creationId xmlns:a16="http://schemas.microsoft.com/office/drawing/2014/main" id="{E040C07B-ABE0-20BF-0DF9-3325024C7D0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1696186-AD0A-DFFF-E420-FE5F13C77317}"/>
              </a:ext>
            </a:extLst>
          </p:cNvPr>
          <p:cNvSpPr txBox="1"/>
          <p:nvPr/>
        </p:nvSpPr>
        <p:spPr>
          <a:xfrm>
            <a:off x="824976" y="311564"/>
            <a:ext cx="504800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Analyse des données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D40919-1D10-1590-E422-66CB46DBBCAF}"/>
              </a:ext>
            </a:extLst>
          </p:cNvPr>
          <p:cNvSpPr/>
          <p:nvPr/>
        </p:nvSpPr>
        <p:spPr>
          <a:xfrm>
            <a:off x="0" y="1398342"/>
            <a:ext cx="9165974" cy="356766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"String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Indexing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train_prime_auto_model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'annee_naissance'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'annee_permis'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'puis_fiscale'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'anc_veh'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'kmage_annuel'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'crm'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'var1'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'codepostal_i'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'energie_veh_i'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marque_i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"String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Indexing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- sans var1"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train_prime_auto_model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'annee_naissance'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'annee_permis'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'puis_fiscale'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'anc_veh'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'kmage_annuel'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'crm'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#var1,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   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'codepostal_i'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'energie_veh_i'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marque_i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"String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Indexing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- Remplacement de marque par pays"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train_prime_auto_model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'annee_naissance'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'annee_permis'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'puis_fiscale'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'anc_veh'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'kmage_annuel'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'crm'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#'var1',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'codepostal_i'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'energie_veh_i'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marque_i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pays_i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"String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Indexing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- One hot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- pas de code postal"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train_prime_auto_model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'annee_naissance'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'annee_permis'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'puis_fiscale'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'anc_veh'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'kmage_annuel'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'crm'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#'var1',#'codepostal_i',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'energie_veh_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marque_i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pays_ohe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dirty="0">
                <a:solidFill>
                  <a:srgbClr val="ABB2BF"/>
                </a:solidFill>
                <a:latin typeface="Consolas" panose="020B0609020204030204" pitchFamily="49" charset="0"/>
              </a:rPr>
              <a:t>… suite page suivante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93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6E4C-D525-C9D2-E28E-68B2A918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9BE7D-6CDF-1D74-0A1D-D1FBDEC9B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501"/>
            <a:ext cx="7718502" cy="1454244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fr-FR" dirty="0"/>
              <a:t>Suite …</a:t>
            </a:r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r>
              <a:rPr lang="fr-FR" dirty="0"/>
              <a:t>. </a:t>
            </a:r>
          </a:p>
        </p:txBody>
      </p:sp>
      <p:sp>
        <p:nvSpPr>
          <p:cNvPr id="5" name="Google Shape;230;p17">
            <a:extLst>
              <a:ext uri="{FF2B5EF4-FFF2-40B4-BE49-F238E27FC236}">
                <a16:creationId xmlns:a16="http://schemas.microsoft.com/office/drawing/2014/main" id="{240012EE-6F60-4508-4BFD-CE855A88DFB8}"/>
              </a:ext>
            </a:extLst>
          </p:cNvPr>
          <p:cNvSpPr/>
          <p:nvPr/>
        </p:nvSpPr>
        <p:spPr>
          <a:xfrm>
            <a:off x="728524" y="58794"/>
            <a:ext cx="7657193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1;p17">
            <a:extLst>
              <a:ext uri="{FF2B5EF4-FFF2-40B4-BE49-F238E27FC236}">
                <a16:creationId xmlns:a16="http://schemas.microsoft.com/office/drawing/2014/main" id="{379A544B-BF94-D818-4B70-19ED750B20E3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32;p17">
            <a:extLst>
              <a:ext uri="{FF2B5EF4-FFF2-40B4-BE49-F238E27FC236}">
                <a16:creationId xmlns:a16="http://schemas.microsoft.com/office/drawing/2014/main" id="{15A6E024-AFE6-6B61-D9B9-15E64F2CD79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638F616-38D3-6761-B279-B2F9725EE4CF}"/>
              </a:ext>
            </a:extLst>
          </p:cNvPr>
          <p:cNvSpPr txBox="1"/>
          <p:nvPr/>
        </p:nvSpPr>
        <p:spPr>
          <a:xfrm>
            <a:off x="824976" y="311564"/>
            <a:ext cx="504800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Analyse des données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ADC394-0F94-7654-AC92-36C4CB07CB08}"/>
              </a:ext>
            </a:extLst>
          </p:cNvPr>
          <p:cNvSpPr/>
          <p:nvPr/>
        </p:nvSpPr>
        <p:spPr>
          <a:xfrm>
            <a:off x="253089" y="1336706"/>
            <a:ext cx="8764531" cy="363673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"String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Indexing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- One hot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departement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train_prime_auto_model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'annee_naissance'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'annee_permis'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'puis_fiscale'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'anc_veh'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'kmage_annuel'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'crm'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#'var1',#'codepostal_i',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'departement_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'energie_veh_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marque_i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pays_ohe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endParaRPr lang="fr-FR" sz="1000" b="0" dirty="0">
              <a:solidFill>
                <a:srgbClr val="E06C7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"String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Indexing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Kmage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Annuel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Bkt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train_prime_auto_model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'annee_naissance'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'annee_permis'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'puis_fiscale'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'anc_veh'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#'kmage_annuel',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'kmage_annuel_bkt'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'crm'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#'var1',#'codepostal_i',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'departement_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'energie_veh_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marque_i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pays_ohe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"String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Indexing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anc_veh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BKT"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train_prime_auto_model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'annee_naissance'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'annee_permis'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'puis_fiscale'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anc_veh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'anc_veh_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bkt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kmage_annuel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'kmage_annuel_bkt'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'crm'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#'var1',#'codepostal_i',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'departement_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'energie_veh_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#'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marque_i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',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                                         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pays_ohe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1841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ACBB6-3298-03B7-2B47-94B224D11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9259D-FD85-CB11-219A-A6C84CC5C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501"/>
            <a:ext cx="7718502" cy="1454244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fr-FR" dirty="0"/>
              <a:t>Résultat:</a:t>
            </a:r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endParaRPr lang="fr-FR" dirty="0"/>
          </a:p>
          <a:p>
            <a:pPr>
              <a:spcBef>
                <a:spcPts val="900"/>
              </a:spcBef>
            </a:pPr>
            <a:r>
              <a:rPr lang="fr-FR" dirty="0"/>
              <a:t>. </a:t>
            </a:r>
          </a:p>
        </p:txBody>
      </p:sp>
      <p:sp>
        <p:nvSpPr>
          <p:cNvPr id="5" name="Google Shape;230;p17">
            <a:extLst>
              <a:ext uri="{FF2B5EF4-FFF2-40B4-BE49-F238E27FC236}">
                <a16:creationId xmlns:a16="http://schemas.microsoft.com/office/drawing/2014/main" id="{B583D2E7-DD50-A57A-8AB0-3CE4EBD49A2F}"/>
              </a:ext>
            </a:extLst>
          </p:cNvPr>
          <p:cNvSpPr/>
          <p:nvPr/>
        </p:nvSpPr>
        <p:spPr>
          <a:xfrm>
            <a:off x="728524" y="58794"/>
            <a:ext cx="7657193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31;p17">
            <a:extLst>
              <a:ext uri="{FF2B5EF4-FFF2-40B4-BE49-F238E27FC236}">
                <a16:creationId xmlns:a16="http://schemas.microsoft.com/office/drawing/2014/main" id="{AB0F695F-60BC-FE3C-82F4-7BE5EB2FD4D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32;p17">
            <a:extLst>
              <a:ext uri="{FF2B5EF4-FFF2-40B4-BE49-F238E27FC236}">
                <a16:creationId xmlns:a16="http://schemas.microsoft.com/office/drawing/2014/main" id="{BF5E4B41-1BC2-1931-5C05-5B7C53BB3DD2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0D7B62-F4C4-07FA-9A5E-2144C92D229F}"/>
              </a:ext>
            </a:extLst>
          </p:cNvPr>
          <p:cNvSpPr txBox="1"/>
          <p:nvPr/>
        </p:nvSpPr>
        <p:spPr>
          <a:xfrm>
            <a:off x="824976" y="311564"/>
            <a:ext cx="5048000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TP : Analyse des données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C0B44C6-31B9-5472-F1E7-A8CB8E562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37" y="1512560"/>
            <a:ext cx="7565480" cy="331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04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3508</TotalTime>
  <Words>1336</Words>
  <Application>Microsoft Office PowerPoint</Application>
  <PresentationFormat>Affichage à l'écran (16:9)</PresentationFormat>
  <Paragraphs>160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5" baseType="lpstr">
      <vt:lpstr>Abadi Extra Light</vt:lpstr>
      <vt:lpstr>Arial UNICODE MS</vt:lpstr>
      <vt:lpstr>Arial UNICODE MS</vt:lpstr>
      <vt:lpstr>FUTURA MEDIUM</vt:lpstr>
      <vt:lpstr>Agency FB</vt:lpstr>
      <vt:lpstr>Calibri</vt:lpstr>
      <vt:lpstr>Calibri Light</vt:lpstr>
      <vt:lpstr>Consolas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180</cp:revision>
  <dcterms:created xsi:type="dcterms:W3CDTF">2021-01-18T11:01:50Z</dcterms:created>
  <dcterms:modified xsi:type="dcterms:W3CDTF">2025-12-20T11:52:56Z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