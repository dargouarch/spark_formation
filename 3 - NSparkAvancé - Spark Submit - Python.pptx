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sldIdLst>
    <p:sldId id="263" r:id="rId5"/>
    <p:sldId id="2134807190" r:id="rId6"/>
    <p:sldId id="2134807191" r:id="rId7"/>
    <p:sldId id="2134807193" r:id="rId8"/>
    <p:sldId id="2134807195" r:id="rId9"/>
    <p:sldId id="2134807197" r:id="rId10"/>
    <p:sldId id="2134807198" r:id="rId11"/>
    <p:sldId id="269" r:id="rId12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00"/>
    <a:srgbClr val="E89D06"/>
    <a:srgbClr val="606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7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CF4C-C656-4173-9B19-E1AF5C686E3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81D4-7198-485D-BC3A-9DB0AF6D6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81D4-7198-485D-BC3A-9DB0AF6D6A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4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B0EE-DB74-4337-9E39-4F4401AC088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4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97370" y="4578722"/>
            <a:ext cx="429860" cy="28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E69C2FC-FDFD-4827-B361-612217FFD460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74741" y="4894851"/>
            <a:ext cx="215900" cy="307777"/>
          </a:xfrm>
        </p:spPr>
        <p:txBody>
          <a:bodyPr/>
          <a:lstStyle/>
          <a:p>
            <a:fld id="{145EDAB0-9B87-4A61-82A7-24EB9E95EB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9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876384" y="2592654"/>
            <a:ext cx="4569441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5951" y="3982528"/>
            <a:ext cx="4390307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0C2E-4564-4B17-8002-21FAB13655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999" r="11596"/>
          <a:stretch/>
        </p:blipFill>
        <p:spPr>
          <a:xfrm>
            <a:off x="-2024" y="0"/>
            <a:ext cx="7077950" cy="5175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6AB9D-2720-48E7-9F02-9FF73EC7320C}"/>
              </a:ext>
            </a:extLst>
          </p:cNvPr>
          <p:cNvSpPr/>
          <p:nvPr userDrawn="1"/>
        </p:nvSpPr>
        <p:spPr>
          <a:xfrm>
            <a:off x="5272" y="1"/>
            <a:ext cx="8138265" cy="5159408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89BE8FA3-37AB-4349-895E-C9147FFA4740}"/>
              </a:ext>
            </a:extLst>
          </p:cNvPr>
          <p:cNvSpPr/>
          <p:nvPr userDrawn="1"/>
        </p:nvSpPr>
        <p:spPr>
          <a:xfrm>
            <a:off x="4348264" y="-15909"/>
            <a:ext cx="5287890" cy="517531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6999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58" y="790177"/>
            <a:ext cx="7865109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4741" y="4894851"/>
            <a:ext cx="2159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hyperlink" Target="http://www.mgt-conseils.com/" TargetMode="External"/><Relationship Id="rId10" Type="http://schemas.openxmlformats.org/officeDocument/2006/relationships/image" Target="../media/image12.png"/><Relationship Id="rId4" Type="http://schemas.openxmlformats.org/officeDocument/2006/relationships/image" Target="../media/image7.emf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6645293F-0238-41E2-AE61-25FF444A98FA}"/>
              </a:ext>
            </a:extLst>
          </p:cNvPr>
          <p:cNvSpPr txBox="1"/>
          <p:nvPr/>
        </p:nvSpPr>
        <p:spPr>
          <a:xfrm>
            <a:off x="5241241" y="2668269"/>
            <a:ext cx="3317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>
                <a:solidFill>
                  <a:srgbClr val="EE8200"/>
                </a:solidFill>
                <a:latin typeface="Arial UNICODE MS"/>
              </a:rPr>
              <a:t>L’accélérateur </a:t>
            </a:r>
            <a:br>
              <a:rPr lang="fr-FR" sz="2000" b="1">
                <a:solidFill>
                  <a:srgbClr val="EE8200"/>
                </a:solidFill>
                <a:latin typeface="Arial UNICODE MS"/>
              </a:rPr>
            </a:br>
            <a:r>
              <a:rPr lang="fr-FR" sz="2000" b="1">
                <a:solidFill>
                  <a:srgbClr val="EE8200"/>
                </a:solidFill>
                <a:latin typeface="Arial UNICODE MS"/>
              </a:rPr>
              <a:t>de vos Performances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7EBDE4-AF21-46CC-A637-A8E445A354FC}"/>
              </a:ext>
            </a:extLst>
          </p:cNvPr>
          <p:cNvSpPr txBox="1"/>
          <p:nvPr/>
        </p:nvSpPr>
        <p:spPr>
          <a:xfrm>
            <a:off x="5425360" y="3454631"/>
            <a:ext cx="3047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204020104020204" pitchFamily="34" charset="0"/>
              </a:rPr>
              <a:t>Cabinet de Conseil et Formation spécialisé dans l’Amélioration des Performances des Entreprises</a:t>
            </a:r>
          </a:p>
        </p:txBody>
      </p:sp>
      <p:grpSp>
        <p:nvGrpSpPr>
          <p:cNvPr id="4" name="Google Shape;1211;p42">
            <a:extLst>
              <a:ext uri="{FF2B5EF4-FFF2-40B4-BE49-F238E27FC236}">
                <a16:creationId xmlns:a16="http://schemas.microsoft.com/office/drawing/2014/main" id="{0805AA11-DDF0-28CE-7329-E9ABB8802C46}"/>
              </a:ext>
            </a:extLst>
          </p:cNvPr>
          <p:cNvGrpSpPr/>
          <p:nvPr/>
        </p:nvGrpSpPr>
        <p:grpSpPr>
          <a:xfrm>
            <a:off x="866124" y="1529312"/>
            <a:ext cx="2906404" cy="2211684"/>
            <a:chOff x="4743450" y="1116900"/>
            <a:chExt cx="2486100" cy="1690800"/>
          </a:xfrm>
        </p:grpSpPr>
        <p:sp>
          <p:nvSpPr>
            <p:cNvPr id="5" name="Google Shape;1212;p42">
              <a:extLst>
                <a:ext uri="{FF2B5EF4-FFF2-40B4-BE49-F238E27FC236}">
                  <a16:creationId xmlns:a16="http://schemas.microsoft.com/office/drawing/2014/main" id="{19E28FA2-BA25-9760-C0E3-7AB39B1EEB5E}"/>
                </a:ext>
              </a:extLst>
            </p:cNvPr>
            <p:cNvSpPr/>
            <p:nvPr/>
          </p:nvSpPr>
          <p:spPr>
            <a:xfrm>
              <a:off x="4743450" y="1116900"/>
              <a:ext cx="2486100" cy="1690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3;p42">
              <a:extLst>
                <a:ext uri="{FF2B5EF4-FFF2-40B4-BE49-F238E27FC236}">
                  <a16:creationId xmlns:a16="http://schemas.microsoft.com/office/drawing/2014/main" id="{F4C6AACD-E2C4-85E5-CF68-119723003E9E}"/>
                </a:ext>
              </a:extLst>
            </p:cNvPr>
            <p:cNvSpPr/>
            <p:nvPr/>
          </p:nvSpPr>
          <p:spPr>
            <a:xfrm>
              <a:off x="4743450" y="1708870"/>
              <a:ext cx="2486100" cy="729400"/>
            </a:xfrm>
            <a:prstGeom prst="rect">
              <a:avLst/>
            </a:prstGeom>
            <a:gradFill>
              <a:gsLst>
                <a:gs pos="83000">
                  <a:srgbClr val="E89D06"/>
                </a:gs>
                <a:gs pos="38000">
                  <a:srgbClr val="E89D06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fr-FR" sz="2400" b="1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7" name="Google Shape;1214;p42">
              <a:extLst>
                <a:ext uri="{FF2B5EF4-FFF2-40B4-BE49-F238E27FC236}">
                  <a16:creationId xmlns:a16="http://schemas.microsoft.com/office/drawing/2014/main" id="{10DB14C9-1189-F962-9C46-48F2025E5D4E}"/>
                </a:ext>
              </a:extLst>
            </p:cNvPr>
            <p:cNvSpPr txBox="1"/>
            <p:nvPr/>
          </p:nvSpPr>
          <p:spPr>
            <a:xfrm>
              <a:off x="4754902" y="2510233"/>
              <a:ext cx="2283900" cy="262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18/11/2025</a:t>
              </a:r>
            </a:p>
          </p:txBody>
        </p:sp>
        <p:grpSp>
          <p:nvGrpSpPr>
            <p:cNvPr id="8" name="Google Shape;1215;p42">
              <a:extLst>
                <a:ext uri="{FF2B5EF4-FFF2-40B4-BE49-F238E27FC236}">
                  <a16:creationId xmlns:a16="http://schemas.microsoft.com/office/drawing/2014/main" id="{6C607AC6-5841-D5C0-CDC0-064B9E45A8F0}"/>
                </a:ext>
              </a:extLst>
            </p:cNvPr>
            <p:cNvGrpSpPr/>
            <p:nvPr/>
          </p:nvGrpSpPr>
          <p:grpSpPr>
            <a:xfrm>
              <a:off x="5790959" y="1236253"/>
              <a:ext cx="394134" cy="394090"/>
              <a:chOff x="-64764500" y="2280550"/>
              <a:chExt cx="316650" cy="319800"/>
            </a:xfrm>
          </p:grpSpPr>
          <p:sp>
            <p:nvSpPr>
              <p:cNvPr id="9" name="Google Shape;1216;p42">
                <a:extLst>
                  <a:ext uri="{FF2B5EF4-FFF2-40B4-BE49-F238E27FC236}">
                    <a16:creationId xmlns:a16="http://schemas.microsoft.com/office/drawing/2014/main" id="{185FED04-2E27-BE7C-9209-400D4E0C0465}"/>
                  </a:ext>
                </a:extLst>
              </p:cNvPr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solidFill>
                <a:srgbClr val="EE8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17;p42">
                <a:extLst>
                  <a:ext uri="{FF2B5EF4-FFF2-40B4-BE49-F238E27FC236}">
                    <a16:creationId xmlns:a16="http://schemas.microsoft.com/office/drawing/2014/main" id="{3604447A-576F-6388-A6B4-EAB22FCF3F94}"/>
                  </a:ext>
                </a:extLst>
              </p:cNvPr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solidFill>
                <a:srgbClr val="E89D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D8FED94-221E-D61F-429C-874B96C41C0C}"/>
              </a:ext>
            </a:extLst>
          </p:cNvPr>
          <p:cNvSpPr txBox="1"/>
          <p:nvPr/>
        </p:nvSpPr>
        <p:spPr>
          <a:xfrm>
            <a:off x="866123" y="2426759"/>
            <a:ext cx="29064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Spark Avancé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</a:t>
            </a:r>
            <a:r>
              <a:rPr lang="fr-FR" sz="1600" b="1" dirty="0">
                <a:solidFill>
                  <a:srgbClr val="17375E"/>
                </a:solidFill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ell Scala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2" name="Image 11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2E6698BC-47B7-0035-A30B-07E4D74B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96" y="1422768"/>
            <a:ext cx="1833563" cy="1033463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9971AD4C-61B2-E54F-348A-AD68E0D81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42" y="208193"/>
            <a:ext cx="1679880" cy="8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10A95A0-53DE-E2CE-4E14-43866D0C249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Tout le support d’exercice est constitué de la même manière: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objectifs de l’exercice: quel est l’intérêt de l’exercice ?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Un descriptif global des étapes à réaliser qui doit permettre de faire l’exercice en connaissant les notions abordées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 résultat de l’exercice sous forme de copies d’’écran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La correction de l’exercice étape par étape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grpSp>
        <p:nvGrpSpPr>
          <p:cNvPr id="43" name="Google Shape;229;p17">
            <a:extLst>
              <a:ext uri="{FF2B5EF4-FFF2-40B4-BE49-F238E27FC236}">
                <a16:creationId xmlns:a16="http://schemas.microsoft.com/office/drawing/2014/main" id="{8050A46D-E5DF-230C-1D3D-C45C7E91D88C}"/>
              </a:ext>
            </a:extLst>
          </p:cNvPr>
          <p:cNvGrpSpPr/>
          <p:nvPr/>
        </p:nvGrpSpPr>
        <p:grpSpPr>
          <a:xfrm>
            <a:off x="253089" y="58794"/>
            <a:ext cx="3073828" cy="952920"/>
            <a:chOff x="457200" y="3624815"/>
            <a:chExt cx="3073828" cy="952920"/>
          </a:xfrm>
          <a:solidFill>
            <a:srgbClr val="E89D06"/>
          </a:solidFill>
        </p:grpSpPr>
        <p:sp>
          <p:nvSpPr>
            <p:cNvPr id="46" name="Google Shape;230;p17">
              <a:extLst>
                <a:ext uri="{FF2B5EF4-FFF2-40B4-BE49-F238E27FC236}">
                  <a16:creationId xmlns:a16="http://schemas.microsoft.com/office/drawing/2014/main" id="{15404E31-4A3C-09C1-2702-844D6EC923CB}"/>
                </a:ext>
              </a:extLst>
            </p:cNvPr>
            <p:cNvSpPr/>
            <p:nvPr/>
          </p:nvSpPr>
          <p:spPr>
            <a:xfrm>
              <a:off x="932635" y="3624815"/>
              <a:ext cx="2598393" cy="952920"/>
            </a:xfrm>
            <a:custGeom>
              <a:avLst/>
              <a:gdLst/>
              <a:ahLst/>
              <a:cxnLst/>
              <a:rect l="l" t="t" r="r" b="b"/>
              <a:pathLst>
                <a:path w="12451" h="8780" extrusionOk="0">
                  <a:moveTo>
                    <a:pt x="0" y="0"/>
                  </a:moveTo>
                  <a:lnTo>
                    <a:pt x="0" y="8780"/>
                  </a:lnTo>
                  <a:lnTo>
                    <a:pt x="12101" y="8780"/>
                  </a:lnTo>
                  <a:cubicBezTo>
                    <a:pt x="12289" y="8780"/>
                    <a:pt x="12451" y="8618"/>
                    <a:pt x="12451" y="8428"/>
                  </a:cubicBezTo>
                  <a:lnTo>
                    <a:pt x="12451" y="378"/>
                  </a:lnTo>
                  <a:cubicBezTo>
                    <a:pt x="12451" y="162"/>
                    <a:pt x="12289" y="0"/>
                    <a:pt x="12101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85725" dist="57150" dir="12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1;p17">
              <a:extLst>
                <a:ext uri="{FF2B5EF4-FFF2-40B4-BE49-F238E27FC236}">
                  <a16:creationId xmlns:a16="http://schemas.microsoft.com/office/drawing/2014/main" id="{9721E7DF-0628-6CA8-3F7B-6A37732AFEBB}"/>
                </a:ext>
              </a:extLst>
            </p:cNvPr>
            <p:cNvSpPr/>
            <p:nvPr/>
          </p:nvSpPr>
          <p:spPr>
            <a:xfrm>
              <a:off x="457200" y="3624815"/>
              <a:ext cx="530346" cy="952920"/>
            </a:xfrm>
            <a:custGeom>
              <a:avLst/>
              <a:gdLst/>
              <a:ahLst/>
              <a:cxnLst/>
              <a:rect l="l" t="t" r="r" b="b"/>
              <a:pathLst>
                <a:path w="3325" h="6646" extrusionOk="0">
                  <a:moveTo>
                    <a:pt x="3324" y="1"/>
                  </a:moveTo>
                  <a:cubicBezTo>
                    <a:pt x="1488" y="1"/>
                    <a:pt x="1" y="1487"/>
                    <a:pt x="1" y="3324"/>
                  </a:cubicBezTo>
                  <a:cubicBezTo>
                    <a:pt x="1" y="5161"/>
                    <a:pt x="1488" y="6645"/>
                    <a:pt x="3324" y="6645"/>
                  </a:cubicBezTo>
                  <a:lnTo>
                    <a:pt x="3324" y="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1438" dist="57150" dir="114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2;p17">
              <a:extLst>
                <a:ext uri="{FF2B5EF4-FFF2-40B4-BE49-F238E27FC236}">
                  <a16:creationId xmlns:a16="http://schemas.microsoft.com/office/drawing/2014/main" id="{64BC68AD-6A69-B568-F712-AF19EEB78275}"/>
                </a:ext>
              </a:extLst>
            </p:cNvPr>
            <p:cNvSpPr txBox="1"/>
            <p:nvPr/>
          </p:nvSpPr>
          <p:spPr>
            <a:xfrm>
              <a:off x="602635" y="3912335"/>
              <a:ext cx="330000" cy="387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0EC7B5A5-E640-1B4A-17B0-914F60AD1A58}"/>
              </a:ext>
            </a:extLst>
          </p:cNvPr>
          <p:cNvSpPr txBox="1"/>
          <p:nvPr/>
        </p:nvSpPr>
        <p:spPr>
          <a:xfrm>
            <a:off x="824976" y="311564"/>
            <a:ext cx="2977376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Organisation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3097B-0D2C-CB46-8829-E0A26E71B7D5}"/>
              </a:ext>
            </a:extLst>
          </p:cNvPr>
          <p:cNvSpPr txBox="1"/>
          <p:nvPr/>
        </p:nvSpPr>
        <p:spPr>
          <a:xfrm>
            <a:off x="3363493" y="335199"/>
            <a:ext cx="560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</a:pPr>
            <a:r>
              <a:rPr lang="fr-FR" sz="2000" b="1" dirty="0">
                <a:solidFill>
                  <a:srgbClr val="ED7D31"/>
                </a:solidFill>
                <a:latin typeface="Arial Unicode MS"/>
              </a:rPr>
              <a:t>Organisation des exercices</a:t>
            </a:r>
          </a:p>
        </p:txBody>
      </p:sp>
    </p:spTree>
    <p:extLst>
      <p:ext uri="{BB962C8B-B14F-4D97-AF65-F5344CB8AC3E}">
        <p14:creationId xmlns:p14="http://schemas.microsoft.com/office/powerpoint/2010/main" val="176412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9531A-E7DF-1CA6-945C-B89C8D1D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17A597BC-FC40-ED9E-CCD0-685FC66EDFEC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Le but de cet exercice est d’illustrer l’utilisation de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spark-submit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en ligne de commande, avec du code python.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135C58F-F80B-EC87-6F17-0DD433237347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6E6D83B-AED8-8028-3ACB-9CC605E229A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8B9E1D2-E8B0-FDD8-4257-B6A3EC74D6F7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77A63A5-A937-C186-CFF3-78E33528282F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Préparation environnement</a:t>
            </a:r>
          </a:p>
        </p:txBody>
      </p:sp>
    </p:spTree>
    <p:extLst>
      <p:ext uri="{BB962C8B-B14F-4D97-AF65-F5344CB8AC3E}">
        <p14:creationId xmlns:p14="http://schemas.microsoft.com/office/powerpoint/2010/main" val="202161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DDF1A-3D6A-CF77-A338-70F6F418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6BCF7ED0-02A2-302E-FC79-A8085B18BAA9}"/>
              </a:ext>
            </a:extLst>
          </p:cNvPr>
          <p:cNvSpPr txBox="1"/>
          <p:nvPr/>
        </p:nvSpPr>
        <p:spPr>
          <a:xfrm>
            <a:off x="702127" y="1048864"/>
            <a:ext cx="7943850" cy="204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Ouvrir le projet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dans Visual code: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 répertoire </a:t>
            </a: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python 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dans ~/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Nous allons créer une application qui lit un fichier « </a:t>
            </a:r>
            <a:r>
              <a:rPr lang="fr-FR" sz="1200" b="1" dirty="0" err="1">
                <a:ea typeface="Calibri" panose="020F0502020204030204" pitchFamily="34" charset="0"/>
                <a:cs typeface="Arial" panose="020B0604020202020204" pitchFamily="34" charset="0"/>
              </a:rPr>
              <a:t>data.json</a:t>
            </a: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 » et qui l’affiche.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 fichier lecteur.py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687B612-98E0-E503-4B4C-49A98DE6688E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DBA39934-6485-A736-9AF4-898E9871903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A773FF71-DD11-F86F-C4ED-4084F23BD1F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CCFA671-B9AB-9E65-F797-583B7CE6DDA2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Premier code en python avec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spark-submit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194279-4A77-DD74-363D-1BF27B93B373}"/>
              </a:ext>
            </a:extLst>
          </p:cNvPr>
          <p:cNvSpPr/>
          <p:nvPr/>
        </p:nvSpPr>
        <p:spPr>
          <a:xfrm>
            <a:off x="1220399" y="1363012"/>
            <a:ext cx="3069103" cy="4360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 ~/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endParaRPr lang="fr-FR" sz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code .</a:t>
            </a:r>
            <a:endParaRPr lang="fr-FR" sz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4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CA181-CB49-DE1B-8700-292E6D7F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9D05778-DDC9-144F-97CC-6F8B1E452C05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 fichier lecteur.py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FCF57B2C-63ED-4A75-3C62-C73B0CBE6B24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3F588CB7-1956-6DC3-70DB-E0FA3350C96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432B508-0692-B5F2-C2D7-32A55D9EEBB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470A8FD-C58C-ED84-8241-FB9706490D18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Premier code en python avec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spark-submit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BBFA47-CF39-6249-D2E3-6F93C8050588}"/>
              </a:ext>
            </a:extLst>
          </p:cNvPr>
          <p:cNvSpPr/>
          <p:nvPr/>
        </p:nvSpPr>
        <p:spPr>
          <a:xfrm>
            <a:off x="1415575" y="1363013"/>
            <a:ext cx="6312850" cy="356745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SparkSession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SparkSession.builder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appName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"Read JSON Example"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getOrCreate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)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input_path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"/data/input/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data.json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Lecture du fichier JSON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.read.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input_path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Affichage du schéma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printSchema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Affichage de quelques lignes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truncate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80773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8FFD3-22C8-0570-0DCC-E7571073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DF65296-9E5F-FC2C-A17B-A30FCD049F5C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Copier le fichier </a:t>
            </a: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lecteur.py 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dans le partage data de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. Ouvrir un terminal.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 répertoire </a:t>
            </a: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input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sous </a:t>
            </a:r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~/</a:t>
            </a:r>
            <a:r>
              <a:rPr lang="fr-FR" sz="12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/data</a:t>
            </a:r>
            <a:r>
              <a:rPr lang="fr-FR" sz="1200" dirty="0">
                <a:latin typeface="Aptos" panose="020B00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et y mettre le fichier </a:t>
            </a:r>
            <a:r>
              <a:rPr lang="fr-FR" sz="1200" dirty="0" err="1">
                <a:latin typeface="Aptos" panose="020B00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data.json</a:t>
            </a:r>
            <a:r>
              <a:rPr lang="fr-FR" sz="1200" dirty="0">
                <a:latin typeface="Aptos" panose="020B00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suivant (s’il n’existe pas déjà):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latin typeface="Aptos" panose="020B00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latin typeface="Aptos" panose="020B00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290D27BE-F91F-2715-90CB-1647FF318A12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C58CB236-AEFC-2E82-228B-F9002DAFAF3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52C9E4A-A5EE-0612-6F09-27CB84B67148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AACE6D3-6DA4-BBEB-42F5-56E12647D11E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Premier code en python avec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spark-submit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270188-CC4D-D175-722F-9E28A6ED3E9C}"/>
              </a:ext>
            </a:extLst>
          </p:cNvPr>
          <p:cNvSpPr/>
          <p:nvPr/>
        </p:nvSpPr>
        <p:spPr>
          <a:xfrm>
            <a:off x="1517627" y="1363013"/>
            <a:ext cx="6312850" cy="8819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cd ~/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/data</a:t>
            </a: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mkdir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python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cd python</a:t>
            </a: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cp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../../python/lecteur.py .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C445D-8A1F-48D2-3FC0-FB6A4DC146E0}"/>
              </a:ext>
            </a:extLst>
          </p:cNvPr>
          <p:cNvSpPr/>
          <p:nvPr/>
        </p:nvSpPr>
        <p:spPr>
          <a:xfrm>
            <a:off x="1415575" y="2686452"/>
            <a:ext cx="6312850" cy="84476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[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{"col1": "value1", "col2": 123},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{"col1": "value2", "col2":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wrong_value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"},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{"col1": "value3", "col2": 789}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503768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F085A-AB9D-12DB-4777-319FDCB95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73312C82-76E5-316B-E21C-05F5F23C9457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Le répertoire </a:t>
            </a:r>
            <a:r>
              <a:rPr lang="fr-FR" sz="1200" b="1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~/</a:t>
            </a:r>
            <a:r>
              <a:rPr lang="fr-FR" sz="1200" b="1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200" b="1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/data étant partagé il n’est pas nécessaire de redémarrer le service.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Tester l’application: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Résultat: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7449C3C-75DD-F576-D4CE-BDE4DBFE39DA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2EE16CD-B0F7-2FAD-A572-E1A1AB8FFFF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C08D25EC-6538-D260-2097-FD75E6A2551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6C885D3D-6D99-7957-703D-D5E51D4F86D0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Premier code en python avec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spark-submit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4A1B08-0100-95CF-88F3-0582B963AAFE}"/>
              </a:ext>
            </a:extLst>
          </p:cNvPr>
          <p:cNvSpPr/>
          <p:nvPr/>
        </p:nvSpPr>
        <p:spPr>
          <a:xfrm>
            <a:off x="775750" y="1748247"/>
            <a:ext cx="7849397" cy="4076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docker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exec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-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-master 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opt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/bin/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spark-submit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--master local[*]   /data/python/lecteur.py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E271936-62F7-562D-5F3C-6CFA4B642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05" y="2290665"/>
            <a:ext cx="6810800" cy="234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5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t="869" r="11671"/>
          <a:stretch/>
        </p:blipFill>
        <p:spPr>
          <a:xfrm>
            <a:off x="4431282" y="-7974"/>
            <a:ext cx="4718608" cy="513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1625" y="932"/>
            <a:ext cx="8138265" cy="5143500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7" name="Parallélogramme 6"/>
          <p:cNvSpPr/>
          <p:nvPr/>
        </p:nvSpPr>
        <p:spPr>
          <a:xfrm>
            <a:off x="-1634180" y="-5770"/>
            <a:ext cx="7690701" cy="513552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124" y="2162390"/>
            <a:ext cx="3304125" cy="257939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idx="4294967295"/>
          </p:nvPr>
        </p:nvSpPr>
        <p:spPr>
          <a:xfrm>
            <a:off x="5971273" y="2636568"/>
            <a:ext cx="2393946" cy="17519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70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cs"/>
              </a:rPr>
              <a:t>Suivez-Nous</a:t>
            </a:r>
            <a:br>
              <a:rPr lang="fr-FR">
                <a:solidFill>
                  <a:schemeClr val="bg1"/>
                </a:solidFill>
              </a:rPr>
            </a:br>
            <a:br>
              <a:rPr lang="fr-FR">
                <a:solidFill>
                  <a:schemeClr val="bg1"/>
                </a:solidFill>
              </a:rPr>
            </a:b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  <a:hlinkClick r:id="rId5"/>
              </a:rPr>
              <a:t>www.mgt-conseils.com</a:t>
            </a: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</a:rPr>
              <a:t>contact@mgt-conseils.com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619" y="496808"/>
            <a:ext cx="3489311" cy="30008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b="1">
                <a:solidFill>
                  <a:srgbClr val="0070C0"/>
                </a:solidFill>
                <a:latin typeface="Agency FB"/>
              </a:rPr>
              <a:t> </a:t>
            </a:r>
            <a:r>
              <a:rPr lang="fr-FR" sz="1500" b="1">
                <a:solidFill>
                  <a:srgbClr val="F89A33"/>
                </a:solidFill>
                <a:latin typeface="Agency FB"/>
              </a:rPr>
              <a:t>| Direction Commerciale</a:t>
            </a:r>
            <a:endParaRPr lang="fr-FR" sz="1500">
              <a:latin typeface="Agency FB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50011" y="794581"/>
            <a:ext cx="263974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/>
              </a:rPr>
              <a:t>business@mgt-conseils.com </a:t>
            </a:r>
            <a:endParaRPr lang="fr-FR" sz="1500">
              <a:solidFill>
                <a:srgbClr val="676D72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4667449" y="4706090"/>
            <a:ext cx="5001596" cy="54998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25">
                <a:solidFill>
                  <a:schemeClr val="bg1"/>
                </a:solidFill>
              </a:rPr>
              <a:t>SARL au capital de 50 300 € - SIRET 479 638 462 00032 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871474"/>
            <a:ext cx="146399" cy="1463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9972" y="1314543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Paris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451364" y="1626848"/>
            <a:ext cx="263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+331 47 20 67 63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Les Champs Elysées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104 Rue du Faubourg Saint - Honoré, 75008 Paris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9" y="1699834"/>
            <a:ext cx="146399" cy="1463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45868" y="2674542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Abidjan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437260" y="2986846"/>
            <a:ext cx="280687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+225 05 06 75 01 01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Résidence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Palazzo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Posillipo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Cocody - Danga,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BP 10 367, Abidjan 01</a:t>
            </a: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75" y="3059832"/>
            <a:ext cx="146399" cy="14639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2717" y="3838560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Bénin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34109" y="4150864"/>
            <a:ext cx="30545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+229 90 55 10 55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Akpakpa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Rés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. JR d’Adèle,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Cotonou</a:t>
            </a:r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4223850"/>
            <a:ext cx="146399" cy="14639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2" y="1946622"/>
            <a:ext cx="141499" cy="141499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4460988"/>
            <a:ext cx="141499" cy="14149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343186"/>
            <a:ext cx="141499" cy="141499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>
            <a:off x="5935935" y="3045995"/>
            <a:ext cx="2471907" cy="660017"/>
            <a:chOff x="7953078" y="4393803"/>
            <a:chExt cx="3295876" cy="880023"/>
          </a:xfrm>
        </p:grpSpPr>
        <p:grpSp>
          <p:nvGrpSpPr>
            <p:cNvPr id="13" name="Groupe 12"/>
            <p:cNvGrpSpPr/>
            <p:nvPr/>
          </p:nvGrpSpPr>
          <p:grpSpPr>
            <a:xfrm>
              <a:off x="7953078" y="4393803"/>
              <a:ext cx="1235024" cy="880023"/>
              <a:chOff x="7708552" y="4387991"/>
              <a:chExt cx="1235024" cy="880023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3043" y="4387991"/>
                <a:ext cx="346041" cy="346041"/>
              </a:xfrm>
              <a:prstGeom prst="rect">
                <a:avLst/>
              </a:prstGeom>
            </p:spPr>
          </p:pic>
          <p:sp>
            <p:nvSpPr>
              <p:cNvPr id="47" name="Titre 1"/>
              <p:cNvSpPr txBox="1">
                <a:spLocks/>
              </p:cNvSpPr>
              <p:nvPr/>
            </p:nvSpPr>
            <p:spPr>
              <a:xfrm>
                <a:off x="7708552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MGT.Conseils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8943789" y="4426916"/>
              <a:ext cx="1235024" cy="840134"/>
              <a:chOff x="8704148" y="4427880"/>
              <a:chExt cx="1235024" cy="84013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910" y="4427880"/>
                <a:ext cx="349810" cy="349810"/>
              </a:xfrm>
              <a:prstGeom prst="rect">
                <a:avLst/>
              </a:prstGeom>
            </p:spPr>
          </p:pic>
          <p:sp>
            <p:nvSpPr>
              <p:cNvPr id="49" name="Titre 1"/>
              <p:cNvSpPr txBox="1">
                <a:spLocks/>
              </p:cNvSpPr>
              <p:nvPr/>
            </p:nvSpPr>
            <p:spPr>
              <a:xfrm>
                <a:off x="8704148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</a:t>
                </a:r>
                <a:r>
                  <a:rPr lang="fr-FR" sz="825">
                    <a:solidFill>
                      <a:schemeClr val="bg1"/>
                    </a:solidFill>
                  </a:rPr>
                  <a:t>-conseils</a:t>
                </a:r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10013930" y="4426197"/>
              <a:ext cx="1235024" cy="840853"/>
              <a:chOff x="9613248" y="4415593"/>
              <a:chExt cx="1235024" cy="840853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11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153" y="4415593"/>
                <a:ext cx="347214" cy="347214"/>
              </a:xfrm>
              <a:prstGeom prst="rect">
                <a:avLst/>
              </a:prstGeom>
            </p:spPr>
          </p:pic>
          <p:sp>
            <p:nvSpPr>
              <p:cNvPr id="51" name="Titre 1"/>
              <p:cNvSpPr txBox="1">
                <a:spLocks/>
              </p:cNvSpPr>
              <p:nvPr/>
            </p:nvSpPr>
            <p:spPr>
              <a:xfrm>
                <a:off x="9613248" y="4523134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@</a:t>
                </a:r>
                <a:r>
                  <a:rPr lang="fr-FR" sz="825" err="1">
                    <a:solidFill>
                      <a:schemeClr val="bg1"/>
                    </a:solidFill>
                  </a:rPr>
                  <a:t>MGTConseils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10192631-2D34-469C-A952-3B55768F581D}"/>
              </a:ext>
            </a:extLst>
          </p:cNvPr>
          <p:cNvSpPr txBox="1"/>
          <p:nvPr/>
        </p:nvSpPr>
        <p:spPr>
          <a:xfrm>
            <a:off x="6020136" y="501821"/>
            <a:ext cx="2784985" cy="156966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sz="3200" b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78251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eca01c-4ea5-40c8-83fd-b296bd340025">
      <UserInfo>
        <DisplayName>Abir GUENICH - Ingénieure d’affaire</DisplayName>
        <AccountId>246</AccountId>
        <AccountType/>
      </UserInfo>
    </SharedWithUsers>
    <_activity xmlns="6f1b3788-58c0-46a5-9604-64d97c7fc47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19B1710D3DF4A9DAA9ADF73C802B5" ma:contentTypeVersion="14" ma:contentTypeDescription="Crée un document." ma:contentTypeScope="" ma:versionID="d45f398bd182fafaec1e6b20d8a38b6f">
  <xsd:schema xmlns:xsd="http://www.w3.org/2001/XMLSchema" xmlns:xs="http://www.w3.org/2001/XMLSchema" xmlns:p="http://schemas.microsoft.com/office/2006/metadata/properties" xmlns:ns3="6f1b3788-58c0-46a5-9604-64d97c7fc47c" xmlns:ns4="73eca01c-4ea5-40c8-83fd-b296bd340025" targetNamespace="http://schemas.microsoft.com/office/2006/metadata/properties" ma:root="true" ma:fieldsID="de746a5257d740f042749d495693305b" ns3:_="" ns4:_="">
    <xsd:import namespace="6f1b3788-58c0-46a5-9604-64d97c7fc47c"/>
    <xsd:import namespace="73eca01c-4ea5-40c8-83fd-b296bd340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b3788-58c0-46a5-9604-64d97c7fc4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a01c-4ea5-40c8-83fd-b296bd340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C00205-F11F-4D61-9572-D162BE7CE022}">
  <ds:schemaRefs>
    <ds:schemaRef ds:uri="http://schemas.microsoft.com/office/infopath/2007/PartnerControls"/>
    <ds:schemaRef ds:uri="http://purl.org/dc/terms/"/>
    <ds:schemaRef ds:uri="http://purl.org/dc/elements/1.1/"/>
    <ds:schemaRef ds:uri="6f1b3788-58c0-46a5-9604-64d97c7fc47c"/>
    <ds:schemaRef ds:uri="73eca01c-4ea5-40c8-83fd-b296bd340025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3D40C7A-64C6-4B3B-A1B6-9CB64BC75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b3788-58c0-46a5-9604-64d97c7fc47c"/>
    <ds:schemaRef ds:uri="73eca01c-4ea5-40c8-83fd-b296bd340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BAA46D8-DF31-4768-AD82-8F485C82E6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4603</TotalTime>
  <Words>549</Words>
  <Application>Microsoft Office PowerPoint</Application>
  <PresentationFormat>Affichage à l'écran (16:9)</PresentationFormat>
  <Paragraphs>88</Paragraphs>
  <Slides>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22" baseType="lpstr">
      <vt:lpstr>Abadi Extra Light</vt:lpstr>
      <vt:lpstr>Arial UNICODE MS</vt:lpstr>
      <vt:lpstr>Arial UNICODE MS</vt:lpstr>
      <vt:lpstr>FUTURA MEDIUM</vt:lpstr>
      <vt:lpstr>Agency FB</vt:lpstr>
      <vt:lpstr>Aptos</vt:lpstr>
      <vt:lpstr>Calibri</vt:lpstr>
      <vt:lpstr>Consolas</vt:lpstr>
      <vt:lpstr>Ebrima</vt:lpstr>
      <vt:lpstr>Roboto</vt:lpstr>
      <vt:lpstr>Trebuchet MS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Suivez-Nous   www.mgt-conseils.com contact@mgt-conseils.com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Groupe  DataValue Consulting</dc:title>
  <dc:creator>Conrad GBAGUIDI</dc:creator>
  <cp:lastModifiedBy>Denis ARGOUARCH</cp:lastModifiedBy>
  <cp:revision>186</cp:revision>
  <dcterms:created xsi:type="dcterms:W3CDTF">2021-01-18T11:01:50Z</dcterms:created>
  <dcterms:modified xsi:type="dcterms:W3CDTF">2025-12-15T21:30:22Z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2020-03-16T00:00:00Z</vt:filetime>
  </property>
  <property fmtid="{D5CDD505-2E9C-101B-9397-08002B2CF9AE}" pid="3" name="LastSaved">
    <vt:filetime>2021-01-18T00:00:00Z</vt:filetime>
  </property>
  <property fmtid="{D5CDD505-2E9C-101B-9397-08002B2CF9AE}" pid="4" name="ContentTypeId">
    <vt:lpwstr>0x01010058419B1710D3DF4A9DAA9ADF73C802B5</vt:lpwstr>
  </property>
  <property fmtid="{D5CDD505-2E9C-101B-9397-08002B2CF9AE}" pid="5" name="MediaServiceImageTags">
    <vt:lpwstr/>
  </property>
</Properties>
</file>