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63" r:id="rId5"/>
    <p:sldId id="2134807190" r:id="rId6"/>
    <p:sldId id="2134807191" r:id="rId7"/>
    <p:sldId id="2134807192" r:id="rId8"/>
    <p:sldId id="2134807193" r:id="rId9"/>
    <p:sldId id="2134807195" r:id="rId10"/>
    <p:sldId id="2134807196" r:id="rId11"/>
    <p:sldId id="2134807197" r:id="rId12"/>
    <p:sldId id="2134807198" r:id="rId13"/>
    <p:sldId id="269" r:id="rId14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28/09/2026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anwampler/JustEnoughScalaForSpark/blob/master/notebooks/JustEnoughScalaForSpark.pdf" TargetMode="External"/><Relationship Id="rId2" Type="http://schemas.openxmlformats.org/officeDocument/2006/relationships/hyperlink" Target="https://docs.scala-lang.org/getting-started/install-scala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0.emf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fr-FR" sz="1600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ell Scala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9971AD4C-61B2-E54F-348A-AD68E0D81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42" y="208193"/>
            <a:ext cx="1679880" cy="87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531A-E7DF-1CA6-945C-B89C8D1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17A597BC-FC40-ED9E-CCD0-685FC66EDFEC}"/>
              </a:ext>
            </a:extLst>
          </p:cNvPr>
          <p:cNvSpPr txBox="1"/>
          <p:nvPr/>
        </p:nvSpPr>
        <p:spPr>
          <a:xfrm>
            <a:off x="702127" y="1048864"/>
            <a:ext cx="7943850" cy="391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Le but de cet exercice est d’illustrer l’utilisation de Scala en ligne de commande.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L’avantage vient des performances de scala.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Donc nous avons déjà installé Spark dans le docker, mais pour l’appeler il faut créer l’environnement pour pouvoir compiler notre code scala et l’exécuter sans avoir à « entrer » dans le container. Pour cela il faut installer 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sbt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  <a:buClr>
                <a:srgbClr val="ED7D31"/>
              </a:buClr>
            </a:pPr>
            <a:r>
              <a:rPr lang="fr-FR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Scala: </a:t>
            </a:r>
            <a:r>
              <a:rPr lang="fr-FR" sz="1200" dirty="0" err="1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</a:t>
            </a:r>
            <a:r>
              <a:rPr lang="fr-FR" sz="12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FR" sz="1200" dirty="0" err="1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Started</a:t>
            </a:r>
            <a:r>
              <a:rPr lang="fr-FR" sz="12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Scala Documentation</a:t>
            </a:r>
            <a:endParaRPr lang="fr-FR" sz="1200" dirty="0">
              <a:solidFill>
                <a:srgbClr val="0070C0"/>
              </a:solidFill>
            </a:endParaRPr>
          </a:p>
          <a:p>
            <a:pPr>
              <a:spcBef>
                <a:spcPts val="400"/>
              </a:spcBef>
              <a:spcAft>
                <a:spcPts val="400"/>
              </a:spcAft>
              <a:buClr>
                <a:srgbClr val="ED7D31"/>
              </a:buClr>
            </a:pPr>
            <a:r>
              <a:rPr lang="fr-F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Spécifique </a:t>
            </a:r>
            <a:r>
              <a:rPr lang="fr-FR" sz="12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spark</a:t>
            </a:r>
            <a:r>
              <a:rPr lang="fr-F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fr-FR" sz="1200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JustEnoughScalaForSpark</a:t>
            </a:r>
            <a:r>
              <a:rPr lang="fr-FR" sz="1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/notebooks/JustEnoughScalaForSpark.pdf at master · </a:t>
            </a:r>
            <a:r>
              <a:rPr lang="fr-FR" sz="1200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deanwampler</a:t>
            </a:r>
            <a:r>
              <a:rPr lang="fr-FR" sz="12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fr-FR" sz="1200" dirty="0" err="1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JustEnoughScalaForSpark</a:t>
            </a:r>
            <a:endParaRPr lang="fr-FR" sz="1200" dirty="0">
              <a:solidFill>
                <a:srgbClr val="0070C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135C58F-F80B-EC87-6F17-0DD433237347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6E6D83B-AED8-8028-3ACB-9CC605E229A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8B9E1D2-E8B0-FDD8-4257-B6A3EC74D6F7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77A63A5-A937-C186-CFF3-78E33528282F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Préparation environnement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29A08C6-E279-C2B9-45D9-379B8A37A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934959"/>
              </p:ext>
            </p:extLst>
          </p:nvPr>
        </p:nvGraphicFramePr>
        <p:xfrm>
          <a:off x="1232128" y="1847850"/>
          <a:ext cx="6226044" cy="1447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075348">
                  <a:extLst>
                    <a:ext uri="{9D8B030D-6E8A-4147-A177-3AD203B41FA5}">
                      <a16:colId xmlns:a16="http://schemas.microsoft.com/office/drawing/2014/main" val="2927619479"/>
                    </a:ext>
                  </a:extLst>
                </a:gridCol>
                <a:gridCol w="2075348">
                  <a:extLst>
                    <a:ext uri="{9D8B030D-6E8A-4147-A177-3AD203B41FA5}">
                      <a16:colId xmlns:a16="http://schemas.microsoft.com/office/drawing/2014/main" val="4116132148"/>
                    </a:ext>
                  </a:extLst>
                </a:gridCol>
                <a:gridCol w="2075348">
                  <a:extLst>
                    <a:ext uri="{9D8B030D-6E8A-4147-A177-3AD203B41FA5}">
                      <a16:colId xmlns:a16="http://schemas.microsoft.com/office/drawing/2014/main" val="1611627370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fr-FR" sz="1400"/>
                        <a:t>Aspect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Scala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PySpark</a:t>
                      </a:r>
                    </a:p>
                  </a:txBody>
                  <a:tcPr marL="72390" marR="72390" marT="36195" marB="36195" anchor="ctr"/>
                </a:tc>
                <a:extLst>
                  <a:ext uri="{0D108BD9-81ED-4DB2-BD59-A6C34878D82A}">
                    <a16:rowId xmlns:a16="http://schemas.microsoft.com/office/drawing/2014/main" val="254932519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fr-FR" sz="1400"/>
                        <a:t>Performance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⭐⭐⭐⭐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⭐⭐⭐</a:t>
                      </a:r>
                    </a:p>
                  </a:txBody>
                  <a:tcPr marL="72390" marR="72390" marT="36195" marB="36195" anchor="ctr"/>
                </a:tc>
                <a:extLst>
                  <a:ext uri="{0D108BD9-81ED-4DB2-BD59-A6C34878D82A}">
                    <a16:rowId xmlns:a16="http://schemas.microsoft.com/office/drawing/2014/main" val="345987125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fr-FR" sz="1400"/>
                        <a:t>Typage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Fort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Faible</a:t>
                      </a:r>
                    </a:p>
                  </a:txBody>
                  <a:tcPr marL="72390" marR="72390" marT="36195" marB="36195" anchor="ctr"/>
                </a:tc>
                <a:extLst>
                  <a:ext uri="{0D108BD9-81ED-4DB2-BD59-A6C34878D82A}">
                    <a16:rowId xmlns:a16="http://schemas.microsoft.com/office/drawing/2014/main" val="4460116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fr-FR" sz="1400"/>
                        <a:t>Compilation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JAR requis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Script .py</a:t>
                      </a:r>
                    </a:p>
                  </a:txBody>
                  <a:tcPr marL="72390" marR="72390" marT="36195" marB="36195" anchor="ctr"/>
                </a:tc>
                <a:extLst>
                  <a:ext uri="{0D108BD9-81ED-4DB2-BD59-A6C34878D82A}">
                    <a16:rowId xmlns:a16="http://schemas.microsoft.com/office/drawing/2014/main" val="252675218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r>
                        <a:rPr lang="fr-FR" sz="1400"/>
                        <a:t>Usage prod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Très fréquent</a:t>
                      </a:r>
                    </a:p>
                  </a:txBody>
                  <a:tcPr marL="72390" marR="72390" marT="36195" marB="36195" anchor="ctr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Très fréquent</a:t>
                      </a:r>
                    </a:p>
                  </a:txBody>
                  <a:tcPr marL="72390" marR="72390" marT="36195" marB="36195" anchor="ctr"/>
                </a:tc>
                <a:extLst>
                  <a:ext uri="{0D108BD9-81ED-4DB2-BD59-A6C34878D82A}">
                    <a16:rowId xmlns:a16="http://schemas.microsoft.com/office/drawing/2014/main" val="2691349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61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3514-A2B9-2872-4734-713DBAF6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5BC52A8-E56E-9353-6375-CD2C1293E1F4}"/>
              </a:ext>
            </a:extLst>
          </p:cNvPr>
          <p:cNvSpPr txBox="1"/>
          <p:nvPr/>
        </p:nvSpPr>
        <p:spPr>
          <a:xfrm>
            <a:off x="702127" y="1048864"/>
            <a:ext cx="794385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Installation de java: (s’il n’est pas installé)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Puis i</a:t>
            </a:r>
            <a:r>
              <a:rPr lang="fr-FR" sz="1200" dirty="0"/>
              <a:t>mporter la </a:t>
            </a:r>
            <a:r>
              <a:rPr lang="fr-FR" sz="1200" b="1" dirty="0"/>
              <a:t>bonne</a:t>
            </a:r>
            <a:r>
              <a:rPr lang="fr-FR" sz="1200" dirty="0"/>
              <a:t> clé GPG (celle du NO_PUBKEY)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Installer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sbt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6A397E0-115F-5308-EE56-875FB846B35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DC2D870-A50E-FE82-060A-DA8372D57E4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68C409B-474E-0561-2360-8DEAA1C38E9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955B3FA-0C97-467A-B33B-875288522BDB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Préparation environnement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69267-ACB3-D020-729F-2D616781D7A4}"/>
              </a:ext>
            </a:extLst>
          </p:cNvPr>
          <p:cNvSpPr/>
          <p:nvPr/>
        </p:nvSpPr>
        <p:spPr>
          <a:xfrm>
            <a:off x="1220399" y="1363012"/>
            <a:ext cx="7098411" cy="75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apt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update</a:t>
            </a:r>
            <a:b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</a:br>
            <a:r>
              <a:rPr lang="fr-FR" sz="12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2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apt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2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install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openjdk-17-jdk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Java -version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A30DC6-37D2-562C-0F8D-D1DE2804EF7C}"/>
              </a:ext>
            </a:extLst>
          </p:cNvPr>
          <p:cNvSpPr/>
          <p:nvPr/>
        </p:nvSpPr>
        <p:spPr>
          <a:xfrm>
            <a:off x="1220398" y="2701298"/>
            <a:ext cx="7098412" cy="13354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curl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fsSL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https://keyserver.ubuntu.com/pks/lookup?op=get\&amp;search=0x99E82A75642AC823 \</a:t>
            </a:r>
          </a:p>
          <a:p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|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gpg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--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dearmor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-o 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usr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share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keyrings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sbt-keyring.gpg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echo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"deb [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signed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-by=/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usr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share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keyrings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sbt-keyring.gpg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] https://repo.scala-sbt.org/scalasbt/debian all main" \</a:t>
            </a:r>
          </a:p>
          <a:p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|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tee 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etc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apt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sources.list.d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sbt.list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A96121-354B-B5B6-8D2A-7B35EB5563B4}"/>
              </a:ext>
            </a:extLst>
          </p:cNvPr>
          <p:cNvSpPr/>
          <p:nvPr/>
        </p:nvSpPr>
        <p:spPr>
          <a:xfrm>
            <a:off x="1220398" y="4413888"/>
            <a:ext cx="7098411" cy="6691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apt-get update</a:t>
            </a:r>
          </a:p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sudo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apt-get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install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-y 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sbt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sbt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--version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22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DDF1A-3D6A-CF77-A338-70F6F418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BCF7ED0-02A2-302E-FC79-A8085B18BAA9}"/>
              </a:ext>
            </a:extLst>
          </p:cNvPr>
          <p:cNvSpPr txBox="1"/>
          <p:nvPr/>
        </p:nvSpPr>
        <p:spPr>
          <a:xfrm>
            <a:off x="702127" y="1048864"/>
            <a:ext cx="7943850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Ouvrir le projet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dans Visual code: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répertoire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scala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Nous allons créer une application qui lit un fichier « 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data.json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 » et qui l’affiche.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 avec les deux fichiers que nous allons créer pour l’application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687B612-98E0-E503-4B4C-49A98DE6688E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BA39934-6485-A736-9AF4-898E987190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773FF71-DD11-F86F-C4ED-4084F23BD1FC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CCFA671-B9AB-9E65-F797-583B7CE6DDA2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scala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194279-4A77-DD74-363D-1BF27B93B373}"/>
              </a:ext>
            </a:extLst>
          </p:cNvPr>
          <p:cNvSpPr/>
          <p:nvPr/>
        </p:nvSpPr>
        <p:spPr>
          <a:xfrm>
            <a:off x="1220399" y="1363012"/>
            <a:ext cx="3069103" cy="43605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</a:t>
            </a:r>
            <a:r>
              <a:rPr lang="fr-FR" sz="12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 ~/</a:t>
            </a:r>
            <a:r>
              <a:rPr lang="fr-FR" sz="1200" dirty="0" err="1">
                <a:effectLst/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code .</a:t>
            </a:r>
            <a:endParaRPr lang="fr-FR" sz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E87C08A-C089-F85A-FAD7-D422FC13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483" y="2952847"/>
            <a:ext cx="1908507" cy="1879089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D4C9294E-B5B6-B3A2-28DC-2F2F0A6FDE44}"/>
              </a:ext>
            </a:extLst>
          </p:cNvPr>
          <p:cNvCxnSpPr>
            <a:cxnSpLocks/>
          </p:cNvCxnSpPr>
          <p:nvPr/>
        </p:nvCxnSpPr>
        <p:spPr>
          <a:xfrm>
            <a:off x="4289502" y="3013610"/>
            <a:ext cx="1449954" cy="153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4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A181-CB49-DE1B-8700-292E6D7F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9D05778-DDC9-144F-97CC-6F8B1E452C05}"/>
              </a:ext>
            </a:extLst>
          </p:cNvPr>
          <p:cNvSpPr txBox="1"/>
          <p:nvPr/>
        </p:nvSpPr>
        <p:spPr>
          <a:xfrm>
            <a:off x="702127" y="1048864"/>
            <a:ext cx="7943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fichier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MonJobSpark.scala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FCF57B2C-63ED-4A75-3C62-C73B0CBE6B24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F588CB7-1956-6DC3-70DB-E0FA3350C96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432B508-0692-B5F2-C2D7-32A55D9EEBB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470A8FD-C58C-ED84-8241-FB9706490D18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scala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BFA47-CF39-6249-D2E3-6F93C8050588}"/>
              </a:ext>
            </a:extLst>
          </p:cNvPr>
          <p:cNvSpPr/>
          <p:nvPr/>
        </p:nvSpPr>
        <p:spPr>
          <a:xfrm>
            <a:off x="1517627" y="1363012"/>
            <a:ext cx="6312850" cy="372169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.{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SparkSession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DataFrame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import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org.apache.spark.sql.types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.{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StructType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StructField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StringType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IntegerType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object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MonJobSpark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{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def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main(args: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Array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[String]): Unit = {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// Créer une session Spark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val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SparkSession.builder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appName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MonJobSpark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getOrCreate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// Définir un schéma explicite pour le fichier JSON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val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new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StructType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add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("col1",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StringType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  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add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("col2",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IntegerType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,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true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// Lire le fichier JSON en appliquant le schéma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val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df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=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spark.read.schema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schema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).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json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("chemin/vers/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data.json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// Afficher les données lues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df.show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// Arrêter la session Spark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spark.stop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()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}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077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FFFD-ED17-8D48-9F69-F0AEC81B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F9A965C-4164-6EBF-F383-146DB028F622}"/>
              </a:ext>
            </a:extLst>
          </p:cNvPr>
          <p:cNvSpPr txBox="1"/>
          <p:nvPr/>
        </p:nvSpPr>
        <p:spPr>
          <a:xfrm>
            <a:off x="702127" y="1048864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fichier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built.sbt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Ouvrir un terminal est compiler l’application avec </a:t>
            </a:r>
            <a:r>
              <a:rPr lang="fr-FR" sz="1200" b="1" dirty="0" err="1">
                <a:ea typeface="Calibri" panose="020F0502020204030204" pitchFamily="34" charset="0"/>
                <a:cs typeface="Arial" panose="020B0604020202020204" pitchFamily="34" charset="0"/>
              </a:rPr>
              <a:t>sbt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1FC42AC-4018-5EF9-6A9B-FFF6F60E4AC5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0C6671F-C1D4-0AAE-9A7C-0DBF6439A3A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0B59817-9295-381B-83C7-DFE9F7718D5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E300130-21BC-E43C-E50F-5ACF23EAD27A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scala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B3ED97-D6FD-9E08-D935-FC7FCF4F4393}"/>
              </a:ext>
            </a:extLst>
          </p:cNvPr>
          <p:cNvSpPr/>
          <p:nvPr/>
        </p:nvSpPr>
        <p:spPr>
          <a:xfrm>
            <a:off x="1517627" y="1363013"/>
            <a:ext cx="6312850" cy="128354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name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:= "mon-job-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version := "1.0"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scalaVersion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:= "2.12.18"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libraryDependencies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++= Seq(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%%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spark-core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% "3.5.0" %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provided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",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org.apache.spark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%%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spark-sql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  % "3.5.0" %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provided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99A72-DC86-37FD-E6C7-B423BE2E4222}"/>
              </a:ext>
            </a:extLst>
          </p:cNvPr>
          <p:cNvSpPr/>
          <p:nvPr/>
        </p:nvSpPr>
        <p:spPr>
          <a:xfrm>
            <a:off x="1352276" y="3101478"/>
            <a:ext cx="6312850" cy="4163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cd ~/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/scala</a:t>
            </a:r>
          </a:p>
          <a:p>
            <a:r>
              <a:rPr lang="fr-FR" sz="1000" dirty="0" err="1"/>
              <a:t>sbt</a:t>
            </a:r>
            <a:r>
              <a:rPr lang="fr-FR" sz="1000" dirty="0"/>
              <a:t> "clean ; package"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9CA753C-4A12-3676-401C-F4C98493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27" y="3729878"/>
            <a:ext cx="2218345" cy="135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6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FFD3-22C8-0570-0DCC-E7571073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DF65296-9E5F-FC2C-A17B-A30FCD049F5C}"/>
              </a:ext>
            </a:extLst>
          </p:cNvPr>
          <p:cNvSpPr txBox="1"/>
          <p:nvPr/>
        </p:nvSpPr>
        <p:spPr>
          <a:xfrm>
            <a:off x="702127" y="1048864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Copier le fichier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mon-job-spark_2.12-1.0.jar 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dans le partage data de 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spark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. Ouvrir un terminal.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Créer un répertoire </a:t>
            </a: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input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sous 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~/</a:t>
            </a:r>
            <a:r>
              <a:rPr lang="fr-FR" sz="12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</a:t>
            </a:r>
            <a:r>
              <a:rPr lang="fr-FR" sz="1200" dirty="0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 y mettre le fichier </a:t>
            </a:r>
            <a:r>
              <a:rPr lang="fr-FR" sz="1200" dirty="0" err="1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data.json</a:t>
            </a:r>
            <a:r>
              <a:rPr lang="fr-FR" sz="1200" dirty="0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suivant: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latin typeface="Aptos" panose="020B00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Résultat:</a:t>
            </a:r>
            <a:endParaRPr lang="fr-FR" sz="12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90D27BE-F91F-2715-90CB-1647FF318A12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58CB236-AEFC-2E82-228B-F9002DAFAF3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52C9E4A-A5EE-0612-6F09-27CB84B67148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AACE6D3-6DA4-BBEB-42F5-56E12647D11E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scala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270188-CC4D-D175-722F-9E28A6ED3E9C}"/>
              </a:ext>
            </a:extLst>
          </p:cNvPr>
          <p:cNvSpPr/>
          <p:nvPr/>
        </p:nvSpPr>
        <p:spPr>
          <a:xfrm>
            <a:off x="1517627" y="1363013"/>
            <a:ext cx="6312850" cy="6652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cd ~/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mkdir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scala</a:t>
            </a:r>
          </a:p>
          <a:p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cp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../../scala/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target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/scala-2.12/mon-job-spark_2.12-1.0.jar </a:t>
            </a:r>
          </a:p>
          <a:p>
            <a:endParaRPr lang="fr-FR" sz="10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AC445D-8A1F-48D2-3FC0-FB6A4DC146E0}"/>
              </a:ext>
            </a:extLst>
          </p:cNvPr>
          <p:cNvSpPr/>
          <p:nvPr/>
        </p:nvSpPr>
        <p:spPr>
          <a:xfrm>
            <a:off x="1415575" y="2686452"/>
            <a:ext cx="6312850" cy="8447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[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"value1", "col2": 123},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"value2", "col2": "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wrong_value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"},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{"col1": "value3", "col2": 789}</a:t>
            </a:r>
          </a:p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]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EAFA1F-0BEC-EB5C-54AB-C5E895F65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27" y="3698865"/>
            <a:ext cx="6205218" cy="122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768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085A-AB9D-12DB-4777-319FDCB95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73312C82-76E5-316B-E21C-05F5F23C9457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b="1" dirty="0">
                <a:ea typeface="Calibri" panose="020F0502020204030204" pitchFamily="34" charset="0"/>
                <a:cs typeface="Arial" panose="020B0604020202020204" pitchFamily="34" charset="0"/>
              </a:rPr>
              <a:t>Le répertoire </a:t>
            </a:r>
            <a:r>
              <a:rPr lang="fr-FR" sz="1200" b="1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~/</a:t>
            </a:r>
            <a:r>
              <a:rPr lang="fr-FR" sz="1200" b="1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200" b="1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/data étant partagé il n’est pas nécessaire de redémarrer le service.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Tester l’application: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latin typeface="Aptos" panose="020B0004020202020204" pitchFamily="34" charset="0"/>
              <a:ea typeface="DengXian" panose="02010600030101010101" pitchFamily="2" charset="-122"/>
              <a:cs typeface="Aptos" panose="020B00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Résultat:</a:t>
            </a: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800"/>
              </a:spcAft>
            </a:pP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7449C3C-75DD-F576-D4CE-BDE4DBFE39DA}"/>
              </a:ext>
            </a:extLst>
          </p:cNvPr>
          <p:cNvSpPr/>
          <p:nvPr/>
        </p:nvSpPr>
        <p:spPr>
          <a:xfrm>
            <a:off x="728524" y="58794"/>
            <a:ext cx="7943850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2EE16CD-B0F7-2FAD-A572-E1A1AB8FFFF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C08D25EC-6538-D260-2097-FD75E6A2551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C885D3D-6D99-7957-703D-D5E51D4F86D0}"/>
              </a:ext>
            </a:extLst>
          </p:cNvPr>
          <p:cNvSpPr txBox="1"/>
          <p:nvPr/>
        </p:nvSpPr>
        <p:spPr>
          <a:xfrm>
            <a:off x="824975" y="311564"/>
            <a:ext cx="736745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Premier code en scala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4A1B08-0100-95CF-88F3-0582B963AAFE}"/>
              </a:ext>
            </a:extLst>
          </p:cNvPr>
          <p:cNvSpPr/>
          <p:nvPr/>
        </p:nvSpPr>
        <p:spPr>
          <a:xfrm>
            <a:off x="775750" y="1748247"/>
            <a:ext cx="7849397" cy="40765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docker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exec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-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-master 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opt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/bin/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spark-submit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--class </a:t>
            </a:r>
            <a:r>
              <a:rPr lang="fr-FR" sz="1000" dirty="0" err="1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MonJobSpark</a:t>
            </a:r>
            <a:r>
              <a:rPr lang="fr-FR" sz="1000" dirty="0">
                <a:latin typeface="Aptos" panose="020B0004020202020204" pitchFamily="34" charset="0"/>
                <a:ea typeface="DengXian" panose="02010600030101010101" pitchFamily="2" charset="-122"/>
                <a:cs typeface="Aptos" panose="020B0004020202020204" pitchFamily="34" charset="0"/>
              </a:rPr>
              <a:t>   --master local[*]   /data/scala/mon-job-spark_2.12-1.0.jar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9B5623D-F494-22B9-616B-2D590AB5E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542" y="2290229"/>
            <a:ext cx="6177264" cy="279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54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4349</TotalTime>
  <Words>928</Words>
  <Application>Microsoft Office PowerPoint</Application>
  <PresentationFormat>Affichage à l'écran (16:9)</PresentationFormat>
  <Paragraphs>160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3" baseType="lpstr">
      <vt:lpstr>Abadi Extra Light</vt:lpstr>
      <vt:lpstr>Arial Unicode MS</vt:lpstr>
      <vt:lpstr>Arial Unicode MS</vt:lpstr>
      <vt:lpstr>FUTURA MEDIUM</vt:lpstr>
      <vt:lpstr>Agency FB</vt:lpstr>
      <vt:lpstr>Aptos</vt:lpstr>
      <vt:lpstr>Calibri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186</cp:revision>
  <dcterms:created xsi:type="dcterms:W3CDTF">2021-01-18T11:01:50Z</dcterms:created>
  <dcterms:modified xsi:type="dcterms:W3CDTF">2026-09-28T19:47:58Z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