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9"/>
  </p:notesMasterIdLst>
  <p:sldIdLst>
    <p:sldId id="263" r:id="rId5"/>
    <p:sldId id="2134807190" r:id="rId6"/>
    <p:sldId id="2134807191" r:id="rId7"/>
    <p:sldId id="2134807223" r:id="rId8"/>
    <p:sldId id="2134807224" r:id="rId9"/>
    <p:sldId id="2134807225" r:id="rId10"/>
    <p:sldId id="2134807226" r:id="rId11"/>
    <p:sldId id="2134807227" r:id="rId12"/>
    <p:sldId id="2134807228" r:id="rId13"/>
    <p:sldId id="2134807229" r:id="rId14"/>
    <p:sldId id="2134807230" r:id="rId15"/>
    <p:sldId id="2134807231" r:id="rId16"/>
    <p:sldId id="2134807232" r:id="rId17"/>
    <p:sldId id="2134807233" r:id="rId18"/>
    <p:sldId id="2134807234" r:id="rId19"/>
    <p:sldId id="2134807235" r:id="rId20"/>
    <p:sldId id="2134807236" r:id="rId21"/>
    <p:sldId id="2134807238" r:id="rId22"/>
    <p:sldId id="2134807237" r:id="rId23"/>
    <p:sldId id="2134807240" r:id="rId24"/>
    <p:sldId id="2134807241" r:id="rId25"/>
    <p:sldId id="2134807242" r:id="rId26"/>
    <p:sldId id="2134807243" r:id="rId27"/>
    <p:sldId id="2134807244" r:id="rId28"/>
    <p:sldId id="2134807245" r:id="rId29"/>
    <p:sldId id="2134807246" r:id="rId30"/>
    <p:sldId id="2134807247" r:id="rId31"/>
    <p:sldId id="2134807248" r:id="rId32"/>
    <p:sldId id="2134807249" r:id="rId33"/>
    <p:sldId id="2134807254" r:id="rId34"/>
    <p:sldId id="2134807250" r:id="rId35"/>
    <p:sldId id="2134807251" r:id="rId36"/>
    <p:sldId id="2134807252" r:id="rId37"/>
    <p:sldId id="269" r:id="rId38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2T09:36:5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/home/user/image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9.png"/><Relationship Id="rId4" Type="http://schemas.openxmlformats.org/officeDocument/2006/relationships/image" Target="../media/image14.emf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Analyse d’image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1F5F-595C-09B5-5C35-02711E01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41A8434-F6BB-BC89-2D85-2C0FF7061EDD}"/>
              </a:ext>
            </a:extLst>
          </p:cNvPr>
          <p:cNvSpPr txBox="1"/>
          <p:nvPr/>
        </p:nvSpPr>
        <p:spPr>
          <a:xfrm>
            <a:off x="702127" y="104886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Objectif: A partir d’images de chats et de chiens construire un modèle permettant d’identifier des chats et chiens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Récupérer les images à partir du fichier chats_chiens.tar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3BD1FA4-1DF6-4DC5-6375-25DE6F90C1F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9E5E3E1-1B0C-F56E-7E22-B1671F48C8C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EA444D5-E6AC-6953-6D1C-710FBEAE4C1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AACAC9E-EC7A-ECAB-AD24-FE88C407869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Objectif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260536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BEE2-A68F-4408-5343-878ECD9A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B63989B-A4FC-AAFA-7523-A2FD237B9A4A}"/>
              </a:ext>
            </a:extLst>
          </p:cNvPr>
          <p:cNvSpPr txBox="1"/>
          <p:nvPr/>
        </p:nvSpPr>
        <p:spPr>
          <a:xfrm>
            <a:off x="702127" y="1048864"/>
            <a:ext cx="794385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Copie le fichier chiens_chats.tar dans le répertoire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et se positionner dans le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repertoire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cd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Extraire les données dans le répertoire: tar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xvf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chat_chiens.tar . Les images sont extraites dans data/images/[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cat|dog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].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nouveau Notebook: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Analyse_image.ipynb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Importer dans la première cellule la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library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pour créer la session Spark: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611A00BD-83BF-174D-0170-F6230E9A6CF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A5EB035-AD5A-5C83-7228-E09E0890BCA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E6FA7A0-321F-1D2B-5B44-C0E37E30F2D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8D9DD77-9A12-2096-1B1A-4D489AE1349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FBCE4-C435-F6B8-D2F4-890C55F62DA2}"/>
              </a:ext>
            </a:extLst>
          </p:cNvPr>
          <p:cNvSpPr/>
          <p:nvPr/>
        </p:nvSpPr>
        <p:spPr>
          <a:xfrm>
            <a:off x="1606211" y="2208156"/>
            <a:ext cx="4242984" cy="4755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cd ~/</a:t>
            </a:r>
            <a:r>
              <a:rPr lang="fr-FR" sz="10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tar </a:t>
            </a:r>
            <a:r>
              <a:rPr lang="fr-FR" sz="1000" dirty="0" err="1">
                <a:ea typeface="Calibri" panose="020F0502020204030204" pitchFamily="34" charset="0"/>
                <a:cs typeface="Arial" panose="020B0604020202020204" pitchFamily="34" charset="0"/>
              </a:rPr>
              <a:t>xvf</a:t>
            </a: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 chat_chiens.tar</a:t>
            </a:r>
            <a:endParaRPr lang="fr-FR" sz="10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A4930E-A77E-4E1C-D443-D404ACE28CC2}"/>
              </a:ext>
            </a:extLst>
          </p:cNvPr>
          <p:cNvSpPr/>
          <p:nvPr/>
        </p:nvSpPr>
        <p:spPr>
          <a:xfrm>
            <a:off x="1606211" y="3605233"/>
            <a:ext cx="4242984" cy="4755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87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EF380-FC39-DE72-C9B8-B20D3C4F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4E7F60C-0679-148B-9C9B-7B2861C4244C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une session locale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la cellule suivante: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6B546624-2ED4-E80D-ABDF-0102F36172FC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6E6945D-D97C-42C2-5AC8-E8588702109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16F72B9-6125-5AC8-9CCA-2BC4B2FD602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D87325-5593-428B-718E-16877350E3FF}"/>
              </a:ext>
            </a:extLst>
          </p:cNvPr>
          <p:cNvSpPr/>
          <p:nvPr/>
        </p:nvSpPr>
        <p:spPr>
          <a:xfrm>
            <a:off x="1851538" y="1887946"/>
            <a:ext cx="4242984" cy="22587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Optionnel mais souvent utile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"SPARK_LOCAL_IP"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"127.0.0.1"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SparkSession.builder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"Reconnaissance"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master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"local[*]"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spark.driver.bindAddress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"127.0.0.1"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spark.driver.host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"localhost"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getOrCreate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F8B934-BA8C-CD59-86E6-6331A7D9ED0C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15756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E224-F023-1FD1-AFC7-7AA6349E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3C591F3-8486-FCB3-D805-2AA000853316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Charger les images dans une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CDF4A63-9357-3B46-0586-5069FF128B71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49DA513-912A-B920-B3DD-732D5AC2F20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B903C8A-7D69-CD6F-1CB8-DFC25285EAC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6A75F-2F7E-3072-0018-5FB46E881C6D}"/>
              </a:ext>
            </a:extLst>
          </p:cNvPr>
          <p:cNvSpPr/>
          <p:nvPr/>
        </p:nvSpPr>
        <p:spPr>
          <a:xfrm>
            <a:off x="1508915" y="1865645"/>
            <a:ext cx="5211553" cy="27732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pyspark.sql.functions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col,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regexp_extract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when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1) Lecture des images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.read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data source "image" de Spark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dropInvalid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"/data/images/*/*"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sous-dossiers cat/ et dog/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printSchema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image.origin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image.width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image.height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9A8620-C45F-8644-2E6C-A4A8A04247C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247127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A1C9-7251-4BD2-6E2A-3C7E1E2C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66033DF-4EC7-D1FA-D5BB-3B3AF84ABE8C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Charger les images dans une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: (Notes que toutes les image n’ont pas la même taille =&gt; normalisation)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2828909-6FD2-F52C-F303-8C95E7F05426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0E7E78F-7702-F6BA-E67B-5141DE4AC35D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B06097F-4A7F-A485-D35F-83651CF6B17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A0AB21-401B-DD6A-80E8-82728AF8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94" y="1827415"/>
            <a:ext cx="7487079" cy="309373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1465B46-992B-17D5-DCB6-3D03414964F2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3255577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5969-6900-7E2C-1BB2-7EBA2B22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C255176-6D0C-0067-C8BE-930505F12DE4}"/>
              </a:ext>
            </a:extLst>
          </p:cNvPr>
          <p:cNvSpPr txBox="1"/>
          <p:nvPr/>
        </p:nvSpPr>
        <p:spPr>
          <a:xfrm>
            <a:off x="702127" y="1048864"/>
            <a:ext cx="794385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On met une étiquette sur les images:</a:t>
            </a:r>
          </a:p>
          <a:p>
            <a:pPr marL="628650" lvl="1" indent="-171450" algn="just"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0 c’est un chat</a:t>
            </a:r>
          </a:p>
          <a:p>
            <a:pPr marL="628650" lvl="1" indent="-171450" algn="just"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1 c ’est un chien</a:t>
            </a: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Utilisation ensuite d’un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modèle supervisé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CB40E25-F408-B5A5-936C-8DFACB066C1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0CD3401-74A9-4F44-C5F6-062D9E8BA77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CF914CB-C0B9-6786-5FAD-F77C5673CD7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3081FF-B670-CE83-668D-1C123AD3B7E6}"/>
              </a:ext>
            </a:extLst>
          </p:cNvPr>
          <p:cNvSpPr/>
          <p:nvPr/>
        </p:nvSpPr>
        <p:spPr>
          <a:xfrm>
            <a:off x="3687119" y="1419922"/>
            <a:ext cx="5211553" cy="35897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pyspark.sql.functions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regexp_extract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Extraire "cat" ou "dog" depuis le chemin du fichier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label_str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regexp_extract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image.origin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On garde seulement les lignes correctement labelisées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label_str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Convertir en label numérique (0 = chat, 1 = chien par exemple)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label_str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otherwise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image.origin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label_str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0AFA39B-F381-5EC9-899F-1899464F8B6F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4117593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C91F0-C598-D5A1-37B8-7A666FFD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F332373F-C73B-8B9D-0EC2-AFF2DFEB92C4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18E2079-3492-B0B7-CE41-DAE0F99135D1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9F3A5FB-053C-AFB8-5654-155DE8711D4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1C9D4FC-7BFC-3A95-4363-A8E10DF97BD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3B73A4-110B-E56C-5A23-A021403D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73" y="1401927"/>
            <a:ext cx="8167557" cy="256790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0D7AD63-41D3-9BE1-8ED7-F6A36FA5D01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2236534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0EAB-0C30-E76B-5277-CE0214CC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1DD6E99-6ADE-D8C1-4236-B7FA8CCAD576}"/>
              </a:ext>
            </a:extLst>
          </p:cNvPr>
          <p:cNvSpPr txBox="1"/>
          <p:nvPr/>
        </p:nvSpPr>
        <p:spPr>
          <a:xfrm>
            <a:off x="650023" y="1053054"/>
            <a:ext cx="79438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On compte les images :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08C41CA-1139-01FF-5CDE-D4603688829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092FA23-549B-A490-75DE-FF58526589D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0C35769-EF7D-86E0-96A3-E5A647DAF95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F7081-7BEF-6155-CF59-BE96A8ED0B48}"/>
              </a:ext>
            </a:extLst>
          </p:cNvPr>
          <p:cNvSpPr/>
          <p:nvPr/>
        </p:nvSpPr>
        <p:spPr>
          <a:xfrm>
            <a:off x="3687119" y="1419923"/>
            <a:ext cx="5211553" cy="4311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"Nb d'images 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778D0DE-E3F4-C59C-86B6-29FD517D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19" y="2138068"/>
            <a:ext cx="3439005" cy="67636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649B8C4-FEE7-728C-450A-EE8D3C6E25E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1728388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C8204-5538-A15B-E7A8-D755855C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54EE42D-7411-A540-E493-9ED1F8E7B500}"/>
              </a:ext>
            </a:extLst>
          </p:cNvPr>
          <p:cNvSpPr txBox="1"/>
          <p:nvPr/>
        </p:nvSpPr>
        <p:spPr>
          <a:xfrm>
            <a:off x="650023" y="105305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On normalise la dimension des images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CB392CA-6FF5-7606-1F2C-531A20E9280A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4ACD9F1-6656-20B6-D34E-343C4F2DF90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B7C53AC-6EEA-823A-E067-B13FE509EB9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BB924D-7E05-BD84-01D8-A2B4BDCF16D2}"/>
              </a:ext>
            </a:extLst>
          </p:cNvPr>
          <p:cNvSpPr/>
          <p:nvPr/>
        </p:nvSpPr>
        <p:spPr>
          <a:xfrm>
            <a:off x="3731724" y="1018304"/>
            <a:ext cx="5211553" cy="40729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PIL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Image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pillow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pyspark.sql.types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ArrayType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DoubleType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pyspark.sql.functions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col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TARGET_W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TARGET_H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image_to_vector_resize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.height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.width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.nChannels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frombuffer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fr-FR" sz="1000" dirty="0">
                <a:solidFill>
                  <a:srgbClr val="ABB2BF"/>
                </a:solidFill>
                <a:latin typeface="Consolas" panose="020B0609020204030204" pitchFamily="49" charset="0"/>
              </a:rPr>
              <a:t>… Suite page suivante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72448D-180B-F313-EAC3-605E82EA4A42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606241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F96D-44F6-FA91-83BB-17B81A97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9087C60-67CD-D039-ED8D-C68D3782E0A4}"/>
              </a:ext>
            </a:extLst>
          </p:cNvPr>
          <p:cNvSpPr txBox="1"/>
          <p:nvPr/>
        </p:nvSpPr>
        <p:spPr>
          <a:xfrm>
            <a:off x="650023" y="1053054"/>
            <a:ext cx="2940453" cy="373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On normalise les images en Niveau de gris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Finalement on vectorise les images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On rajoute ce vecteur à notre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Dataframe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labelisée précédemment.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6786107-4B50-F922-3160-79972D558495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C4322D1-E975-31E8-8999-FEF050B46B0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AC0BEE8-7CC6-9E65-C88F-347834EF043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B486E-A102-9373-DA94-92C00A579460}"/>
              </a:ext>
            </a:extLst>
          </p:cNvPr>
          <p:cNvSpPr/>
          <p:nvPr/>
        </p:nvSpPr>
        <p:spPr>
          <a:xfrm>
            <a:off x="3761461" y="1117366"/>
            <a:ext cx="5211553" cy="3914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Spark stocke souvent en BGR : on passe en RGB (optionnel selon ton cas)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[:, :, :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][:, :, ::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BGR -&gt; RGB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[:, :,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Conversion en image PIL +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resize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Image.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fromarray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"uint8"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"RGB"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TARGET_W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TARGET_H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Niveau de gris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255.0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flatten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"float32"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image_to_vec_udf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image_to_vector_resize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DoubleType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images_feat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images_labeled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features_array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image_to_vec_udf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BED72D-C298-4892-A0CD-0B6F2E285DD4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99120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9EBE-BA0F-C128-2073-761E8AAD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A00F380-FE7E-F20E-4F7C-6928FBB32EC4}"/>
              </a:ext>
            </a:extLst>
          </p:cNvPr>
          <p:cNvSpPr txBox="1"/>
          <p:nvPr/>
        </p:nvSpPr>
        <p:spPr>
          <a:xfrm>
            <a:off x="650023" y="1053054"/>
            <a:ext cx="8047928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Transformation du tableau précédente en Vecteur Spark (très utilisé: souvent attendu par les fonctions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0D8F262-19B9-3939-CA15-17230729BF83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6A3BAD2-749D-0FA2-00A3-BF2E474C04A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2FBFDFD-18E9-F472-4F14-D6619E3AC0B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38901-2BC1-AE36-ED7E-D66930AA3CB9}"/>
              </a:ext>
            </a:extLst>
          </p:cNvPr>
          <p:cNvSpPr/>
          <p:nvPr/>
        </p:nvSpPr>
        <p:spPr>
          <a:xfrm>
            <a:off x="1612992" y="1810012"/>
            <a:ext cx="6690949" cy="12689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pyspark.ml.linalg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Vectors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VectorUDT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to_vector_udf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Vectors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dense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VectorUDT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images_feat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to_vector_udf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features_array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))).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features_array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isNotNull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0466145-B8CD-47A8-9E25-C1E2A0E81524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204060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BA96-8ACF-D78F-D960-8C53F450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7CF43255-3812-9C7E-9379-E9542AD2EE40}"/>
              </a:ext>
            </a:extLst>
          </p:cNvPr>
          <p:cNvSpPr txBox="1"/>
          <p:nvPr/>
        </p:nvSpPr>
        <p:spPr>
          <a:xfrm>
            <a:off x="365918" y="1041315"/>
            <a:ext cx="22723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Application du modèle ML Spark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Séparation en deux parties du jeu de données en 80% (training) et 20% (Test)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Définition d’une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Regression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Logistique.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Mise en place Pipeline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Entrainement du modèle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Application du modèle au données de test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Définition du modèle d’évaluation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Application du modèle d’évaluation et impression résultat.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Tx/>
              <a:buChar char="-"/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Affiche des prédictions (10)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2A52C18-2649-AE25-1092-C214F6E2AB5B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114ECF82-3133-F340-E42F-1F8F03A3748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F341F94-9F0F-5C94-C9EA-B1A1F48EB6B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29D08-87AD-8618-27B3-0762117C7260}"/>
              </a:ext>
            </a:extLst>
          </p:cNvPr>
          <p:cNvSpPr/>
          <p:nvPr/>
        </p:nvSpPr>
        <p:spPr>
          <a:xfrm>
            <a:off x="2638318" y="838421"/>
            <a:ext cx="6482977" cy="42462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pyspark.ml.classification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LogisticRegression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pyspark.ml.evaluation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BinaryClassificationEvaluator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pyspark.ml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Pipeline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train_df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randomSplit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#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permet la répétabilité.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LogisticRegression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featuresCol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labelCol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maxIter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E06C7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stages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train_df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evaluator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BinaryClassificationEvaluator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labelCol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rawPredictionCol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rawPrediction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metricName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areaUnderROC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evaluator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evaluate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"AUC ROC 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image.origin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probability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677215BA-E1AF-796E-38E4-FD3D124A8AD0}"/>
              </a:ext>
            </a:extLst>
          </p:cNvPr>
          <p:cNvCxnSpPr>
            <a:cxnSpLocks/>
          </p:cNvCxnSpPr>
          <p:nvPr/>
        </p:nvCxnSpPr>
        <p:spPr>
          <a:xfrm flipV="1">
            <a:off x="2378518" y="2166669"/>
            <a:ext cx="349596" cy="1664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B57331D6-9140-7558-2D5A-F8F44CBC2640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B57331D6-9140-7558-2D5A-F8F44CBC2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E18B657-F1F3-6E27-1009-3AEBB1378D50}"/>
              </a:ext>
            </a:extLst>
          </p:cNvPr>
          <p:cNvCxnSpPr>
            <a:cxnSpLocks/>
          </p:cNvCxnSpPr>
          <p:nvPr/>
        </p:nvCxnSpPr>
        <p:spPr>
          <a:xfrm flipV="1">
            <a:off x="2152910" y="2468137"/>
            <a:ext cx="530599" cy="385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EEFCD152-7CAB-7179-B36A-09B21CADD66C}"/>
              </a:ext>
            </a:extLst>
          </p:cNvPr>
          <p:cNvCxnSpPr>
            <a:cxnSpLocks/>
          </p:cNvCxnSpPr>
          <p:nvPr/>
        </p:nvCxnSpPr>
        <p:spPr>
          <a:xfrm flipV="1">
            <a:off x="2289717" y="2824554"/>
            <a:ext cx="348600" cy="294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C4B7592-2114-6E6B-69CE-0A86E9424EAF}"/>
              </a:ext>
            </a:extLst>
          </p:cNvPr>
          <p:cNvCxnSpPr>
            <a:cxnSpLocks/>
          </p:cNvCxnSpPr>
          <p:nvPr/>
        </p:nvCxnSpPr>
        <p:spPr>
          <a:xfrm flipV="1">
            <a:off x="2348851" y="3235836"/>
            <a:ext cx="289466" cy="213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C1DE557-8C8F-A525-A276-63B4686F6E10}"/>
              </a:ext>
            </a:extLst>
          </p:cNvPr>
          <p:cNvCxnSpPr>
            <a:cxnSpLocks/>
          </p:cNvCxnSpPr>
          <p:nvPr/>
        </p:nvCxnSpPr>
        <p:spPr>
          <a:xfrm>
            <a:off x="2152910" y="3961123"/>
            <a:ext cx="5305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59852E28-2A7B-1D31-0A26-D775336E59F6}"/>
              </a:ext>
            </a:extLst>
          </p:cNvPr>
          <p:cNvCxnSpPr>
            <a:cxnSpLocks/>
          </p:cNvCxnSpPr>
          <p:nvPr/>
        </p:nvCxnSpPr>
        <p:spPr>
          <a:xfrm>
            <a:off x="2216407" y="4390376"/>
            <a:ext cx="4022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9CD3B34-F34E-15C6-6850-171256CDCEEC}"/>
              </a:ext>
            </a:extLst>
          </p:cNvPr>
          <p:cNvCxnSpPr>
            <a:cxnSpLocks/>
          </p:cNvCxnSpPr>
          <p:nvPr/>
        </p:nvCxnSpPr>
        <p:spPr>
          <a:xfrm flipV="1">
            <a:off x="2348851" y="4958576"/>
            <a:ext cx="269844" cy="525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38DE9B31-E901-9D09-3928-1EF5069465CE}"/>
              </a:ext>
            </a:extLst>
          </p:cNvPr>
          <p:cNvCxnSpPr>
            <a:cxnSpLocks/>
          </p:cNvCxnSpPr>
          <p:nvPr/>
        </p:nvCxnSpPr>
        <p:spPr>
          <a:xfrm flipV="1">
            <a:off x="2417551" y="1787031"/>
            <a:ext cx="310563" cy="1038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7AF75782-35A3-9090-2AFA-EF962AB4AA74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83310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AEA1-20D2-78B1-1AAC-C6145AE2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A163954-4A62-5890-F463-A73A684DBF60}"/>
              </a:ext>
            </a:extLst>
          </p:cNvPr>
          <p:cNvSpPr txBox="1"/>
          <p:nvPr/>
        </p:nvSpPr>
        <p:spPr>
          <a:xfrm>
            <a:off x="702127" y="104886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D1EF22C-1543-8DDC-B92C-8DA8C225E425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187A7EA-7949-E336-0D7C-F5F9B3702E9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5944D0A-13E8-C9CD-B1FE-6261FAAD129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E53C13-E621-E070-D92C-90CDE16E4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24" y="1468005"/>
            <a:ext cx="8291663" cy="227137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010F65-E813-E2EF-3F08-5345220458FF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</p:spTree>
    <p:extLst>
      <p:ext uri="{BB962C8B-B14F-4D97-AF65-F5344CB8AC3E}">
        <p14:creationId xmlns:p14="http://schemas.microsoft.com/office/powerpoint/2010/main" val="868054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30DB9-D453-2E99-0DA7-8C3E23BDB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526D98F-D1E4-BC46-6296-4F360CE54E1A}"/>
              </a:ext>
            </a:extLst>
          </p:cNvPr>
          <p:cNvSpPr txBox="1"/>
          <p:nvPr/>
        </p:nvSpPr>
        <p:spPr>
          <a:xfrm>
            <a:off x="650023" y="1053054"/>
            <a:ext cx="8047928" cy="311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BinaryClassificationEvaluator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 une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 d’évaluation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Spark ML qui sert à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évaluer un modèle de classification binaire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(0/1), par exemple : </a:t>
            </a: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régression logistique</a:t>
            </a: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binaire</a:t>
            </a: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(via Spark)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lang="fr-FR" sz="1200" dirty="0"/>
              <a:t>👉 Il </a:t>
            </a:r>
            <a:r>
              <a:rPr lang="fr-FR" sz="1200" b="1" dirty="0"/>
              <a:t>ne fait pas de prédiction</a:t>
            </a:r>
            <a:r>
              <a:rPr lang="fr-FR" sz="1200" dirty="0"/>
              <a:t>, il </a:t>
            </a:r>
            <a:r>
              <a:rPr lang="fr-FR" sz="1200" b="1" dirty="0"/>
              <a:t>mesure la qualité des prédictions déjà produites par un modèle</a:t>
            </a:r>
            <a:r>
              <a:rPr lang="fr-FR" sz="1200" dirty="0"/>
              <a:t>. </a:t>
            </a:r>
            <a:r>
              <a:rPr lang="fr-FR" sz="1200" b="1" dirty="0"/>
              <a:t>Modèle supervisé.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6C5B4BB-2C6E-BC1D-6BB7-3A92B42C8D8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1BCCCDB-65F9-A780-28D9-2F7E3BEC14F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35C54B0-F5C0-DA24-C051-919A8D8626C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E5B21-8836-5BEF-027D-39AAED581F7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Explication du modèle d’évaluation</a:t>
            </a:r>
          </a:p>
        </p:txBody>
      </p:sp>
    </p:spTree>
    <p:extLst>
      <p:ext uri="{BB962C8B-B14F-4D97-AF65-F5344CB8AC3E}">
        <p14:creationId xmlns:p14="http://schemas.microsoft.com/office/powerpoint/2010/main" val="982707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9C38-8C16-A257-7B14-5E9304D1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930D441-0BD0-4384-4EEC-3AB734C6F51C}"/>
              </a:ext>
            </a:extLst>
          </p:cNvPr>
          <p:cNvSpPr txBox="1"/>
          <p:nvPr/>
        </p:nvSpPr>
        <p:spPr>
          <a:xfrm>
            <a:off x="650023" y="1053054"/>
            <a:ext cx="8047928" cy="2164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BinaryClassificationEvaluator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 une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 d’évaluation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Spark ML qui sert à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évaluer un modèle de classification binaire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(0/1), 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courbe ROC trace :TPR 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Sensibilité) en fonction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deFPR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(1 - Spécificité)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2FCD127-B01A-64E7-AB58-FED87E386C79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B394DC0-133C-69BD-AA30-C8896C5EADE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65E20AA-52D6-EDD1-8EC3-F6043746899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EFA0D85-497B-F62C-3B2E-FA97CBF2A332}"/>
              </a:ext>
            </a:extLst>
          </p:cNvPr>
          <p:cNvSpPr txBox="1"/>
          <p:nvPr/>
        </p:nvSpPr>
        <p:spPr>
          <a:xfrm>
            <a:off x="824975" y="311564"/>
            <a:ext cx="824433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Que mesure l’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areaUnderROC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Receiver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Operating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Characteristic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)?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10B3A1E-1B3F-1E80-400D-6BCC24F1D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967039"/>
              </p:ext>
            </p:extLst>
          </p:nvPr>
        </p:nvGraphicFramePr>
        <p:xfrm>
          <a:off x="1635846" y="2539611"/>
          <a:ext cx="5188370" cy="14592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94185">
                  <a:extLst>
                    <a:ext uri="{9D8B030D-6E8A-4147-A177-3AD203B41FA5}">
                      <a16:colId xmlns:a16="http://schemas.microsoft.com/office/drawing/2014/main" val="928909882"/>
                    </a:ext>
                  </a:extLst>
                </a:gridCol>
                <a:gridCol w="2594185">
                  <a:extLst>
                    <a:ext uri="{9D8B030D-6E8A-4147-A177-3AD203B41FA5}">
                      <a16:colId xmlns:a16="http://schemas.microsoft.com/office/drawing/2014/main" val="607871794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r>
                        <a:rPr lang="fr-FR" sz="1200"/>
                        <a:t>Valeur AUC</a:t>
                      </a:r>
                    </a:p>
                  </a:txBody>
                  <a:tcPr marL="60325" marR="60325" marT="30162" marB="30162"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Qualité du modèle</a:t>
                      </a:r>
                    </a:p>
                  </a:txBody>
                  <a:tcPr marL="60325" marR="60325" marT="30162" marB="30162" anchor="ctr"/>
                </a:tc>
                <a:extLst>
                  <a:ext uri="{0D108BD9-81ED-4DB2-BD59-A6C34878D82A}">
                    <a16:rowId xmlns:a16="http://schemas.microsoft.com/office/drawing/2014/main" val="135460088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r>
                        <a:rPr lang="fr-FR" sz="1200"/>
                        <a:t>0.5</a:t>
                      </a:r>
                    </a:p>
                  </a:txBody>
                  <a:tcPr marL="60325" marR="60325" marT="30162" marB="30162"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Aléatoire</a:t>
                      </a:r>
                    </a:p>
                  </a:txBody>
                  <a:tcPr marL="60325" marR="60325" marT="30162" marB="30162" anchor="ctr"/>
                </a:tc>
                <a:extLst>
                  <a:ext uri="{0D108BD9-81ED-4DB2-BD59-A6C34878D82A}">
                    <a16:rowId xmlns:a16="http://schemas.microsoft.com/office/drawing/2014/main" val="274088925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r>
                        <a:rPr lang="fr-FR" sz="1200"/>
                        <a:t>0.6 – 0.7</a:t>
                      </a:r>
                    </a:p>
                  </a:txBody>
                  <a:tcPr marL="60325" marR="60325" marT="30162" marB="30162"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Faible</a:t>
                      </a:r>
                    </a:p>
                  </a:txBody>
                  <a:tcPr marL="60325" marR="60325" marT="30162" marB="30162" anchor="ctr"/>
                </a:tc>
                <a:extLst>
                  <a:ext uri="{0D108BD9-81ED-4DB2-BD59-A6C34878D82A}">
                    <a16:rowId xmlns:a16="http://schemas.microsoft.com/office/drawing/2014/main" val="164985855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r>
                        <a:rPr lang="fr-FR" sz="1200"/>
                        <a:t>0.7 – 0.8</a:t>
                      </a:r>
                    </a:p>
                  </a:txBody>
                  <a:tcPr marL="60325" marR="60325" marT="30162" marB="30162"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Correct</a:t>
                      </a:r>
                    </a:p>
                  </a:txBody>
                  <a:tcPr marL="60325" marR="60325" marT="30162" marB="30162" anchor="ctr"/>
                </a:tc>
                <a:extLst>
                  <a:ext uri="{0D108BD9-81ED-4DB2-BD59-A6C34878D82A}">
                    <a16:rowId xmlns:a16="http://schemas.microsoft.com/office/drawing/2014/main" val="53674951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r>
                        <a:rPr lang="fr-FR" sz="1200"/>
                        <a:t>0.8 – 0.9</a:t>
                      </a:r>
                    </a:p>
                  </a:txBody>
                  <a:tcPr marL="60325" marR="60325" marT="30162" marB="30162" anchor="ctr"/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Bon</a:t>
                      </a:r>
                    </a:p>
                  </a:txBody>
                  <a:tcPr marL="60325" marR="60325" marT="30162" marB="30162" anchor="ctr"/>
                </a:tc>
                <a:extLst>
                  <a:ext uri="{0D108BD9-81ED-4DB2-BD59-A6C34878D82A}">
                    <a16:rowId xmlns:a16="http://schemas.microsoft.com/office/drawing/2014/main" val="358331169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r>
                        <a:rPr lang="fr-FR" sz="1200"/>
                        <a:t>&gt; 0.9</a:t>
                      </a:r>
                    </a:p>
                  </a:txBody>
                  <a:tcPr marL="60325" marR="60325" marT="30162" marB="30162"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Excellent</a:t>
                      </a:r>
                    </a:p>
                  </a:txBody>
                  <a:tcPr marL="60325" marR="60325" marT="30162" marB="30162" anchor="ctr"/>
                </a:tc>
                <a:extLst>
                  <a:ext uri="{0D108BD9-81ED-4DB2-BD59-A6C34878D82A}">
                    <a16:rowId xmlns:a16="http://schemas.microsoft.com/office/drawing/2014/main" val="1912244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20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F68C-60E7-7A3F-1978-A4437EFE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74C8D631-E85C-7C3C-9693-B408BF86FEA5}"/>
              </a:ext>
            </a:extLst>
          </p:cNvPr>
          <p:cNvSpPr txBox="1"/>
          <p:nvPr/>
        </p:nvSpPr>
        <p:spPr>
          <a:xfrm>
            <a:off x="650023" y="1053054"/>
            <a:ext cx="5126309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Dans le code: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altLang="fr-FR" sz="1400" dirty="0">
              <a:latin typeface="Arial Unicode MS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altLang="fr-FR" sz="1400" dirty="0">
              <a:latin typeface="Arial Unicode MS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 roc est évalué sur le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Dataframe</a:t>
            </a:r>
            <a:r>
              <a:rPr lang="fr-FR" altLang="fr-FR" sz="1400" dirty="0">
                <a:latin typeface="Arial Unicode MS"/>
              </a:rPr>
              <a:t>: « </a:t>
            </a:r>
            <a:r>
              <a:rPr lang="fr-FR" altLang="fr-FR" sz="1400" dirty="0" err="1">
                <a:latin typeface="Arial Unicode MS"/>
              </a:rPr>
              <a:t>pred</a:t>
            </a:r>
            <a:r>
              <a:rPr lang="fr-FR" altLang="fr-FR" sz="1400" dirty="0">
                <a:latin typeface="Arial Unicode MS"/>
              </a:rPr>
              <a:t> » résultat de la transformation:</a:t>
            </a: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altLang="fr-FR" sz="1400" dirty="0">
              <a:latin typeface="Arial Unicode MS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r>
              <a:rPr lang="fr-FR" altLang="fr-FR" sz="1400" dirty="0">
                <a:latin typeface="Arial Unicode MS"/>
              </a:rPr>
              <a:t>Qui génère deux colonnes "label", "</a:t>
            </a:r>
            <a:r>
              <a:rPr lang="fr-FR" altLang="fr-FR" sz="1400" dirty="0" err="1">
                <a:latin typeface="Arial Unicode MS"/>
              </a:rPr>
              <a:t>rawPrediction</a:t>
            </a:r>
            <a:r>
              <a:rPr lang="fr-FR" altLang="fr-FR" sz="1400" dirty="0">
                <a:latin typeface="Arial Unicode MS"/>
              </a:rPr>
              <a:t>" qui sont utilisées par la méthode </a:t>
            </a:r>
            <a:r>
              <a:rPr lang="fr-FR" altLang="fr-FR" sz="1400" dirty="0" err="1">
                <a:latin typeface="Arial Unicode MS"/>
              </a:rPr>
              <a:t>evaluate</a:t>
            </a:r>
            <a:r>
              <a:rPr lang="fr-FR" altLang="fr-FR" sz="1400" dirty="0">
                <a:latin typeface="Arial Unicode MS"/>
              </a:rPr>
              <a:t>().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1200"/>
              </a:spcBef>
              <a:spcAft>
                <a:spcPts val="800"/>
              </a:spcAft>
              <a:buFontTx/>
              <a:buChar char="-"/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6EAFA75-0A30-76E0-6047-81EFBC68CD2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EE1BB33-D57A-2800-43B8-04CD6E5920A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AABDDA7-B868-F0E3-BB43-31C28080DC1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876BEA-EE50-6F36-1FE0-1BE3AD4A2F69}"/>
              </a:ext>
            </a:extLst>
          </p:cNvPr>
          <p:cNvSpPr txBox="1"/>
          <p:nvPr/>
        </p:nvSpPr>
        <p:spPr>
          <a:xfrm>
            <a:off x="824975" y="311564"/>
            <a:ext cx="824433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Que mesure l’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areaUnderROC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Receiver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Operating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Characteristic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)?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3E95C-50D2-0EEB-A299-155B442CC445}"/>
              </a:ext>
            </a:extLst>
          </p:cNvPr>
          <p:cNvSpPr/>
          <p:nvPr/>
        </p:nvSpPr>
        <p:spPr>
          <a:xfrm>
            <a:off x="1248133" y="1403290"/>
            <a:ext cx="6482977" cy="12282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evaluator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BinaryClassificationEvaluator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labelCol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rawPredictionCol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rawPrediction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metricName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areaUnderROC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evaluator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evaluate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4C6A3-698E-0778-D77A-1E4FF62A8655}"/>
              </a:ext>
            </a:extLst>
          </p:cNvPr>
          <p:cNvSpPr/>
          <p:nvPr/>
        </p:nvSpPr>
        <p:spPr>
          <a:xfrm>
            <a:off x="1781701" y="3473501"/>
            <a:ext cx="2862951" cy="362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 = 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model.transform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test_df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A666D-FDCC-9DE6-421A-1432EB2C7886}"/>
              </a:ext>
            </a:extLst>
          </p:cNvPr>
          <p:cNvSpPr/>
          <p:nvPr/>
        </p:nvSpPr>
        <p:spPr>
          <a:xfrm>
            <a:off x="1781701" y="4650776"/>
            <a:ext cx="1554540" cy="362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pred.printSchema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()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55C9CA1-7C88-7BB4-9F54-A43AE06D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883" y="2961310"/>
            <a:ext cx="2824765" cy="2144729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6219468-AABC-4AF6-9B09-9D52AA2E15BF}"/>
              </a:ext>
            </a:extLst>
          </p:cNvPr>
          <p:cNvCxnSpPr>
            <a:stCxn id="5" idx="3"/>
          </p:cNvCxnSpPr>
          <p:nvPr/>
        </p:nvCxnSpPr>
        <p:spPr>
          <a:xfrm>
            <a:off x="3336241" y="4831936"/>
            <a:ext cx="2514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13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C453-FE57-A977-B73A-CD195092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CE51DA3-F829-AEB6-F4D3-30526FF7037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9D39C1C-A24A-626E-69EA-90BCEC73C7A0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F33B19B-6AEA-A87E-0859-F48B22D1401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E5D9CAB-CE12-E5B1-F94D-6822A2C59F40}"/>
              </a:ext>
            </a:extLst>
          </p:cNvPr>
          <p:cNvSpPr txBox="1"/>
          <p:nvPr/>
        </p:nvSpPr>
        <p:spPr>
          <a:xfrm>
            <a:off x="824975" y="311564"/>
            <a:ext cx="824433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Que mesure l’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areaUnderROC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Receiver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 Operating </a:t>
            </a:r>
            <a:r>
              <a:rPr lang="fr-FR" b="1" dirty="0" err="1">
                <a:solidFill>
                  <a:schemeClr val="bg1"/>
                </a:solidFill>
                <a:latin typeface="+mj-lt"/>
              </a:rPr>
              <a:t>Characteristic</a:t>
            </a:r>
            <a:r>
              <a:rPr lang="fr-FR" b="1" dirty="0">
                <a:solidFill>
                  <a:schemeClr val="bg1"/>
                </a:solidFill>
                <a:latin typeface="+mj-lt"/>
              </a:rPr>
              <a:t>)?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0C4F234-94A5-28AD-8B73-EC3EC5552411}"/>
              </a:ext>
            </a:extLst>
          </p:cNvPr>
          <p:cNvSpPr txBox="1"/>
          <p:nvPr/>
        </p:nvSpPr>
        <p:spPr>
          <a:xfrm>
            <a:off x="888379" y="1122121"/>
            <a:ext cx="7638587" cy="330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just">
              <a:spcBef>
                <a:spcPts val="1200"/>
              </a:spcBef>
              <a:spcAft>
                <a:spcPts val="800"/>
              </a:spcAft>
              <a:defRPr sz="1200"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742950" lvl="1" indent="-28575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  <a:defRPr kumimoji="0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2pPr>
          </a:lstStyle>
          <a:p>
            <a:r>
              <a:rPr lang="fr-FR" sz="1600" dirty="0"/>
              <a:t>Pourquoi utiliser l’AUC ?</a:t>
            </a:r>
          </a:p>
          <a:p>
            <a:r>
              <a:rPr lang="fr-FR" dirty="0"/>
              <a:t>✅ </a:t>
            </a:r>
            <a:r>
              <a:rPr lang="fr-FR" sz="1600" dirty="0"/>
              <a:t>Avantages</a:t>
            </a:r>
          </a:p>
          <a:p>
            <a:pPr marL="914400" lvl="1" indent="-171450"/>
            <a:r>
              <a:rPr lang="fr-FR" dirty="0"/>
              <a:t>Indépendant du seuil de décision</a:t>
            </a:r>
          </a:p>
          <a:p>
            <a:pPr marL="914400" lvl="1" indent="-171450"/>
            <a:r>
              <a:rPr lang="fr-FR" dirty="0"/>
              <a:t>Robuste aux classes déséquilibrées</a:t>
            </a:r>
          </a:p>
          <a:p>
            <a:pPr marL="914400" lvl="1" indent="-171450"/>
            <a:r>
              <a:rPr lang="fr-FR" dirty="0"/>
              <a:t>Standard en classification binaire</a:t>
            </a:r>
          </a:p>
          <a:p>
            <a:r>
              <a:rPr lang="fr-FR" dirty="0"/>
              <a:t>❌</a:t>
            </a:r>
            <a:r>
              <a:rPr lang="fr-FR" sz="1600" dirty="0"/>
              <a:t> Limites</a:t>
            </a:r>
          </a:p>
          <a:p>
            <a:pPr marL="914400" lvl="1" indent="-171450"/>
            <a:r>
              <a:rPr lang="fr-FR" dirty="0"/>
              <a:t>Ne dit rien sur un seuil précis</a:t>
            </a:r>
          </a:p>
          <a:p>
            <a:pPr marL="914400" lvl="1" indent="-171450"/>
            <a:r>
              <a:rPr lang="fr-FR" dirty="0"/>
              <a:t>Peu interprétable pour le métier</a:t>
            </a:r>
          </a:p>
          <a:p>
            <a:pPr marL="914400" lvl="1" indent="-171450"/>
            <a:r>
              <a:rPr lang="fr-FR" dirty="0"/>
              <a:t>Deux modèles peuvent avoir la même AUC mais des comportements très différents</a:t>
            </a:r>
          </a:p>
        </p:txBody>
      </p:sp>
    </p:spTree>
    <p:extLst>
      <p:ext uri="{BB962C8B-B14F-4D97-AF65-F5344CB8AC3E}">
        <p14:creationId xmlns:p14="http://schemas.microsoft.com/office/powerpoint/2010/main" val="1901611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004D-ECF3-6AB0-732F-D0EE0D9C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54676D8-4AF1-CDB3-5376-BBB828EC8BD2}"/>
              </a:ext>
            </a:extLst>
          </p:cNvPr>
          <p:cNvSpPr txBox="1"/>
          <p:nvPr/>
        </p:nvSpPr>
        <p:spPr>
          <a:xfrm>
            <a:off x="365918" y="1041315"/>
            <a:ext cx="8146180" cy="343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Sauvegarder le modèle: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Pour le relire: 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D0FD4B3-45C4-9218-7CFC-2E032F0A58BC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4999AEC9-122D-284A-046A-6756F1DD47C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717430A-33C5-0B8E-E413-88C54B29C1F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4147608E-DF8B-FE79-13C6-3B90E47EACB5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4147608E-DF8B-FE79-13C6-3B90E47EAC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EAF9734F-911F-C861-976F-5823E470F44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8FDD1A-99D8-5286-62A9-F499BC65A270}"/>
              </a:ext>
            </a:extLst>
          </p:cNvPr>
          <p:cNvSpPr/>
          <p:nvPr/>
        </p:nvSpPr>
        <p:spPr>
          <a:xfrm>
            <a:off x="2004724" y="1264484"/>
            <a:ext cx="4567061" cy="362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overwrite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modelesRegression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3DD217-8E54-441E-03C0-34B3E59F9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77" y="2230144"/>
            <a:ext cx="7622681" cy="14665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001FBE-90C6-7450-DCED-CEAA2A957C2A}"/>
              </a:ext>
            </a:extLst>
          </p:cNvPr>
          <p:cNvSpPr/>
          <p:nvPr/>
        </p:nvSpPr>
        <p:spPr>
          <a:xfrm>
            <a:off x="2004724" y="3995197"/>
            <a:ext cx="4567061" cy="5824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pyspark.ml.pipeline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PipelineModel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PipelineModel.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modelesRegression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7279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7360-AAC9-A520-51FE-487586B5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C6B965B-0279-84C2-D6BB-EF068342EA90}"/>
              </a:ext>
            </a:extLst>
          </p:cNvPr>
          <p:cNvSpPr txBox="1"/>
          <p:nvPr/>
        </p:nvSpPr>
        <p:spPr>
          <a:xfrm>
            <a:off x="365918" y="1041315"/>
            <a:ext cx="81461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Utiliser le modèle créer en ligne de commande pour Evaluer une image transmise ou un dossier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le fichier: prediction_chat_chien.py dans le répertoire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/data sur la machine principale.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ED2D53E-EFD5-E700-9037-4CBACDCC86D3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39EBD0C-90A9-6499-6FAC-66573565F12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36F5E16-0F1C-31A8-8906-A247BE26F28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FB9FF1D1-9950-A226-03CE-07C1A69E9A14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FB9FF1D1-9950-A226-03CE-07C1A69E9A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C28AE86B-AD34-6D08-740E-AC740750062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708B89-4B2B-AC29-0448-4D23FA1E784E}"/>
              </a:ext>
            </a:extLst>
          </p:cNvPr>
          <p:cNvSpPr/>
          <p:nvPr/>
        </p:nvSpPr>
        <p:spPr>
          <a:xfrm>
            <a:off x="1774265" y="2102756"/>
            <a:ext cx="4567061" cy="28612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#!/usr/bin/env python3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-*-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coding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: utf-8 -*-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argparse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PIL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Image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pyspark.sql.functions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col,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udf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pyspark.sql.types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ArrayType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DoubleType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pyspark.ml.linalg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Vectors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VectorUDT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pyspark.ml.pipeline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PipelineModel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</a:t>
            </a:r>
          </a:p>
        </p:txBody>
      </p:sp>
    </p:spTree>
    <p:extLst>
      <p:ext uri="{BB962C8B-B14F-4D97-AF65-F5344CB8AC3E}">
        <p14:creationId xmlns:p14="http://schemas.microsoft.com/office/powerpoint/2010/main" val="1357424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B9DA-4E1A-0F6D-C302-A32D52950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FE37F89-DB8C-4860-2750-B63D60B71807}"/>
              </a:ext>
            </a:extLst>
          </p:cNvPr>
          <p:cNvSpPr txBox="1"/>
          <p:nvPr/>
        </p:nvSpPr>
        <p:spPr>
          <a:xfrm>
            <a:off x="365918" y="1041315"/>
            <a:ext cx="890453" cy="564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Suites…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17A2A6E-F09E-DEC2-BF44-FBDAB834DCB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3C13FAA-B288-93E9-012D-C8EB92FA351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C1E2770-2777-C0B6-4996-6604B8DBD86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41333A72-94F6-C8F5-0B75-00FA4BB78C1F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41333A72-94F6-C8F5-0B75-00FA4BB78C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E7D68BEB-0A73-F290-CCCD-DD533B7698FF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C4AA6-FED0-8EA1-75B4-F5C05EB96A0D}"/>
              </a:ext>
            </a:extLst>
          </p:cNvPr>
          <p:cNvSpPr/>
          <p:nvPr/>
        </p:nvSpPr>
        <p:spPr>
          <a:xfrm>
            <a:off x="1174420" y="786497"/>
            <a:ext cx="7418373" cy="42959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Arguments CLI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argparse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ArgumentParser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"Prédiction Cats /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Dogs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avec un modèle Spark ML existant."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"--input"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"Chemin des images à prédire (un dossier ou un fichier unique)"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"--model-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"Répertoire du modèle Spark ML sauvegardé (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PipelineModel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"--image-size"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"Taille utilisée pour redimensionner les images"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                         … suite page suivante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163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852D-BB70-49D4-066A-884F47FB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5BBCE8E-AFFC-F922-AB07-B59799B3C5A8}"/>
              </a:ext>
            </a:extLst>
          </p:cNvPr>
          <p:cNvSpPr txBox="1"/>
          <p:nvPr/>
        </p:nvSpPr>
        <p:spPr>
          <a:xfrm>
            <a:off x="365918" y="1041315"/>
            <a:ext cx="8146180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Utiliser le modèle créer en ligne de commande pour Evaluer une image transmise ou un dossier.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621C1375-0955-7C27-D8BA-4D2F8B7EFC5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90D24E1-6047-F868-7F82-A8120FBEBB0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4E6D746-1264-2382-2EFF-E6EB225603E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C8A782DD-1166-F821-73E6-D14A541E1632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C8A782DD-1166-F821-73E6-D14A541E16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0D39033A-C0A9-175F-CF12-A4FEE3DB6A77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9F990-6C17-F87D-8050-DAFA978D6241}"/>
              </a:ext>
            </a:extLst>
          </p:cNvPr>
          <p:cNvSpPr/>
          <p:nvPr/>
        </p:nvSpPr>
        <p:spPr>
          <a:xfrm>
            <a:off x="1283612" y="1709853"/>
            <a:ext cx="7309901" cy="28539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Spark session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build_spark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SparkSession.builder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Prédiction_Chat_Chien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getOrCreate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163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5AA4-75A5-9712-5917-73DB7F20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6930E07-206D-61B4-5D77-8ABCC99015D0}"/>
              </a:ext>
            </a:extLst>
          </p:cNvPr>
          <p:cNvSpPr txBox="1"/>
          <p:nvPr/>
        </p:nvSpPr>
        <p:spPr>
          <a:xfrm>
            <a:off x="365918" y="1041315"/>
            <a:ext cx="8146180" cy="564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936AA8DC-67C6-841F-5B82-08E40631C3BC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B067107-DBA4-3199-FC2C-EEAE8FD50ED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921D917-4072-04ED-855A-98BADAB8DFA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0092EB81-6ADA-6FBF-2D19-EB9F48EB4773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0092EB81-6ADA-6FBF-2D19-EB9F48EB47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BCA3E7E5-1370-0949-BC9C-C7B9D672E40B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FD4A8-4819-43DD-5F2B-8B4F4F366768}"/>
              </a:ext>
            </a:extLst>
          </p:cNvPr>
          <p:cNvSpPr/>
          <p:nvPr/>
        </p:nvSpPr>
        <p:spPr>
          <a:xfrm>
            <a:off x="1158872" y="1219125"/>
            <a:ext cx="7183072" cy="3864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Charger images et produire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features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make_image_to_vec_udf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extract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base_mode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"RGB"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.nChannels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Image.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frombytes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base_mode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.width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.height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Forcer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grayscale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-&gt; 100*100 = 10 000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si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image_size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=100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convert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asarray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"float32"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255.0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extract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DoubleType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</a:t>
            </a:r>
          </a:p>
        </p:txBody>
      </p:sp>
    </p:spTree>
    <p:extLst>
      <p:ext uri="{BB962C8B-B14F-4D97-AF65-F5344CB8AC3E}">
        <p14:creationId xmlns:p14="http://schemas.microsoft.com/office/powerpoint/2010/main" val="600145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9227-FD9A-9039-BF92-98EE7F3B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E3A4F26-0D42-C865-F7A4-27C2A4F16AEE}"/>
              </a:ext>
            </a:extLst>
          </p:cNvPr>
          <p:cNvSpPr txBox="1"/>
          <p:nvPr/>
        </p:nvSpPr>
        <p:spPr>
          <a:xfrm>
            <a:off x="365918" y="1041315"/>
            <a:ext cx="8146180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Utiliser le modèle créer en ligne de commande pour Evaluer une image transmise ou un dossier.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E3A40F0-254F-0839-446C-E563EEB6CCD4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34B8C6A-86BE-3E5D-7A44-6EEF87E8647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F798AF03-1051-DE64-3497-AFA1FDD98B7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6A841528-E623-17F8-E104-E63417F1614B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6A841528-E623-17F8-E104-E63417F161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025B5CBE-2C5E-54F9-2B95-0820B3C98C5F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C3963-491D-47D2-96A1-261DDD536F9F}"/>
              </a:ext>
            </a:extLst>
          </p:cNvPr>
          <p:cNvSpPr/>
          <p:nvPr/>
        </p:nvSpPr>
        <p:spPr>
          <a:xfrm>
            <a:off x="1055649" y="1665249"/>
            <a:ext cx="7538223" cy="31659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load_images_and_vectorize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input_path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.read.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input_path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image →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to_vec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make_image_to_vec_udf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image_size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features_array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to_vec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features_array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isNotNull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-&gt;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Vector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arr_to_vec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Vectors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dense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VectorUDT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arr_to_vec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features_array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endParaRPr lang="fr-FR" sz="1000" b="0" dirty="0">
              <a:solidFill>
                <a:srgbClr val="E06C7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E06C7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</a:t>
            </a:r>
          </a:p>
        </p:txBody>
      </p:sp>
    </p:spTree>
    <p:extLst>
      <p:ext uri="{BB962C8B-B14F-4D97-AF65-F5344CB8AC3E}">
        <p14:creationId xmlns:p14="http://schemas.microsoft.com/office/powerpoint/2010/main" val="2530952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AF5E-7351-D269-F668-B55F2652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CEA3C45-127A-DF9D-8B11-57D2E641F3D5}"/>
              </a:ext>
            </a:extLst>
          </p:cNvPr>
          <p:cNvSpPr txBox="1"/>
          <p:nvPr/>
        </p:nvSpPr>
        <p:spPr>
          <a:xfrm>
            <a:off x="365918" y="1041315"/>
            <a:ext cx="8146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A56DAB6-AAE7-464E-BC52-3579DFD46F36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EAC0CBE-1CF4-F5A9-11E1-DFCF80AE0D7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857E769-C269-8A5B-3257-A6F896FE9FB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70F4F1F8-84D5-D72B-1209-42E0C42A67AB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70F4F1F8-84D5-D72B-1209-42E0C42A67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82FFAF06-03C7-B38A-5B59-325EA15C2FAB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AF0E9-FC99-B93D-2563-8DC19C94BB33}"/>
              </a:ext>
            </a:extLst>
          </p:cNvPr>
          <p:cNvSpPr/>
          <p:nvPr/>
        </p:nvSpPr>
        <p:spPr>
          <a:xfrm>
            <a:off x="1174868" y="1179814"/>
            <a:ext cx="7136508" cy="39045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Prediction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model_path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Chargement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du </a:t>
            </a:r>
            <a:r>
              <a:rPr lang="en-US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modèle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Spark ML…"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PipelineModel.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model_path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"Application du </a:t>
            </a:r>
            <a:r>
              <a:rPr lang="en-US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modèle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…"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preds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Décodage</a:t>
            </a:r>
            <a:r>
              <a:rPr lang="en-US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label 0-&gt;cats / 1-&gt;dogs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decode_label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"cats"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"dogs"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decode_udf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udf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decode_label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preds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preds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prediction_label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decode_udf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"prediction"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</a:pPr>
            <a:b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preds</a:t>
            </a:r>
          </a:p>
          <a:p>
            <a:pPr>
              <a:lnSpc>
                <a:spcPts val="1425"/>
              </a:lnSpc>
            </a:pPr>
            <a:endParaRPr lang="en-US" sz="1000" dirty="0">
              <a:solidFill>
                <a:srgbClr val="E06C7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… suite page suivante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14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105E-AF2B-FC18-97EE-65B8C069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2B5817E3-CAA4-4747-8734-3F44EA99CB4F}"/>
              </a:ext>
            </a:extLst>
          </p:cNvPr>
          <p:cNvSpPr txBox="1"/>
          <p:nvPr/>
        </p:nvSpPr>
        <p:spPr>
          <a:xfrm>
            <a:off x="365918" y="1041315"/>
            <a:ext cx="8146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1C55D5C-98DA-14FE-B682-46B93CAD4835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C50EFD7-A93A-331C-0F40-C3CD7E6EC54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A6F354B-87B0-06E5-263A-4E580AFF508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F085C37-DF3C-BD84-38CC-63F89BDF8592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F085C37-DF3C-BD84-38CC-63F89BDF85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5CEFA1B5-C670-62B1-6339-6B2D55062573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534598-231C-75AB-D5EF-0888C678B7C0}"/>
              </a:ext>
            </a:extLst>
          </p:cNvPr>
          <p:cNvSpPr/>
          <p:nvPr/>
        </p:nvSpPr>
        <p:spPr>
          <a:xfrm>
            <a:off x="1261374" y="802997"/>
            <a:ext cx="7270146" cy="42817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main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----------------------------------------------------------------------------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build_spark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load_images_and_vectorize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.input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.image_size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.model_path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=== Résultats ==="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preds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image.origin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prediction_label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probability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8119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D3A09-34BB-5B95-D13B-D17B0AF8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6D42DA6-EA2B-BACC-8418-BA10D6576167}"/>
              </a:ext>
            </a:extLst>
          </p:cNvPr>
          <p:cNvSpPr txBox="1"/>
          <p:nvPr/>
        </p:nvSpPr>
        <p:spPr>
          <a:xfrm>
            <a:off x="365918" y="1041315"/>
            <a:ext cx="8146180" cy="2575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Etapes:  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Prédire des images fournis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pour un répertoire.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Pour un fichier: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5542F62-A188-E5AD-D2B3-1D0286EFBF6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F0A01A9-CE50-B6EB-F394-D1A4D3F97FC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930F8C3-0C53-3784-EE4F-567A4D0A699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1655394E-BD2B-CCAD-5214-707C852E088B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1655394E-BD2B-CCAD-5214-707C852E08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0516A74C-CC26-C5FC-C2E1-E1B19A054184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99160-739A-433D-FDB2-FC9170D14BDF}"/>
              </a:ext>
            </a:extLst>
          </p:cNvPr>
          <p:cNvSpPr/>
          <p:nvPr/>
        </p:nvSpPr>
        <p:spPr>
          <a:xfrm>
            <a:off x="885112" y="1922431"/>
            <a:ext cx="7270146" cy="110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spark-submit 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prediction_chat_chien.py 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--input 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  <a:hlinkClick r:id="rId4" action="ppaction://hlinkfile"/>
              </a:rPr>
              <a:t>file:///home/user/images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--model-path file:///home/user/</a:t>
            </a:r>
            <a:r>
              <a:rPr lang="fr-FR" sz="1000" b="0" dirty="0" err="1">
                <a:solidFill>
                  <a:schemeClr val="bg1"/>
                </a:solidFill>
                <a:effectLst/>
                <a:latin typeface="+mj-lt"/>
              </a:rPr>
              <a:t>modeles</a:t>
            </a:r>
            <a:r>
              <a:rPr lang="fr-FR" sz="1000" b="0" dirty="0">
                <a:solidFill>
                  <a:schemeClr val="bg1"/>
                </a:solidFill>
                <a:effectLst/>
                <a:latin typeface="+mj-lt"/>
              </a:rPr>
              <a:t>/</a:t>
            </a:r>
            <a:r>
              <a:rPr lang="fr-FR" sz="1000" b="0" dirty="0" err="1">
                <a:solidFill>
                  <a:schemeClr val="bg1"/>
                </a:solidFill>
                <a:effectLst/>
                <a:latin typeface="+mj-lt"/>
              </a:rPr>
              <a:t>modelesRegression</a:t>
            </a:r>
            <a:r>
              <a:rPr lang="fr-FR" sz="1000" b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--image-size 100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9FB31C-1C2C-FEA4-D716-DD8F295FCFE7}"/>
              </a:ext>
            </a:extLst>
          </p:cNvPr>
          <p:cNvSpPr/>
          <p:nvPr/>
        </p:nvSpPr>
        <p:spPr>
          <a:xfrm>
            <a:off x="885112" y="3731783"/>
            <a:ext cx="7270146" cy="110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spark-submit 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prediction_chat_chien.py 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--input 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  <a:hlinkClick r:id="rId4" action="ppaction://hlinkfile"/>
              </a:rPr>
              <a:t>file:///home/user/images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\test.jpg 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--model-path file:///home/user/</a:t>
            </a:r>
            <a:r>
              <a:rPr lang="fr-FR" sz="1000" b="0" dirty="0" err="1">
                <a:solidFill>
                  <a:schemeClr val="bg1"/>
                </a:solidFill>
                <a:effectLst/>
                <a:latin typeface="+mj-lt"/>
              </a:rPr>
              <a:t>modeles</a:t>
            </a:r>
            <a:r>
              <a:rPr lang="fr-FR" sz="1000" b="0" dirty="0">
                <a:solidFill>
                  <a:schemeClr val="bg1"/>
                </a:solidFill>
                <a:effectLst/>
                <a:latin typeface="+mj-lt"/>
              </a:rPr>
              <a:t>/</a:t>
            </a:r>
            <a:r>
              <a:rPr lang="fr-FR" sz="1000" b="0" dirty="0" err="1">
                <a:solidFill>
                  <a:schemeClr val="bg1"/>
                </a:solidFill>
                <a:effectLst/>
                <a:latin typeface="+mj-lt"/>
              </a:rPr>
              <a:t>modelesRegression</a:t>
            </a:r>
            <a:r>
              <a:rPr lang="fr-FR" sz="1000" b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\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  --image-size 100</a:t>
            </a:r>
          </a:p>
        </p:txBody>
      </p:sp>
    </p:spTree>
    <p:extLst>
      <p:ext uri="{BB962C8B-B14F-4D97-AF65-F5344CB8AC3E}">
        <p14:creationId xmlns:p14="http://schemas.microsoft.com/office/powerpoint/2010/main" val="2589468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9B66C-45E1-27A5-B671-7B3C9717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F76492F-E52B-17A9-82BB-16B00C06EB9D}"/>
              </a:ext>
            </a:extLst>
          </p:cNvPr>
          <p:cNvSpPr txBox="1"/>
          <p:nvPr/>
        </p:nvSpPr>
        <p:spPr>
          <a:xfrm>
            <a:off x="365918" y="1041315"/>
            <a:ext cx="8146180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Application: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Pour récupérer le modèle qui est sauvegardé dans le container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jupyter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et le mettre dans le container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-master.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Se mettre dans le container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jupyter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Le modèle est dans /home/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modeles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mais le partage est dans /data.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Copier le modèle dans /data: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Quitter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jupyter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64247A8-2FC9-2987-3B44-62DC265AB6C9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8DB98CE-3555-D351-72B7-6023647BBD0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F758018-AC3F-39CE-C7FF-B5B12C94ECB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38668798-632C-A9AD-4EA8-87F22E7F7B88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38668798-632C-A9AD-4EA8-87F22E7F7B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F9C22BF0-6CD1-E0BF-6C11-522BD64765F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083C82-1931-4D14-F898-68AA1D05C1D1}"/>
              </a:ext>
            </a:extLst>
          </p:cNvPr>
          <p:cNvSpPr/>
          <p:nvPr/>
        </p:nvSpPr>
        <p:spPr>
          <a:xfrm>
            <a:off x="936927" y="1965202"/>
            <a:ext cx="7270146" cy="3238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docker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exec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–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it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jupyter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bash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CCAFB0-A81B-6F48-FCBC-E657FC782DBB}"/>
              </a:ext>
            </a:extLst>
          </p:cNvPr>
          <p:cNvSpPr/>
          <p:nvPr/>
        </p:nvSpPr>
        <p:spPr>
          <a:xfrm>
            <a:off x="855043" y="3114815"/>
            <a:ext cx="7270146" cy="6112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c</a:t>
            </a:r>
            <a:r>
              <a:rPr lang="fr-FR" sz="1000" b="0" i="1" dirty="0" err="1">
                <a:solidFill>
                  <a:schemeClr val="bg1"/>
                </a:solidFill>
                <a:effectLst/>
                <a:latin typeface="+mj-lt"/>
              </a:rPr>
              <a:t>p</a:t>
            </a:r>
            <a:r>
              <a:rPr lang="fr-FR" sz="1000" b="0" i="1" dirty="0">
                <a:solidFill>
                  <a:schemeClr val="bg1"/>
                </a:solidFill>
                <a:effectLst/>
                <a:latin typeface="+mj-lt"/>
              </a:rPr>
              <a:t> –R </a:t>
            </a: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/home/</a:t>
            </a:r>
            <a:r>
              <a:rPr lang="fr-FR" sz="10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fr-FR" sz="1000" dirty="0" err="1">
                <a:ea typeface="Calibri" panose="020F0502020204030204" pitchFamily="34" charset="0"/>
                <a:cs typeface="Arial" panose="020B0604020202020204" pitchFamily="34" charset="0"/>
              </a:rPr>
              <a:t>modeles</a:t>
            </a: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 /data/.</a:t>
            </a:r>
            <a:r>
              <a:rPr lang="fr-FR" sz="1000" b="0" i="1" dirty="0">
                <a:solidFill>
                  <a:schemeClr val="bg1"/>
                </a:solidFill>
                <a:effectLst/>
                <a:latin typeface="+mj-lt"/>
              </a:rPr>
              <a:t> 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73D3E-2FF1-AA30-2AD5-81E389A7F96B}"/>
              </a:ext>
            </a:extLst>
          </p:cNvPr>
          <p:cNvSpPr/>
          <p:nvPr/>
        </p:nvSpPr>
        <p:spPr>
          <a:xfrm>
            <a:off x="824975" y="4246236"/>
            <a:ext cx="7270146" cy="6112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exit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6493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E740-AA99-BB91-C315-F54B875B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F7B41C9-5758-8F53-86DF-595D5C175E7C}"/>
              </a:ext>
            </a:extLst>
          </p:cNvPr>
          <p:cNvSpPr txBox="1"/>
          <p:nvPr/>
        </p:nvSpPr>
        <p:spPr>
          <a:xfrm>
            <a:off x="365918" y="1041315"/>
            <a:ext cx="8146180" cy="333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Application: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Pour récupérer l’image, le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modele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, et le répertoire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modelesRegression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les mettre dans le dossier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/data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Se connecter au container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Spark est installé par défaut dans 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opt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avec le compte root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Il suffit ensuite pour pouvoir les utiliser dans le container de les copier dans un répertoire accessible par l’utilisateur root par exemple 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tmp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474D65E-E74E-D251-EC92-DB9C4DEB5B3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12A96D3-87DD-3017-7FB9-B96DAFEE512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D78F6280-5918-320C-9CF0-061BB11F97C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A54E3C13-F770-67E6-0CCB-B39BBB53C501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38668798-632C-A9AD-4EA8-87F22E7F7B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C3442721-A867-1FEB-B43B-5FB6F58A25CE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9219B-148C-C2E0-59A7-26767E4AE66A}"/>
              </a:ext>
            </a:extLst>
          </p:cNvPr>
          <p:cNvSpPr/>
          <p:nvPr/>
        </p:nvSpPr>
        <p:spPr>
          <a:xfrm>
            <a:off x="885112" y="1953731"/>
            <a:ext cx="7270146" cy="3238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docker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exec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–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it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spark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-master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bash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D8FFD1-B0E3-5041-EF2C-63BC235A4859}"/>
              </a:ext>
            </a:extLst>
          </p:cNvPr>
          <p:cNvSpPr/>
          <p:nvPr/>
        </p:nvSpPr>
        <p:spPr>
          <a:xfrm>
            <a:off x="885112" y="3194065"/>
            <a:ext cx="7270146" cy="1358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# pour l’utiliser directement dans le container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spark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-master</a:t>
            </a:r>
          </a:p>
          <a:p>
            <a:pPr>
              <a:lnSpc>
                <a:spcPts val="1425"/>
              </a:lnSpc>
            </a:pP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cp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–R /data/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modeles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modelesRegression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</a:p>
          <a:p>
            <a:pPr>
              <a:lnSpc>
                <a:spcPts val="1425"/>
              </a:lnSpc>
            </a:pP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cp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/data/prediction_chat_chien.py 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</a:p>
          <a:p>
            <a:pPr>
              <a:lnSpc>
                <a:spcPts val="1425"/>
              </a:lnSpc>
            </a:pP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cp /data/images/cat/Birman_163_jpg.rf.de852821da3d65ebd26216dcfb51dd99.jpg /</a:t>
            </a:r>
            <a:r>
              <a:rPr lang="en-US" sz="1000" b="0" i="1" dirty="0" err="1">
                <a:solidFill>
                  <a:schemeClr val="bg1"/>
                </a:solidFill>
                <a:effectLst/>
                <a:latin typeface="+mj-lt"/>
              </a:rPr>
              <a:t>tmp</a:t>
            </a:r>
            <a:r>
              <a:rPr lang="en-US" sz="1000" b="0" i="1" dirty="0">
                <a:solidFill>
                  <a:schemeClr val="bg1"/>
                </a:solidFill>
                <a:effectLst/>
                <a:latin typeface="+mj-lt"/>
              </a:rPr>
              <a:t>/unchat.jpg</a:t>
            </a: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</a:rPr>
              <a:t># pour l’utiliser à partir de la machine principale.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i="1" dirty="0" err="1">
                <a:solidFill>
                  <a:schemeClr val="bg1"/>
                </a:solidFill>
              </a:rPr>
              <a:t>cp</a:t>
            </a:r>
            <a:r>
              <a:rPr lang="fr-FR" sz="1000" i="1" dirty="0">
                <a:solidFill>
                  <a:schemeClr val="bg1"/>
                </a:solidFill>
              </a:rPr>
              <a:t> –R /data/</a:t>
            </a:r>
            <a:r>
              <a:rPr lang="fr-FR" sz="1000" i="1" dirty="0" err="1">
                <a:solidFill>
                  <a:schemeClr val="bg1"/>
                </a:solidFill>
              </a:rPr>
              <a:t>modeles</a:t>
            </a:r>
            <a:r>
              <a:rPr lang="fr-FR" sz="1000" i="1" dirty="0">
                <a:solidFill>
                  <a:schemeClr val="bg1"/>
                </a:solidFill>
              </a:rPr>
              <a:t>/</a:t>
            </a:r>
            <a:r>
              <a:rPr lang="fr-FR" sz="1000" i="1" dirty="0" err="1">
                <a:solidFill>
                  <a:schemeClr val="bg1"/>
                </a:solidFill>
              </a:rPr>
              <a:t>modelesRegression</a:t>
            </a:r>
            <a:r>
              <a:rPr lang="fr-FR" sz="1000" i="1" dirty="0">
                <a:solidFill>
                  <a:schemeClr val="bg1"/>
                </a:solidFill>
              </a:rPr>
              <a:t> /data/</a:t>
            </a:r>
          </a:p>
          <a:p>
            <a:pPr>
              <a:lnSpc>
                <a:spcPts val="1425"/>
              </a:lnSpc>
            </a:pPr>
            <a:r>
              <a:rPr lang="en-US" sz="1000" i="1" dirty="0">
                <a:solidFill>
                  <a:schemeClr val="bg1"/>
                </a:solidFill>
              </a:rPr>
              <a:t>cp /data/images/cat/Birman_163_jpg.rf.de852821da3d65ebd26216dcfb51dd99.jpg /data/unchat.jpg</a:t>
            </a:r>
          </a:p>
          <a:p>
            <a:pPr>
              <a:lnSpc>
                <a:spcPts val="1425"/>
              </a:lnSpc>
            </a:pP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8449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60DF-0F24-727D-E0B4-14D28240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52E00F7-D805-BF0F-58E2-1AF0934B6844}"/>
              </a:ext>
            </a:extLst>
          </p:cNvPr>
          <p:cNvSpPr txBox="1"/>
          <p:nvPr/>
        </p:nvSpPr>
        <p:spPr>
          <a:xfrm>
            <a:off x="365918" y="1041315"/>
            <a:ext cx="8146180" cy="383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Application: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Installation de l’environnement pour l’utilisateur </a:t>
            </a:r>
            <a:r>
              <a:rPr lang="fr-FR" sz="10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Tester l’image: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Bien pour tester mais pas fonctionnelle.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000" dirty="0">
                <a:ea typeface="Calibri" panose="020F0502020204030204" pitchFamily="34" charset="0"/>
                <a:cs typeface="Arial" panose="020B0604020202020204" pitchFamily="34" charset="0"/>
              </a:rPr>
              <a:t>Ressortir du container en faisant exit.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CE0C41D-E012-1FE9-F1E6-F66F4A37C111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CA012A3-999F-A62F-6F4B-FE6A5D23ADD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613A7F7-F700-0063-928B-80C7576CD0A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C4312F2D-F1CB-56C4-F92A-21348833D0A8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C4312F2D-F1CB-56C4-F92A-21348833D0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F4670A0E-2019-3BE5-EB2E-62450D0A199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F8EED-029E-60AB-3105-D47C99B1E826}"/>
              </a:ext>
            </a:extLst>
          </p:cNvPr>
          <p:cNvSpPr/>
          <p:nvPr/>
        </p:nvSpPr>
        <p:spPr>
          <a:xfrm>
            <a:off x="1372086" y="1503255"/>
            <a:ext cx="7270146" cy="221179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cd 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endParaRPr lang="fr-FR" sz="1000" i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</a:rPr>
              <a:t># </a:t>
            </a:r>
            <a:r>
              <a:rPr lang="fr-FR" sz="1000" i="1" dirty="0" err="1">
                <a:solidFill>
                  <a:schemeClr val="bg1"/>
                </a:solidFill>
              </a:rPr>
              <a:t>sudo</a:t>
            </a:r>
            <a:r>
              <a:rPr lang="fr-FR" sz="1000" i="1" dirty="0">
                <a:solidFill>
                  <a:schemeClr val="bg1"/>
                </a:solidFill>
              </a:rPr>
              <a:t> </a:t>
            </a:r>
            <a:r>
              <a:rPr lang="fr-FR" sz="1000" i="1" dirty="0" err="1">
                <a:solidFill>
                  <a:schemeClr val="bg1"/>
                </a:solidFill>
              </a:rPr>
              <a:t>apt</a:t>
            </a:r>
            <a:r>
              <a:rPr lang="fr-FR" sz="1000" i="1" dirty="0">
                <a:solidFill>
                  <a:schemeClr val="bg1"/>
                </a:solidFill>
              </a:rPr>
              <a:t> </a:t>
            </a:r>
            <a:r>
              <a:rPr lang="fr-FR" sz="1000" i="1" dirty="0" err="1">
                <a:solidFill>
                  <a:schemeClr val="bg1"/>
                </a:solidFill>
              </a:rPr>
              <a:t>install</a:t>
            </a:r>
            <a:r>
              <a:rPr lang="fr-FR" sz="1000" i="1" dirty="0">
                <a:solidFill>
                  <a:schemeClr val="bg1"/>
                </a:solidFill>
              </a:rPr>
              <a:t> python3-pip – déjà dans le </a:t>
            </a:r>
            <a:r>
              <a:rPr lang="fr-FR" sz="1000" i="1" dirty="0" err="1">
                <a:solidFill>
                  <a:schemeClr val="bg1"/>
                </a:solidFill>
              </a:rPr>
              <a:t>spark</a:t>
            </a:r>
            <a:r>
              <a:rPr lang="fr-FR" sz="1000" i="1" dirty="0">
                <a:solidFill>
                  <a:schemeClr val="bg1"/>
                </a:solidFill>
              </a:rPr>
              <a:t>-master </a:t>
            </a:r>
          </a:p>
          <a:p>
            <a:pPr>
              <a:lnSpc>
                <a:spcPts val="1425"/>
              </a:lnSpc>
            </a:pP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mkdir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-p 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pylibs</a:t>
            </a:r>
            <a:endParaRPr lang="fr-FR" sz="1000" i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python3 -m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pip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install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numpy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pandas -t 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pylibs</a:t>
            </a:r>
            <a:endParaRPr lang="fr-FR" sz="1000" i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export PYTHONPATH=/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pylibs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:$PYTHONPATH</a:t>
            </a: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python3 -c "import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numpy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;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print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(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numpy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.__version__)"</a:t>
            </a: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export PYSPARK_PYTHON=python3</a:t>
            </a: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export PYTHONPATH=/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pylibs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:$PYTHONPATH</a:t>
            </a: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export HOME=/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tmp</a:t>
            </a:r>
            <a:endParaRPr lang="fr-FR" sz="1000" i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python3 -m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pip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install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numpy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pillow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20212-7D9C-39DB-F5B5-8AC80523EC06}"/>
              </a:ext>
            </a:extLst>
          </p:cNvPr>
          <p:cNvSpPr/>
          <p:nvPr/>
        </p:nvSpPr>
        <p:spPr>
          <a:xfrm>
            <a:off x="855043" y="3890915"/>
            <a:ext cx="7270146" cy="3136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opt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spark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/bin/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spark-submit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prediction_chat_chien.py --input unchat.jpg --model-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path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000" i="1" dirty="0" err="1">
                <a:solidFill>
                  <a:schemeClr val="bg1"/>
                </a:solidFill>
                <a:latin typeface="+mj-lt"/>
              </a:rPr>
              <a:t>modelesRegression</a:t>
            </a:r>
            <a:r>
              <a:rPr lang="fr-FR" sz="1000" i="1" dirty="0">
                <a:solidFill>
                  <a:schemeClr val="bg1"/>
                </a:solidFill>
                <a:latin typeface="+mj-lt"/>
              </a:rPr>
              <a:t> --image-size 100</a:t>
            </a:r>
            <a:endParaRPr lang="en-US" sz="1000" b="0" i="1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7817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BD88-F71F-C630-113D-42C93F9B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BD8B975-5BE2-561B-A808-D5485FD29233}"/>
              </a:ext>
            </a:extLst>
          </p:cNvPr>
          <p:cNvSpPr txBox="1"/>
          <p:nvPr/>
        </p:nvSpPr>
        <p:spPr>
          <a:xfrm>
            <a:off x="365918" y="975639"/>
            <a:ext cx="8146180" cy="333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Application: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Pour pouvoir appeler le fichier en dehors du docker s’assurer que l’image ou le répertoire d’images à traiter sont dans le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repertoire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/data y mettre également le fichier prediction_chat_chien.py et le modèle de régression.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Ajouter un fichier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Dockerfile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à la racine: ~/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Modifier le service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-master : 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Modifier le fichier de rebuild.sh: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5562539-107A-F545-782D-F2604DED81A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166F1B9-7F3C-AAF3-AF94-51CCEA36A51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D58AA4C-40F1-B6A9-57CB-E2F885A2722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34E60E64-4A6C-D07D-2FCB-F7F98BE35149}"/>
                  </a:ext>
                </a:extLst>
              </p14:cNvPr>
              <p14:cNvContentPartPr/>
              <p14:nvPr/>
            </p14:nvContentPartPr>
            <p14:xfrm>
              <a:off x="698625" y="3835762"/>
              <a:ext cx="36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34E60E64-4A6C-D07D-2FCB-F7F98BE351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05" y="382964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44">
            <a:extLst>
              <a:ext uri="{FF2B5EF4-FFF2-40B4-BE49-F238E27FC236}">
                <a16:creationId xmlns:a16="http://schemas.microsoft.com/office/drawing/2014/main" id="{A02315F2-FF0C-3A14-8A03-5E1FE095F6D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38242-8C97-F5C9-F3B3-A452804DBC7C}"/>
              </a:ext>
            </a:extLst>
          </p:cNvPr>
          <p:cNvSpPr/>
          <p:nvPr/>
        </p:nvSpPr>
        <p:spPr>
          <a:xfrm>
            <a:off x="468134" y="2082894"/>
            <a:ext cx="3833121" cy="15842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3.5.0-java17-python3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root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Evite que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essaie d'écrire dans /home/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et installe en global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PIP_DISABLE_PIP_VERSION_CHECK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PIP_NO_CACHE_DIR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\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tmp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pillow</a:t>
            </a: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9D3F106-6B41-F602-E5DF-E3C9A54E2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656" y="1698506"/>
            <a:ext cx="3372217" cy="1532230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0B0183D-60DA-01E2-EF53-401A36678C24}"/>
              </a:ext>
            </a:extLst>
          </p:cNvPr>
          <p:cNvCxnSpPr>
            <a:cxnSpLocks/>
          </p:cNvCxnSpPr>
          <p:nvPr/>
        </p:nvCxnSpPr>
        <p:spPr>
          <a:xfrm flipH="1">
            <a:off x="2159133" y="2015510"/>
            <a:ext cx="1081960" cy="85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304CD-138D-D3B9-B662-681F75ED723E}"/>
              </a:ext>
            </a:extLst>
          </p:cNvPr>
          <p:cNvSpPr/>
          <p:nvPr/>
        </p:nvSpPr>
        <p:spPr>
          <a:xfrm>
            <a:off x="4884789" y="3346045"/>
            <a:ext cx="3200499" cy="11739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spark-master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spark-custom:3.5.0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&lt;&lt;&lt; 3.5.0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spark-master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   …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6F480F7-EA83-0960-CBEF-A98127CAF924}"/>
              </a:ext>
            </a:extLst>
          </p:cNvPr>
          <p:cNvCxnSpPr>
            <a:cxnSpLocks/>
          </p:cNvCxnSpPr>
          <p:nvPr/>
        </p:nvCxnSpPr>
        <p:spPr>
          <a:xfrm>
            <a:off x="5021339" y="1698506"/>
            <a:ext cx="485269" cy="359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1B192F6-C060-70D6-FAC2-04DC5CB5B9BD}"/>
              </a:ext>
            </a:extLst>
          </p:cNvPr>
          <p:cNvCxnSpPr>
            <a:cxnSpLocks/>
          </p:cNvCxnSpPr>
          <p:nvPr/>
        </p:nvCxnSpPr>
        <p:spPr>
          <a:xfrm>
            <a:off x="2852336" y="3923326"/>
            <a:ext cx="19484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34AF0BB-39CE-A342-0438-CACF0CCC5D2A}"/>
              </a:ext>
            </a:extLst>
          </p:cNvPr>
          <p:cNvSpPr/>
          <p:nvPr/>
        </p:nvSpPr>
        <p:spPr>
          <a:xfrm>
            <a:off x="468134" y="4304892"/>
            <a:ext cx="4332628" cy="8077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"▶ Start core (Spark) "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-d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spark-master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spark-worker-1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--build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"✅ Ready “</a:t>
            </a:r>
          </a:p>
          <a:p>
            <a:pPr>
              <a:lnSpc>
                <a:spcPts val="1425"/>
              </a:lnSpc>
            </a:pPr>
            <a:r>
              <a:rPr lang="en-US" sz="1000" dirty="0">
                <a:solidFill>
                  <a:srgbClr val="98C379"/>
                </a:solidFill>
                <a:latin typeface="Consolas" panose="020B0609020204030204" pitchFamily="49" charset="0"/>
              </a:rPr>
              <a:t>…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864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65982-6821-3CBB-DDE9-14DF19BF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3F3DCD2-5946-C87E-F21C-AB540877DAC2}"/>
              </a:ext>
            </a:extLst>
          </p:cNvPr>
          <p:cNvSpPr txBox="1"/>
          <p:nvPr/>
        </p:nvSpPr>
        <p:spPr>
          <a:xfrm>
            <a:off x="398524" y="1191539"/>
            <a:ext cx="8146180" cy="2287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Exécuter la commande: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000670B-9524-BD43-B386-2917C862DF79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D418BC6-4258-DE29-2938-6B60D6B23D7E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0C5D89D-FAA7-C252-3A22-E862DB0CAF4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6DC80E8D-6F3E-FBCF-49E9-B9E42EDDBEA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 Analyse d’image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E670E9-1C29-9FD2-69B3-BD8097332185}"/>
              </a:ext>
            </a:extLst>
          </p:cNvPr>
          <p:cNvSpPr/>
          <p:nvPr/>
        </p:nvSpPr>
        <p:spPr>
          <a:xfrm>
            <a:off x="2071739" y="1264484"/>
            <a:ext cx="5694311" cy="66989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docker exec -it spark-master /opt/spark/bin/spark-submit   --master local[*]   /data/prediction_chat_chien.py   --input /data/unchat.jpg   --model-path /data/</a:t>
            </a:r>
            <a:r>
              <a:rPr lang="en-US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modelesRegression</a:t>
            </a:r>
            <a:r>
              <a:rPr lang="en-US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   --image-size 100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FC947F-8CD9-8848-CB42-53CB9093A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91" y="2073838"/>
            <a:ext cx="6557959" cy="28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47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3614</TotalTime>
  <Words>3606</Words>
  <Application>Microsoft Office PowerPoint</Application>
  <PresentationFormat>Affichage à l'écran (16:9)</PresentationFormat>
  <Paragraphs>528</Paragraphs>
  <Slides>34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8" baseType="lpstr">
      <vt:lpstr>Abadi Extra Light</vt:lpstr>
      <vt:lpstr>Arial UNICODE MS</vt:lpstr>
      <vt:lpstr>Arial UNICODE MS</vt:lpstr>
      <vt:lpstr>FUTURA MEDIUM</vt:lpstr>
      <vt:lpstr>Agency FB</vt:lpstr>
      <vt:lpstr>Arial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172</cp:revision>
  <dcterms:created xsi:type="dcterms:W3CDTF">2021-01-18T11:01:50Z</dcterms:created>
  <dcterms:modified xsi:type="dcterms:W3CDTF">2026-09-29T15:29:17Z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