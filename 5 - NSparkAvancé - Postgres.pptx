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63" r:id="rId5"/>
    <p:sldId id="2134807190" r:id="rId6"/>
    <p:sldId id="2134807191" r:id="rId7"/>
    <p:sldId id="2134807213" r:id="rId8"/>
    <p:sldId id="2134807214" r:id="rId9"/>
    <p:sldId id="2134807215" r:id="rId10"/>
    <p:sldId id="2134807216" r:id="rId11"/>
    <p:sldId id="2134807217" r:id="rId12"/>
    <p:sldId id="2134807218" r:id="rId13"/>
    <p:sldId id="2134807221" r:id="rId14"/>
    <p:sldId id="2134807222" r:id="rId15"/>
    <p:sldId id="2134807220" r:id="rId16"/>
    <p:sldId id="2134807219" r:id="rId17"/>
    <p:sldId id="269" r:id="rId18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6" d="100"/>
          <a:sy n="196" d="100"/>
        </p:scale>
        <p:origin x="774" y="15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8888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10.emf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 err="1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Jdbc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: PostgreSQL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1F5F-595C-09B5-5C35-02711E01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41A8434-F6BB-BC89-2D85-2C0FF7061ED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Objectif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Installer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PostgresSQL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et un Notebook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PySpark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pour voir l’utilisation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une connexion avec PostgreSQL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une table dans PostgreSQL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Récupérer les données de la table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Filtrer les données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3BD1FA4-1DF6-4DC5-6375-25DE6F90C1F8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9E5E3E1-1B0C-F56E-7E22-B1671F48C8C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EA444D5-E6AC-6953-6D1C-710FBEAE4C1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5BEBD77-9CEA-8267-975E-3DABAFE7309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l’application</a:t>
            </a:r>
          </a:p>
        </p:txBody>
      </p:sp>
    </p:spTree>
    <p:extLst>
      <p:ext uri="{BB962C8B-B14F-4D97-AF65-F5344CB8AC3E}">
        <p14:creationId xmlns:p14="http://schemas.microsoft.com/office/powerpoint/2010/main" val="260536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C593-D6DF-0CB6-444C-ED931403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AAC092A-3FDD-8335-9A81-4FC696CF4CF2}"/>
              </a:ext>
            </a:extLst>
          </p:cNvPr>
          <p:cNvSpPr txBox="1"/>
          <p:nvPr/>
        </p:nvSpPr>
        <p:spPr>
          <a:xfrm>
            <a:off x="728524" y="1172002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répertoire </a:t>
            </a:r>
            <a:r>
              <a:rPr lang="fr-FR" sz="1200" dirty="0" err="1">
                <a:ea typeface="Arial Unicode MS"/>
              </a:rPr>
              <a:t>postgresql</a:t>
            </a:r>
            <a:r>
              <a:rPr lang="fr-FR" sz="1200" dirty="0">
                <a:ea typeface="Arial Unicode MS"/>
              </a:rPr>
              <a:t> dans votre espace :   </a:t>
            </a:r>
            <a:r>
              <a:rPr lang="fr-FR" sz="1200" dirty="0" err="1">
                <a:ea typeface="Arial Unicode MS"/>
              </a:rPr>
              <a:t>mkdir</a:t>
            </a:r>
            <a:r>
              <a:rPr lang="fr-FR" sz="1200" dirty="0">
                <a:ea typeface="Arial Unicode MS"/>
              </a:rPr>
              <a:t> ~/</a:t>
            </a:r>
            <a:r>
              <a:rPr lang="fr-FR" sz="1200" dirty="0" err="1">
                <a:ea typeface="Arial Unicode MS"/>
              </a:rPr>
              <a:t>postgresql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Visual Code sur ce répertoire: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A la racine créer un fichier de configuration docker:  docker-</a:t>
            </a:r>
            <a:r>
              <a:rPr lang="fr-FR" sz="1200" dirty="0" err="1">
                <a:ea typeface="Arial Unicode MS"/>
              </a:rPr>
              <a:t>compose.yml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FBF48543-5E37-6552-EAEC-0CC92420502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24DDD6A-15AF-1F7F-0DF3-C03026DFE86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D18A7F6-FA89-9775-C1E4-1E6EFB91FE8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F354849-29D0-0562-191C-D2BB15F4F610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023F34-3284-5DD3-1ACC-86894F612B16}"/>
              </a:ext>
            </a:extLst>
          </p:cNvPr>
          <p:cNvSpPr/>
          <p:nvPr/>
        </p:nvSpPr>
        <p:spPr>
          <a:xfrm>
            <a:off x="3747245" y="1471836"/>
            <a:ext cx="4242984" cy="6585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dirty="0" err="1">
                <a:solidFill>
                  <a:schemeClr val="bg1"/>
                </a:solidFill>
                <a:ea typeface="Arial Unicode MS"/>
              </a:rPr>
              <a:t>mkdir</a:t>
            </a:r>
            <a:r>
              <a:rPr lang="fr-FR" sz="1000" dirty="0">
                <a:solidFill>
                  <a:schemeClr val="bg1"/>
                </a:solidFill>
                <a:ea typeface="Arial Unicode MS"/>
              </a:rPr>
              <a:t> ~/</a:t>
            </a:r>
            <a:r>
              <a:rPr lang="fr-FR" sz="1000" dirty="0" err="1">
                <a:solidFill>
                  <a:schemeClr val="bg1"/>
                </a:solidFill>
                <a:ea typeface="Arial Unicode MS"/>
              </a:rPr>
              <a:t>postgresql</a:t>
            </a:r>
            <a:endParaRPr lang="fr-FR" sz="1000" dirty="0">
              <a:solidFill>
                <a:schemeClr val="bg1"/>
              </a:solidFill>
              <a:ea typeface="Arial Unicode MS"/>
            </a:endParaRPr>
          </a:p>
          <a:p>
            <a:pPr>
              <a:lnSpc>
                <a:spcPts val="1425"/>
              </a:lnSpc>
            </a:pP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c</a:t>
            </a:r>
            <a:r>
              <a:rPr lang="fr-FR" sz="1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 ~/</a:t>
            </a:r>
            <a:r>
              <a:rPr lang="fr-FR" sz="10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postgres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ql</a:t>
            </a:r>
            <a:endParaRPr lang="fr-FR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c</a:t>
            </a:r>
            <a:r>
              <a:rPr lang="fr-FR" sz="1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ode .</a:t>
            </a:r>
          </a:p>
        </p:txBody>
      </p:sp>
    </p:spTree>
    <p:extLst>
      <p:ext uri="{BB962C8B-B14F-4D97-AF65-F5344CB8AC3E}">
        <p14:creationId xmlns:p14="http://schemas.microsoft.com/office/powerpoint/2010/main" val="143417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7CAF2-9AF8-8C54-6330-A08C69F9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45679AE-BA04-F5C0-9F61-90A93574707F}"/>
              </a:ext>
            </a:extLst>
          </p:cNvPr>
          <p:cNvSpPr txBox="1"/>
          <p:nvPr/>
        </p:nvSpPr>
        <p:spPr>
          <a:xfrm>
            <a:off x="728524" y="1172002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A la racine créer un fichier de configuration docker:  docker-</a:t>
            </a:r>
            <a:r>
              <a:rPr lang="fr-FR" sz="1200" dirty="0" err="1">
                <a:ea typeface="Arial Unicode MS"/>
              </a:rPr>
              <a:t>compose.yml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34E5D2A-835B-F545-CD78-528D5B42ECB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BDC29A8-7769-2C87-38E4-50B842E296A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39CBA07-D01F-314A-A23C-A7C32A47748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524C41D-3BC1-CBE0-D439-E5937BF570E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A88C8D-5497-E864-0B6B-5D2583356387}"/>
              </a:ext>
            </a:extLst>
          </p:cNvPr>
          <p:cNvSpPr/>
          <p:nvPr/>
        </p:nvSpPr>
        <p:spPr>
          <a:xfrm>
            <a:off x="1276928" y="1476623"/>
            <a:ext cx="6440417" cy="35597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postgres:16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postgres-db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POSTGRES_DB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mydb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POSTGRES_USER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myuser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POSTGRES_PASSWORD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mypassword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"5432:5432"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pgdata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:/var/lib/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postgresql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backend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pyspark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pyspark-notebook:latest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pyspark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-notebook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page suivante   </a:t>
            </a:r>
          </a:p>
        </p:txBody>
      </p:sp>
    </p:spTree>
    <p:extLst>
      <p:ext uri="{BB962C8B-B14F-4D97-AF65-F5344CB8AC3E}">
        <p14:creationId xmlns:p14="http://schemas.microsoft.com/office/powerpoint/2010/main" val="172400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B331-4756-F64D-3275-FA10E595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B1F114E-FAF3-61B7-F403-E963D4FB5688}"/>
              </a:ext>
            </a:extLst>
          </p:cNvPr>
          <p:cNvSpPr txBox="1"/>
          <p:nvPr/>
        </p:nvSpPr>
        <p:spPr>
          <a:xfrm>
            <a:off x="728524" y="1047533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A la racine créer un fichier de configuration docker:  docker-</a:t>
            </a:r>
            <a:r>
              <a:rPr lang="fr-FR" sz="1200" dirty="0" err="1">
                <a:ea typeface="Arial Unicode MS"/>
              </a:rPr>
              <a:t>compose.yml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E9533A5-A9DB-FE85-F0DF-9DD8C10F7545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829C84D-204A-354E-5C47-AAA8E18097A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A69FB42-A9CC-297C-FB60-4F62BF6C404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E13CBCD-928B-14F8-B744-D512463F13EE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55A081-AECC-B806-39AA-3FB4E6E0C1E4}"/>
              </a:ext>
            </a:extLst>
          </p:cNvPr>
          <p:cNvSpPr/>
          <p:nvPr/>
        </p:nvSpPr>
        <p:spPr>
          <a:xfrm>
            <a:off x="1276928" y="1297399"/>
            <a:ext cx="6248919" cy="373599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db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Pour éviter de récupérer l’URL complexe avec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aléatoire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JUPYTER_TOKEN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"admin"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"8888:8888"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Dossier de travail partagé avec le container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:/home/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work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Driver JDBC PostgreSQL monté dans le classpath de Spark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./jars/postgresql-42.7.5.jar:/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/local/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/jars/postgresql-42.7.5.jar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backend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pgdata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backend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bridge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10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FB77-C6DE-45A4-7378-1E310A33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DEE04A5-E64F-254C-1C9A-9F1B57DDA9BE}"/>
              </a:ext>
            </a:extLst>
          </p:cNvPr>
          <p:cNvSpPr txBox="1"/>
          <p:nvPr/>
        </p:nvSpPr>
        <p:spPr>
          <a:xfrm>
            <a:off x="728524" y="1172002"/>
            <a:ext cx="79438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A partir d’un terminal, se positionner dans le dossier ~/</a:t>
            </a:r>
            <a:r>
              <a:rPr lang="fr-FR" sz="1200" dirty="0" err="1">
                <a:ea typeface="Arial Unicode MS"/>
              </a:rPr>
              <a:t>postgresql</a:t>
            </a:r>
            <a:r>
              <a:rPr lang="fr-FR" sz="1200" dirty="0">
                <a:ea typeface="Arial Unicode MS"/>
              </a:rPr>
              <a:t>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Puis lancer le déploiement des serveurs: docker compose up –d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Vérifier que les services sont bien démarrés: docker </a:t>
            </a:r>
            <a:r>
              <a:rPr lang="fr-FR" sz="1200" dirty="0" err="1">
                <a:ea typeface="Arial Unicode MS"/>
              </a:rPr>
              <a:t>ps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Et les logs: docker logs –f  [</a:t>
            </a:r>
            <a:r>
              <a:rPr lang="fr-FR" sz="1200" dirty="0" err="1">
                <a:ea typeface="Arial Unicode MS"/>
              </a:rPr>
              <a:t>nom_du_service</a:t>
            </a:r>
            <a:r>
              <a:rPr lang="fr-FR" sz="1200" dirty="0">
                <a:ea typeface="Arial Unicode MS"/>
              </a:rPr>
              <a:t>]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D0A7E24-BE05-5244-FAF1-4B308D14E1C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DE02585-F251-C2BC-1294-3A4C9A0C685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E1E8A71-2F0D-3876-6784-989820CAFF2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67A2DDF-AE4D-91C9-8CE3-E569776FE9F3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4654D3-42A0-0E9F-1FF4-6CD7D2F3D366}"/>
              </a:ext>
            </a:extLst>
          </p:cNvPr>
          <p:cNvSpPr/>
          <p:nvPr/>
        </p:nvSpPr>
        <p:spPr>
          <a:xfrm>
            <a:off x="2153432" y="1913178"/>
            <a:ext cx="4242984" cy="4162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c</a:t>
            </a:r>
            <a:r>
              <a:rPr lang="fr-FR" sz="1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 ~/</a:t>
            </a:r>
            <a:r>
              <a:rPr lang="fr-FR" sz="10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postgres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ql</a:t>
            </a:r>
            <a:endParaRPr lang="fr-FR" sz="1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dirty="0">
                <a:ea typeface="Arial Unicode MS"/>
              </a:rPr>
              <a:t>docker compose up –d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FA4F89F-B28E-5A32-8531-75EDBEF2A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778" y="3218355"/>
            <a:ext cx="4095379" cy="181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7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6341-9F10-57F5-9580-0A9F9FAA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DA9C19C-8B02-B0B3-F7DB-8C259ADBDB64}"/>
              </a:ext>
            </a:extLst>
          </p:cNvPr>
          <p:cNvSpPr txBox="1"/>
          <p:nvPr/>
        </p:nvSpPr>
        <p:spPr>
          <a:xfrm>
            <a:off x="728524" y="1172002"/>
            <a:ext cx="794385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Firefox et lancer </a:t>
            </a:r>
            <a:r>
              <a:rPr lang="fr-FR" sz="1200" dirty="0">
                <a:solidFill>
                  <a:srgbClr val="00B0F0"/>
                </a:solidFill>
                <a:ea typeface="Arial Unicode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http://localhost:8888</a:t>
            </a:r>
            <a:r>
              <a:rPr lang="fr-FR" sz="1200" dirty="0">
                <a:solidFill>
                  <a:srgbClr val="00B0F0"/>
                </a:solidFill>
                <a:ea typeface="Arial Unicode MS"/>
              </a:rPr>
              <a:t> </a:t>
            </a:r>
            <a:r>
              <a:rPr lang="fr-FR" sz="1200" dirty="0">
                <a:ea typeface="Arial Unicode MS"/>
              </a:rPr>
              <a:t>conforme au port exposé dans le ficher docker-</a:t>
            </a:r>
            <a:r>
              <a:rPr lang="fr-FR" sz="1200" dirty="0" err="1">
                <a:ea typeface="Arial Unicode MS"/>
              </a:rPr>
              <a:t>compose.yml</a:t>
            </a:r>
            <a:r>
              <a:rPr lang="fr-FR" sz="1200" dirty="0">
                <a:ea typeface="Arial Unicode MS"/>
              </a:rPr>
              <a:t>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Saisir le </a:t>
            </a:r>
            <a:r>
              <a:rPr lang="fr-FR" sz="1200" dirty="0" err="1">
                <a:ea typeface="Arial Unicode MS"/>
              </a:rPr>
              <a:t>token</a:t>
            </a:r>
            <a:r>
              <a:rPr lang="fr-FR" sz="1200" dirty="0">
                <a:ea typeface="Arial Unicode MS"/>
              </a:rPr>
              <a:t> indiqué dans le docker-</a:t>
            </a:r>
            <a:r>
              <a:rPr lang="fr-FR" sz="1200" dirty="0" err="1">
                <a:ea typeface="Arial Unicode MS"/>
              </a:rPr>
              <a:t>compose.yml</a:t>
            </a:r>
            <a:r>
              <a:rPr lang="fr-FR" sz="1200" dirty="0">
                <a:ea typeface="Arial Unicode MS"/>
              </a:rPr>
              <a:t>: admin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s’ouvre: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2BFB149-019F-EE0A-D4CC-8DC90D11863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7BC29DC-08BA-73A7-020D-D97C609849F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0C2AC6A-B930-286B-F993-DECECF1A8C6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4017A20-C62B-F4E8-C697-40C58139600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DFBDC2D-08A6-98CD-AEB1-85D3EC15E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742" y="1552947"/>
            <a:ext cx="3435259" cy="236007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AB41030-F554-F824-1BCB-9E1B895B0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97" y="2343037"/>
            <a:ext cx="3702052" cy="256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32AD-7736-7B62-67EC-704CCA62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C114C5B-32F7-14F7-9843-E702059A41C9}"/>
              </a:ext>
            </a:extLst>
          </p:cNvPr>
          <p:cNvSpPr txBox="1"/>
          <p:nvPr/>
        </p:nvSpPr>
        <p:spPr>
          <a:xfrm>
            <a:off x="728524" y="1172002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Faire un clic sous Notebook pour créer un Notebook, le nommer </a:t>
            </a:r>
            <a:r>
              <a:rPr lang="fr-FR" sz="1200" dirty="0" err="1">
                <a:ea typeface="Arial Unicode MS"/>
              </a:rPr>
              <a:t>postgressql.ipynb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une session </a:t>
            </a:r>
            <a:r>
              <a:rPr lang="fr-FR" sz="1200" dirty="0" err="1">
                <a:ea typeface="Arial Unicode MS"/>
              </a:rPr>
              <a:t>spark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Définir la connexion à PostgreSQL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DD0299A-6254-1DE0-6D1D-267E20EA361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F769516-425F-EE30-AEA0-A19A6DBCC14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6AB98B2-0202-83E0-4410-0E5BABB9337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04B7FEF-50FB-7D92-97E8-D4488E6B1C7E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EEDAA8-EAD4-93A4-1AB0-26C46BE80AD6}"/>
              </a:ext>
            </a:extLst>
          </p:cNvPr>
          <p:cNvSpPr/>
          <p:nvPr/>
        </p:nvSpPr>
        <p:spPr>
          <a:xfrm>
            <a:off x="3370638" y="1451403"/>
            <a:ext cx="5301736" cy="18230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SparkSession.builder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Postgres_JDBC_Example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Normalement le jar est déjà dans /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/local/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/jars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spark.jars.packages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"org.postgresql:postgresql:42.7.5"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getOrCreate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14C07F-7A3D-05DA-6FFE-21480CE9E919}"/>
              </a:ext>
            </a:extLst>
          </p:cNvPr>
          <p:cNvSpPr/>
          <p:nvPr/>
        </p:nvSpPr>
        <p:spPr>
          <a:xfrm>
            <a:off x="3370638" y="3459711"/>
            <a:ext cx="5301736" cy="13722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jdbc_url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jdbc:postgresql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://postgres-db:5432/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mydb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connection_props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myuser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mypassword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"driver"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org.postgresql.Driver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834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C107-4E9A-5AA8-7098-7F40A9FF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B095D4F-56DE-CE01-A642-77D28A351A05}"/>
              </a:ext>
            </a:extLst>
          </p:cNvPr>
          <p:cNvSpPr txBox="1"/>
          <p:nvPr/>
        </p:nvSpPr>
        <p:spPr>
          <a:xfrm>
            <a:off x="728524" y="1172002"/>
            <a:ext cx="7943850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une table dans PostgreSQL à l’aide d’un </a:t>
            </a:r>
            <a:r>
              <a:rPr lang="fr-FR" sz="1200" dirty="0" err="1">
                <a:ea typeface="Arial Unicode MS"/>
              </a:rPr>
              <a:t>Dataframe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EBBAD3A-1C64-A842-4284-BBAFA1F510FA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F952B3B-D078-572B-7D1E-0D0D91B8027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E481B9A-23D4-635A-D645-11E8301F71E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B893151-91AE-A2AB-F16B-BAAEE793606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ED6FFC-B306-0972-F0E8-646D7890C4A3}"/>
              </a:ext>
            </a:extLst>
          </p:cNvPr>
          <p:cNvSpPr/>
          <p:nvPr/>
        </p:nvSpPr>
        <p:spPr>
          <a:xfrm>
            <a:off x="1445075" y="1471836"/>
            <a:ext cx="6090082" cy="29366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Exemple de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Spark que l'on va pousser vers PostgreSQL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createDataFrame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On écrit la table "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public.personnes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" dans PostgreSQL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df_test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.write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overwrite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       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overwrite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/ append /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error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jdbc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jdbc_url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public.personnes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properties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connection_props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633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33075-9046-AAAD-A9CB-0C0AF0C2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142D21A-7C22-F75E-153B-FAE0C7363262}"/>
              </a:ext>
            </a:extLst>
          </p:cNvPr>
          <p:cNvSpPr txBox="1"/>
          <p:nvPr/>
        </p:nvSpPr>
        <p:spPr>
          <a:xfrm>
            <a:off x="728524" y="1172002"/>
            <a:ext cx="794385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Relire la table que nous venons de créer: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Exécuter une requête SQL pour récupérer les données: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71D04E1-A983-03FB-0BA3-E3CCD83F9C2D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3E4B029-B59B-23E6-78AE-B90E1AC2ABA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C5C4387-57C0-0953-DB59-83AD856354A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EA42F01-821B-DFE5-3E64-9D171E97483E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6031D4-871A-C561-CEAF-FB4B92BF4891}"/>
              </a:ext>
            </a:extLst>
          </p:cNvPr>
          <p:cNvSpPr/>
          <p:nvPr/>
        </p:nvSpPr>
        <p:spPr>
          <a:xfrm>
            <a:off x="4661198" y="1172002"/>
            <a:ext cx="3203551" cy="18026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Nom complet de la table PostgreSQL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public.personnes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df_pg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.read.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jdbc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jdbc_url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properties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connection_props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df_pg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df_pg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printSchema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0940B9-6D40-DD4E-9D60-D624C911FCF8}"/>
              </a:ext>
            </a:extLst>
          </p:cNvPr>
          <p:cNvSpPr/>
          <p:nvPr/>
        </p:nvSpPr>
        <p:spPr>
          <a:xfrm>
            <a:off x="4700449" y="3433151"/>
            <a:ext cx="3203551" cy="15540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"(SELECT * FROM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public.personnes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WHERE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&gt; 28) AS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subq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df_filtered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.read.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jdbc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jdbc_url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properties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connection_props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df_filtered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852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F6BDF-96D8-FCA0-D926-54671506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FF9C325-1381-D392-C46B-CBC412B1AE2C}"/>
              </a:ext>
            </a:extLst>
          </p:cNvPr>
          <p:cNvSpPr txBox="1"/>
          <p:nvPr/>
        </p:nvSpPr>
        <p:spPr>
          <a:xfrm>
            <a:off x="728524" y="1172002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Résultat: avant exécution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947D95B-4ABE-EE27-134E-ABC08DEF4CEA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62B4C85-5D79-6E19-7E1F-9F8E65A95C9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D6715F1-E9BC-E51A-B252-7FF8C86F565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3A44BF2-B0D7-247D-2F8B-213C876B5081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18C6DF-C9D5-27DE-F6C3-47C18F224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261" y="1062223"/>
            <a:ext cx="2792691" cy="403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2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EE5FD-93DD-3724-C4E2-3AEFAFD2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9B00E4A-3BD0-CA43-EF6B-D20422956B03}"/>
              </a:ext>
            </a:extLst>
          </p:cNvPr>
          <p:cNvSpPr txBox="1"/>
          <p:nvPr/>
        </p:nvSpPr>
        <p:spPr>
          <a:xfrm>
            <a:off x="728524" y="1172002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Résultat: après exécution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4528464-FFC2-1896-008F-88674CA247C5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87C32C2A-84F5-92C8-6F63-35260FA9D38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724EFF2-B72F-FD7E-E6AB-F09C1D63175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6B1B66D-53DC-16EC-5038-E608BACD0A6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EB0B99-A928-0A63-6EE4-3806753C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86" y="1501881"/>
            <a:ext cx="7362387" cy="326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71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Props1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2974</TotalTime>
  <Words>1030</Words>
  <Application>Microsoft Office PowerPoint</Application>
  <PresentationFormat>Affichage à l'écran (16:9)</PresentationFormat>
  <Paragraphs>196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7" baseType="lpstr">
      <vt:lpstr>Abadi Extra Light</vt:lpstr>
      <vt:lpstr>Arial Unicode MS</vt:lpstr>
      <vt:lpstr>Arial Unicode MS</vt:lpstr>
      <vt:lpstr>FUTURA MEDIUM</vt:lpstr>
      <vt:lpstr>Agency FB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156</cp:revision>
  <dcterms:created xsi:type="dcterms:W3CDTF">2021-01-18T11:01:50Z</dcterms:created>
  <dcterms:modified xsi:type="dcterms:W3CDTF">2025-12-10T11:33:52Z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