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263" r:id="rId5"/>
    <p:sldId id="2134807190" r:id="rId6"/>
    <p:sldId id="2134807191" r:id="rId7"/>
    <p:sldId id="2134807193" r:id="rId8"/>
    <p:sldId id="2134807210" r:id="rId9"/>
    <p:sldId id="2134807211" r:id="rId10"/>
    <p:sldId id="2134807212" r:id="rId11"/>
    <p:sldId id="2134807213" r:id="rId12"/>
    <p:sldId id="269" r:id="rId13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3.png"/><Relationship Id="rId4" Type="http://schemas.openxmlformats.org/officeDocument/2006/relationships/image" Target="../media/image8.emf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Intégration </a:t>
            </a:r>
            <a:r>
              <a:rPr kumimoji="0" lang="fr-FR" b="1" i="0" u="none" strike="noStrike" kern="1200" cap="none" spc="0" normalizeH="0" baseline="0" noProof="0" dirty="0" err="1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Kaf</a:t>
            </a:r>
            <a:r>
              <a:rPr lang="fr-FR" b="1" dirty="0">
                <a:solidFill>
                  <a:srgbClr val="17375E"/>
                </a:solidFill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9971AD4C-61B2-E54F-348A-AD68E0D8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2" y="208193"/>
            <a:ext cx="1679880" cy="8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2A6E5-D547-5A5C-78E6-5C481EE47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5B8B067-E720-E3C4-AFC5-D77EE257E841}"/>
              </a:ext>
            </a:extLst>
          </p:cNvPr>
          <p:cNvSpPr txBox="1"/>
          <p:nvPr/>
        </p:nvSpPr>
        <p:spPr>
          <a:xfrm>
            <a:off x="702127" y="1048864"/>
            <a:ext cx="7943850" cy="4072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Pré-Requis</a:t>
            </a:r>
            <a:endParaRPr lang="fr-FR" sz="1200" dirty="0"/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Machine Virtuelle configurée pour utiliser Docker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</a:pPr>
            <a:r>
              <a:rPr lang="fr-FR" sz="1200" dirty="0">
                <a:ea typeface="Arial Unicode MS"/>
              </a:rPr>
              <a:t>Créer dans le « home » de l’utilisateur courant l’arborescence suivante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</a:pPr>
            <a:r>
              <a:rPr lang="fr-FR" sz="1200" dirty="0">
                <a:ea typeface="Arial Unicode MS"/>
              </a:rPr>
              <a:t>Dans un terminal taper: </a:t>
            </a:r>
            <a:r>
              <a:rPr lang="fr-FR" sz="1200" dirty="0" err="1">
                <a:ea typeface="Arial Unicode MS"/>
              </a:rPr>
              <a:t>mkdir</a:t>
            </a:r>
            <a:r>
              <a:rPr lang="fr-FR" sz="1200" dirty="0">
                <a:ea typeface="Arial Unicode MS"/>
              </a:rPr>
              <a:t> –p </a:t>
            </a:r>
            <a:r>
              <a:rPr lang="fr-FR" sz="1200" dirty="0" err="1">
                <a:ea typeface="Arial Unicode MS"/>
              </a:rPr>
              <a:t>spark</a:t>
            </a:r>
            <a:r>
              <a:rPr lang="fr-FR" sz="1200" dirty="0">
                <a:ea typeface="Arial Unicode MS"/>
              </a:rPr>
              <a:t>/</a:t>
            </a:r>
            <a:r>
              <a:rPr lang="fr-FR" sz="1200" dirty="0" err="1">
                <a:ea typeface="Arial Unicode MS"/>
              </a:rPr>
              <a:t>work</a:t>
            </a:r>
            <a:r>
              <a:rPr lang="fr-FR" sz="1200" dirty="0">
                <a:ea typeface="Arial Unicode MS"/>
              </a:rPr>
              <a:t>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</a:pPr>
            <a:endParaRPr lang="fr-FR" sz="1200" dirty="0">
              <a:ea typeface="Arial Unicode MS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</a:pPr>
            <a:r>
              <a:rPr lang="fr-FR" sz="1200" dirty="0">
                <a:ea typeface="Arial Unicode MS"/>
              </a:rPr>
              <a:t>Créer les répertoires: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Ø"/>
            </a:pPr>
            <a:r>
              <a:rPr lang="fr-FR" sz="1200" dirty="0">
                <a:ea typeface="Arial Unicode MS"/>
              </a:rPr>
              <a:t>data : contiendra les données à partager avec les services </a:t>
            </a:r>
            <a:r>
              <a:rPr lang="fr-FR" sz="1200" dirty="0" err="1">
                <a:ea typeface="Arial Unicode MS"/>
              </a:rPr>
              <a:t>spark_master</a:t>
            </a:r>
            <a:r>
              <a:rPr lang="fr-FR" sz="1200" dirty="0">
                <a:ea typeface="Arial Unicode MS"/>
              </a:rPr>
              <a:t> et </a:t>
            </a:r>
            <a:r>
              <a:rPr lang="fr-FR" sz="1200" dirty="0" err="1">
                <a:ea typeface="Arial Unicode MS"/>
              </a:rPr>
              <a:t>spark_worker</a:t>
            </a:r>
            <a:r>
              <a:rPr lang="fr-FR" sz="1200" dirty="0">
                <a:ea typeface="Arial Unicode MS"/>
              </a:rPr>
              <a:t>. Donc appliquer localement sur le dossier: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Ø"/>
            </a:pPr>
            <a:r>
              <a:rPr lang="fr-FR" sz="1200" dirty="0">
                <a:ea typeface="Arial Unicode MS"/>
              </a:rPr>
              <a:t>Pour les dossiers, comme l’utilisateur 185 doit également l’utilisé mais par défaut en local il faut garder l’utilisateur 1000:1000, il est nécessaire d’utiliser un </a:t>
            </a:r>
            <a:r>
              <a:rPr lang="fr-FR" sz="1200" dirty="0" err="1">
                <a:ea typeface="Arial Unicode MS"/>
              </a:rPr>
              <a:t>acl</a:t>
            </a:r>
            <a:r>
              <a:rPr lang="fr-FR" sz="1200" dirty="0">
                <a:ea typeface="Arial Unicode MS"/>
              </a:rPr>
              <a:t>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597508B-0404-E8A2-8836-A0422A4650E3}"/>
              </a:ext>
            </a:extLst>
          </p:cNvPr>
          <p:cNvSpPr/>
          <p:nvPr/>
        </p:nvSpPr>
        <p:spPr>
          <a:xfrm>
            <a:off x="728524" y="58794"/>
            <a:ext cx="6537895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8D76687A-7434-191D-21E0-78F3C285BF1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FE6ECC8-29E0-9D04-4290-579063A7028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6AB8A35-D854-BBC2-B064-B1570D33B7EF}"/>
              </a:ext>
            </a:extLst>
          </p:cNvPr>
          <p:cNvSpPr txBox="1"/>
          <p:nvPr/>
        </p:nvSpPr>
        <p:spPr>
          <a:xfrm>
            <a:off x="824976" y="311564"/>
            <a:ext cx="691397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serveurs Spark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2DC19B3-A3CA-2EA3-4247-34B36DBAA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973" y="1415767"/>
            <a:ext cx="2050446" cy="72854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A8198DD-433C-97E0-90B0-418675C1F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604" y="2274004"/>
            <a:ext cx="3451815" cy="10137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A144F2-4D58-DF52-4B70-7F1ED9F7455E}"/>
              </a:ext>
            </a:extLst>
          </p:cNvPr>
          <p:cNvSpPr/>
          <p:nvPr/>
        </p:nvSpPr>
        <p:spPr>
          <a:xfrm>
            <a:off x="3997471" y="3813220"/>
            <a:ext cx="1899185" cy="3786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Wingdings" panose="05000000000000000000" pitchFamily="2" charset="2"/>
              <a:buChar char="Ø"/>
            </a:pPr>
            <a:r>
              <a:rPr lang="fr-FR" sz="1000" dirty="0" err="1">
                <a:ea typeface="Arial Unicode MS"/>
              </a:rPr>
              <a:t>sudo</a:t>
            </a:r>
            <a:r>
              <a:rPr lang="fr-FR" sz="1000" dirty="0">
                <a:ea typeface="Arial Unicode MS"/>
              </a:rPr>
              <a:t> </a:t>
            </a:r>
            <a:r>
              <a:rPr lang="fr-FR" sz="1000" dirty="0" err="1">
                <a:ea typeface="Arial Unicode MS"/>
              </a:rPr>
              <a:t>chown</a:t>
            </a:r>
            <a:r>
              <a:rPr lang="fr-FR" sz="1000" dirty="0">
                <a:ea typeface="Arial Unicode MS"/>
              </a:rPr>
              <a:t> –R 185:185 data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Wingdings" panose="05000000000000000000" pitchFamily="2" charset="2"/>
              <a:buChar char="Ø"/>
            </a:pPr>
            <a:r>
              <a:rPr lang="fr-FR" sz="1000" dirty="0" err="1">
                <a:ea typeface="Arial Unicode MS"/>
              </a:rPr>
              <a:t>sudo</a:t>
            </a:r>
            <a:r>
              <a:rPr lang="fr-FR" sz="1000" dirty="0">
                <a:ea typeface="Arial Unicode MS"/>
              </a:rPr>
              <a:t> chmod –R 777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3478C-2336-A07D-965F-131D63280C4E}"/>
              </a:ext>
            </a:extLst>
          </p:cNvPr>
          <p:cNvSpPr/>
          <p:nvPr/>
        </p:nvSpPr>
        <p:spPr>
          <a:xfrm>
            <a:off x="3997471" y="4451225"/>
            <a:ext cx="3268949" cy="6334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Wingdings" panose="05000000000000000000" pitchFamily="2" charset="2"/>
              <a:buChar char="Ø"/>
            </a:pPr>
            <a:r>
              <a:rPr lang="fr-FR" sz="1000" dirty="0" err="1">
                <a:ea typeface="Arial Unicode MS"/>
              </a:rPr>
              <a:t>sudo</a:t>
            </a:r>
            <a:r>
              <a:rPr lang="fr-FR" sz="1000" dirty="0">
                <a:ea typeface="Arial Unicode MS"/>
              </a:rPr>
              <a:t> apt-get </a:t>
            </a:r>
            <a:r>
              <a:rPr lang="fr-FR" sz="1000" dirty="0" err="1">
                <a:ea typeface="Arial Unicode MS"/>
              </a:rPr>
              <a:t>install</a:t>
            </a:r>
            <a:r>
              <a:rPr lang="fr-FR" sz="1000" dirty="0">
                <a:ea typeface="Arial Unicode MS"/>
              </a:rPr>
              <a:t> -y </a:t>
            </a:r>
            <a:r>
              <a:rPr lang="fr-FR" sz="1000" dirty="0" err="1">
                <a:ea typeface="Arial Unicode MS"/>
              </a:rPr>
              <a:t>acl</a:t>
            </a:r>
            <a:endParaRPr lang="fr-FR" sz="1000" dirty="0">
              <a:ea typeface="Arial Unicode MS"/>
            </a:endParaRP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Wingdings" panose="05000000000000000000" pitchFamily="2" charset="2"/>
              <a:buChar char="Ø"/>
            </a:pPr>
            <a:r>
              <a:rPr lang="fr-FR" sz="1000" dirty="0" err="1">
                <a:ea typeface="Arial Unicode MS"/>
              </a:rPr>
              <a:t>sudo</a:t>
            </a:r>
            <a:r>
              <a:rPr lang="fr-FR" sz="1000" dirty="0">
                <a:ea typeface="Arial Unicode MS"/>
              </a:rPr>
              <a:t> </a:t>
            </a:r>
            <a:r>
              <a:rPr lang="fr-FR" sz="1000" dirty="0" err="1">
                <a:ea typeface="Arial Unicode MS"/>
              </a:rPr>
              <a:t>setfacl</a:t>
            </a:r>
            <a:r>
              <a:rPr lang="fr-FR" sz="1000" dirty="0">
                <a:ea typeface="Arial Unicode MS"/>
              </a:rPr>
              <a:t> -</a:t>
            </a:r>
            <a:r>
              <a:rPr lang="fr-FR" sz="1000">
                <a:ea typeface="Arial Unicode MS"/>
              </a:rPr>
              <a:t>R -m </a:t>
            </a:r>
            <a:r>
              <a:rPr lang="fr-FR" sz="1000" dirty="0">
                <a:ea typeface="Arial Unicode MS"/>
              </a:rPr>
              <a:t>u:185:rwx notebook </a:t>
            </a:r>
            <a:r>
              <a:rPr lang="fr-FR" sz="1000" dirty="0" err="1">
                <a:ea typeface="Arial Unicode MS"/>
              </a:rPr>
              <a:t>work</a:t>
            </a:r>
            <a:endParaRPr lang="fr-FR" sz="1000" dirty="0">
              <a:ea typeface="Arial Unicode MS"/>
            </a:endParaRP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rgbClr val="ED7D31"/>
              </a:buClr>
              <a:buFont typeface="Wingdings" panose="05000000000000000000" pitchFamily="2" charset="2"/>
              <a:buChar char="Ø"/>
            </a:pPr>
            <a:r>
              <a:rPr lang="fr-FR" sz="1000" dirty="0" err="1">
                <a:ea typeface="Arial Unicode MS"/>
              </a:rPr>
              <a:t>sudo</a:t>
            </a:r>
            <a:r>
              <a:rPr lang="fr-FR" sz="1000" dirty="0">
                <a:ea typeface="Arial Unicode MS"/>
              </a:rPr>
              <a:t> </a:t>
            </a:r>
            <a:r>
              <a:rPr lang="fr-FR" sz="1000" dirty="0" err="1">
                <a:ea typeface="Arial Unicode MS"/>
              </a:rPr>
              <a:t>setfacl</a:t>
            </a:r>
            <a:r>
              <a:rPr lang="fr-FR" sz="1000" dirty="0">
                <a:ea typeface="Arial Unicode MS"/>
              </a:rPr>
              <a:t> -R -d -m u:185:rwx notebook </a:t>
            </a:r>
            <a:r>
              <a:rPr lang="fr-FR" sz="1000" dirty="0" err="1">
                <a:ea typeface="Arial Unicode MS"/>
              </a:rPr>
              <a:t>work</a:t>
            </a:r>
            <a:endParaRPr lang="fr-FR" sz="1000" dirty="0"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924963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E786A-BCFD-113C-D993-11C7BCF8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6BE59BD-048C-163D-B2D5-6DA9C3A61444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Créer dans le répertoire ~/</a:t>
            </a:r>
            <a:r>
              <a:rPr lang="fr-FR" sz="1200" dirty="0" err="1"/>
              <a:t>spark</a:t>
            </a:r>
            <a:r>
              <a:rPr lang="fr-FR" sz="1200" dirty="0"/>
              <a:t> le fichier docker-</a:t>
            </a:r>
            <a:r>
              <a:rPr lang="fr-FR" sz="1200" dirty="0" err="1"/>
              <a:t>compose.yml</a:t>
            </a:r>
            <a:r>
              <a:rPr lang="fr-FR" sz="1200" dirty="0"/>
              <a:t> (Suite page suivante)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3253066-8C13-FDEB-8C4B-BF012C305493}"/>
              </a:ext>
            </a:extLst>
          </p:cNvPr>
          <p:cNvSpPr/>
          <p:nvPr/>
        </p:nvSpPr>
        <p:spPr>
          <a:xfrm>
            <a:off x="728524" y="58794"/>
            <a:ext cx="6537895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F7FE5E4-1FBF-ACAB-AE5E-C00017CA926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97C2A40-B5D9-833C-3124-E31E1489B2C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563E6A2-935F-4218-9981-A6CCFC5EA2DE}"/>
              </a:ext>
            </a:extLst>
          </p:cNvPr>
          <p:cNvSpPr txBox="1"/>
          <p:nvPr/>
        </p:nvSpPr>
        <p:spPr>
          <a:xfrm>
            <a:off x="824976" y="311564"/>
            <a:ext cx="691397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serveurs Spark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9F68A-5ACA-85FF-4CB4-82D7C0120706}"/>
              </a:ext>
            </a:extLst>
          </p:cNvPr>
          <p:cNvSpPr/>
          <p:nvPr/>
        </p:nvSpPr>
        <p:spPr>
          <a:xfrm>
            <a:off x="1220399" y="1363013"/>
            <a:ext cx="5969621" cy="33428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-master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spark:3.5.0-java17-python3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-master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hostname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-master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  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opt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/bin/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-class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org.apache.spark.deploy.master.Master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    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NB_UID=1000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NB_GID=1000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   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"./data:/data"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       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"7077:7077"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"8080:8080"</a:t>
            </a:r>
          </a:p>
          <a:p>
            <a:pPr>
              <a:lnSpc>
                <a:spcPts val="1425"/>
              </a:lnSpc>
            </a:pPr>
            <a:endParaRPr lang="fr-FR" sz="1000" dirty="0">
              <a:solidFill>
                <a:srgbClr val="98C379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sur la page suivante</a:t>
            </a:r>
          </a:p>
        </p:txBody>
      </p:sp>
    </p:spTree>
    <p:extLst>
      <p:ext uri="{BB962C8B-B14F-4D97-AF65-F5344CB8AC3E}">
        <p14:creationId xmlns:p14="http://schemas.microsoft.com/office/powerpoint/2010/main" val="273319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FDD2-A514-3387-9179-52F3EBE7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82C6D67-F184-3243-3AAF-16E60F1A838D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Créer dans le répertoire ~/</a:t>
            </a:r>
            <a:r>
              <a:rPr lang="fr-FR" sz="1200" dirty="0" err="1"/>
              <a:t>spark</a:t>
            </a:r>
            <a:r>
              <a:rPr lang="fr-FR" sz="1200" dirty="0"/>
              <a:t> le fichier docker-</a:t>
            </a:r>
            <a:r>
              <a:rPr lang="fr-FR" sz="1200" dirty="0" err="1"/>
              <a:t>compose.yml</a:t>
            </a:r>
            <a:r>
              <a:rPr lang="fr-FR" sz="1200" dirty="0"/>
              <a:t> (Suite page suivante)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7CC9BF4-7CA8-F9E2-B62D-EA5D2E8E82F9}"/>
              </a:ext>
            </a:extLst>
          </p:cNvPr>
          <p:cNvSpPr/>
          <p:nvPr/>
        </p:nvSpPr>
        <p:spPr>
          <a:xfrm>
            <a:off x="728524" y="58794"/>
            <a:ext cx="6537895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7FC2B13-482C-0044-E979-DEF257B9821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242F14F-1BEA-61E5-28AB-DBA9378B5A37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1D3FA4D-B81E-944D-8E7A-02CF6917F868}"/>
              </a:ext>
            </a:extLst>
          </p:cNvPr>
          <p:cNvSpPr txBox="1"/>
          <p:nvPr/>
        </p:nvSpPr>
        <p:spPr>
          <a:xfrm>
            <a:off x="824976" y="311564"/>
            <a:ext cx="691397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serveurs Spark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B1C92-0F61-A824-A42B-7B14FBF3085E}"/>
              </a:ext>
            </a:extLst>
          </p:cNvPr>
          <p:cNvSpPr/>
          <p:nvPr/>
        </p:nvSpPr>
        <p:spPr>
          <a:xfrm>
            <a:off x="1220399" y="1363013"/>
            <a:ext cx="5969621" cy="33428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spark-worker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spark:3.5.0-java17-python3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spark-worker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hostname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spark-worker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-master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  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opt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/bin/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-class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org.apache.spark.deploy.worker.Worker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      spark://spark-master:7077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    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NB_UID=1000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NB_GID=1000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"./data:/data"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 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"8081:8081"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endParaRPr lang="fr-FR" sz="1000" dirty="0">
              <a:solidFill>
                <a:srgbClr val="98C379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sur la page suivante</a:t>
            </a:r>
          </a:p>
        </p:txBody>
      </p:sp>
    </p:spTree>
    <p:extLst>
      <p:ext uri="{BB962C8B-B14F-4D97-AF65-F5344CB8AC3E}">
        <p14:creationId xmlns:p14="http://schemas.microsoft.com/office/powerpoint/2010/main" val="194013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A8D3E-6991-A4D1-8364-0AEBFCC0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12E8226F-7B36-5226-4450-D2082AD5D5CE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Créer dans le répertoire ~/</a:t>
            </a:r>
            <a:r>
              <a:rPr lang="fr-FR" sz="1200" dirty="0" err="1"/>
              <a:t>spark</a:t>
            </a:r>
            <a:r>
              <a:rPr lang="fr-FR" sz="1200" dirty="0"/>
              <a:t> le fichier docker-</a:t>
            </a:r>
            <a:r>
              <a:rPr lang="fr-FR" sz="1200" dirty="0" err="1"/>
              <a:t>compose.yml</a:t>
            </a:r>
            <a:r>
              <a:rPr lang="fr-FR" sz="1200" dirty="0"/>
              <a:t> (Suite page suivante)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D1F3530-B09E-1E22-C80C-6BE5D5BDF558}"/>
              </a:ext>
            </a:extLst>
          </p:cNvPr>
          <p:cNvSpPr/>
          <p:nvPr/>
        </p:nvSpPr>
        <p:spPr>
          <a:xfrm>
            <a:off x="728524" y="58794"/>
            <a:ext cx="6537895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4CF3F7A-B436-DA83-E337-AADFD87123C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F0BC8555-9633-15C0-46D6-CB15199C51F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D6DFDA8-E64E-7A38-22B0-62738B098173}"/>
              </a:ext>
            </a:extLst>
          </p:cNvPr>
          <p:cNvSpPr txBox="1"/>
          <p:nvPr/>
        </p:nvSpPr>
        <p:spPr>
          <a:xfrm>
            <a:off x="824976" y="311564"/>
            <a:ext cx="691397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serveurs Spark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460C1B-2AA5-47A2-471F-D87440CA093B}"/>
              </a:ext>
            </a:extLst>
          </p:cNvPr>
          <p:cNvSpPr/>
          <p:nvPr/>
        </p:nvSpPr>
        <p:spPr>
          <a:xfrm>
            <a:off x="1220399" y="1363012"/>
            <a:ext cx="5969621" cy="36476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"185:185"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-master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"8888:8888"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    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NB_UID=1000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NB_GID=1000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SPARK_MASTER=spark://spark-master:7077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PYSPARK_PYTHON=python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PYSPARK_DRIVER_PYTHON=python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JUPYTER_TOKEN=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demo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./data:/data 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partage avec master et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worker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./notebook:/home/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/notebook 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partage avec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JupyterLab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./source:/home/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/source     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partage avec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JupyterLab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:/home/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        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partage avec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JupyterLab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90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1752-F3C0-1326-DFD3-ECA0D4ED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6FAC9DA-5A64-02B7-8D13-0A1F3BBB31A6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Dans le dossier ~/</a:t>
            </a:r>
            <a:r>
              <a:rPr lang="fr-FR" sz="1200" dirty="0" err="1"/>
              <a:t>spark</a:t>
            </a:r>
            <a:r>
              <a:rPr lang="fr-FR" sz="1200" dirty="0"/>
              <a:t>/</a:t>
            </a:r>
            <a:r>
              <a:rPr lang="fr-FR" sz="1200" dirty="0" err="1"/>
              <a:t>jupyter</a:t>
            </a:r>
            <a:r>
              <a:rPr lang="fr-FR" sz="1200" dirty="0"/>
              <a:t>/</a:t>
            </a:r>
            <a:r>
              <a:rPr lang="fr-FR" sz="1200" dirty="0" err="1"/>
              <a:t>Dockerfile</a:t>
            </a:r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B7C32BA-945A-8D65-403B-FF6E0DC3D11E}"/>
              </a:ext>
            </a:extLst>
          </p:cNvPr>
          <p:cNvSpPr/>
          <p:nvPr/>
        </p:nvSpPr>
        <p:spPr>
          <a:xfrm>
            <a:off x="728524" y="58794"/>
            <a:ext cx="6537895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9AF33ED-888A-D52B-C505-445610B4050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2516DAB-0DFA-0C8D-80AA-62F61DD8BF3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79278C1-F5D1-D905-3A4E-1650DB1FF613}"/>
              </a:ext>
            </a:extLst>
          </p:cNvPr>
          <p:cNvSpPr txBox="1"/>
          <p:nvPr/>
        </p:nvSpPr>
        <p:spPr>
          <a:xfrm>
            <a:off x="824976" y="311564"/>
            <a:ext cx="691397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serveurs Spark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447561-2F12-A370-3B62-AD4D104781EC}"/>
              </a:ext>
            </a:extLst>
          </p:cNvPr>
          <p:cNvSpPr/>
          <p:nvPr/>
        </p:nvSpPr>
        <p:spPr>
          <a:xfrm>
            <a:off x="1220399" y="1325863"/>
            <a:ext cx="5969621" cy="36434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/pyspark-notebook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python-3.11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root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Aligne l’utilisateur avec les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workers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Spark (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gid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= 185)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NB_USER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NB_UID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185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 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NB_GID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185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 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/home/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Crée l’utilisateur et prépare son home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groupadd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${NB_GID}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${NB_USER}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 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useradd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-u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${NB_UID}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${NB_GID}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${NB_USER}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 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mkdir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/home/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${NB_USER}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chown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${NB_UID}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${NB_GID}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/home/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${NB_USER}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Dépendances Python supplémentaires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/home/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--no-cache-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-python==2.0.2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"pandas&lt;3"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matplotlib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Permissions standard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(répertoires internes à l'image)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fix-permissions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${HOME}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fix-permissions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${CONDA_DIR}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87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7631-074B-FDA9-5373-47BFC8D4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1989459-C122-357B-3AA9-73BD01C82E62}"/>
              </a:ext>
            </a:extLst>
          </p:cNvPr>
          <p:cNvSpPr txBox="1"/>
          <p:nvPr/>
        </p:nvSpPr>
        <p:spPr>
          <a:xfrm>
            <a:off x="702127" y="1048864"/>
            <a:ext cx="7943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Pour démarrer docker en ligne de commandes: 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r>
              <a:rPr lang="fr-FR" sz="1200" dirty="0"/>
              <a:t>Pour arrêter les containers:</a:t>
            </a:r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endParaRPr lang="fr-FR" sz="1200" dirty="0"/>
          </a:p>
          <a:p>
            <a:r>
              <a:rPr lang="fr-FR" sz="1200" dirty="0"/>
              <a:t>Pour visualiser les services qui fonctionnent:</a:t>
            </a:r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68D04D39-DFFA-EEBB-C2FE-0BCFDB545C13}"/>
              </a:ext>
            </a:extLst>
          </p:cNvPr>
          <p:cNvSpPr/>
          <p:nvPr/>
        </p:nvSpPr>
        <p:spPr>
          <a:xfrm>
            <a:off x="728524" y="58794"/>
            <a:ext cx="6537895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1FA2F53-C5CC-F729-54F9-0D963E4CC49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73714CF-C532-5A1D-B4B1-16171372E48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D90A853-4AB8-333F-BCA8-ED32A35EED04}"/>
              </a:ext>
            </a:extLst>
          </p:cNvPr>
          <p:cNvSpPr txBox="1"/>
          <p:nvPr/>
        </p:nvSpPr>
        <p:spPr>
          <a:xfrm>
            <a:off x="824976" y="311564"/>
            <a:ext cx="691397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serveurs Spark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DE81A6-A9C0-108F-091D-C8D2B59D2ADD}"/>
              </a:ext>
            </a:extLst>
          </p:cNvPr>
          <p:cNvSpPr/>
          <p:nvPr/>
        </p:nvSpPr>
        <p:spPr>
          <a:xfrm>
            <a:off x="1227833" y="1329301"/>
            <a:ext cx="5969621" cy="276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dirty="0">
                <a:solidFill>
                  <a:srgbClr val="C678DD"/>
                </a:solidFill>
                <a:latin typeface="Consolas" panose="020B0609020204030204" pitchFamily="49" charset="0"/>
              </a:rPr>
              <a:t>docker compose up –d --</a:t>
            </a:r>
            <a:r>
              <a:rPr lang="fr-FR" sz="1000" dirty="0" err="1">
                <a:solidFill>
                  <a:srgbClr val="C678DD"/>
                </a:solidFill>
                <a:latin typeface="Consolas" panose="020B0609020204030204" pitchFamily="49" charset="0"/>
              </a:rPr>
              <a:t>build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7A4A5E-50BC-C93C-E752-79AE4D9F8120}"/>
              </a:ext>
            </a:extLst>
          </p:cNvPr>
          <p:cNvSpPr/>
          <p:nvPr/>
        </p:nvSpPr>
        <p:spPr>
          <a:xfrm>
            <a:off x="1227833" y="2143340"/>
            <a:ext cx="5969621" cy="276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dirty="0">
                <a:solidFill>
                  <a:srgbClr val="C678DD"/>
                </a:solidFill>
                <a:latin typeface="Consolas" panose="020B0609020204030204" pitchFamily="49" charset="0"/>
              </a:rPr>
              <a:t>docker compose down -v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17540-7984-D637-342F-7B0062F50D0B}"/>
              </a:ext>
            </a:extLst>
          </p:cNvPr>
          <p:cNvSpPr/>
          <p:nvPr/>
        </p:nvSpPr>
        <p:spPr>
          <a:xfrm>
            <a:off x="1227832" y="2971783"/>
            <a:ext cx="5969621" cy="276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dirty="0">
                <a:solidFill>
                  <a:srgbClr val="C678DD"/>
                </a:solidFill>
                <a:latin typeface="Consolas" panose="020B0609020204030204" pitchFamily="49" charset="0"/>
              </a:rPr>
              <a:t>docker compose </a:t>
            </a:r>
            <a:r>
              <a:rPr lang="fr-FR" sz="1000" dirty="0" err="1">
                <a:solidFill>
                  <a:srgbClr val="C678DD"/>
                </a:solidFill>
                <a:latin typeface="Consolas" panose="020B0609020204030204" pitchFamily="49" charset="0"/>
              </a:rPr>
              <a:t>ps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014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4046</TotalTime>
  <Words>966</Words>
  <Application>Microsoft Office PowerPoint</Application>
  <PresentationFormat>Affichage à l'écran (16:9)</PresentationFormat>
  <Paragraphs>147</Paragraphs>
  <Slides>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22" baseType="lpstr">
      <vt:lpstr>Abadi Extra Light</vt:lpstr>
      <vt:lpstr>Arial Unicode MS</vt:lpstr>
      <vt:lpstr>Arial Unicode MS</vt:lpstr>
      <vt:lpstr>FUTURA MEDIUM</vt:lpstr>
      <vt:lpstr>Agency FB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181</cp:revision>
  <dcterms:created xsi:type="dcterms:W3CDTF">2021-01-18T11:01:50Z</dcterms:created>
  <dcterms:modified xsi:type="dcterms:W3CDTF">2026-09-28T19:52:21Z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