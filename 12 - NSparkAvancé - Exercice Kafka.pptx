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32"/>
  </p:notesMasterIdLst>
  <p:sldIdLst>
    <p:sldId id="263" r:id="rId5"/>
    <p:sldId id="2134807190" r:id="rId6"/>
    <p:sldId id="2134807191" r:id="rId7"/>
    <p:sldId id="2134807201" r:id="rId8"/>
    <p:sldId id="2134807192" r:id="rId9"/>
    <p:sldId id="2134807193" r:id="rId10"/>
    <p:sldId id="2134807194" r:id="rId11"/>
    <p:sldId id="2134807195" r:id="rId12"/>
    <p:sldId id="2134807196" r:id="rId13"/>
    <p:sldId id="2134807197" r:id="rId14"/>
    <p:sldId id="2134807198" r:id="rId15"/>
    <p:sldId id="2134807202" r:id="rId16"/>
    <p:sldId id="2134807200" r:id="rId17"/>
    <p:sldId id="2134807199" r:id="rId18"/>
    <p:sldId id="2134807203" r:id="rId19"/>
    <p:sldId id="2134807204" r:id="rId20"/>
    <p:sldId id="2134807206" r:id="rId21"/>
    <p:sldId id="2134807207" r:id="rId22"/>
    <p:sldId id="2134807208" r:id="rId23"/>
    <p:sldId id="2134807209" r:id="rId24"/>
    <p:sldId id="2134807205" r:id="rId25"/>
    <p:sldId id="2134807210" r:id="rId26"/>
    <p:sldId id="2134807211" r:id="rId27"/>
    <p:sldId id="2134807213" r:id="rId28"/>
    <p:sldId id="2134807214" r:id="rId29"/>
    <p:sldId id="2134807212" r:id="rId30"/>
    <p:sldId id="269" r:id="rId31"/>
  </p:sldIdLst>
  <p:sldSz cx="9144000" cy="5143500" type="screen16x9"/>
  <p:notesSz cx="9144000" cy="51435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8200"/>
    <a:srgbClr val="E89D06"/>
    <a:srgbClr val="606A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Style moyen 1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Style léger 2 - Accentuation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3371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EFCF4C-C656-4173-9B19-E1AF5C686E36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E481D4-7198-485D-BC3A-9DB0AF6D6A6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9205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E481D4-7198-485D-BC3A-9DB0AF6D6A6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4745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8B0EE-DB74-4337-9E39-4F4401AC088C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9741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597370" y="4578722"/>
            <a:ext cx="429860" cy="2832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>
          <a:xfrm>
            <a:off x="457200" y="4783455"/>
            <a:ext cx="2103120" cy="276999"/>
          </a:xfrm>
        </p:spPr>
        <p:txBody>
          <a:bodyPr/>
          <a:lstStyle/>
          <a:p>
            <a:fld id="{FE69C2FC-FDFD-4827-B361-612217FFD460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108960" y="4783455"/>
            <a:ext cx="2926080" cy="276999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874741" y="4894851"/>
            <a:ext cx="215900" cy="307777"/>
          </a:xfrm>
        </p:spPr>
        <p:txBody>
          <a:bodyPr/>
          <a:lstStyle/>
          <a:p>
            <a:fld id="{145EDAB0-9B87-4A61-82A7-24EB9E95EB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2946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876384" y="2592654"/>
            <a:ext cx="4569441" cy="1384995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965951" y="3982528"/>
            <a:ext cx="4390307" cy="276999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6830C2E-4564-4B17-8002-21FAB13655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0999" r="11596"/>
          <a:stretch/>
        </p:blipFill>
        <p:spPr>
          <a:xfrm>
            <a:off x="-2024" y="0"/>
            <a:ext cx="7077950" cy="51753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C26AB9D-2720-48E7-9F02-9FF73EC7320C}"/>
              </a:ext>
            </a:extLst>
          </p:cNvPr>
          <p:cNvSpPr/>
          <p:nvPr userDrawn="1"/>
        </p:nvSpPr>
        <p:spPr>
          <a:xfrm>
            <a:off x="5272" y="1"/>
            <a:ext cx="8138265" cy="5159408"/>
          </a:xfrm>
          <a:prstGeom prst="rect">
            <a:avLst/>
          </a:prstGeom>
          <a:solidFill>
            <a:srgbClr val="676D7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solidFill>
                <a:schemeClr val="bg1"/>
              </a:solidFill>
            </a:endParaRPr>
          </a:p>
        </p:txBody>
      </p:sp>
      <p:sp>
        <p:nvSpPr>
          <p:cNvPr id="11" name="Parallélogramme 10">
            <a:extLst>
              <a:ext uri="{FF2B5EF4-FFF2-40B4-BE49-F238E27FC236}">
                <a16:creationId xmlns:a16="http://schemas.microsoft.com/office/drawing/2014/main" id="{89BE8FA3-37AB-4349-895E-C9147FFA4740}"/>
              </a:ext>
            </a:extLst>
          </p:cNvPr>
          <p:cNvSpPr/>
          <p:nvPr userDrawn="1"/>
        </p:nvSpPr>
        <p:spPr>
          <a:xfrm>
            <a:off x="4348264" y="-15909"/>
            <a:ext cx="5287890" cy="5175317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</p:spTree>
    <p:extLst>
      <p:ext uri="{BB962C8B-B14F-4D97-AF65-F5344CB8AC3E}">
        <p14:creationId xmlns:p14="http://schemas.microsoft.com/office/powerpoint/2010/main" val="1869992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86986" y="270763"/>
            <a:ext cx="5970026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54BCB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158" y="790177"/>
            <a:ext cx="7865109" cy="144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74741" y="4894851"/>
            <a:ext cx="215900" cy="18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7FB7DF"/>
                </a:solidFill>
                <a:latin typeface="Verdana"/>
                <a:cs typeface="Verdan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85" dirty="0">
                <a:solidFill>
                  <a:srgbClr val="FFFFFF"/>
                </a:solidFill>
              </a:rPr>
              <a:t>‹N°›</a:t>
            </a:fld>
            <a:endParaRPr spc="-85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  <p:sldLayoutId id="2147483668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hyperlink" Target="http://www.mgt-conseils.com/" TargetMode="External"/><Relationship Id="rId10" Type="http://schemas.openxmlformats.org/officeDocument/2006/relationships/image" Target="../media/image15.png"/><Relationship Id="rId4" Type="http://schemas.openxmlformats.org/officeDocument/2006/relationships/image" Target="../media/image10.emf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Texte 13">
            <a:extLst>
              <a:ext uri="{FF2B5EF4-FFF2-40B4-BE49-F238E27FC236}">
                <a16:creationId xmlns:a16="http://schemas.microsoft.com/office/drawing/2014/main" id="{6645293F-0238-41E2-AE61-25FF444A98FA}"/>
              </a:ext>
            </a:extLst>
          </p:cNvPr>
          <p:cNvSpPr txBox="1"/>
          <p:nvPr/>
        </p:nvSpPr>
        <p:spPr>
          <a:xfrm>
            <a:off x="5241241" y="2668269"/>
            <a:ext cx="33179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b="1">
                <a:solidFill>
                  <a:srgbClr val="EE8200"/>
                </a:solidFill>
                <a:latin typeface="Arial UNICODE MS"/>
              </a:rPr>
              <a:t>L’accélérateur </a:t>
            </a:r>
            <a:br>
              <a:rPr lang="fr-FR" sz="2000" b="1">
                <a:solidFill>
                  <a:srgbClr val="EE8200"/>
                </a:solidFill>
                <a:latin typeface="Arial UNICODE MS"/>
              </a:rPr>
            </a:br>
            <a:r>
              <a:rPr lang="fr-FR" sz="2000" b="1">
                <a:solidFill>
                  <a:srgbClr val="EE8200"/>
                </a:solidFill>
                <a:latin typeface="Arial UNICODE MS"/>
              </a:rPr>
              <a:t>de vos Performances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27EBDE4-AF21-46CC-A637-A8E445A354FC}"/>
              </a:ext>
            </a:extLst>
          </p:cNvPr>
          <p:cNvSpPr txBox="1"/>
          <p:nvPr/>
        </p:nvSpPr>
        <p:spPr>
          <a:xfrm>
            <a:off x="5425360" y="3454631"/>
            <a:ext cx="30479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>
                <a:solidFill>
                  <a:schemeClr val="tx1">
                    <a:lumMod val="50000"/>
                    <a:lumOff val="50000"/>
                  </a:schemeClr>
                </a:solidFill>
                <a:latin typeface="Abadi Extra Light" panose="020B0204020104020204" pitchFamily="34" charset="0"/>
              </a:rPr>
              <a:t>Cabinet de Conseil et Formation spécialisé dans l’Amélioration des Performances des Entreprises</a:t>
            </a:r>
          </a:p>
        </p:txBody>
      </p:sp>
      <p:grpSp>
        <p:nvGrpSpPr>
          <p:cNvPr id="4" name="Google Shape;1211;p42">
            <a:extLst>
              <a:ext uri="{FF2B5EF4-FFF2-40B4-BE49-F238E27FC236}">
                <a16:creationId xmlns:a16="http://schemas.microsoft.com/office/drawing/2014/main" id="{0805AA11-DDF0-28CE-7329-E9ABB8802C46}"/>
              </a:ext>
            </a:extLst>
          </p:cNvPr>
          <p:cNvGrpSpPr/>
          <p:nvPr/>
        </p:nvGrpSpPr>
        <p:grpSpPr>
          <a:xfrm>
            <a:off x="866124" y="1529312"/>
            <a:ext cx="2906404" cy="2211684"/>
            <a:chOff x="4743450" y="1116900"/>
            <a:chExt cx="2486100" cy="1690800"/>
          </a:xfrm>
        </p:grpSpPr>
        <p:sp>
          <p:nvSpPr>
            <p:cNvPr id="5" name="Google Shape;1212;p42">
              <a:extLst>
                <a:ext uri="{FF2B5EF4-FFF2-40B4-BE49-F238E27FC236}">
                  <a16:creationId xmlns:a16="http://schemas.microsoft.com/office/drawing/2014/main" id="{19E28FA2-BA25-9760-C0E3-7AB39B1EEB5E}"/>
                </a:ext>
              </a:extLst>
            </p:cNvPr>
            <p:cNvSpPr/>
            <p:nvPr/>
          </p:nvSpPr>
          <p:spPr>
            <a:xfrm>
              <a:off x="4743450" y="1116900"/>
              <a:ext cx="2486100" cy="1690800"/>
            </a:xfrm>
            <a:prstGeom prst="roundRect">
              <a:avLst>
                <a:gd name="adj" fmla="val 16667"/>
              </a:avLst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213;p42">
              <a:extLst>
                <a:ext uri="{FF2B5EF4-FFF2-40B4-BE49-F238E27FC236}">
                  <a16:creationId xmlns:a16="http://schemas.microsoft.com/office/drawing/2014/main" id="{F4C6AACD-E2C4-85E5-CF68-119723003E9E}"/>
                </a:ext>
              </a:extLst>
            </p:cNvPr>
            <p:cNvSpPr/>
            <p:nvPr/>
          </p:nvSpPr>
          <p:spPr>
            <a:xfrm>
              <a:off x="4743450" y="1708870"/>
              <a:ext cx="2486100" cy="729400"/>
            </a:xfrm>
            <a:prstGeom prst="rect">
              <a:avLst/>
            </a:prstGeom>
            <a:gradFill>
              <a:gsLst>
                <a:gs pos="83000">
                  <a:srgbClr val="E89D06"/>
                </a:gs>
                <a:gs pos="38000">
                  <a:srgbClr val="E89D06"/>
                </a:gs>
              </a:gsLst>
              <a:lin ang="5400000" scaled="1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just"/>
              <a:endParaRPr lang="fr-FR" sz="2400" b="1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endParaRPr>
            </a:p>
          </p:txBody>
        </p:sp>
        <p:sp>
          <p:nvSpPr>
            <p:cNvPr id="7" name="Google Shape;1214;p42">
              <a:extLst>
                <a:ext uri="{FF2B5EF4-FFF2-40B4-BE49-F238E27FC236}">
                  <a16:creationId xmlns:a16="http://schemas.microsoft.com/office/drawing/2014/main" id="{10DB14C9-1189-F962-9C46-48F2025E5D4E}"/>
                </a:ext>
              </a:extLst>
            </p:cNvPr>
            <p:cNvSpPr txBox="1"/>
            <p:nvPr/>
          </p:nvSpPr>
          <p:spPr>
            <a:xfrm>
              <a:off x="4754902" y="2510233"/>
              <a:ext cx="2283900" cy="2620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Roboto"/>
                  <a:ea typeface="Roboto"/>
                  <a:cs typeface="Roboto"/>
                  <a:sym typeface="Roboto"/>
                </a:rPr>
                <a:t>18/11/2025</a:t>
              </a:r>
            </a:p>
          </p:txBody>
        </p:sp>
        <p:grpSp>
          <p:nvGrpSpPr>
            <p:cNvPr id="8" name="Google Shape;1215;p42">
              <a:extLst>
                <a:ext uri="{FF2B5EF4-FFF2-40B4-BE49-F238E27FC236}">
                  <a16:creationId xmlns:a16="http://schemas.microsoft.com/office/drawing/2014/main" id="{6C607AC6-5841-D5C0-CDC0-064B9E45A8F0}"/>
                </a:ext>
              </a:extLst>
            </p:cNvPr>
            <p:cNvGrpSpPr/>
            <p:nvPr/>
          </p:nvGrpSpPr>
          <p:grpSpPr>
            <a:xfrm>
              <a:off x="5790959" y="1236253"/>
              <a:ext cx="394134" cy="394090"/>
              <a:chOff x="-64764500" y="2280550"/>
              <a:chExt cx="316650" cy="319800"/>
            </a:xfrm>
          </p:grpSpPr>
          <p:sp>
            <p:nvSpPr>
              <p:cNvPr id="9" name="Google Shape;1216;p42">
                <a:extLst>
                  <a:ext uri="{FF2B5EF4-FFF2-40B4-BE49-F238E27FC236}">
                    <a16:creationId xmlns:a16="http://schemas.microsoft.com/office/drawing/2014/main" id="{185FED04-2E27-BE7C-9209-400D4E0C0465}"/>
                  </a:ext>
                </a:extLst>
              </p:cNvPr>
              <p:cNvSpPr/>
              <p:nvPr/>
            </p:nvSpPr>
            <p:spPr>
              <a:xfrm>
                <a:off x="-64764500" y="2280550"/>
                <a:ext cx="316650" cy="319800"/>
              </a:xfrm>
              <a:custGeom>
                <a:avLst/>
                <a:gdLst/>
                <a:ahLst/>
                <a:cxnLst/>
                <a:rect l="l" t="t" r="r" b="b"/>
                <a:pathLst>
                  <a:path w="12666" h="12792" extrusionOk="0">
                    <a:moveTo>
                      <a:pt x="11405" y="820"/>
                    </a:moveTo>
                    <a:cubicBezTo>
                      <a:pt x="11657" y="820"/>
                      <a:pt x="11815" y="1009"/>
                      <a:pt x="11815" y="1261"/>
                    </a:cubicBezTo>
                    <a:cubicBezTo>
                      <a:pt x="11815" y="1481"/>
                      <a:pt x="11657" y="1670"/>
                      <a:pt x="11405" y="1670"/>
                    </a:cubicBezTo>
                    <a:lnTo>
                      <a:pt x="1229" y="1670"/>
                    </a:lnTo>
                    <a:cubicBezTo>
                      <a:pt x="977" y="1670"/>
                      <a:pt x="788" y="1481"/>
                      <a:pt x="788" y="1261"/>
                    </a:cubicBezTo>
                    <a:cubicBezTo>
                      <a:pt x="788" y="1009"/>
                      <a:pt x="977" y="820"/>
                      <a:pt x="1229" y="820"/>
                    </a:cubicBezTo>
                    <a:close/>
                    <a:moveTo>
                      <a:pt x="10996" y="2521"/>
                    </a:moveTo>
                    <a:lnTo>
                      <a:pt x="10996" y="8286"/>
                    </a:lnTo>
                    <a:lnTo>
                      <a:pt x="1607" y="8286"/>
                    </a:lnTo>
                    <a:lnTo>
                      <a:pt x="1607" y="2521"/>
                    </a:lnTo>
                    <a:close/>
                    <a:moveTo>
                      <a:pt x="6302" y="11027"/>
                    </a:moveTo>
                    <a:cubicBezTo>
                      <a:pt x="6554" y="11027"/>
                      <a:pt x="6743" y="11216"/>
                      <a:pt x="6743" y="11437"/>
                    </a:cubicBezTo>
                    <a:cubicBezTo>
                      <a:pt x="6743" y="11689"/>
                      <a:pt x="6522" y="11878"/>
                      <a:pt x="6302" y="11878"/>
                    </a:cubicBezTo>
                    <a:cubicBezTo>
                      <a:pt x="6050" y="11878"/>
                      <a:pt x="5892" y="11689"/>
                      <a:pt x="5892" y="11437"/>
                    </a:cubicBezTo>
                    <a:cubicBezTo>
                      <a:pt x="5892" y="11216"/>
                      <a:pt x="6113" y="11027"/>
                      <a:pt x="6302" y="11027"/>
                    </a:cubicBezTo>
                    <a:close/>
                    <a:moveTo>
                      <a:pt x="1229" y="1"/>
                    </a:moveTo>
                    <a:cubicBezTo>
                      <a:pt x="536" y="1"/>
                      <a:pt x="1" y="536"/>
                      <a:pt x="1" y="1261"/>
                    </a:cubicBezTo>
                    <a:cubicBezTo>
                      <a:pt x="1" y="1797"/>
                      <a:pt x="347" y="2238"/>
                      <a:pt x="820" y="2427"/>
                    </a:cubicBezTo>
                    <a:lnTo>
                      <a:pt x="820" y="8286"/>
                    </a:lnTo>
                    <a:lnTo>
                      <a:pt x="442" y="8286"/>
                    </a:lnTo>
                    <a:cubicBezTo>
                      <a:pt x="190" y="8286"/>
                      <a:pt x="32" y="8507"/>
                      <a:pt x="32" y="8728"/>
                    </a:cubicBezTo>
                    <a:cubicBezTo>
                      <a:pt x="32" y="8980"/>
                      <a:pt x="221" y="9169"/>
                      <a:pt x="442" y="9169"/>
                    </a:cubicBezTo>
                    <a:lnTo>
                      <a:pt x="5955" y="9169"/>
                    </a:lnTo>
                    <a:lnTo>
                      <a:pt x="5955" y="10334"/>
                    </a:lnTo>
                    <a:cubicBezTo>
                      <a:pt x="5483" y="10492"/>
                      <a:pt x="5104" y="10964"/>
                      <a:pt x="5104" y="11531"/>
                    </a:cubicBezTo>
                    <a:cubicBezTo>
                      <a:pt x="5104" y="12193"/>
                      <a:pt x="5672" y="12792"/>
                      <a:pt x="6333" y="12792"/>
                    </a:cubicBezTo>
                    <a:cubicBezTo>
                      <a:pt x="6995" y="12792"/>
                      <a:pt x="7593" y="12225"/>
                      <a:pt x="7593" y="11531"/>
                    </a:cubicBezTo>
                    <a:cubicBezTo>
                      <a:pt x="7593" y="10964"/>
                      <a:pt x="7247" y="10555"/>
                      <a:pt x="6774" y="10334"/>
                    </a:cubicBezTo>
                    <a:lnTo>
                      <a:pt x="6774" y="9169"/>
                    </a:lnTo>
                    <a:lnTo>
                      <a:pt x="12288" y="9169"/>
                    </a:lnTo>
                    <a:cubicBezTo>
                      <a:pt x="12508" y="9169"/>
                      <a:pt x="12666" y="8980"/>
                      <a:pt x="12666" y="8728"/>
                    </a:cubicBezTo>
                    <a:cubicBezTo>
                      <a:pt x="12666" y="8507"/>
                      <a:pt x="12477" y="8286"/>
                      <a:pt x="12288" y="8286"/>
                    </a:cubicBezTo>
                    <a:lnTo>
                      <a:pt x="11847" y="8286"/>
                    </a:lnTo>
                    <a:lnTo>
                      <a:pt x="11847" y="2427"/>
                    </a:lnTo>
                    <a:cubicBezTo>
                      <a:pt x="12319" y="2238"/>
                      <a:pt x="12634" y="1797"/>
                      <a:pt x="12634" y="1261"/>
                    </a:cubicBezTo>
                    <a:cubicBezTo>
                      <a:pt x="12634" y="568"/>
                      <a:pt x="12099" y="1"/>
                      <a:pt x="11405" y="1"/>
                    </a:cubicBezTo>
                    <a:close/>
                  </a:path>
                </a:pathLst>
              </a:custGeom>
              <a:solidFill>
                <a:srgbClr val="EE82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1217;p42">
                <a:extLst>
                  <a:ext uri="{FF2B5EF4-FFF2-40B4-BE49-F238E27FC236}">
                    <a16:creationId xmlns:a16="http://schemas.microsoft.com/office/drawing/2014/main" id="{3604447A-576F-6388-A6B4-EAB22FCF3F94}"/>
                  </a:ext>
                </a:extLst>
              </p:cNvPr>
              <p:cNvSpPr/>
              <p:nvPr/>
            </p:nvSpPr>
            <p:spPr>
              <a:xfrm>
                <a:off x="-64679425" y="2364825"/>
                <a:ext cx="146500" cy="102450"/>
              </a:xfrm>
              <a:custGeom>
                <a:avLst/>
                <a:gdLst/>
                <a:ahLst/>
                <a:cxnLst/>
                <a:rect l="l" t="t" r="r" b="b"/>
                <a:pathLst>
                  <a:path w="5860" h="4098" extrusionOk="0">
                    <a:moveTo>
                      <a:pt x="3749" y="1"/>
                    </a:moveTo>
                    <a:cubicBezTo>
                      <a:pt x="3529" y="1"/>
                      <a:pt x="3371" y="190"/>
                      <a:pt x="3371" y="442"/>
                    </a:cubicBezTo>
                    <a:cubicBezTo>
                      <a:pt x="3371" y="662"/>
                      <a:pt x="3560" y="820"/>
                      <a:pt x="3749" y="820"/>
                    </a:cubicBezTo>
                    <a:lnTo>
                      <a:pt x="4442" y="820"/>
                    </a:lnTo>
                    <a:lnTo>
                      <a:pt x="2930" y="2332"/>
                    </a:lnTo>
                    <a:lnTo>
                      <a:pt x="2395" y="1765"/>
                    </a:lnTo>
                    <a:cubicBezTo>
                      <a:pt x="2316" y="1686"/>
                      <a:pt x="2206" y="1647"/>
                      <a:pt x="2095" y="1647"/>
                    </a:cubicBezTo>
                    <a:cubicBezTo>
                      <a:pt x="1985" y="1647"/>
                      <a:pt x="1875" y="1686"/>
                      <a:pt x="1796" y="1765"/>
                    </a:cubicBezTo>
                    <a:lnTo>
                      <a:pt x="126" y="3435"/>
                    </a:lnTo>
                    <a:cubicBezTo>
                      <a:pt x="0" y="3592"/>
                      <a:pt x="0" y="3844"/>
                      <a:pt x="126" y="4033"/>
                    </a:cubicBezTo>
                    <a:cubicBezTo>
                      <a:pt x="195" y="4075"/>
                      <a:pt x="288" y="4098"/>
                      <a:pt x="384" y="4098"/>
                    </a:cubicBezTo>
                    <a:cubicBezTo>
                      <a:pt x="507" y="4098"/>
                      <a:pt x="636" y="4059"/>
                      <a:pt x="725" y="3970"/>
                    </a:cubicBezTo>
                    <a:lnTo>
                      <a:pt x="2111" y="2616"/>
                    </a:lnTo>
                    <a:lnTo>
                      <a:pt x="2647" y="3151"/>
                    </a:lnTo>
                    <a:cubicBezTo>
                      <a:pt x="2725" y="3230"/>
                      <a:pt x="2836" y="3269"/>
                      <a:pt x="2946" y="3269"/>
                    </a:cubicBezTo>
                    <a:cubicBezTo>
                      <a:pt x="3056" y="3269"/>
                      <a:pt x="3166" y="3230"/>
                      <a:pt x="3245" y="3151"/>
                    </a:cubicBezTo>
                    <a:lnTo>
                      <a:pt x="5009" y="1387"/>
                    </a:lnTo>
                    <a:lnTo>
                      <a:pt x="5009" y="2049"/>
                    </a:lnTo>
                    <a:cubicBezTo>
                      <a:pt x="5009" y="2269"/>
                      <a:pt x="5230" y="2490"/>
                      <a:pt x="5451" y="2490"/>
                    </a:cubicBezTo>
                    <a:cubicBezTo>
                      <a:pt x="5703" y="2490"/>
                      <a:pt x="5860" y="2269"/>
                      <a:pt x="5860" y="2049"/>
                    </a:cubicBezTo>
                    <a:lnTo>
                      <a:pt x="5860" y="410"/>
                    </a:lnTo>
                    <a:cubicBezTo>
                      <a:pt x="5860" y="158"/>
                      <a:pt x="5640" y="1"/>
                      <a:pt x="5419" y="1"/>
                    </a:cubicBezTo>
                    <a:close/>
                  </a:path>
                </a:pathLst>
              </a:custGeom>
              <a:solidFill>
                <a:srgbClr val="E89D0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ED8FED94-221E-D61F-429C-874B96C41C0C}"/>
              </a:ext>
            </a:extLst>
          </p:cNvPr>
          <p:cNvSpPr txBox="1"/>
          <p:nvPr/>
        </p:nvSpPr>
        <p:spPr>
          <a:xfrm>
            <a:off x="866123" y="2426759"/>
            <a:ext cx="29064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800" b="1" dirty="0">
                <a:solidFill>
                  <a:srgbClr val="17375E"/>
                </a:solidFill>
                <a:effectLst/>
                <a:latin typeface="Trebuchet MS" panose="020B0603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Spark Avancé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17375E"/>
                </a:solidFill>
                <a:uLnTx/>
                <a:uFillTx/>
                <a:latin typeface="Trebuchet MS" panose="020B0603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Intégration </a:t>
            </a:r>
            <a:r>
              <a:rPr kumimoji="0" lang="fr-FR" b="1" i="0" u="none" strike="noStrike" kern="1200" cap="none" spc="0" normalizeH="0" baseline="0" noProof="0" dirty="0" err="1">
                <a:ln>
                  <a:noFill/>
                </a:ln>
                <a:solidFill>
                  <a:srgbClr val="17375E"/>
                </a:solidFill>
                <a:uLnTx/>
                <a:uFillTx/>
                <a:latin typeface="Trebuchet MS" panose="020B0603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Kaf</a:t>
            </a:r>
            <a:r>
              <a:rPr lang="fr-FR" b="1" dirty="0">
                <a:solidFill>
                  <a:srgbClr val="17375E"/>
                </a:solidFill>
                <a:latin typeface="Trebuchet MS" panose="020B0603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ka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pic>
        <p:nvPicPr>
          <p:cNvPr id="12" name="Image 11" descr="Une image contenant Police, logo, Graphique, symbole&#10;&#10;Description générée automatiquement">
            <a:extLst>
              <a:ext uri="{FF2B5EF4-FFF2-40B4-BE49-F238E27FC236}">
                <a16:creationId xmlns:a16="http://schemas.microsoft.com/office/drawing/2014/main" id="{2E6698BC-47B7-0035-A30B-07E4D74BEF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696" y="1422768"/>
            <a:ext cx="1833563" cy="103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599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510A95A0-53DE-E2CE-4E14-43866D0C249D}"/>
              </a:ext>
            </a:extLst>
          </p:cNvPr>
          <p:cNvSpPr txBox="1"/>
          <p:nvPr/>
        </p:nvSpPr>
        <p:spPr>
          <a:xfrm>
            <a:off x="702127" y="1048864"/>
            <a:ext cx="7943850" cy="2482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Tout le support d’exercice est constitué de la même manière: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Les objectifs de l’exercice: quel est l’intérêt de l’exercice ?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Un descriptif global des étapes à réaliser qui doit permettre de faire l’exercice en connaissant les notions abordées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Le résultat de l’exercice sous forme de copies d’’écran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La correction de l’exercice étape par étape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grpSp>
        <p:nvGrpSpPr>
          <p:cNvPr id="43" name="Google Shape;229;p17">
            <a:extLst>
              <a:ext uri="{FF2B5EF4-FFF2-40B4-BE49-F238E27FC236}">
                <a16:creationId xmlns:a16="http://schemas.microsoft.com/office/drawing/2014/main" id="{8050A46D-E5DF-230C-1D3D-C45C7E91D88C}"/>
              </a:ext>
            </a:extLst>
          </p:cNvPr>
          <p:cNvGrpSpPr/>
          <p:nvPr/>
        </p:nvGrpSpPr>
        <p:grpSpPr>
          <a:xfrm>
            <a:off x="253089" y="58794"/>
            <a:ext cx="3073828" cy="952920"/>
            <a:chOff x="457200" y="3624815"/>
            <a:chExt cx="3073828" cy="952920"/>
          </a:xfrm>
          <a:solidFill>
            <a:srgbClr val="E89D06"/>
          </a:solidFill>
        </p:grpSpPr>
        <p:sp>
          <p:nvSpPr>
            <p:cNvPr id="46" name="Google Shape;230;p17">
              <a:extLst>
                <a:ext uri="{FF2B5EF4-FFF2-40B4-BE49-F238E27FC236}">
                  <a16:creationId xmlns:a16="http://schemas.microsoft.com/office/drawing/2014/main" id="{15404E31-4A3C-09C1-2702-844D6EC923CB}"/>
                </a:ext>
              </a:extLst>
            </p:cNvPr>
            <p:cNvSpPr/>
            <p:nvPr/>
          </p:nvSpPr>
          <p:spPr>
            <a:xfrm>
              <a:off x="932635" y="3624815"/>
              <a:ext cx="2598393" cy="952920"/>
            </a:xfrm>
            <a:custGeom>
              <a:avLst/>
              <a:gdLst/>
              <a:ahLst/>
              <a:cxnLst/>
              <a:rect l="l" t="t" r="r" b="b"/>
              <a:pathLst>
                <a:path w="12451" h="8780" extrusionOk="0">
                  <a:moveTo>
                    <a:pt x="0" y="0"/>
                  </a:moveTo>
                  <a:lnTo>
                    <a:pt x="0" y="8780"/>
                  </a:lnTo>
                  <a:lnTo>
                    <a:pt x="12101" y="8780"/>
                  </a:lnTo>
                  <a:cubicBezTo>
                    <a:pt x="12289" y="8780"/>
                    <a:pt x="12451" y="8618"/>
                    <a:pt x="12451" y="8428"/>
                  </a:cubicBezTo>
                  <a:lnTo>
                    <a:pt x="12451" y="378"/>
                  </a:lnTo>
                  <a:cubicBezTo>
                    <a:pt x="12451" y="162"/>
                    <a:pt x="12289" y="0"/>
                    <a:pt x="12101" y="0"/>
                  </a:cubicBezTo>
                  <a:close/>
                </a:path>
              </a:pathLst>
            </a:custGeom>
            <a:grpFill/>
            <a:ln>
              <a:noFill/>
            </a:ln>
            <a:effectLst>
              <a:outerShdw blurRad="85725" dist="57150" dir="1200000" algn="bl" rotWithShape="0">
                <a:srgbClr val="000000">
                  <a:alpha val="2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31;p17">
              <a:extLst>
                <a:ext uri="{FF2B5EF4-FFF2-40B4-BE49-F238E27FC236}">
                  <a16:creationId xmlns:a16="http://schemas.microsoft.com/office/drawing/2014/main" id="{9721E7DF-0628-6CA8-3F7B-6A37732AFEBB}"/>
                </a:ext>
              </a:extLst>
            </p:cNvPr>
            <p:cNvSpPr/>
            <p:nvPr/>
          </p:nvSpPr>
          <p:spPr>
            <a:xfrm>
              <a:off x="457200" y="3624815"/>
              <a:ext cx="530346" cy="952920"/>
            </a:xfrm>
            <a:custGeom>
              <a:avLst/>
              <a:gdLst/>
              <a:ahLst/>
              <a:cxnLst/>
              <a:rect l="l" t="t" r="r" b="b"/>
              <a:pathLst>
                <a:path w="3325" h="6646" extrusionOk="0">
                  <a:moveTo>
                    <a:pt x="3324" y="1"/>
                  </a:moveTo>
                  <a:cubicBezTo>
                    <a:pt x="1488" y="1"/>
                    <a:pt x="1" y="1487"/>
                    <a:pt x="1" y="3324"/>
                  </a:cubicBezTo>
                  <a:cubicBezTo>
                    <a:pt x="1" y="5161"/>
                    <a:pt x="1488" y="6645"/>
                    <a:pt x="3324" y="6645"/>
                  </a:cubicBezTo>
                  <a:lnTo>
                    <a:pt x="3324" y="1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71438" dist="57150" dir="114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32;p17">
              <a:extLst>
                <a:ext uri="{FF2B5EF4-FFF2-40B4-BE49-F238E27FC236}">
                  <a16:creationId xmlns:a16="http://schemas.microsoft.com/office/drawing/2014/main" id="{64BC68AD-6A69-B568-F712-AF19EEB78275}"/>
                </a:ext>
              </a:extLst>
            </p:cNvPr>
            <p:cNvSpPr txBox="1"/>
            <p:nvPr/>
          </p:nvSpPr>
          <p:spPr>
            <a:xfrm>
              <a:off x="602635" y="3912335"/>
              <a:ext cx="330000" cy="3873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+</a:t>
              </a:r>
              <a:endParaRPr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1" name="ZoneTexte 50">
            <a:extLst>
              <a:ext uri="{FF2B5EF4-FFF2-40B4-BE49-F238E27FC236}">
                <a16:creationId xmlns:a16="http://schemas.microsoft.com/office/drawing/2014/main" id="{0EC7B5A5-E640-1B4A-17B0-914F60AD1A58}"/>
              </a:ext>
            </a:extLst>
          </p:cNvPr>
          <p:cNvSpPr txBox="1"/>
          <p:nvPr/>
        </p:nvSpPr>
        <p:spPr>
          <a:xfrm>
            <a:off x="824976" y="311564"/>
            <a:ext cx="2977376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Organisation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4C3097B-0D2C-CB46-8829-E0A26E71B7D5}"/>
              </a:ext>
            </a:extLst>
          </p:cNvPr>
          <p:cNvSpPr txBox="1"/>
          <p:nvPr/>
        </p:nvSpPr>
        <p:spPr>
          <a:xfrm>
            <a:off x="3363493" y="335199"/>
            <a:ext cx="5607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900"/>
              </a:spcBef>
            </a:pPr>
            <a:r>
              <a:rPr lang="fr-FR" sz="2000" b="1" dirty="0">
                <a:solidFill>
                  <a:srgbClr val="ED7D31"/>
                </a:solidFill>
                <a:latin typeface="Arial Unicode MS"/>
              </a:rPr>
              <a:t>Organisation des exercices</a:t>
            </a:r>
          </a:p>
        </p:txBody>
      </p:sp>
    </p:spTree>
    <p:extLst>
      <p:ext uri="{BB962C8B-B14F-4D97-AF65-F5344CB8AC3E}">
        <p14:creationId xmlns:p14="http://schemas.microsoft.com/office/powerpoint/2010/main" val="1764122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21F5F-595C-09B5-5C35-02711E016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441A8434-F6BB-BC89-2D85-2C0FF7061EDD}"/>
              </a:ext>
            </a:extLst>
          </p:cNvPr>
          <p:cNvSpPr txBox="1"/>
          <p:nvPr/>
        </p:nvSpPr>
        <p:spPr>
          <a:xfrm>
            <a:off x="702127" y="1048864"/>
            <a:ext cx="7943850" cy="380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Objectif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Installer KAFKA (broker) avec une interface Kraft.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Installer Notebook </a:t>
            </a:r>
            <a:r>
              <a:rPr lang="fr-FR" sz="1200" dirty="0" err="1">
                <a:ea typeface="Arial Unicode MS"/>
              </a:rPr>
              <a:t>Jupyter</a:t>
            </a:r>
            <a:r>
              <a:rPr lang="fr-FR" sz="1200" dirty="0">
                <a:ea typeface="Arial Unicode MS"/>
              </a:rPr>
              <a:t> avec stack ML (</a:t>
            </a:r>
            <a:r>
              <a:rPr lang="fr-FR" sz="1200" dirty="0" err="1">
                <a:ea typeface="Arial Unicode MS"/>
              </a:rPr>
              <a:t>SciPy</a:t>
            </a:r>
            <a:r>
              <a:rPr lang="fr-FR" sz="1200" dirty="0">
                <a:ea typeface="Arial Unicode MS"/>
              </a:rPr>
              <a:t>, </a:t>
            </a:r>
            <a:r>
              <a:rPr lang="fr-FR" sz="1200" dirty="0" err="1">
                <a:ea typeface="Arial Unicode MS"/>
              </a:rPr>
              <a:t>scikit-learn</a:t>
            </a:r>
            <a:r>
              <a:rPr lang="fr-FR" sz="1200" dirty="0">
                <a:ea typeface="Arial Unicode MS"/>
              </a:rPr>
              <a:t>, etc.)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Créer un Notebook pour Produire des données KAFKA dans un topic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Créer un Notebook pour Consommer les données KAFKA du topic et générer un modèle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Créer un Notebook pour tester le modèle.</a:t>
            </a:r>
          </a:p>
          <a:p>
            <a:pPr marL="800100" lvl="1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Créer un fichier python pour consommer le modèle 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Créer un Notebook pour Démarrer un serveur </a:t>
            </a:r>
            <a:r>
              <a:rPr lang="fr-FR" sz="1200" dirty="0" err="1">
                <a:ea typeface="Arial Unicode MS"/>
              </a:rPr>
              <a:t>FastAPI</a:t>
            </a:r>
            <a:r>
              <a:rPr lang="fr-FR" sz="1200" dirty="0">
                <a:ea typeface="Arial Unicode MS"/>
              </a:rPr>
              <a:t> et exposer le modèle.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Tester le modèle à partir d’un Notebook et à partir de Postman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73BD1FA4-1DF6-4DC5-6375-25DE6F90C1F8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F9E5E3E1-1B0C-F56E-7E22-B1671F48C8CA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1EA444D5-E6AC-6953-6D1C-710FBEAE4C1B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85BEBD77-9CEA-8267-975E-3DABAFE73099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Etapes pour réaliser l’application</a:t>
            </a:r>
          </a:p>
        </p:txBody>
      </p:sp>
    </p:spTree>
    <p:extLst>
      <p:ext uri="{BB962C8B-B14F-4D97-AF65-F5344CB8AC3E}">
        <p14:creationId xmlns:p14="http://schemas.microsoft.com/office/powerpoint/2010/main" val="2605362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DDD74-EB3B-4E96-31FA-B86675B03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B8AA700B-0A6C-BAC6-BE9E-094819AB821B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95222900-237A-7D61-41E6-6A4F2B79FEF2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0A1D4E65-2F4A-8148-82C4-E3701EF4DD8F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304D0BFA-3326-5B4A-93A0-54101226C3E0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Installation des services dans Docker</a:t>
            </a:r>
          </a:p>
        </p:txBody>
      </p:sp>
    </p:spTree>
    <p:extLst>
      <p:ext uri="{BB962C8B-B14F-4D97-AF65-F5344CB8AC3E}">
        <p14:creationId xmlns:p14="http://schemas.microsoft.com/office/powerpoint/2010/main" val="2986138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069DB-D231-9918-F4F6-C05907631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9385C932-B82E-BC96-1219-2B923AADF0DF}"/>
              </a:ext>
            </a:extLst>
          </p:cNvPr>
          <p:cNvSpPr txBox="1"/>
          <p:nvPr/>
        </p:nvSpPr>
        <p:spPr>
          <a:xfrm>
            <a:off x="702127" y="1048864"/>
            <a:ext cx="7943850" cy="2482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Sur le serveur Ubuntu, ouvrir un Terminal: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 créer un répertoire racine </a:t>
            </a:r>
            <a:r>
              <a:rPr lang="fr-FR" sz="1200" dirty="0" err="1">
                <a:ea typeface="Arial Unicode MS"/>
              </a:rPr>
              <a:t>kafka</a:t>
            </a:r>
            <a:r>
              <a:rPr lang="fr-FR" sz="1200" dirty="0">
                <a:ea typeface="Arial Unicode MS"/>
              </a:rPr>
              <a:t> sous votre compte:</a:t>
            </a:r>
          </a:p>
          <a:p>
            <a:pPr marL="800100" lvl="1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 </a:t>
            </a:r>
            <a:r>
              <a:rPr lang="fr-FR" sz="1200" dirty="0" err="1">
                <a:ea typeface="Arial Unicode MS"/>
              </a:rPr>
              <a:t>mkdir</a:t>
            </a:r>
            <a:r>
              <a:rPr lang="fr-FR" sz="1200" dirty="0">
                <a:ea typeface="Arial Unicode MS"/>
              </a:rPr>
              <a:t> ~/</a:t>
            </a:r>
            <a:r>
              <a:rPr lang="fr-FR" sz="1200" dirty="0" err="1">
                <a:ea typeface="Arial Unicode MS"/>
              </a:rPr>
              <a:t>kafka</a:t>
            </a:r>
            <a:endParaRPr lang="fr-FR" sz="1200" dirty="0">
              <a:ea typeface="Arial Unicode MS"/>
            </a:endParaRPr>
          </a:p>
          <a:p>
            <a:pPr marL="800100" lvl="1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 cd ~/</a:t>
            </a:r>
            <a:r>
              <a:rPr lang="fr-FR" sz="1200" dirty="0" err="1">
                <a:ea typeface="Arial Unicode MS"/>
              </a:rPr>
              <a:t>kafka</a:t>
            </a:r>
            <a:endParaRPr lang="fr-FR" sz="1200" dirty="0">
              <a:ea typeface="Arial Unicode MS"/>
            </a:endParaRPr>
          </a:p>
          <a:p>
            <a:pPr marL="800100" lvl="1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Code .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Créer à la racine un fichier de configuration docker compose: docker-</a:t>
            </a:r>
            <a:r>
              <a:rPr lang="fr-FR" sz="1200" dirty="0" err="1">
                <a:ea typeface="Arial Unicode MS"/>
              </a:rPr>
              <a:t>compose.yml</a:t>
            </a:r>
            <a:r>
              <a:rPr lang="fr-FR" sz="1200" dirty="0">
                <a:ea typeface="Arial Unicode MS"/>
              </a:rPr>
              <a:t> avec l’éditeur Visual Code.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D5B89FE3-9063-8DED-AF82-5462C2CA7B8A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67A02A4D-011E-FD6A-1A6D-6BFB18CCB275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23635B8E-D1A7-BAE7-8A36-6F2285E36850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4AC0FDE8-4700-3937-398D-664A28BD0AF9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Installation des services pour KAFKA</a:t>
            </a:r>
          </a:p>
        </p:txBody>
      </p:sp>
    </p:spTree>
    <p:extLst>
      <p:ext uri="{BB962C8B-B14F-4D97-AF65-F5344CB8AC3E}">
        <p14:creationId xmlns:p14="http://schemas.microsoft.com/office/powerpoint/2010/main" val="1574217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9C043-6597-6D7E-3AEF-FC8FF0350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3FDC01A2-9628-CDE9-3A0D-362C1C84AA63}"/>
              </a:ext>
            </a:extLst>
          </p:cNvPr>
          <p:cNvSpPr txBox="1"/>
          <p:nvPr/>
        </p:nvSpPr>
        <p:spPr>
          <a:xfrm>
            <a:off x="702127" y="1048864"/>
            <a:ext cx="7943850" cy="12228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Docker-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compose.yml</a:t>
            </a:r>
            <a:endParaRPr lang="fr-FR" sz="12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services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Kafka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en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mode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KRaft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(broker + controller)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confluentinc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/cp-kafka:7.4.0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container_name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-broker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"9092:9092"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Kafka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depuis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l'hôte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: localhost:9092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environment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---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KRaft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---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KAFKA_NODE_ID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KAFKA_PROCESS_ROLES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broker,controller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KAFKA_CONTROLLER_QUORUM_VOTERS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1@kafka-broker:9093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KAFKA_CONTROLLER_LISTENER_NAMES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CONTROLLER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CLUSTER_ID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MkU3OEVBNTcwNTJENDM1Tk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ID fixe,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peut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rester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tel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quel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--- Listeners ---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KAFKA_LISTENER_SECURITY_PROTOCOL_MAP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CONTROLLER:PLAINTEXT,PLAINTEXT:PLAINTEXT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KAFKA_LISTENERS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PLAINTEXT://0.0.0.0:9092,CONTROLLER://0.0.0.0:9093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KAFKA_ADVERTISED_LISTENERS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PLAINTEXT://kafka-broker:9092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KAFKA_INTER_BROKER_LISTENER_NAME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PLAINTEXT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--- Logs &amp; topics internes ---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KAFKA_LOG_DIRS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/var/lib/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/data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KAFKA_OFFSETS_TOPIC_REPLICATION_FACTOR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KAFKA_TRANSACTION_STATE_LOG_REPLICATION_FACTOR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KAFKA_TRANSACTION_STATE_LOG_MIN_ISR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KAFKA_AUTO_CREATE_TOPICS_ENABLE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"true"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volumes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./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-data:/var/lib/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/data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UI pour Kafka (topics,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groupes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de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consommateurs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, etc.)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kafka-ui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provectuslabs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kafka-ui:latest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container_name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kafka-ui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"8088:8080"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http://localhost:8088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environment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KAFKA_CLUSTERS_0_NAME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local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KAFKA_CLUSTERS_0_BOOTSTRAPSERVERS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kafka-broker:9092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KAFKA_CLUSTERS_0_READONLY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"false"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depends_on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Notebook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Jupyter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avec stack ML (SciPy, scikit-learn, etc.)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ml-notebook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jupyter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scipy-notebook:latest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container_name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ml-notebook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"8888:8888"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http://localhost:8888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"8000:8000"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FastAPI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environment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JUPYTER_TOKEN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"mgt"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mot de passe simple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volumes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./notebooks:/home/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jovyan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/work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depends_on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b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networks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-ml-net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DF00CFA2-0A4E-0545-23AA-B479BB45C3E7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C4B0EE21-A09E-9A2F-0BE3-3EC4C1EB0A3C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03DACE8D-8421-773E-39A9-A4D63F24662A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95D564A1-8A2A-FF7B-8C50-05606F83803D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Installation des services pour KAFKA</a:t>
            </a:r>
          </a:p>
        </p:txBody>
      </p:sp>
    </p:spTree>
    <p:extLst>
      <p:ext uri="{BB962C8B-B14F-4D97-AF65-F5344CB8AC3E}">
        <p14:creationId xmlns:p14="http://schemas.microsoft.com/office/powerpoint/2010/main" val="4227708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76478-FED9-0D0E-E45F-B1468975C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65CD21AF-425F-49C2-4060-56A669E11D77}"/>
              </a:ext>
            </a:extLst>
          </p:cNvPr>
          <p:cNvSpPr txBox="1"/>
          <p:nvPr/>
        </p:nvSpPr>
        <p:spPr>
          <a:xfrm>
            <a:off x="702127" y="1048864"/>
            <a:ext cx="7943850" cy="2534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Docker-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compose.yml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(suite)</a:t>
            </a: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--- Logs &amp; topics internes ---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KAFKA_LOG_DIRS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/var/lib/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/data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KAFKA_OFFSETS_TOPIC_REPLICATION_FACTOR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KAFKA_TRANSACTION_STATE_LOG_REPLICATION_FACTOR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KAFKA_TRANSACTION_STATE_LOG_MIN_ISR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KAFKA_AUTO_CREATE_TOPICS_ENABLE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"true"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volumes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./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-data:/var/lib/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/data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3FA07D3C-9E93-640A-54CD-9245D3A7079F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AA78D41E-A836-84BE-44F9-7A0461E987FF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BFFAD7D7-5D9C-6E7A-CB31-5462D66F8286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419C6A0D-9F8A-98F3-ECB7-ACDD0A023B79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Installation d’un serveur KAFKA</a:t>
            </a:r>
          </a:p>
        </p:txBody>
      </p:sp>
    </p:spTree>
    <p:extLst>
      <p:ext uri="{BB962C8B-B14F-4D97-AF65-F5344CB8AC3E}">
        <p14:creationId xmlns:p14="http://schemas.microsoft.com/office/powerpoint/2010/main" val="2253829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0AA63-F2D5-46AD-9389-637656A44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ECF00BA0-9C46-B629-6414-DD786AF9BA97}"/>
              </a:ext>
            </a:extLst>
          </p:cNvPr>
          <p:cNvSpPr txBox="1"/>
          <p:nvPr/>
        </p:nvSpPr>
        <p:spPr>
          <a:xfrm>
            <a:off x="702127" y="1048864"/>
            <a:ext cx="7943850" cy="307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Docker-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compose.yml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(suite)</a:t>
            </a: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UI pour Kafka (topics,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groupes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de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consommateurs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, etc.)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kafka-ui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provectuslabs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kafka-ui:latest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container_name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kafka-ui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"8088:8080"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http://localhost:8088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environment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KAFKA_CLUSTERS_0_NAME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local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KAFKA_CLUSTERS_0_BOOTSTRAPSERVERS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kafka-broker:9092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KAFKA_CLUSTERS_0_READONLY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"false"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depends_on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1F42DA4F-757F-F333-13F4-1BDD6C699380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2FBA805C-DDDF-DE65-1432-C5B1103A55C6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6AEC9262-0F1F-8068-0706-E6A3BD8578C6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04C5F5C3-8577-B2A8-2EDF-7509C16EECE0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Installation d’un serveur KAFKA</a:t>
            </a:r>
          </a:p>
        </p:txBody>
      </p:sp>
    </p:spTree>
    <p:extLst>
      <p:ext uri="{BB962C8B-B14F-4D97-AF65-F5344CB8AC3E}">
        <p14:creationId xmlns:p14="http://schemas.microsoft.com/office/powerpoint/2010/main" val="3977305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059B3-3264-1909-EEBD-051B38790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E30356EE-F55B-19F4-59C5-4A57C0D6C993}"/>
              </a:ext>
            </a:extLst>
          </p:cNvPr>
          <p:cNvSpPr txBox="1"/>
          <p:nvPr/>
        </p:nvSpPr>
        <p:spPr>
          <a:xfrm>
            <a:off x="702127" y="1048864"/>
            <a:ext cx="794385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800"/>
              </a:spcAft>
            </a:pP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Docker-</a:t>
            </a:r>
            <a:r>
              <a:rPr lang="fr-FR" sz="1200" dirty="0" err="1">
                <a:ea typeface="Calibri" panose="020F0502020204030204" pitchFamily="34" charset="0"/>
                <a:cs typeface="Arial" panose="020B0604020202020204" pitchFamily="34" charset="0"/>
              </a:rPr>
              <a:t>compose.yml</a:t>
            </a:r>
            <a:r>
              <a:rPr lang="fr-FR" sz="1200" dirty="0">
                <a:ea typeface="Calibri" panose="020F0502020204030204" pitchFamily="34" charset="0"/>
                <a:cs typeface="Arial" panose="020B0604020202020204" pitchFamily="34" charset="0"/>
              </a:rPr>
              <a:t> (suite)</a:t>
            </a: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Notebook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Jupyter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avec stack ML (SciPy, scikit-learn, etc.)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ml-notebook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jupyter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scipy-notebook:latest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container_name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ml-notebook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"8888:8888"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http://localhost:8888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"8000:8000"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FastAPI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: pour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pouvoir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exposer les données </a:t>
            </a:r>
            <a:r>
              <a:rPr lang="en-US" sz="12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calculées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environment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JUPYTER_TOKEN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"mgt"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2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mot de passe simple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volumes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./notebooks:/home/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jovyan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/work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depends_on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-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b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networks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2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</a:t>
            </a:r>
            <a:r>
              <a:rPr lang="en-US" sz="12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-ml-net</a:t>
            </a: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US" sz="12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DD582E66-2EDA-92F9-A928-2E0620B1CD6D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8F836753-28D7-0141-B48B-87B9E112D8D1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79A8EE78-962B-D9F6-8AC7-C6E7E3FCE576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9D34248E-57DA-70AD-353D-BCC83AADBC3A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Installation d’un serveur KAFKA</a:t>
            </a:r>
          </a:p>
        </p:txBody>
      </p:sp>
    </p:spTree>
    <p:extLst>
      <p:ext uri="{BB962C8B-B14F-4D97-AF65-F5344CB8AC3E}">
        <p14:creationId xmlns:p14="http://schemas.microsoft.com/office/powerpoint/2010/main" val="3839739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C1BD7-09B8-7B4E-986E-F5E81A6E0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CB5ACA04-005A-4C10-740A-9DF1E4B2B24A}"/>
              </a:ext>
            </a:extLst>
          </p:cNvPr>
          <p:cNvSpPr txBox="1"/>
          <p:nvPr/>
        </p:nvSpPr>
        <p:spPr>
          <a:xfrm>
            <a:off x="731374" y="1053054"/>
            <a:ext cx="7943850" cy="380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Dans le répertoire </a:t>
            </a:r>
            <a:r>
              <a:rPr lang="fr-FR" sz="1200" dirty="0" err="1">
                <a:ea typeface="Arial Unicode MS"/>
              </a:rPr>
              <a:t>kafka</a:t>
            </a:r>
            <a:r>
              <a:rPr lang="fr-FR" sz="1200" dirty="0">
                <a:ea typeface="Arial Unicode MS"/>
              </a:rPr>
              <a:t>, lancer les serveurs:</a:t>
            </a:r>
          </a:p>
          <a:p>
            <a:pPr marL="800100" lvl="1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 err="1">
                <a:ea typeface="Arial Unicode MS"/>
              </a:rPr>
              <a:t>mkdir</a:t>
            </a:r>
            <a:r>
              <a:rPr lang="fr-FR" sz="1200" dirty="0">
                <a:ea typeface="Arial Unicode MS"/>
              </a:rPr>
              <a:t> -p data </a:t>
            </a:r>
            <a:r>
              <a:rPr lang="fr-FR" sz="1200" dirty="0" err="1">
                <a:ea typeface="Arial Unicode MS"/>
              </a:rPr>
              <a:t>kafka</a:t>
            </a:r>
            <a:r>
              <a:rPr lang="fr-FR" sz="1200" dirty="0">
                <a:ea typeface="Arial Unicode MS"/>
              </a:rPr>
              <a:t>-data notebooks</a:t>
            </a:r>
          </a:p>
          <a:p>
            <a:pPr marL="800100" lvl="1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 docker compose up –d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Vérifier que les services sont bien  démarrés</a:t>
            </a:r>
          </a:p>
          <a:p>
            <a:pPr marL="800100" lvl="1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 docker </a:t>
            </a:r>
            <a:r>
              <a:rPr lang="fr-FR" sz="1200" dirty="0" err="1">
                <a:ea typeface="Arial Unicode MS"/>
              </a:rPr>
              <a:t>ps</a:t>
            </a:r>
            <a:r>
              <a:rPr lang="fr-FR" sz="1200" dirty="0">
                <a:ea typeface="Arial Unicode MS"/>
              </a:rPr>
              <a:t>  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Vérifier que l’interface UI de Kafka est démarré</a:t>
            </a:r>
          </a:p>
          <a:p>
            <a:pPr marL="800100" lvl="1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http://localhost:8088/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 et le </a:t>
            </a:r>
            <a:r>
              <a:rPr lang="fr-FR" sz="1200" b="1" dirty="0">
                <a:ea typeface="Arial Unicode MS"/>
              </a:rPr>
              <a:t>broker</a:t>
            </a:r>
            <a:r>
              <a:rPr lang="fr-FR" sz="1200" dirty="0">
                <a:ea typeface="Arial Unicode MS"/>
              </a:rPr>
              <a:t> de Kafka:</a:t>
            </a:r>
          </a:p>
          <a:p>
            <a:pPr marL="800100" lvl="1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Noter le port du broker </a:t>
            </a:r>
            <a:r>
              <a:rPr lang="fr-FR" sz="1200" b="1" dirty="0">
                <a:ea typeface="Arial Unicode MS"/>
              </a:rPr>
              <a:t>9092.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C040E8C3-9265-B896-32C6-0D5C1660F5C2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B8F4D160-56D2-42CE-EBE9-90BCD2F74302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E1C5E5DB-FE35-D516-2E7D-26FE2E745874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D87BB3CF-67E1-7874-EA7C-81BF4D3E2CF2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Installation d’un serveur KAFKA</a:t>
            </a:r>
          </a:p>
        </p:txBody>
      </p:sp>
      <p:pic>
        <p:nvPicPr>
          <p:cNvPr id="3" name="Image 2" descr="Une image contenant texte, capture d’écran, Police&#10;&#10;Description générée automatiquement">
            <a:extLst>
              <a:ext uri="{FF2B5EF4-FFF2-40B4-BE49-F238E27FC236}">
                <a16:creationId xmlns:a16="http://schemas.microsoft.com/office/drawing/2014/main" id="{37CA867A-069B-216F-BA66-AAD886DDD3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8135" y="1053054"/>
            <a:ext cx="4929076" cy="1561079"/>
          </a:xfrm>
          <a:prstGeom prst="rect">
            <a:avLst/>
          </a:prstGeom>
        </p:spPr>
      </p:pic>
      <p:pic>
        <p:nvPicPr>
          <p:cNvPr id="5" name="Image 4" descr="Une image contenant texte, logiciel, Icône d’ordinateur, Page web&#10;&#10;Description générée automatiquement">
            <a:extLst>
              <a:ext uri="{FF2B5EF4-FFF2-40B4-BE49-F238E27FC236}">
                <a16:creationId xmlns:a16="http://schemas.microsoft.com/office/drawing/2014/main" id="{B9514C33-17C3-1579-69B5-067F3CE41A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7727" y="2806203"/>
            <a:ext cx="4869484" cy="2086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3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406B0-E407-072C-AC63-621D4EB76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85E31B82-3D5C-0D44-5431-C44137092406}"/>
              </a:ext>
            </a:extLst>
          </p:cNvPr>
          <p:cNvSpPr txBox="1"/>
          <p:nvPr/>
        </p:nvSpPr>
        <p:spPr>
          <a:xfrm>
            <a:off x="731374" y="1053054"/>
            <a:ext cx="7943850" cy="1159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Se connecter sur le serveur </a:t>
            </a:r>
            <a:r>
              <a:rPr lang="fr-FR" sz="1200" dirty="0" err="1">
                <a:ea typeface="Arial Unicode MS"/>
              </a:rPr>
              <a:t>Jupyter</a:t>
            </a:r>
            <a:r>
              <a:rPr lang="fr-FR" sz="1200" dirty="0">
                <a:ea typeface="Arial Unicode MS"/>
              </a:rPr>
              <a:t>: http://localhost:8888/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Saisir le mot de passe définit dans le docker-</a:t>
            </a:r>
            <a:r>
              <a:rPr lang="fr-FR" sz="1200" dirty="0" err="1">
                <a:ea typeface="Arial Unicode MS"/>
              </a:rPr>
              <a:t>compose.yml</a:t>
            </a:r>
            <a:r>
              <a:rPr lang="fr-FR" sz="1200" dirty="0">
                <a:ea typeface="Arial Unicode MS"/>
              </a:rPr>
              <a:t> ( ici </a:t>
            </a:r>
            <a:r>
              <a:rPr lang="fr-FR" sz="1200" b="1" dirty="0" err="1">
                <a:ea typeface="Arial Unicode MS"/>
              </a:rPr>
              <a:t>mgt</a:t>
            </a:r>
            <a:r>
              <a:rPr lang="fr-FR" sz="1200" dirty="0">
                <a:ea typeface="Arial Unicode MS"/>
              </a:rPr>
              <a:t>)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Les différents notebooks/python … peuvent être maintenant créés.  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071F051B-8601-C54B-ADE6-6B9C7A6F5D30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A3C33E14-5902-2575-2B66-8902B2A6EE84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7C209655-C089-7FBF-4071-D4674A4DA585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E16B35D3-4F00-36A8-AE08-917DAB76FDD1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Vérification du serveur </a:t>
            </a:r>
            <a:r>
              <a:rPr lang="fr-FR" sz="2500" b="1" dirty="0" err="1">
                <a:solidFill>
                  <a:schemeClr val="bg1"/>
                </a:solidFill>
                <a:latin typeface="+mj-lt"/>
              </a:rPr>
              <a:t>Jupyter</a:t>
            </a:r>
            <a:endParaRPr lang="fr-FR" sz="25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53390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A196B-36FA-E27F-35C4-284975200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BF002397-1843-A669-93E3-28B565CCEAAE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B0FB7C26-A087-D118-74E4-197D141B5794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31F28E28-2956-8E3B-C786-1AE70F17D2C5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1EE22772-0219-4600-939F-D64F731AF491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Création d’un producteur Kafka (</a:t>
            </a:r>
            <a:r>
              <a:rPr lang="fr-FR" sz="2500" b="1" dirty="0" err="1">
                <a:solidFill>
                  <a:schemeClr val="bg1"/>
                </a:solidFill>
                <a:latin typeface="+mj-lt"/>
              </a:rPr>
              <a:t>producer</a:t>
            </a:r>
            <a:r>
              <a:rPr lang="fr-FR" sz="2500" b="1" dirty="0">
                <a:solidFill>
                  <a:schemeClr val="bg1"/>
                </a:solidFill>
                <a:latin typeface="+mj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00059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4725C-BA56-7D2A-A6C2-2A0F115D9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9B29FCD9-FCCA-E51C-14FD-F1564962D92F}"/>
              </a:ext>
            </a:extLst>
          </p:cNvPr>
          <p:cNvSpPr txBox="1"/>
          <p:nvPr/>
        </p:nvSpPr>
        <p:spPr>
          <a:xfrm>
            <a:off x="731374" y="1053054"/>
            <a:ext cx="7943850" cy="2482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Ouvrir </a:t>
            </a:r>
            <a:r>
              <a:rPr lang="fr-FR" sz="1200" dirty="0" err="1">
                <a:ea typeface="Arial Unicode MS"/>
              </a:rPr>
              <a:t>Jupyter</a:t>
            </a:r>
            <a:r>
              <a:rPr lang="fr-FR" sz="1200" dirty="0">
                <a:ea typeface="Arial Unicode MS"/>
              </a:rPr>
              <a:t> et créer un notebook: </a:t>
            </a:r>
            <a:r>
              <a:rPr lang="fr-FR" sz="1200" dirty="0" err="1">
                <a:ea typeface="Arial Unicode MS"/>
              </a:rPr>
              <a:t>Producer.ipynb</a:t>
            </a:r>
            <a:r>
              <a:rPr lang="fr-FR" sz="1200" dirty="0">
                <a:ea typeface="Arial Unicode MS"/>
              </a:rPr>
              <a:t> (exécuter au fur et à mesure les cellules: « CTRL-Entrée »)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Charger dans une première cellule les </a:t>
            </a:r>
            <a:r>
              <a:rPr lang="fr-FR" sz="1200" dirty="0" err="1">
                <a:ea typeface="Arial Unicode MS"/>
              </a:rPr>
              <a:t>libraries</a:t>
            </a:r>
            <a:r>
              <a:rPr lang="fr-FR" sz="1200" dirty="0">
                <a:ea typeface="Arial Unicode MS"/>
              </a:rPr>
              <a:t> nécessaires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Définir l’accès au broker </a:t>
            </a:r>
            <a:r>
              <a:rPr lang="fr-FR" sz="1200" dirty="0" err="1">
                <a:ea typeface="Arial Unicode MS"/>
              </a:rPr>
              <a:t>serveur:port</a:t>
            </a:r>
            <a:r>
              <a:rPr lang="fr-FR" sz="1200" dirty="0">
                <a:ea typeface="Arial Unicode MS"/>
              </a:rPr>
              <a:t> =&gt; </a:t>
            </a:r>
            <a:r>
              <a:rPr lang="fr-FR" sz="1200" dirty="0"/>
              <a:t>"kafka-broker:9092"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Et le « dossier » sous lequel seront mis les messages: TOPIC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48AD03BC-C52D-1B53-5FF3-425C87427567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EE8127E4-AC6E-9B80-5DDC-87C4C49E88DA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B1965557-3DC8-4B48-F951-F1336413B714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984EFCDF-131C-A36E-6471-43E2C24CEE9B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Création d’un producteur Kafka (</a:t>
            </a:r>
            <a:r>
              <a:rPr lang="fr-FR" sz="2500" b="1" dirty="0" err="1">
                <a:solidFill>
                  <a:schemeClr val="bg1"/>
                </a:solidFill>
                <a:latin typeface="+mj-lt"/>
              </a:rPr>
              <a:t>producer</a:t>
            </a:r>
            <a:r>
              <a:rPr lang="fr-FR" sz="2500" b="1" dirty="0">
                <a:solidFill>
                  <a:schemeClr val="bg1"/>
                </a:solidFill>
                <a:latin typeface="+mj-lt"/>
              </a:rPr>
              <a:t>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40A05A-DB44-738A-9989-E513F6740A35}"/>
              </a:ext>
            </a:extLst>
          </p:cNvPr>
          <p:cNvSpPr/>
          <p:nvPr/>
        </p:nvSpPr>
        <p:spPr>
          <a:xfrm>
            <a:off x="1718487" y="3102889"/>
            <a:ext cx="5969621" cy="185616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+mj-lt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+mj-lt"/>
              </a:rPr>
              <a:t>json</a:t>
            </a:r>
            <a:endParaRPr lang="fr-FR" sz="1000" b="0" dirty="0">
              <a:solidFill>
                <a:srgbClr val="ABB2BF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+mj-lt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E5C07B"/>
                </a:solidFill>
                <a:effectLst/>
                <a:latin typeface="+mj-lt"/>
              </a:rPr>
              <a:t>time</a:t>
            </a:r>
            <a:endParaRPr lang="fr-FR" sz="1000" b="0" dirty="0">
              <a:solidFill>
                <a:srgbClr val="ABB2BF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+mj-lt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+mj-lt"/>
              </a:rPr>
              <a:t>random</a:t>
            </a:r>
            <a:b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</a:br>
            <a:r>
              <a:rPr lang="fr-FR" sz="1000" b="0" dirty="0" err="1">
                <a:solidFill>
                  <a:srgbClr val="C678DD"/>
                </a:solidFill>
                <a:effectLst/>
                <a:latin typeface="+mj-lt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+mj-lt"/>
              </a:rPr>
              <a:t>kafka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+mj-lt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+mj-lt"/>
              </a:rPr>
              <a:t>KafkaProducer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,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+mj-lt"/>
              </a:rPr>
              <a:t>KafkaConsumer</a:t>
            </a:r>
            <a:endParaRPr lang="fr-FR" sz="1000" b="0" dirty="0">
              <a:solidFill>
                <a:srgbClr val="ABB2BF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+mj-lt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+mj-lt"/>
              </a:rPr>
              <a:t>numpy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+mj-lt"/>
              </a:rPr>
              <a:t>as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+mj-lt"/>
              </a:rPr>
              <a:t>np</a:t>
            </a:r>
            <a:endParaRPr lang="fr-FR" sz="1000" b="0" dirty="0">
              <a:solidFill>
                <a:srgbClr val="ABB2BF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+mj-lt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+mj-lt"/>
              </a:rPr>
              <a:t>sklearn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+mj-lt"/>
              </a:rPr>
              <a:t>.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+mj-lt"/>
              </a:rPr>
              <a:t>linear_model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+mj-lt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+mj-lt"/>
              </a:rPr>
              <a:t>SGDClassifier</a:t>
            </a:r>
            <a:endParaRPr lang="fr-FR" sz="1000" b="0" dirty="0">
              <a:solidFill>
                <a:srgbClr val="ABB2BF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</a:br>
            <a:r>
              <a:rPr lang="fr-FR" sz="1000" b="0" i="1" dirty="0">
                <a:solidFill>
                  <a:srgbClr val="7F848E"/>
                </a:solidFill>
                <a:effectLst/>
                <a:latin typeface="+mj-lt"/>
              </a:rPr>
              <a:t># ⚠️ Depuis le conteneur 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+mj-lt"/>
              </a:rPr>
              <a:t>Jupyter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+mj-lt"/>
              </a:rPr>
              <a:t>, on utilise le nom du service docker-compose</a:t>
            </a:r>
            <a:endParaRPr lang="fr-FR" sz="1000" b="0" dirty="0">
              <a:solidFill>
                <a:srgbClr val="ABB2BF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E5C07B"/>
                </a:solidFill>
                <a:effectLst/>
                <a:latin typeface="+mj-lt"/>
              </a:rPr>
              <a:t>BOOTSTRAP_SERVERS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"kafka-broker:9092"</a:t>
            </a:r>
            <a:endParaRPr lang="fr-FR" sz="1000" b="0" dirty="0">
              <a:solidFill>
                <a:srgbClr val="ABB2BF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E5C07B"/>
                </a:solidFill>
                <a:effectLst/>
                <a:latin typeface="+mj-lt"/>
              </a:rPr>
              <a:t>TOPIC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"ml-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+mj-lt"/>
              </a:rPr>
              <a:t>stream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-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+mj-lt"/>
              </a:rPr>
              <a:t>demo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"</a:t>
            </a:r>
            <a:endParaRPr lang="fr-FR" sz="1000" b="0" dirty="0">
              <a:solidFill>
                <a:srgbClr val="ABB2BF"/>
              </a:solidFill>
              <a:effectLst/>
              <a:latin typeface="+mj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2EA5BE-4772-A147-C8DE-D70907FAE6AF}"/>
              </a:ext>
            </a:extLst>
          </p:cNvPr>
          <p:cNvSpPr/>
          <p:nvPr/>
        </p:nvSpPr>
        <p:spPr>
          <a:xfrm>
            <a:off x="1718488" y="1882677"/>
            <a:ext cx="5969621" cy="2250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/>
              <a:t>!</a:t>
            </a:r>
            <a:r>
              <a:rPr lang="fr-FR" sz="1000" dirty="0" err="1"/>
              <a:t>pip</a:t>
            </a:r>
            <a:r>
              <a:rPr lang="fr-FR" sz="1000" dirty="0"/>
              <a:t> </a:t>
            </a:r>
            <a:r>
              <a:rPr lang="fr-FR" sz="1000" dirty="0" err="1"/>
              <a:t>install</a:t>
            </a:r>
            <a:r>
              <a:rPr lang="fr-FR" sz="1000" dirty="0"/>
              <a:t> </a:t>
            </a:r>
            <a:r>
              <a:rPr lang="fr-FR" sz="1000" dirty="0" err="1"/>
              <a:t>kafka</a:t>
            </a:r>
            <a:r>
              <a:rPr lang="fr-FR" sz="1000" dirty="0"/>
              <a:t>-python</a:t>
            </a:r>
          </a:p>
        </p:txBody>
      </p:sp>
    </p:spTree>
    <p:extLst>
      <p:ext uri="{BB962C8B-B14F-4D97-AF65-F5344CB8AC3E}">
        <p14:creationId xmlns:p14="http://schemas.microsoft.com/office/powerpoint/2010/main" val="3250397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7CA4C-81E9-3737-BE84-3B6D72922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4CDFBFEE-9A1F-4589-E02C-79C8A00F64C1}"/>
              </a:ext>
            </a:extLst>
          </p:cNvPr>
          <p:cNvSpPr txBox="1"/>
          <p:nvPr/>
        </p:nvSpPr>
        <p:spPr>
          <a:xfrm>
            <a:off x="731374" y="1053054"/>
            <a:ext cx="7943850" cy="902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Ensuite un </a:t>
            </a:r>
            <a:r>
              <a:rPr lang="fr-FR" sz="1200" dirty="0" err="1">
                <a:ea typeface="Arial Unicode MS"/>
              </a:rPr>
              <a:t>producer</a:t>
            </a:r>
            <a:r>
              <a:rPr lang="fr-FR" sz="1200" dirty="0">
                <a:ea typeface="Arial Unicode MS"/>
              </a:rPr>
              <a:t> est créé est un message constitué de deux valeurs aléatoires sont générées, avec un label (supervisé)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BE5FBE7E-71DC-AA79-2A89-F62AF9A538D0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CD46E3C3-439C-F133-C72F-AAFD3B179377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6FCF0017-50A2-6202-94A5-98CD4CDBB13D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4B9825DD-F764-C5E1-C51E-AD7EF337221A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Création d’un producteur Kafka (</a:t>
            </a:r>
            <a:r>
              <a:rPr lang="fr-FR" sz="2500" b="1" dirty="0" err="1">
                <a:solidFill>
                  <a:schemeClr val="bg1"/>
                </a:solidFill>
                <a:latin typeface="+mj-lt"/>
              </a:rPr>
              <a:t>producer</a:t>
            </a:r>
            <a:r>
              <a:rPr lang="fr-FR" sz="2500" b="1" dirty="0">
                <a:solidFill>
                  <a:schemeClr val="bg1"/>
                </a:solidFill>
                <a:latin typeface="+mj-lt"/>
              </a:rPr>
              <a:t>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75CB2D-C2EC-E2F5-58FF-F00472C5DE4C}"/>
              </a:ext>
            </a:extLst>
          </p:cNvPr>
          <p:cNvSpPr/>
          <p:nvPr/>
        </p:nvSpPr>
        <p:spPr>
          <a:xfrm>
            <a:off x="1910575" y="1492621"/>
            <a:ext cx="5969621" cy="359208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+mj-lt"/>
              </a:rPr>
              <a:t>producer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+mj-lt"/>
              </a:rPr>
              <a:t>KafkaProducer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   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+mj-lt"/>
              </a:rPr>
              <a:t>bootstrap_servers</a:t>
            </a:r>
            <a:r>
              <a:rPr lang="fr-FR" sz="10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000" b="0" dirty="0">
                <a:solidFill>
                  <a:srgbClr val="E5C07B"/>
                </a:solidFill>
                <a:effectLst/>
                <a:latin typeface="+mj-lt"/>
              </a:rPr>
              <a:t>BOOTSTRAP_SERVERS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   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+mj-lt"/>
              </a:rPr>
              <a:t>value_serializer</a:t>
            </a:r>
            <a:r>
              <a:rPr lang="fr-FR" sz="10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000" b="0" dirty="0">
                <a:solidFill>
                  <a:srgbClr val="C678DD"/>
                </a:solidFill>
                <a:effectLst/>
                <a:latin typeface="+mj-lt"/>
              </a:rPr>
              <a:t>lambda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+mj-lt"/>
              </a:rPr>
              <a:t>v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: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+mj-lt"/>
              </a:rPr>
              <a:t>json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+mj-lt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+mj-lt"/>
              </a:rPr>
              <a:t>dumps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+mj-lt"/>
              </a:rPr>
              <a:t>v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).</a:t>
            </a:r>
            <a:r>
              <a:rPr lang="fr-FR" sz="1000" b="0" dirty="0">
                <a:solidFill>
                  <a:srgbClr val="61AFEF"/>
                </a:solidFill>
                <a:effectLst/>
                <a:latin typeface="+mj-lt"/>
              </a:rPr>
              <a:t>encode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"utf-8"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),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)</a:t>
            </a:r>
            <a:b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</a:br>
            <a:r>
              <a:rPr lang="fr-FR" sz="1000" b="0" dirty="0" err="1">
                <a:solidFill>
                  <a:srgbClr val="C678DD"/>
                </a:solidFill>
                <a:effectLst/>
                <a:latin typeface="+mj-lt"/>
              </a:rPr>
              <a:t>def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+mj-lt"/>
              </a:rPr>
              <a:t>generate_sample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():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x1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+mj-lt"/>
              </a:rPr>
              <a:t>random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+mj-lt"/>
              </a:rPr>
              <a:t>.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+mj-lt"/>
              </a:rPr>
              <a:t>random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x2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+mj-lt"/>
              </a:rPr>
              <a:t>random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+mj-lt"/>
              </a:rPr>
              <a:t>.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+mj-lt"/>
              </a:rPr>
              <a:t>random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label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1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+mj-lt"/>
              </a:rPr>
              <a:t>if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x1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+mj-lt"/>
              </a:rPr>
              <a:t>+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x2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+mj-lt"/>
              </a:rPr>
              <a:t>&gt;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1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C678DD"/>
                </a:solidFill>
                <a:effectLst/>
                <a:latin typeface="+mj-lt"/>
              </a:rPr>
              <a:t>else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0</a:t>
            </a:r>
            <a:endParaRPr lang="fr-FR" sz="1000" b="0" dirty="0">
              <a:solidFill>
                <a:srgbClr val="ABB2BF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    </a:t>
            </a:r>
            <a:r>
              <a:rPr lang="fr-FR" sz="1000" b="0" dirty="0">
                <a:solidFill>
                  <a:srgbClr val="C678DD"/>
                </a:solidFill>
                <a:effectLst/>
                <a:latin typeface="+mj-lt"/>
              </a:rPr>
              <a:t>return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{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+mj-lt"/>
              </a:rPr>
              <a:t>features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: [</a:t>
            </a: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x1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, </a:t>
            </a: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x2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], 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"label"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: </a:t>
            </a: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label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}</a:t>
            </a:r>
            <a:b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</a:br>
            <a:r>
              <a:rPr lang="fr-FR" sz="1000" b="0" i="1" dirty="0">
                <a:solidFill>
                  <a:srgbClr val="7F848E"/>
                </a:solidFill>
                <a:effectLst/>
                <a:latin typeface="+mj-lt"/>
              </a:rPr>
              <a:t># Envoi de N messages pour alimenter le flux</a:t>
            </a:r>
            <a:endParaRPr lang="fr-FR" sz="1000" b="0" dirty="0">
              <a:solidFill>
                <a:srgbClr val="ABB2BF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E5C07B"/>
                </a:solidFill>
                <a:effectLst/>
                <a:latin typeface="+mj-lt"/>
              </a:rPr>
              <a:t>N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500</a:t>
            </a:r>
            <a:b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</a:br>
            <a:r>
              <a:rPr lang="fr-FR" sz="1000" b="0" dirty="0">
                <a:solidFill>
                  <a:srgbClr val="C678DD"/>
                </a:solidFill>
                <a:effectLst/>
                <a:latin typeface="+mj-lt"/>
              </a:rPr>
              <a:t>for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i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+mj-lt"/>
              </a:rPr>
              <a:t>in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E5C07B"/>
                </a:solidFill>
                <a:effectLst/>
                <a:latin typeface="+mj-lt"/>
              </a:rPr>
              <a:t>range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000" b="0" dirty="0">
                <a:solidFill>
                  <a:srgbClr val="E5C07B"/>
                </a:solidFill>
                <a:effectLst/>
                <a:latin typeface="+mj-lt"/>
              </a:rPr>
              <a:t>N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):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msg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+mj-lt"/>
              </a:rPr>
              <a:t>generate_sample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+mj-lt"/>
              </a:rPr>
              <a:t>producer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+mj-lt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+mj-lt"/>
              </a:rPr>
              <a:t>send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000" b="0" dirty="0">
                <a:solidFill>
                  <a:srgbClr val="E5C07B"/>
                </a:solidFill>
                <a:effectLst/>
                <a:latin typeface="+mj-lt"/>
              </a:rPr>
              <a:t>TOPIC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, </a:t>
            </a: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msg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    </a:t>
            </a:r>
            <a:r>
              <a:rPr lang="fr-FR" sz="1000" b="0" dirty="0">
                <a:solidFill>
                  <a:srgbClr val="C678DD"/>
                </a:solidFill>
                <a:effectLst/>
                <a:latin typeface="+mj-lt"/>
              </a:rPr>
              <a:t>if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i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+mj-lt"/>
              </a:rPr>
              <a:t>%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20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+mj-lt"/>
              </a:rPr>
              <a:t>==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0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       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+mj-lt"/>
              </a:rPr>
              <a:t>print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000" b="0" dirty="0" err="1">
                <a:solidFill>
                  <a:srgbClr val="C678DD"/>
                </a:solidFill>
                <a:effectLst/>
                <a:latin typeface="+mj-lt"/>
              </a:rPr>
              <a:t>f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+mj-lt"/>
              </a:rPr>
              <a:t>"Message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{</a:t>
            </a: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i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}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: 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{</a:t>
            </a: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msg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}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   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+mj-lt"/>
              </a:rPr>
              <a:t>time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+mj-lt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+mj-lt"/>
              </a:rPr>
              <a:t>sleep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0.1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)  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+mj-lt"/>
              </a:rPr>
              <a:t># pour simuler un vrai flux (100 ms)</a:t>
            </a:r>
            <a:endParaRPr lang="fr-FR" sz="1000" b="0" dirty="0">
              <a:solidFill>
                <a:srgbClr val="ABB2BF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+mj-lt"/>
              </a:rPr>
              <a:t>producer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+mj-lt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+mj-lt"/>
              </a:rPr>
              <a:t>flush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61AFEF"/>
                </a:solidFill>
                <a:effectLst/>
                <a:latin typeface="+mj-lt"/>
              </a:rPr>
              <a:t>print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"Envoi terminé ✅"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72864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46B1E-3C2C-BD07-2D53-1D9D306C6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663F40EA-26B9-71DF-635C-C637E56438AF}"/>
              </a:ext>
            </a:extLst>
          </p:cNvPr>
          <p:cNvSpPr txBox="1"/>
          <p:nvPr/>
        </p:nvSpPr>
        <p:spPr>
          <a:xfrm>
            <a:off x="731374" y="1053054"/>
            <a:ext cx="794385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Exécuter les cellules pour valider l’alimentation des données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Vérifier dans l’UI de Kafka, la création du TOPIC et des messages.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1097BCE5-FE9B-F566-6B3D-B308527CA1A4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D4073921-6530-91BC-9A1F-E8ED44196CB2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84CB8053-9E12-AF01-C748-C5548B0C0BA9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DA3681F8-801A-0EE1-B37D-F22E465A228B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Création d’un producteur Kafka (</a:t>
            </a:r>
            <a:r>
              <a:rPr lang="fr-FR" sz="2500" b="1" dirty="0" err="1">
                <a:solidFill>
                  <a:schemeClr val="bg1"/>
                </a:solidFill>
                <a:latin typeface="+mj-lt"/>
              </a:rPr>
              <a:t>producer</a:t>
            </a:r>
            <a:r>
              <a:rPr lang="fr-FR" sz="2500" b="1" dirty="0">
                <a:solidFill>
                  <a:schemeClr val="bg1"/>
                </a:solidFill>
                <a:latin typeface="+mj-lt"/>
              </a:rPr>
              <a:t>)</a:t>
            </a:r>
          </a:p>
        </p:txBody>
      </p:sp>
      <p:pic>
        <p:nvPicPr>
          <p:cNvPr id="4" name="Image 3" descr="Une image contenant texte, Appareils électroniques, capture d’écran, logiciel&#10;&#10;Description générée automatiquement">
            <a:extLst>
              <a:ext uri="{FF2B5EF4-FFF2-40B4-BE49-F238E27FC236}">
                <a16:creationId xmlns:a16="http://schemas.microsoft.com/office/drawing/2014/main" id="{F8DB126B-F065-C7C0-546C-4212038B54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8042" y="1053054"/>
            <a:ext cx="3187182" cy="2029522"/>
          </a:xfrm>
          <a:prstGeom prst="rect">
            <a:avLst/>
          </a:prstGeom>
        </p:spPr>
      </p:pic>
      <p:pic>
        <p:nvPicPr>
          <p:cNvPr id="6" name="Image 5" descr="Une image contenant texte, logiciel, capture d’écran, Page web&#10;&#10;Description générée automatiquement">
            <a:extLst>
              <a:ext uri="{FF2B5EF4-FFF2-40B4-BE49-F238E27FC236}">
                <a16:creationId xmlns:a16="http://schemas.microsoft.com/office/drawing/2014/main" id="{A8EA34E3-8410-8CFE-0DAA-5B68DEC632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303" y="3513756"/>
            <a:ext cx="4131394" cy="157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20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07F76-7F3B-46B6-6011-9BB1867D6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5DAE5B79-BCAB-E878-E49D-21C073812EE4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56170A8A-F5F9-C032-03D9-23C8A049925A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3E2653BB-53B5-1E4A-4D1C-DFFC9FF12651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E3E47123-6C61-B631-4BB2-630C4AD36CE9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Création d’un consumer Kafka </a:t>
            </a:r>
          </a:p>
        </p:txBody>
      </p:sp>
    </p:spTree>
    <p:extLst>
      <p:ext uri="{BB962C8B-B14F-4D97-AF65-F5344CB8AC3E}">
        <p14:creationId xmlns:p14="http://schemas.microsoft.com/office/powerpoint/2010/main" val="3078767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D5479-2065-6145-2A05-8EC6DC7CA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BAD31122-71D1-EF8F-DC8B-93B9E33FB812}"/>
              </a:ext>
            </a:extLst>
          </p:cNvPr>
          <p:cNvSpPr txBox="1"/>
          <p:nvPr/>
        </p:nvSpPr>
        <p:spPr>
          <a:xfrm>
            <a:off x="731374" y="1053054"/>
            <a:ext cx="7943850" cy="2482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Ouvrir </a:t>
            </a:r>
            <a:r>
              <a:rPr lang="fr-FR" sz="1200" dirty="0" err="1">
                <a:ea typeface="Arial Unicode MS"/>
              </a:rPr>
              <a:t>Jupyter</a:t>
            </a:r>
            <a:r>
              <a:rPr lang="fr-FR" sz="1200" dirty="0">
                <a:ea typeface="Arial Unicode MS"/>
              </a:rPr>
              <a:t> et créer un notebook: </a:t>
            </a:r>
            <a:r>
              <a:rPr lang="fr-FR" sz="1200" dirty="0" err="1">
                <a:ea typeface="Arial Unicode MS"/>
              </a:rPr>
              <a:t>Consumer.ipynb</a:t>
            </a:r>
            <a:r>
              <a:rPr lang="fr-FR" sz="1200" dirty="0">
                <a:ea typeface="Arial Unicode MS"/>
              </a:rPr>
              <a:t> (exécuter au fur et à mesure les cellules: « CTRL-Entrée »)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Charger dans une première cellule les </a:t>
            </a:r>
            <a:r>
              <a:rPr lang="fr-FR" sz="1200" dirty="0" err="1">
                <a:ea typeface="Arial Unicode MS"/>
              </a:rPr>
              <a:t>libraries</a:t>
            </a:r>
            <a:r>
              <a:rPr lang="fr-FR" sz="1200" dirty="0">
                <a:ea typeface="Arial Unicode MS"/>
              </a:rPr>
              <a:t> nécessaires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Définir l’accès au broker </a:t>
            </a:r>
            <a:r>
              <a:rPr lang="fr-FR" sz="1200" dirty="0" err="1">
                <a:ea typeface="Arial Unicode MS"/>
              </a:rPr>
              <a:t>serveur:port</a:t>
            </a:r>
            <a:r>
              <a:rPr lang="fr-FR" sz="1200" dirty="0">
                <a:ea typeface="Arial Unicode MS"/>
              </a:rPr>
              <a:t> =&gt; </a:t>
            </a:r>
            <a:r>
              <a:rPr lang="fr-FR" sz="1200" dirty="0"/>
              <a:t>"kafka-broker:9092"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Et le « dossier » sous lequel seront mis les messages: TOPIC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39AECA5A-8C39-F8C1-6EF6-59414223C75E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657F4BE4-4C92-240D-33C9-9737EE91F3AA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8B27055A-ED19-9A9D-501B-46AC08C4550D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6F157CED-47C5-78B1-E9D9-0234386864BC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Création d’un consumer Kafka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40A04B-523D-31F7-5149-E16DE3797EBC}"/>
              </a:ext>
            </a:extLst>
          </p:cNvPr>
          <p:cNvSpPr/>
          <p:nvPr/>
        </p:nvSpPr>
        <p:spPr>
          <a:xfrm>
            <a:off x="1817648" y="3162362"/>
            <a:ext cx="5969621" cy="185616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kafka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KafkaConsumer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json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np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linear_model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SGDClassifier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joblib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dump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⚠️ Depuis le conteneur 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Jupyter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, on utilise le nom du service docker-compose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BOOTSTRAP_SERVERS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"kafka-broker:9092"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TOPIC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"ml-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stream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E731DF-581D-610C-DCA2-9CE940D3890D}"/>
              </a:ext>
            </a:extLst>
          </p:cNvPr>
          <p:cNvSpPr/>
          <p:nvPr/>
        </p:nvSpPr>
        <p:spPr>
          <a:xfrm>
            <a:off x="1718488" y="1882677"/>
            <a:ext cx="5969621" cy="2250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/>
              <a:t>!</a:t>
            </a:r>
            <a:r>
              <a:rPr lang="fr-FR" sz="1000" dirty="0" err="1"/>
              <a:t>pip</a:t>
            </a:r>
            <a:r>
              <a:rPr lang="fr-FR" sz="1000" dirty="0"/>
              <a:t> </a:t>
            </a:r>
            <a:r>
              <a:rPr lang="fr-FR" sz="1000" dirty="0" err="1"/>
              <a:t>install</a:t>
            </a:r>
            <a:r>
              <a:rPr lang="fr-FR" sz="1000" dirty="0"/>
              <a:t> </a:t>
            </a:r>
            <a:r>
              <a:rPr lang="fr-FR" sz="1000" dirty="0" err="1"/>
              <a:t>kafka</a:t>
            </a:r>
            <a:r>
              <a:rPr lang="fr-FR" sz="1000" dirty="0"/>
              <a:t>-python</a:t>
            </a:r>
          </a:p>
        </p:txBody>
      </p:sp>
    </p:spTree>
    <p:extLst>
      <p:ext uri="{BB962C8B-B14F-4D97-AF65-F5344CB8AC3E}">
        <p14:creationId xmlns:p14="http://schemas.microsoft.com/office/powerpoint/2010/main" val="3068620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358DB-823D-2636-DBE6-C1D22F323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ABD5137C-5310-42E3-A849-D81C9DF44114}"/>
              </a:ext>
            </a:extLst>
          </p:cNvPr>
          <p:cNvSpPr txBox="1"/>
          <p:nvPr/>
        </p:nvSpPr>
        <p:spPr>
          <a:xfrm>
            <a:off x="731374" y="1053054"/>
            <a:ext cx="7943850" cy="902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Ensuite un </a:t>
            </a:r>
            <a:r>
              <a:rPr lang="fr-FR" sz="1200" dirty="0" err="1">
                <a:ea typeface="Arial Unicode MS"/>
              </a:rPr>
              <a:t>producer</a:t>
            </a:r>
            <a:r>
              <a:rPr lang="fr-FR" sz="1200" dirty="0">
                <a:ea typeface="Arial Unicode MS"/>
              </a:rPr>
              <a:t> est créé est un message constitué de deux valeurs aléatoires sont générées, avec un label (supervisé)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27A29B05-B347-E137-A2F9-0E07675D2AEF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7A854209-F42E-2CC3-96DD-EBE19FD52714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07739C8B-1C6B-2961-0154-F2249A302A7E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434FDB4E-2877-FECF-6D06-FA60E284416D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Création d’un consumer Kafka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3F51CE-8569-16E0-BAFD-2FFB910C530C}"/>
              </a:ext>
            </a:extLst>
          </p:cNvPr>
          <p:cNvSpPr/>
          <p:nvPr/>
        </p:nvSpPr>
        <p:spPr>
          <a:xfrm>
            <a:off x="1903141" y="1589266"/>
            <a:ext cx="5969621" cy="302734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consumer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KafkaConsumer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TOPIC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bootstrap_servers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BOOTSTRAP_SERVERS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auto_offset_reset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earliest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   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repartir du début du topic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enable_auto_commit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 err="1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value_deserializer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loads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decode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)),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SGDClassifier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loss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log_loss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logistic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i="1" dirty="0" err="1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regression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 online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classes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is_initialized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False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batch_X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batch_y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[], []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max_messages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400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pour ne pas boucler à l'infini dans l'exemple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2217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5603C-5783-15D8-DF48-1C3947FBC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EF708787-5399-F223-C1A7-0B1190A17CCD}"/>
              </a:ext>
            </a:extLst>
          </p:cNvPr>
          <p:cNvSpPr txBox="1"/>
          <p:nvPr/>
        </p:nvSpPr>
        <p:spPr>
          <a:xfrm>
            <a:off x="731374" y="1053054"/>
            <a:ext cx="7943850" cy="718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Boucle sur les messages pour entrainer le modèle. (non optimisé)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809B0091-4FF9-D479-BDC6-C5EFEF2098DF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26F9C089-70D8-065D-9B3D-28D9CA0968B9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404AF283-FA1A-F532-2FBA-8020C1F12B6A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3B73053D-4D9F-1016-052D-5E0DA8AB1E55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Création d’un consumer Kafka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59C1DA-E98D-7870-DCAA-D4377A590984}"/>
              </a:ext>
            </a:extLst>
          </p:cNvPr>
          <p:cNvSpPr/>
          <p:nvPr/>
        </p:nvSpPr>
        <p:spPr>
          <a:xfrm>
            <a:off x="351392" y="1492619"/>
            <a:ext cx="4103321" cy="359208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enumerate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consumer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record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.value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batch_X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features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batch_y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"label"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batch_X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32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batch_X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batch_y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is_initialized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partial_fit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i="1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classes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classes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is_initialized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True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partial_fit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"Batch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 entraîné (messages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31}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–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362FC4-950B-D4F2-60DD-6D7B0459780E}"/>
              </a:ext>
            </a:extLst>
          </p:cNvPr>
          <p:cNvSpPr/>
          <p:nvPr/>
        </p:nvSpPr>
        <p:spPr>
          <a:xfrm>
            <a:off x="4591477" y="1492620"/>
            <a:ext cx="4255160" cy="359208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Exemple de prédiction à la volée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test_point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([[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0.9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]])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proba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predict_proba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test_point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)[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"P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(label=1 | [0.2, 0.9]) =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proba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:.3f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batch_X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batch_y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[], []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max_messages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"Fin de la démo de consommation ✅"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break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431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EA972-C720-0C3F-078E-68B11DE21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860ED0AA-EE7E-371D-7537-2DFBC972C278}"/>
              </a:ext>
            </a:extLst>
          </p:cNvPr>
          <p:cNvSpPr txBox="1"/>
          <p:nvPr/>
        </p:nvSpPr>
        <p:spPr>
          <a:xfrm>
            <a:off x="731374" y="1053054"/>
            <a:ext cx="7943850" cy="718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Sauvegarde du modèle pour pouvoir l’utiliser dans une application et faire des prédictions à la volée.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506E6B38-78FA-01AB-1F6C-E36C4C9E1F6B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3AAEDEC4-F373-E555-7A7B-038A4EE4A2B6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5BAC16E3-451F-4B5D-75AD-5A7FE63EA333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73978A42-09DC-1F9F-B1C8-B5EB0B728F9C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Création d’un consumer Kafka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2F4C48-6D29-3A3C-F62C-ACD822214D41}"/>
              </a:ext>
            </a:extLst>
          </p:cNvPr>
          <p:cNvSpPr/>
          <p:nvPr/>
        </p:nvSpPr>
        <p:spPr>
          <a:xfrm>
            <a:off x="1676387" y="1468706"/>
            <a:ext cx="5969621" cy="163715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i="1" dirty="0">
                <a:solidFill>
                  <a:srgbClr val="7F848E"/>
                </a:solidFill>
                <a:effectLst/>
                <a:latin typeface="Consolas" panose="020B0609020204030204" pitchFamily="49" charset="0"/>
              </a:rPr>
              <a:t># 🔽🔽🔽 SAUVEGARDE DU MODÈLE APRÈS L'ENTRAÎNEMENT 🔽🔽🔽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is_initialized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dump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kafka_stream_model.joblib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"Modèle sauvegardé dans '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kafka_stream_model.joblib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' ✅"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"Aucun modèle entraîné, rien à sauvegarder."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932411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AF124-1A09-D9A9-8AE7-6D27FD146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27C3D020-1B4E-3206-44E9-FD15F2C2B5E8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51790B56-92DC-4481-054B-DAA702671B76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9931B881-1B76-345A-4061-6B702598BD1F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DE9FE3E4-0B49-5981-2A72-F5DC43BEDF88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Création d’un Notebook pour tester le modèle</a:t>
            </a:r>
          </a:p>
        </p:txBody>
      </p:sp>
    </p:spTree>
    <p:extLst>
      <p:ext uri="{BB962C8B-B14F-4D97-AF65-F5344CB8AC3E}">
        <p14:creationId xmlns:p14="http://schemas.microsoft.com/office/powerpoint/2010/main" val="17004315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229F5-CEA7-7787-049A-E53BEEF68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993CD1C2-F2D0-FB12-F5D2-CB1FF54CCDA6}"/>
              </a:ext>
            </a:extLst>
          </p:cNvPr>
          <p:cNvSpPr txBox="1"/>
          <p:nvPr/>
        </p:nvSpPr>
        <p:spPr>
          <a:xfrm>
            <a:off x="731374" y="971280"/>
            <a:ext cx="7943850" cy="1159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Ouvrir </a:t>
            </a:r>
            <a:r>
              <a:rPr lang="fr-FR" sz="1200" dirty="0" err="1">
                <a:ea typeface="Arial Unicode MS"/>
              </a:rPr>
              <a:t>Jupyter</a:t>
            </a:r>
            <a:r>
              <a:rPr lang="fr-FR" sz="1200" dirty="0">
                <a:ea typeface="Arial Unicode MS"/>
              </a:rPr>
              <a:t> et créer un notebook: </a:t>
            </a:r>
            <a:r>
              <a:rPr lang="fr-FR" sz="1200" dirty="0" err="1">
                <a:ea typeface="Arial Unicode MS"/>
              </a:rPr>
              <a:t>Consumer.ipynb</a:t>
            </a:r>
            <a:r>
              <a:rPr lang="fr-FR" sz="1200" dirty="0">
                <a:ea typeface="Arial Unicode MS"/>
              </a:rPr>
              <a:t> (exécuter au fur et à mesure les cellules: « CTRL-Entrée »)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Définir le code suivant dans une cellule pour valider les résultats.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E494D084-1E73-E8CB-8A21-D4F0E1B097B2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F028DCB9-0318-1073-5C3F-BF30DDDB65D6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98F5D351-769C-4ECE-8B7A-FF08C5EE3BCE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C1E26516-437F-5BE7-FD9C-47668F338DDD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Création d’un Notebook pour tester le modèle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DF6CB6-DED7-9F5D-7FEE-886BFFECE327}"/>
              </a:ext>
            </a:extLst>
          </p:cNvPr>
          <p:cNvSpPr/>
          <p:nvPr/>
        </p:nvSpPr>
        <p:spPr>
          <a:xfrm>
            <a:off x="1676387" y="1695665"/>
            <a:ext cx="5969621" cy="338904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+mj-lt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+mj-lt"/>
              </a:rPr>
              <a:t>joblib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+mj-lt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+mj-lt"/>
              </a:rPr>
              <a:t>load</a:t>
            </a:r>
            <a:endParaRPr lang="fr-FR" sz="1000" b="0" dirty="0">
              <a:solidFill>
                <a:srgbClr val="ABB2BF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+mj-lt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+mj-lt"/>
              </a:rPr>
              <a:t>numpy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+mj-lt"/>
              </a:rPr>
              <a:t>as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+mj-lt"/>
              </a:rPr>
              <a:t>np</a:t>
            </a:r>
            <a:endParaRPr lang="fr-FR" sz="1000" b="0" dirty="0">
              <a:solidFill>
                <a:srgbClr val="ABB2BF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</a:br>
            <a:r>
              <a:rPr lang="fr-FR" sz="1000" b="0" i="1" dirty="0">
                <a:solidFill>
                  <a:srgbClr val="7F848E"/>
                </a:solidFill>
                <a:effectLst/>
                <a:latin typeface="+mj-lt"/>
              </a:rPr>
              <a:t># 🔽🔽🔽 CHARGEMENT DU MODÈLE SAUVEGARDÉ 🔽🔽🔽</a:t>
            </a:r>
            <a:endParaRPr lang="fr-FR" sz="1000" b="0" dirty="0">
              <a:solidFill>
                <a:srgbClr val="ABB2BF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model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+mj-lt"/>
              </a:rPr>
              <a:t>load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+mj-lt"/>
              </a:rPr>
              <a:t>kafka_stream_model.joblib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61AFEF"/>
                </a:solidFill>
                <a:effectLst/>
                <a:latin typeface="+mj-lt"/>
              </a:rPr>
              <a:t>print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"Modèle chargé depuis '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+mj-lt"/>
              </a:rPr>
              <a:t>kafka_stream_model.joblib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' ✅</a:t>
            </a:r>
            <a:r>
              <a:rPr lang="fr-FR" sz="1000" b="0" dirty="0">
                <a:solidFill>
                  <a:srgbClr val="56B6C2"/>
                </a:solidFill>
                <a:effectLst/>
                <a:latin typeface="+mj-lt"/>
              </a:rPr>
              <a:t>\n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)</a:t>
            </a:r>
            <a:b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</a:br>
            <a:r>
              <a:rPr lang="fr-FR" sz="1000" b="0" i="1" dirty="0">
                <a:solidFill>
                  <a:srgbClr val="7F848E"/>
                </a:solidFill>
                <a:effectLst/>
                <a:latin typeface="+mj-lt"/>
              </a:rPr>
              <a:t># Quelques points de test</a:t>
            </a:r>
            <a:endParaRPr lang="fr-FR" sz="1000" b="0" dirty="0">
              <a:solidFill>
                <a:srgbClr val="ABB2BF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+mj-lt"/>
              </a:rPr>
              <a:t>X_test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+mj-lt"/>
              </a:rPr>
              <a:t>np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+mj-lt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+mj-lt"/>
              </a:rPr>
              <a:t>array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([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    [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0.1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, 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0.1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],  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+mj-lt"/>
              </a:rPr>
              <a:t># plutôt classe 0</a:t>
            </a:r>
            <a:endParaRPr lang="fr-FR" sz="1000" b="0" dirty="0">
              <a:solidFill>
                <a:srgbClr val="ABB2BF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    [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0.9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, 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0.3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],  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+mj-lt"/>
              </a:rPr>
              <a:t># plutôt classe 1</a:t>
            </a:r>
            <a:endParaRPr lang="fr-FR" sz="1000" b="0" dirty="0">
              <a:solidFill>
                <a:srgbClr val="ABB2BF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    [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0.6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, 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0.7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],  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+mj-lt"/>
              </a:rPr>
              <a:t># plutôt classe 1</a:t>
            </a:r>
            <a:endParaRPr lang="fr-FR" sz="1000" b="0" dirty="0">
              <a:solidFill>
                <a:srgbClr val="ABB2BF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    [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0.2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, 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0.4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],  </a:t>
            </a:r>
            <a:r>
              <a:rPr lang="fr-FR" sz="1000" b="0" i="1" dirty="0">
                <a:solidFill>
                  <a:srgbClr val="7F848E"/>
                </a:solidFill>
                <a:effectLst/>
                <a:latin typeface="+mj-lt"/>
              </a:rPr>
              <a:t># plutôt classe 0</a:t>
            </a:r>
            <a:endParaRPr lang="fr-FR" sz="1000" b="0" dirty="0">
              <a:solidFill>
                <a:srgbClr val="ABB2BF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])</a:t>
            </a:r>
            <a:b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</a:b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proba_1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+mj-lt"/>
              </a:rPr>
              <a:t>model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+mj-lt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+mj-lt"/>
              </a:rPr>
              <a:t>predict_proba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+mj-lt"/>
              </a:rPr>
              <a:t>X_test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)[:, 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1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]</a:t>
            </a: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E06C75"/>
                </a:solidFill>
                <a:effectLst/>
                <a:latin typeface="+mj-lt"/>
              </a:rPr>
              <a:t>pred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+mj-lt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+mj-lt"/>
              </a:rPr>
              <a:t>model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+mj-lt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+mj-lt"/>
              </a:rPr>
              <a:t>predict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+mj-lt"/>
              </a:rPr>
              <a:t>X_test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</a:br>
            <a:r>
              <a:rPr lang="fr-FR" sz="1000" b="0" dirty="0">
                <a:solidFill>
                  <a:srgbClr val="C678DD"/>
                </a:solidFill>
                <a:effectLst/>
                <a:latin typeface="+mj-lt"/>
              </a:rPr>
              <a:t>for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x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, </a:t>
            </a: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p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,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+mj-lt"/>
              </a:rPr>
              <a:t>yhat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+mj-lt"/>
              </a:rPr>
              <a:t>in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 </a:t>
            </a:r>
            <a:r>
              <a:rPr lang="fr-FR" sz="1000" b="0" dirty="0">
                <a:solidFill>
                  <a:srgbClr val="E5C07B"/>
                </a:solidFill>
                <a:effectLst/>
                <a:latin typeface="+mj-lt"/>
              </a:rPr>
              <a:t>zip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+mj-lt"/>
              </a:rPr>
              <a:t>X_test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, </a:t>
            </a: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proba_1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,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+mj-lt"/>
              </a:rPr>
              <a:t>pred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):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   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+mj-lt"/>
              </a:rPr>
              <a:t>print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(</a:t>
            </a:r>
            <a:r>
              <a:rPr lang="fr-FR" sz="1000" b="0" dirty="0" err="1">
                <a:solidFill>
                  <a:srgbClr val="C678DD"/>
                </a:solidFill>
                <a:effectLst/>
                <a:latin typeface="+mj-lt"/>
              </a:rPr>
              <a:t>f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+mj-lt"/>
              </a:rPr>
              <a:t>"x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=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{</a:t>
            </a: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x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}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 -&gt; proba(label=1)=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{</a:t>
            </a:r>
            <a:r>
              <a:rPr lang="fr-FR" sz="1000" b="0" dirty="0">
                <a:solidFill>
                  <a:srgbClr val="E06C75"/>
                </a:solidFill>
                <a:effectLst/>
                <a:latin typeface="+mj-lt"/>
              </a:rPr>
              <a:t>p</a:t>
            </a:r>
            <a:r>
              <a:rPr lang="fr-FR" sz="1000" b="0" dirty="0">
                <a:solidFill>
                  <a:srgbClr val="C678DD"/>
                </a:solidFill>
                <a:effectLst/>
                <a:latin typeface="+mj-lt"/>
              </a:rPr>
              <a:t>:.3f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}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, prédiction=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{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+mj-lt"/>
              </a:rPr>
              <a:t>yhat</a:t>
            </a:r>
            <a:r>
              <a:rPr lang="fr-FR" sz="1000" b="0" dirty="0">
                <a:solidFill>
                  <a:srgbClr val="D19A66"/>
                </a:solidFill>
                <a:effectLst/>
                <a:latin typeface="+mj-lt"/>
              </a:rPr>
              <a:t>}</a:t>
            </a:r>
            <a:r>
              <a:rPr lang="fr-FR" sz="1000" b="0" dirty="0">
                <a:solidFill>
                  <a:srgbClr val="98C379"/>
                </a:solidFill>
                <a:effectLst/>
                <a:latin typeface="+mj-lt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+mj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629212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C7341-2291-61B9-29BF-B8FEB33C9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CD906A8A-0401-D8C9-B0C0-CEBA1257E09F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FE974BA2-EF48-40F1-4F61-A7DA0F26ED4B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A0DBA8CB-4FD1-3C24-0E02-1340748C85D1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53334E26-4E61-D47E-3B78-398652588285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Création d’un serveur pour exposer le résultat</a:t>
            </a:r>
          </a:p>
        </p:txBody>
      </p:sp>
    </p:spTree>
    <p:extLst>
      <p:ext uri="{BB962C8B-B14F-4D97-AF65-F5344CB8AC3E}">
        <p14:creationId xmlns:p14="http://schemas.microsoft.com/office/powerpoint/2010/main" val="19575901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2CAE3-CB86-1E07-AC1C-B583D7495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E24F0B75-2ECC-C651-FF01-680D64879F78}"/>
              </a:ext>
            </a:extLst>
          </p:cNvPr>
          <p:cNvSpPr txBox="1"/>
          <p:nvPr/>
        </p:nvSpPr>
        <p:spPr>
          <a:xfrm>
            <a:off x="731374" y="971280"/>
            <a:ext cx="7943850" cy="718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Pour pouvoir accéder aux données locales créer un fichier python dans </a:t>
            </a:r>
            <a:r>
              <a:rPr lang="fr-FR" sz="1200" dirty="0" err="1">
                <a:ea typeface="Arial Unicode MS"/>
              </a:rPr>
              <a:t>Jupyter</a:t>
            </a:r>
            <a:r>
              <a:rPr lang="fr-FR" sz="1200" dirty="0">
                <a:ea typeface="Arial Unicode MS"/>
              </a:rPr>
              <a:t>: </a:t>
            </a:r>
            <a:r>
              <a:rPr lang="fr-FR" sz="1200" b="1" dirty="0">
                <a:ea typeface="Arial Unicode MS"/>
              </a:rPr>
              <a:t>File\New\Python File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Nommer le fichier: Test_model_api.py. Ce script constitue une application qui permet d’évaluer les données « Postées »</a:t>
            </a: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D0EC476B-F6EC-AABB-BF6D-3A90CF1959ED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968E6438-D8BA-90D4-9E36-93E29DC85386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1F932F21-7A9C-A508-D3F1-A57F8676B7E9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DF1D702E-8157-5448-D7C5-83356B5F163D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Création d’un serveur pour exposer le résultat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478FF6-749A-C8AB-6C66-1A52D6AEF1A3}"/>
              </a:ext>
            </a:extLst>
          </p:cNvPr>
          <p:cNvSpPr/>
          <p:nvPr/>
        </p:nvSpPr>
        <p:spPr>
          <a:xfrm>
            <a:off x="1676387" y="1895171"/>
            <a:ext cx="5969621" cy="247655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fastapi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FastAPI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joblib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load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np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FastAPI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kafka_stream_model.joblib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"/predict"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fr-FR" sz="1000" b="0" dirty="0" err="1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predict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features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]):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features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proba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predict_proba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)[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"proba_label_1"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proba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)}</a:t>
            </a:r>
          </a:p>
          <a:p>
            <a:pPr>
              <a:lnSpc>
                <a:spcPts val="1425"/>
              </a:lnSpc>
            </a:pP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4825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C6A6B-64E8-072E-E156-58BB80638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ZoneTexte 39">
            <a:extLst>
              <a:ext uri="{FF2B5EF4-FFF2-40B4-BE49-F238E27FC236}">
                <a16:creationId xmlns:a16="http://schemas.microsoft.com/office/drawing/2014/main" id="{02552313-4E2C-AF4D-FEEF-8225826C1BB3}"/>
              </a:ext>
            </a:extLst>
          </p:cNvPr>
          <p:cNvSpPr txBox="1"/>
          <p:nvPr/>
        </p:nvSpPr>
        <p:spPr>
          <a:xfrm>
            <a:off x="731374" y="971280"/>
            <a:ext cx="794385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Créer un Notebook pour démarrer le serveur </a:t>
            </a:r>
            <a:r>
              <a:rPr lang="fr-FR" sz="1200" dirty="0" err="1">
                <a:ea typeface="Arial Unicode MS"/>
              </a:rPr>
              <a:t>FastAPI</a:t>
            </a:r>
            <a:r>
              <a:rPr lang="fr-FR" sz="1200" dirty="0">
                <a:ea typeface="Arial Unicode MS"/>
              </a:rPr>
              <a:t> et exposer l’application précédente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Dans une première cellule installer le bon serveur </a:t>
            </a:r>
            <a:r>
              <a:rPr lang="fr-FR" sz="1200" dirty="0" err="1">
                <a:ea typeface="Arial Unicode MS"/>
              </a:rPr>
              <a:t>FastAPI</a:t>
            </a: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Ajouter la </a:t>
            </a:r>
            <a:r>
              <a:rPr lang="fr-FR" sz="1200" dirty="0" err="1">
                <a:ea typeface="Arial Unicode MS"/>
              </a:rPr>
              <a:t>libraries</a:t>
            </a:r>
            <a:r>
              <a:rPr lang="fr-FR" sz="1200" dirty="0">
                <a:ea typeface="Arial Unicode MS"/>
              </a:rPr>
              <a:t> suivantes pour des problèmes de compatibilité.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Démarrer le serveur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CD3AB8B0-AC55-C02E-9E62-B57532C877B7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3EF5A9D3-4279-678F-4B3C-1DF6B6B4A5D2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585BDC3A-9413-7875-65E0-DB27BE5C7800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856666E0-25A5-35CC-BC28-C483EFEFD7CD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Création d’un serveur pour exposer le résultat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CB59A8-88BF-A65B-4B86-75E1CDBABB88}"/>
              </a:ext>
            </a:extLst>
          </p:cNvPr>
          <p:cNvSpPr/>
          <p:nvPr/>
        </p:nvSpPr>
        <p:spPr>
          <a:xfrm>
            <a:off x="1676387" y="1695665"/>
            <a:ext cx="5969621" cy="3189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pip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install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fastapi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uvicorn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B3D69C-F2E7-7496-F564-E6E1B1F939A5}"/>
              </a:ext>
            </a:extLst>
          </p:cNvPr>
          <p:cNvSpPr/>
          <p:nvPr/>
        </p:nvSpPr>
        <p:spPr>
          <a:xfrm>
            <a:off x="1676386" y="2686442"/>
            <a:ext cx="5969621" cy="3189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en-US" sz="10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pip install </a:t>
            </a:r>
            <a:r>
              <a:rPr lang="en-US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U </a:t>
            </a:r>
            <a:r>
              <a:rPr lang="en-US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typing_extensions</a:t>
            </a:r>
            <a:r>
              <a:rPr lang="en-US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&gt;=4.12.0"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pydantic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pydantic</a:t>
            </a:r>
            <a:r>
              <a:rPr lang="en-US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core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FD29D2-548C-3D3E-38F5-1AD5C6CB72C2}"/>
              </a:ext>
            </a:extLst>
          </p:cNvPr>
          <p:cNvSpPr/>
          <p:nvPr/>
        </p:nvSpPr>
        <p:spPr>
          <a:xfrm>
            <a:off x="1676385" y="3576168"/>
            <a:ext cx="5969621" cy="3189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en-US" sz="10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uvicorn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Test_model_api:app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host </a:t>
            </a:r>
            <a:r>
              <a:rPr lang="en-US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.0.0 </a:t>
            </a:r>
            <a:r>
              <a:rPr lang="en-US" sz="10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port </a:t>
            </a:r>
            <a:r>
              <a:rPr lang="en-US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8000</a:t>
            </a:r>
            <a:r>
              <a:rPr lang="en-US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en-US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reload</a:t>
            </a:r>
            <a:endParaRPr lang="en-US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737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BCFC0-A74D-96E7-1491-DCD8FB736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9B6C9D7A-FC99-A6FB-3EAD-06D6DD071528}"/>
              </a:ext>
            </a:extLst>
          </p:cNvPr>
          <p:cNvSpPr txBox="1"/>
          <p:nvPr/>
        </p:nvSpPr>
        <p:spPr>
          <a:xfrm>
            <a:off x="728524" y="1172002"/>
            <a:ext cx="794385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Créer un Notebook pour test le Web Service qui a été exposé: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r>
              <a:rPr lang="fr-FR" sz="1200" dirty="0">
                <a:ea typeface="Arial Unicode MS"/>
              </a:rPr>
              <a:t>Dans Postman</a:t>
            </a:r>
          </a:p>
          <a:p>
            <a:pPr marL="342900" indent="-342900" algn="just">
              <a:spcBef>
                <a:spcPts val="1200"/>
              </a:spcBef>
              <a:spcAft>
                <a:spcPts val="800"/>
              </a:spcAft>
              <a:buClr>
                <a:srgbClr val="ED7D31"/>
              </a:buClr>
              <a:buFont typeface="Wingdings" panose="05000000000000000000" pitchFamily="2" charset="2"/>
              <a:buChar char=""/>
            </a:pPr>
            <a:endParaRPr lang="fr-FR" sz="1200" dirty="0">
              <a:ea typeface="Arial Unicode MS"/>
            </a:endParaRPr>
          </a:p>
        </p:txBody>
      </p:sp>
      <p:sp>
        <p:nvSpPr>
          <p:cNvPr id="46" name="Google Shape;230;p17">
            <a:extLst>
              <a:ext uri="{FF2B5EF4-FFF2-40B4-BE49-F238E27FC236}">
                <a16:creationId xmlns:a16="http://schemas.microsoft.com/office/drawing/2014/main" id="{582290E9-F4D6-F231-BAA7-8030604FCBD2}"/>
              </a:ext>
            </a:extLst>
          </p:cNvPr>
          <p:cNvSpPr/>
          <p:nvPr/>
        </p:nvSpPr>
        <p:spPr>
          <a:xfrm>
            <a:off x="728524" y="58794"/>
            <a:ext cx="7865349" cy="952920"/>
          </a:xfrm>
          <a:custGeom>
            <a:avLst/>
            <a:gdLst/>
            <a:ahLst/>
            <a:cxnLst/>
            <a:rect l="l" t="t" r="r" b="b"/>
            <a:pathLst>
              <a:path w="12451" h="8780" extrusionOk="0">
                <a:moveTo>
                  <a:pt x="0" y="0"/>
                </a:moveTo>
                <a:lnTo>
                  <a:pt x="0" y="8780"/>
                </a:lnTo>
                <a:lnTo>
                  <a:pt x="12101" y="8780"/>
                </a:lnTo>
                <a:cubicBezTo>
                  <a:pt x="12289" y="8780"/>
                  <a:pt x="12451" y="8618"/>
                  <a:pt x="12451" y="8428"/>
                </a:cubicBezTo>
                <a:lnTo>
                  <a:pt x="12451" y="378"/>
                </a:lnTo>
                <a:cubicBezTo>
                  <a:pt x="12451" y="162"/>
                  <a:pt x="12289" y="0"/>
                  <a:pt x="12101" y="0"/>
                </a:cubicBez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85725" dist="57150" dir="12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231;p17">
            <a:extLst>
              <a:ext uri="{FF2B5EF4-FFF2-40B4-BE49-F238E27FC236}">
                <a16:creationId xmlns:a16="http://schemas.microsoft.com/office/drawing/2014/main" id="{6306538C-33C6-2FE3-D865-A1350D0D5ED8}"/>
              </a:ext>
            </a:extLst>
          </p:cNvPr>
          <p:cNvSpPr/>
          <p:nvPr/>
        </p:nvSpPr>
        <p:spPr>
          <a:xfrm>
            <a:off x="253089" y="58794"/>
            <a:ext cx="530346" cy="952920"/>
          </a:xfrm>
          <a:custGeom>
            <a:avLst/>
            <a:gdLst/>
            <a:ahLst/>
            <a:cxnLst/>
            <a:rect l="l" t="t" r="r" b="b"/>
            <a:pathLst>
              <a:path w="3325" h="6646" extrusionOk="0">
                <a:moveTo>
                  <a:pt x="3324" y="1"/>
                </a:moveTo>
                <a:cubicBezTo>
                  <a:pt x="1488" y="1"/>
                  <a:pt x="1" y="1487"/>
                  <a:pt x="1" y="3324"/>
                </a:cubicBezTo>
                <a:cubicBezTo>
                  <a:pt x="1" y="5161"/>
                  <a:pt x="1488" y="6645"/>
                  <a:pt x="3324" y="6645"/>
                </a:cubicBezTo>
                <a:lnTo>
                  <a:pt x="3324" y="1"/>
                </a:lnTo>
                <a:close/>
              </a:path>
            </a:pathLst>
          </a:custGeom>
          <a:solidFill>
            <a:srgbClr val="E89D06"/>
          </a:solidFill>
          <a:ln>
            <a:noFill/>
          </a:ln>
          <a:effectLst>
            <a:outerShdw blurRad="71438" dist="57150" dir="1140000" algn="bl" rotWithShape="0">
              <a:schemeClr val="dk1">
                <a:alpha val="2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232;p17">
            <a:extLst>
              <a:ext uri="{FF2B5EF4-FFF2-40B4-BE49-F238E27FC236}">
                <a16:creationId xmlns:a16="http://schemas.microsoft.com/office/drawing/2014/main" id="{EDBC8B3F-071A-0393-D6C9-E070757C689F}"/>
              </a:ext>
            </a:extLst>
          </p:cNvPr>
          <p:cNvSpPr txBox="1"/>
          <p:nvPr/>
        </p:nvSpPr>
        <p:spPr>
          <a:xfrm>
            <a:off x="398524" y="346314"/>
            <a:ext cx="330000" cy="387300"/>
          </a:xfrm>
          <a:prstGeom prst="rect">
            <a:avLst/>
          </a:prstGeom>
          <a:solidFill>
            <a:srgbClr val="E89D0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01969FA1-9588-0705-0BE5-AB122CC95CCA}"/>
              </a:ext>
            </a:extLst>
          </p:cNvPr>
          <p:cNvSpPr txBox="1"/>
          <p:nvPr/>
        </p:nvSpPr>
        <p:spPr>
          <a:xfrm>
            <a:off x="824975" y="311564"/>
            <a:ext cx="7330283" cy="453970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2500" b="1" dirty="0">
                <a:solidFill>
                  <a:schemeClr val="bg1"/>
                </a:solidFill>
                <a:latin typeface="+mj-lt"/>
              </a:rPr>
              <a:t>Tester le serveur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2D8DC-EFF7-CE44-E355-7DEA02BCF3F7}"/>
              </a:ext>
            </a:extLst>
          </p:cNvPr>
          <p:cNvSpPr/>
          <p:nvPr/>
        </p:nvSpPr>
        <p:spPr>
          <a:xfrm>
            <a:off x="1966319" y="1471836"/>
            <a:ext cx="5969621" cy="182892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C678DD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requests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payload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0.4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000" b="0" dirty="0">
                <a:solidFill>
                  <a:srgbClr val="D19A66"/>
                </a:solidFill>
                <a:effectLst/>
                <a:latin typeface="Consolas" panose="020B0609020204030204" pitchFamily="49" charset="0"/>
              </a:rPr>
              <a:t>0.7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000" b="0" dirty="0" err="1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requests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"http://localhost:8000/</a:t>
            </a:r>
            <a:r>
              <a:rPr lang="fr-FR" sz="1000" b="0" dirty="0" err="1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predict</a:t>
            </a:r>
            <a:r>
              <a:rPr lang="fr-FR" sz="1000" b="0" dirty="0">
                <a:solidFill>
                  <a:srgbClr val="98C37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000" b="0" i="1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fr-FR" sz="1000" b="0" dirty="0">
                <a:solidFill>
                  <a:srgbClr val="56B6C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payload</a:t>
            </a:r>
            <a:endParaRPr lang="fr-FR" sz="10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b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000" b="0" dirty="0" err="1">
                <a:solidFill>
                  <a:srgbClr val="E06C75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fr-FR" sz="10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fr-FR" sz="1000" b="0" dirty="0" err="1">
                <a:solidFill>
                  <a:srgbClr val="61AFEF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fr-FR" sz="10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97ED7E3-D3DC-7079-6898-ED76D3A42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428" y="2735684"/>
            <a:ext cx="4647197" cy="2148550"/>
          </a:xfrm>
          <a:prstGeom prst="rect">
            <a:avLst/>
          </a:prstGeom>
        </p:spPr>
      </p:pic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576370E2-AA01-3FA5-DDF9-874DEB9EC419}"/>
              </a:ext>
            </a:extLst>
          </p:cNvPr>
          <p:cNvCxnSpPr/>
          <p:nvPr/>
        </p:nvCxnSpPr>
        <p:spPr>
          <a:xfrm>
            <a:off x="2252546" y="3523785"/>
            <a:ext cx="15908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78676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35" t="869" r="11671"/>
          <a:stretch/>
        </p:blipFill>
        <p:spPr>
          <a:xfrm>
            <a:off x="4431282" y="-7974"/>
            <a:ext cx="4718608" cy="51355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11625" y="932"/>
            <a:ext cx="8138265" cy="5143500"/>
          </a:xfrm>
          <a:prstGeom prst="rect">
            <a:avLst/>
          </a:prstGeom>
          <a:solidFill>
            <a:srgbClr val="676D72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solidFill>
                <a:schemeClr val="bg1"/>
              </a:solidFill>
            </a:endParaRPr>
          </a:p>
        </p:txBody>
      </p:sp>
      <p:sp>
        <p:nvSpPr>
          <p:cNvPr id="7" name="Parallélogramme 6"/>
          <p:cNvSpPr/>
          <p:nvPr/>
        </p:nvSpPr>
        <p:spPr>
          <a:xfrm>
            <a:off x="-1634180" y="-5770"/>
            <a:ext cx="7690701" cy="5135525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9124" y="2162390"/>
            <a:ext cx="3304125" cy="2579399"/>
          </a:xfrm>
          <a:prstGeom prst="rect">
            <a:avLst/>
          </a:prstGeom>
        </p:spPr>
      </p:pic>
      <p:sp>
        <p:nvSpPr>
          <p:cNvPr id="12" name="Titre 1"/>
          <p:cNvSpPr>
            <a:spLocks noGrp="1"/>
          </p:cNvSpPr>
          <p:nvPr>
            <p:ph type="ctrTitle" idx="4294967295"/>
          </p:nvPr>
        </p:nvSpPr>
        <p:spPr>
          <a:xfrm>
            <a:off x="5971273" y="2636568"/>
            <a:ext cx="2393946" cy="1751965"/>
          </a:xfrm>
        </p:spPr>
        <p:txBody>
          <a:bodyPr>
            <a:normAutofit fontScale="90000"/>
          </a:bodyPr>
          <a:lstStyle/>
          <a:p>
            <a:pPr algn="ctr"/>
            <a:r>
              <a:rPr lang="fr-FR" sz="2700">
                <a:solidFill>
                  <a:schemeClr val="bg1"/>
                </a:solidFill>
                <a:latin typeface="Agency FB" panose="020B0503020202020204" pitchFamily="34" charset="0"/>
                <a:ea typeface="+mn-ea"/>
                <a:cs typeface="+mn-cs"/>
              </a:rPr>
              <a:t>Suivez-Nous</a:t>
            </a:r>
            <a:br>
              <a:rPr lang="fr-FR">
                <a:solidFill>
                  <a:schemeClr val="bg1"/>
                </a:solidFill>
              </a:rPr>
            </a:br>
            <a:br>
              <a:rPr lang="fr-FR">
                <a:solidFill>
                  <a:schemeClr val="bg1"/>
                </a:solidFill>
              </a:rPr>
            </a:br>
            <a:br>
              <a:rPr lang="fr-FR" sz="1500">
                <a:solidFill>
                  <a:schemeClr val="bg1"/>
                </a:solidFill>
              </a:rPr>
            </a:br>
            <a:r>
              <a:rPr lang="fr-FR" sz="1500">
                <a:solidFill>
                  <a:schemeClr val="bg1"/>
                </a:solidFill>
                <a:hlinkClick r:id="rId5"/>
              </a:rPr>
              <a:t>www.mgt-conseils.com</a:t>
            </a:r>
            <a:br>
              <a:rPr lang="fr-FR" sz="1500">
                <a:solidFill>
                  <a:schemeClr val="bg1"/>
                </a:solidFill>
              </a:rPr>
            </a:br>
            <a:r>
              <a:rPr lang="fr-FR" sz="1500">
                <a:solidFill>
                  <a:schemeClr val="bg1"/>
                </a:solidFill>
              </a:rPr>
              <a:t>contact@mgt-conseils.com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8619" y="496808"/>
            <a:ext cx="3489311" cy="300082"/>
          </a:xfrm>
          <a:prstGeom prst="rect">
            <a:avLst/>
          </a:prstGeom>
        </p:spPr>
        <p:txBody>
          <a:bodyPr wrap="square" lIns="68580" tIns="34290" rIns="68580" bIns="34290" anchor="t">
            <a:spAutoFit/>
          </a:bodyPr>
          <a:lstStyle/>
          <a:p>
            <a:r>
              <a:rPr lang="fr-FR" sz="1500" b="1">
                <a:solidFill>
                  <a:srgbClr val="0070C0"/>
                </a:solidFill>
                <a:latin typeface="Agency FB"/>
              </a:rPr>
              <a:t> </a:t>
            </a:r>
            <a:r>
              <a:rPr lang="fr-FR" sz="1500" b="1">
                <a:solidFill>
                  <a:srgbClr val="F89A33"/>
                </a:solidFill>
                <a:latin typeface="Agency FB"/>
              </a:rPr>
              <a:t>| Direction Commerciale</a:t>
            </a:r>
            <a:endParaRPr lang="fr-FR" sz="1500">
              <a:latin typeface="Agency FB"/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450011" y="794581"/>
            <a:ext cx="2639741" cy="300082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/>
              </a:rPr>
              <a:t>business@mgt-conseils.com </a:t>
            </a:r>
            <a:endParaRPr lang="fr-FR" sz="1500">
              <a:solidFill>
                <a:srgbClr val="676D72"/>
              </a:solidFill>
              <a:latin typeface="Agency FB" panose="020B0503020202020204" pitchFamily="34" charset="0"/>
            </a:endParaRPr>
          </a:p>
        </p:txBody>
      </p:sp>
      <p:sp>
        <p:nvSpPr>
          <p:cNvPr id="25" name="Titre 1"/>
          <p:cNvSpPr txBox="1">
            <a:spLocks/>
          </p:cNvSpPr>
          <p:nvPr/>
        </p:nvSpPr>
        <p:spPr>
          <a:xfrm>
            <a:off x="4667449" y="4706090"/>
            <a:ext cx="5001596" cy="549984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825">
                <a:solidFill>
                  <a:schemeClr val="bg1"/>
                </a:solidFill>
              </a:rPr>
              <a:t>SARL au capital de 50 300 € - SIRET 479 638 462 00032 </a:t>
            </a:r>
          </a:p>
        </p:txBody>
      </p:sp>
      <p:pic>
        <p:nvPicPr>
          <p:cNvPr id="26" name="Image 2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24" y="871474"/>
            <a:ext cx="146399" cy="146399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59972" y="1314543"/>
            <a:ext cx="322870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500" b="1">
                <a:solidFill>
                  <a:srgbClr val="F89A33"/>
                </a:solidFill>
                <a:latin typeface="Agency FB" panose="020B0503020202020204" pitchFamily="34" charset="0"/>
              </a:rPr>
              <a:t>| Paris</a:t>
            </a:r>
            <a:endParaRPr lang="fr-FR" sz="1500">
              <a:latin typeface="Agency FB" panose="020B0503020202020204" pitchFamily="34" charset="0"/>
            </a:endParaRPr>
          </a:p>
        </p:txBody>
      </p:sp>
      <p:sp>
        <p:nvSpPr>
          <p:cNvPr id="32" name="ZoneTexte 31"/>
          <p:cNvSpPr txBox="1"/>
          <p:nvPr/>
        </p:nvSpPr>
        <p:spPr>
          <a:xfrm>
            <a:off x="451364" y="1626848"/>
            <a:ext cx="26397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+331 47 20 67 63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Les Champs Elysées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104 Rue du Faubourg Saint - Honoré, 75008 Paris</a:t>
            </a:r>
          </a:p>
        </p:txBody>
      </p:sp>
      <p:pic>
        <p:nvPicPr>
          <p:cNvPr id="34" name="Image 3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879" y="1699834"/>
            <a:ext cx="146399" cy="146399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245868" y="2674542"/>
            <a:ext cx="322870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500" b="1">
                <a:solidFill>
                  <a:srgbClr val="F89A33"/>
                </a:solidFill>
                <a:latin typeface="Agency FB" panose="020B0503020202020204" pitchFamily="34" charset="0"/>
              </a:rPr>
              <a:t>| Abidjan</a:t>
            </a:r>
            <a:endParaRPr lang="fr-FR" sz="1500">
              <a:latin typeface="Agency FB" panose="020B0503020202020204" pitchFamily="34" charset="0"/>
            </a:endParaRPr>
          </a:p>
        </p:txBody>
      </p:sp>
      <p:sp>
        <p:nvSpPr>
          <p:cNvPr id="40" name="ZoneTexte 39"/>
          <p:cNvSpPr txBox="1"/>
          <p:nvPr/>
        </p:nvSpPr>
        <p:spPr>
          <a:xfrm>
            <a:off x="437260" y="2986846"/>
            <a:ext cx="280687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+225 05 06 75 01 01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Résidence </a:t>
            </a:r>
            <a:r>
              <a:rPr lang="fr-FR" sz="1500" err="1">
                <a:solidFill>
                  <a:srgbClr val="676D72"/>
                </a:solidFill>
                <a:latin typeface="Agency FB" panose="020B0503020202020204" pitchFamily="34" charset="0"/>
              </a:rPr>
              <a:t>Palazzo</a:t>
            </a:r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 </a:t>
            </a:r>
            <a:r>
              <a:rPr lang="fr-FR" sz="1500" err="1">
                <a:solidFill>
                  <a:srgbClr val="676D72"/>
                </a:solidFill>
                <a:latin typeface="Agency FB" panose="020B0503020202020204" pitchFamily="34" charset="0"/>
              </a:rPr>
              <a:t>Posillipo</a:t>
            </a:r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 Cocody - Danga, 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BP 10 367, Abidjan 01</a:t>
            </a:r>
          </a:p>
        </p:txBody>
      </p:sp>
      <p:pic>
        <p:nvPicPr>
          <p:cNvPr id="41" name="Image 4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75" y="3059832"/>
            <a:ext cx="146399" cy="146399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242717" y="3838560"/>
            <a:ext cx="3228703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500" b="1">
                <a:solidFill>
                  <a:srgbClr val="F89A33"/>
                </a:solidFill>
                <a:latin typeface="Agency FB" panose="020B0503020202020204" pitchFamily="34" charset="0"/>
              </a:rPr>
              <a:t>| Bénin</a:t>
            </a:r>
            <a:endParaRPr lang="fr-FR" sz="1500">
              <a:latin typeface="Agency FB" panose="020B0503020202020204" pitchFamily="34" charset="0"/>
            </a:endParaRPr>
          </a:p>
        </p:txBody>
      </p:sp>
      <p:sp>
        <p:nvSpPr>
          <p:cNvPr id="43" name="ZoneTexte 42"/>
          <p:cNvSpPr txBox="1"/>
          <p:nvPr/>
        </p:nvSpPr>
        <p:spPr>
          <a:xfrm>
            <a:off x="434109" y="4150864"/>
            <a:ext cx="305456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+229 90 55 10 55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Akpakpa </a:t>
            </a:r>
            <a:r>
              <a:rPr lang="fr-FR" sz="1500" err="1">
                <a:solidFill>
                  <a:srgbClr val="676D72"/>
                </a:solidFill>
                <a:latin typeface="Agency FB" panose="020B0503020202020204" pitchFamily="34" charset="0"/>
              </a:rPr>
              <a:t>Rés</a:t>
            </a:r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. JR d’Adèle, </a:t>
            </a:r>
          </a:p>
          <a:p>
            <a:r>
              <a:rPr lang="fr-FR" sz="1500">
                <a:solidFill>
                  <a:srgbClr val="676D72"/>
                </a:solidFill>
                <a:latin typeface="Agency FB" panose="020B0503020202020204" pitchFamily="34" charset="0"/>
              </a:rPr>
              <a:t>Cotonou</a:t>
            </a:r>
          </a:p>
        </p:txBody>
      </p:sp>
      <p:pic>
        <p:nvPicPr>
          <p:cNvPr id="44" name="Image 4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24" y="4223850"/>
            <a:ext cx="146399" cy="146399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32" y="1946622"/>
            <a:ext cx="141499" cy="141499"/>
          </a:xfrm>
          <a:prstGeom prst="rect">
            <a:avLst/>
          </a:prstGeom>
        </p:spPr>
      </p:pic>
      <p:pic>
        <p:nvPicPr>
          <p:cNvPr id="45" name="Image 4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71" y="4460988"/>
            <a:ext cx="141499" cy="141499"/>
          </a:xfrm>
          <a:prstGeom prst="rect">
            <a:avLst/>
          </a:prstGeom>
        </p:spPr>
      </p:pic>
      <p:pic>
        <p:nvPicPr>
          <p:cNvPr id="46" name="Image 4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71" y="3343186"/>
            <a:ext cx="141499" cy="141499"/>
          </a:xfrm>
          <a:prstGeom prst="rect">
            <a:avLst/>
          </a:prstGeom>
        </p:spPr>
      </p:pic>
      <p:grpSp>
        <p:nvGrpSpPr>
          <p:cNvPr id="16" name="Groupe 15"/>
          <p:cNvGrpSpPr/>
          <p:nvPr/>
        </p:nvGrpSpPr>
        <p:grpSpPr>
          <a:xfrm>
            <a:off x="5935935" y="3045995"/>
            <a:ext cx="2471907" cy="660017"/>
            <a:chOff x="7953078" y="4393803"/>
            <a:chExt cx="3295876" cy="880023"/>
          </a:xfrm>
        </p:grpSpPr>
        <p:grpSp>
          <p:nvGrpSpPr>
            <p:cNvPr id="13" name="Groupe 12"/>
            <p:cNvGrpSpPr/>
            <p:nvPr/>
          </p:nvGrpSpPr>
          <p:grpSpPr>
            <a:xfrm>
              <a:off x="7953078" y="4393803"/>
              <a:ext cx="1235024" cy="880023"/>
              <a:chOff x="7708552" y="4387991"/>
              <a:chExt cx="1235024" cy="880023"/>
            </a:xfrm>
          </p:grpSpPr>
          <p:pic>
            <p:nvPicPr>
              <p:cNvPr id="4" name="Image 3"/>
              <p:cNvPicPr>
                <a:picLocks noChangeAspect="1"/>
              </p:cNvPicPr>
              <p:nvPr/>
            </p:nvPicPr>
            <p:blipFill>
              <a:blip r:embed="rId9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53043" y="4387991"/>
                <a:ext cx="346041" cy="346041"/>
              </a:xfrm>
              <a:prstGeom prst="rect">
                <a:avLst/>
              </a:prstGeom>
            </p:spPr>
          </p:pic>
          <p:sp>
            <p:nvSpPr>
              <p:cNvPr id="47" name="Titre 1"/>
              <p:cNvSpPr txBox="1">
                <a:spLocks/>
              </p:cNvSpPr>
              <p:nvPr/>
            </p:nvSpPr>
            <p:spPr>
              <a:xfrm>
                <a:off x="7708552" y="4534702"/>
                <a:ext cx="1235024" cy="7333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fr-FR" sz="825">
                    <a:solidFill>
                      <a:schemeClr val="bg1"/>
                    </a:solidFill>
                  </a:rPr>
                  <a:t>/</a:t>
                </a:r>
                <a:r>
                  <a:rPr lang="fr-FR" sz="825" err="1">
                    <a:solidFill>
                      <a:schemeClr val="bg1"/>
                    </a:solidFill>
                  </a:rPr>
                  <a:t>MGT.Conseils</a:t>
                </a:r>
                <a:endParaRPr lang="fr-FR" sz="825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" name="Groupe 13"/>
            <p:cNvGrpSpPr/>
            <p:nvPr/>
          </p:nvGrpSpPr>
          <p:grpSpPr>
            <a:xfrm>
              <a:off x="8943789" y="4426916"/>
              <a:ext cx="1235024" cy="840134"/>
              <a:chOff x="8704148" y="4427880"/>
              <a:chExt cx="1235024" cy="840134"/>
            </a:xfrm>
          </p:grpSpPr>
          <p:pic>
            <p:nvPicPr>
              <p:cNvPr id="6" name="Image 5"/>
              <p:cNvPicPr>
                <a:picLocks noChangeAspect="1"/>
              </p:cNvPicPr>
              <p:nvPr/>
            </p:nvPicPr>
            <p:blipFill>
              <a:blip r:embed="rId10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43910" y="4427880"/>
                <a:ext cx="349810" cy="349810"/>
              </a:xfrm>
              <a:prstGeom prst="rect">
                <a:avLst/>
              </a:prstGeom>
            </p:spPr>
          </p:pic>
          <p:sp>
            <p:nvSpPr>
              <p:cNvPr id="49" name="Titre 1"/>
              <p:cNvSpPr txBox="1">
                <a:spLocks/>
              </p:cNvSpPr>
              <p:nvPr/>
            </p:nvSpPr>
            <p:spPr>
              <a:xfrm>
                <a:off x="8704148" y="4534702"/>
                <a:ext cx="1235024" cy="7333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fr-FR" sz="825">
                    <a:solidFill>
                      <a:schemeClr val="bg1"/>
                    </a:solidFill>
                  </a:rPr>
                  <a:t>/</a:t>
                </a:r>
                <a:r>
                  <a:rPr lang="fr-FR" sz="825" err="1">
                    <a:solidFill>
                      <a:schemeClr val="bg1"/>
                    </a:solidFill>
                  </a:rPr>
                  <a:t>mgt</a:t>
                </a:r>
                <a:r>
                  <a:rPr lang="fr-FR" sz="825">
                    <a:solidFill>
                      <a:schemeClr val="bg1"/>
                    </a:solidFill>
                  </a:rPr>
                  <a:t>-conseils</a:t>
                </a:r>
              </a:p>
            </p:txBody>
          </p:sp>
        </p:grpSp>
        <p:grpSp>
          <p:nvGrpSpPr>
            <p:cNvPr id="15" name="Groupe 14"/>
            <p:cNvGrpSpPr/>
            <p:nvPr/>
          </p:nvGrpSpPr>
          <p:grpSpPr>
            <a:xfrm>
              <a:off x="10013930" y="4426197"/>
              <a:ext cx="1235024" cy="840853"/>
              <a:chOff x="9613248" y="4415593"/>
              <a:chExt cx="1235024" cy="840853"/>
            </a:xfrm>
          </p:grpSpPr>
          <p:pic>
            <p:nvPicPr>
              <p:cNvPr id="9" name="Image 8"/>
              <p:cNvPicPr>
                <a:picLocks noChangeAspect="1"/>
              </p:cNvPicPr>
              <p:nvPr/>
            </p:nvPicPr>
            <p:blipFill>
              <a:blip r:embed="rId11" cstate="print">
                <a:biLevel thresh="2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57153" y="4415593"/>
                <a:ext cx="347214" cy="347214"/>
              </a:xfrm>
              <a:prstGeom prst="rect">
                <a:avLst/>
              </a:prstGeom>
            </p:spPr>
          </p:pic>
          <p:sp>
            <p:nvSpPr>
              <p:cNvPr id="51" name="Titre 1"/>
              <p:cNvSpPr txBox="1">
                <a:spLocks/>
              </p:cNvSpPr>
              <p:nvPr/>
            </p:nvSpPr>
            <p:spPr>
              <a:xfrm>
                <a:off x="9613248" y="4523134"/>
                <a:ext cx="1235024" cy="733312"/>
              </a:xfrm>
              <a:prstGeom prst="rect">
                <a:avLst/>
              </a:prstGeom>
            </p:spPr>
            <p:txBody>
              <a:bodyPr vert="horz" lIns="68580" tIns="34290" rIns="68580" bIns="3429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fr-FR" sz="825">
                    <a:solidFill>
                      <a:schemeClr val="bg1"/>
                    </a:solidFill>
                  </a:rPr>
                  <a:t>@</a:t>
                </a:r>
                <a:r>
                  <a:rPr lang="fr-FR" sz="825" err="1">
                    <a:solidFill>
                      <a:schemeClr val="bg1"/>
                    </a:solidFill>
                  </a:rPr>
                  <a:t>MGTConseils</a:t>
                </a:r>
                <a:endParaRPr lang="fr-FR" sz="825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10192631-2D34-469C-A952-3B55768F581D}"/>
              </a:ext>
            </a:extLst>
          </p:cNvPr>
          <p:cNvSpPr txBox="1"/>
          <p:nvPr/>
        </p:nvSpPr>
        <p:spPr>
          <a:xfrm>
            <a:off x="6020136" y="501821"/>
            <a:ext cx="2784985" cy="1569660"/>
          </a:xfrm>
          <a:prstGeom prst="rect">
            <a:avLst/>
          </a:prstGeom>
          <a:noFill/>
        </p:spPr>
        <p:txBody>
          <a:bodyPr vert="horz" wrap="square" rtlCol="0" anchor="ctr" anchorCtr="0">
            <a:spAutoFit/>
          </a:bodyPr>
          <a:lstStyle/>
          <a:p>
            <a:pPr algn="ctr"/>
            <a:r>
              <a:rPr lang="fr-FR" sz="3200" b="1">
                <a:solidFill>
                  <a:schemeClr val="bg1"/>
                </a:solidFill>
                <a:latin typeface="FUTURA MEDIUM" panose="020B0602020204020303" pitchFamily="34" charset="-79"/>
                <a:cs typeface="FUTURA MEDIUM" panose="020B0602020204020303" pitchFamily="34" charset="-79"/>
              </a:rPr>
              <a:t>Merci pour votre attention </a:t>
            </a:r>
          </a:p>
        </p:txBody>
      </p:sp>
    </p:spTree>
    <p:extLst>
      <p:ext uri="{BB962C8B-B14F-4D97-AF65-F5344CB8AC3E}">
        <p14:creationId xmlns:p14="http://schemas.microsoft.com/office/powerpoint/2010/main" val="782514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419B1710D3DF4A9DAA9ADF73C802B5" ma:contentTypeVersion="14" ma:contentTypeDescription="Crée un document." ma:contentTypeScope="" ma:versionID="d45f398bd182fafaec1e6b20d8a38b6f">
  <xsd:schema xmlns:xsd="http://www.w3.org/2001/XMLSchema" xmlns:xs="http://www.w3.org/2001/XMLSchema" xmlns:p="http://schemas.microsoft.com/office/2006/metadata/properties" xmlns:ns3="6f1b3788-58c0-46a5-9604-64d97c7fc47c" xmlns:ns4="73eca01c-4ea5-40c8-83fd-b296bd340025" targetNamespace="http://schemas.microsoft.com/office/2006/metadata/properties" ma:root="true" ma:fieldsID="de746a5257d740f042749d495693305b" ns3:_="" ns4:_="">
    <xsd:import namespace="6f1b3788-58c0-46a5-9604-64d97c7fc47c"/>
    <xsd:import namespace="73eca01c-4ea5-40c8-83fd-b296bd34002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1b3788-58c0-46a5-9604-64d97c7fc4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eca01c-4ea5-40c8-83fd-b296bd34002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3eca01c-4ea5-40c8-83fd-b296bd340025">
      <UserInfo>
        <DisplayName>Abir GUENICH - Ingénieure d’affaire</DisplayName>
        <AccountId>246</AccountId>
        <AccountType/>
      </UserInfo>
    </SharedWithUsers>
    <_activity xmlns="6f1b3788-58c0-46a5-9604-64d97c7fc47c" xsi:nil="true"/>
  </documentManagement>
</p:properties>
</file>

<file path=customXml/itemProps1.xml><?xml version="1.0" encoding="utf-8"?>
<ds:datastoreItem xmlns:ds="http://schemas.openxmlformats.org/officeDocument/2006/customXml" ds:itemID="{13D40C7A-64C6-4B3B-A1B6-9CB64BC756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f1b3788-58c0-46a5-9604-64d97c7fc47c"/>
    <ds:schemaRef ds:uri="73eca01c-4ea5-40c8-83fd-b296bd3400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BAA46D8-DF31-4768-AD82-8F485C82E64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0C00205-F11F-4D61-9572-D162BE7CE022}">
  <ds:schemaRefs>
    <ds:schemaRef ds:uri="http://schemas.microsoft.com/office/infopath/2007/PartnerControls"/>
    <ds:schemaRef ds:uri="http://purl.org/dc/terms/"/>
    <ds:schemaRef ds:uri="http://purl.org/dc/elements/1.1/"/>
    <ds:schemaRef ds:uri="6f1b3788-58c0-46a5-9604-64d97c7fc47c"/>
    <ds:schemaRef ds:uri="73eca01c-4ea5-40c8-83fd-b296bd340025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2923</TotalTime>
  <Words>2697</Words>
  <Application>Microsoft Office PowerPoint</Application>
  <PresentationFormat>Affichage à l'écran (16:9)</PresentationFormat>
  <Paragraphs>351</Paragraphs>
  <Slides>27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40" baseType="lpstr">
      <vt:lpstr>Abadi Extra Light</vt:lpstr>
      <vt:lpstr>Arial UNICODE MS</vt:lpstr>
      <vt:lpstr>Arial UNICODE MS</vt:lpstr>
      <vt:lpstr>FUTURA MEDIUM</vt:lpstr>
      <vt:lpstr>Agency FB</vt:lpstr>
      <vt:lpstr>Calibri</vt:lpstr>
      <vt:lpstr>Consolas</vt:lpstr>
      <vt:lpstr>Ebrima</vt:lpstr>
      <vt:lpstr>Roboto</vt:lpstr>
      <vt:lpstr>Trebuchet MS</vt:lpstr>
      <vt:lpstr>Verdana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Suivez-Nous   www.mgt-conseils.com contact@mgt-conseils.com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Groupe  DataValue Consulting</dc:title>
  <dc:creator>Conrad GBAGUIDI</dc:creator>
  <cp:lastModifiedBy>Denis ARGOUARCH</cp:lastModifiedBy>
  <cp:revision>154</cp:revision>
  <dcterms:created xsi:type="dcterms:W3CDTF">2021-01-18T11:01:50Z</dcterms:created>
  <dcterms:modified xsi:type="dcterms:W3CDTF">2025-11-18T16:49:03Z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2020-03-16T00:00:00Z</vt:filetime>
  </property>
  <property fmtid="{D5CDD505-2E9C-101B-9397-08002B2CF9AE}" pid="3" name="LastSaved">
    <vt:filetime>2021-01-18T00:00:00Z</vt:filetime>
  </property>
  <property fmtid="{D5CDD505-2E9C-101B-9397-08002B2CF9AE}" pid="4" name="ContentTypeId">
    <vt:lpwstr>0x01010058419B1710D3DF4A9DAA9ADF73C802B5</vt:lpwstr>
  </property>
  <property fmtid="{D5CDD505-2E9C-101B-9397-08002B2CF9AE}" pid="5" name="MediaServiceImageTags">
    <vt:lpwstr/>
  </property>
</Properties>
</file>